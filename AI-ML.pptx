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61" r:id="rId7"/>
    <p:sldId id="2693" r:id="rId8"/>
    <p:sldId id="262" r:id="rId9"/>
    <p:sldId id="263" r:id="rId10"/>
    <p:sldId id="264" r:id="rId11"/>
    <p:sldId id="265" r:id="rId12"/>
    <p:sldId id="266" r:id="rId13"/>
    <p:sldId id="267" r:id="rId14"/>
    <p:sldId id="268" r:id="rId15"/>
    <p:sldId id="2687" r:id="rId16"/>
    <p:sldId id="2688" r:id="rId17"/>
    <p:sldId id="2689" r:id="rId18"/>
    <p:sldId id="2690" r:id="rId19"/>
    <p:sldId id="2691" r:id="rId20"/>
    <p:sldId id="2692" r:id="rId21"/>
    <p:sldId id="269" r:id="rId22"/>
    <p:sldId id="270" r:id="rId23"/>
    <p:sldId id="271" r:id="rId24"/>
    <p:sldId id="272" r:id="rId25"/>
    <p:sldId id="273" r:id="rId26"/>
    <p:sldId id="274" r:id="rId27"/>
    <p:sldId id="275" r:id="rId28"/>
    <p:sldId id="276" r:id="rId29"/>
    <p:sldId id="277" r:id="rId30"/>
    <p:sldId id="278" r:id="rId31"/>
    <p:sldId id="279" r:id="rId32"/>
    <p:sldId id="280" r:id="rId33"/>
    <p:sldId id="281" r:id="rId34"/>
    <p:sldId id="282" r:id="rId35"/>
    <p:sldId id="283" r:id="rId36"/>
    <p:sldId id="284" r:id="rId37"/>
    <p:sldId id="285" r:id="rId38"/>
    <p:sldId id="2035" r:id="rId39"/>
    <p:sldId id="2046" r:id="rId40"/>
    <p:sldId id="2353" r:id="rId41"/>
    <p:sldId id="2613" r:id="rId42"/>
    <p:sldId id="2617" r:id="rId43"/>
    <p:sldId id="2491" r:id="rId44"/>
    <p:sldId id="2492" r:id="rId45"/>
    <p:sldId id="2235" r:id="rId46"/>
    <p:sldId id="2615" r:id="rId47"/>
    <p:sldId id="2616" r:id="rId48"/>
    <p:sldId id="2618" r:id="rId49"/>
    <p:sldId id="2621" r:id="rId50"/>
    <p:sldId id="2622" r:id="rId51"/>
    <p:sldId id="2625" r:id="rId52"/>
    <p:sldId id="2626" r:id="rId53"/>
    <p:sldId id="2627" r:id="rId54"/>
    <p:sldId id="2628" r:id="rId55"/>
    <p:sldId id="2629" r:id="rId56"/>
    <p:sldId id="2630" r:id="rId57"/>
    <p:sldId id="2631" r:id="rId58"/>
    <p:sldId id="2632" r:id="rId59"/>
    <p:sldId id="2633" r:id="rId60"/>
    <p:sldId id="2634" r:id="rId61"/>
    <p:sldId id="2635" r:id="rId62"/>
    <p:sldId id="2636" r:id="rId63"/>
    <p:sldId id="2637" r:id="rId64"/>
    <p:sldId id="2658" r:id="rId65"/>
    <p:sldId id="2659" r:id="rId66"/>
    <p:sldId id="2660" r:id="rId67"/>
    <p:sldId id="2661" r:id="rId68"/>
    <p:sldId id="2662" r:id="rId69"/>
    <p:sldId id="2663" r:id="rId70"/>
    <p:sldId id="2680" r:id="rId71"/>
    <p:sldId id="2681" r:id="rId72"/>
    <p:sldId id="2682" r:id="rId73"/>
    <p:sldId id="2683" r:id="rId74"/>
    <p:sldId id="2684" r:id="rId75"/>
    <p:sldId id="2685" r:id="rId76"/>
    <p:sldId id="2686" r:id="rId77"/>
    <p:sldId id="2664" r:id="rId78"/>
    <p:sldId id="2665" r:id="rId7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7E9639D4-E3E2-4D34-9284-5A2195B3D0D7}" styleName="Light Style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 styleId="{5DA37D80-6434-44D0-A028-1B22A696006F}" styleName="Light Style 3 - Accent 2">
    <a:wholeTbl>
      <a:tcTxStyle>
        <a:fontRef idx="minor">
          <a:scrgbClr r="0" g="0" b="0"/>
        </a:fontRef>
        <a:schemeClr val="tx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noFill/>
        </a:fill>
      </a:tcStyle>
    </a:wholeTbl>
    <a:band1H>
      <a:tcStyle>
        <a:tcBdr/>
        <a:fill>
          <a:solidFill>
            <a:schemeClr val="accent2">
              <a:alpha val="20000"/>
            </a:schemeClr>
          </a:solidFill>
        </a:fill>
      </a:tcStyle>
    </a:band1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noFill/>
        </a:fill>
      </a:tcStyle>
    </a:lastRow>
    <a:firstRow>
      <a:tcTxStyle b="on"/>
      <a:tcStyle>
        <a:tcBdr>
          <a:bottom>
            <a:ln w="25400" cmpd="sng">
              <a:solidFill>
                <a:schemeClr val="accent2"/>
              </a:solidFill>
            </a:ln>
          </a:bottom>
        </a:tcBdr>
        <a:fill>
          <a:no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72833802-FEF1-4C79-8D5D-14CF1EAF98D9}" styleName="Light Style 2 - Accent 2">
    <a:wholeTbl>
      <a:tcTxStyle>
        <a:fontRef idx="minor">
          <a:scrgbClr r="0" g="0" b="0"/>
        </a:fontRef>
        <a:schemeClr val="tx1"/>
      </a:tcTxStyle>
      <a:tcStyle>
        <a:tcBdr>
          <a:left>
            <a:lnRef idx="1">
              <a:schemeClr val="accent2"/>
            </a:lnRef>
          </a:left>
          <a:right>
            <a:lnRef idx="1">
              <a:schemeClr val="accent2"/>
            </a:lnRef>
          </a:right>
          <a:top>
            <a:lnRef idx="1">
              <a:schemeClr val="accent2"/>
            </a:lnRef>
          </a:top>
          <a:bottom>
            <a:lnRef idx="1">
              <a:schemeClr val="accent2"/>
            </a:lnRef>
          </a:bottom>
          <a:insideH>
            <a:ln>
              <a:noFill/>
            </a:ln>
          </a:insideH>
          <a:insideV>
            <a:ln>
              <a:noFill/>
            </a:ln>
          </a:insideV>
        </a:tcBdr>
        <a:fill>
          <a:noFill/>
        </a:fill>
      </a:tcStyle>
    </a:wholeTbl>
    <a:band1H>
      <a:tcStyle>
        <a:tcBdr>
          <a:top>
            <a:lnRef idx="1">
              <a:schemeClr val="accent2"/>
            </a:lnRef>
          </a:top>
          <a:bottom>
            <a:lnRef idx="1">
              <a:schemeClr val="accent2"/>
            </a:lnRef>
          </a:bottom>
        </a:tcBdr>
      </a:tcStyle>
    </a:band1H>
    <a:band1V>
      <a:tcStyle>
        <a:tcBdr>
          <a:left>
            <a:lnRef idx="1">
              <a:schemeClr val="accent2"/>
            </a:lnRef>
          </a:left>
          <a:right>
            <a:lnRef idx="1">
              <a:schemeClr val="accent2"/>
            </a:lnRef>
          </a:right>
        </a:tcBdr>
      </a:tcStyle>
    </a:band1V>
    <a:band2V>
      <a:tcStyle>
        <a:tcBdr>
          <a:left>
            <a:lnRef idx="1">
              <a:schemeClr val="accent2"/>
            </a:lnRef>
          </a:left>
          <a:right>
            <a:lnRef idx="1">
              <a:schemeClr val="accent2"/>
            </a:lnRef>
          </a:right>
        </a:tcBdr>
      </a:tcStyle>
    </a:band2V>
    <a:lastCol>
      <a:tcTxStyle b="on"/>
      <a:tcStyle>
        <a:tcBdr/>
      </a:tcStyle>
    </a:lastCol>
    <a:firstCol>
      <a:tcTxStyle b="on"/>
      <a:tcStyle>
        <a:tcBdr/>
      </a:tcStyle>
    </a:firstCol>
    <a:lastRow>
      <a:tcTxStyle b="on"/>
      <a:tcStyle>
        <a:tcBdr>
          <a:top>
            <a:ln w="50800" cmpd="dbl">
              <a:solidFill>
                <a:schemeClr val="accent2"/>
              </a:solidFill>
            </a:ln>
          </a:top>
        </a:tcBdr>
      </a:tcStyle>
    </a:lastRow>
    <a:firstRow>
      <a:tcTxStyle b="on">
        <a:fontRef idx="minor">
          <a:scrgbClr r="0" g="0" b="0"/>
        </a:fontRef>
        <a:schemeClr val="bg1"/>
      </a:tcTxStyle>
      <a:tcStyle>
        <a:tcBdr/>
        <a:fillRef idx="1">
          <a:schemeClr val="accent2"/>
        </a:fillRef>
      </a:tcStyle>
    </a:firstRow>
  </a:tblStyle>
  <a:tblStyle styleId="{08FB837D-C827-4EFA-A057-4D05807E0F7C}" styleName="Themed Style 1 - Accent 6">
    <a:tblBg>
      <a:fillRef idx="2">
        <a:schemeClr val="accent6"/>
      </a:fillRef>
      <a:effectRef idx="1">
        <a:schemeClr val="accent6"/>
      </a:effectRef>
    </a:tblBg>
    <a:wholeTbl>
      <a:tcTxStyle>
        <a:fontRef idx="minor">
          <a:scrgbClr r="0" g="0" b="0"/>
        </a:fontRef>
        <a:schemeClr val="dk1"/>
      </a:tcTxStyle>
      <a:tcStyle>
        <a:tcBdr>
          <a:left>
            <a:lnRef idx="1">
              <a:schemeClr val="accent6"/>
            </a:lnRef>
          </a:left>
          <a:right>
            <a:lnRef idx="1">
              <a:schemeClr val="accent6"/>
            </a:lnRef>
          </a:right>
          <a:top>
            <a:lnRef idx="1">
              <a:schemeClr val="accent6"/>
            </a:lnRef>
          </a:top>
          <a:bottom>
            <a:lnRef idx="1">
              <a:schemeClr val="accent6"/>
            </a:lnRef>
          </a:bottom>
          <a:insideH>
            <a:lnRef idx="1">
              <a:schemeClr val="accent6"/>
            </a:lnRef>
          </a:insideH>
          <a:insideV>
            <a:lnRef idx="1">
              <a:schemeClr val="accent6"/>
            </a:lnRef>
          </a:insideV>
        </a:tcBdr>
        <a:fill>
          <a:noFill/>
        </a:fill>
      </a:tcStyle>
    </a:wholeTbl>
    <a:band1H>
      <a:tcStyle>
        <a:tcBdr/>
        <a:fill>
          <a:solidFill>
            <a:schemeClr val="accent6">
              <a:alpha val="40000"/>
            </a:schemeClr>
          </a:solidFill>
        </a:fill>
      </a:tcStyle>
    </a:band1H>
    <a:band2H>
      <a:tcStyle>
        <a:tcBdr/>
      </a:tcStyle>
    </a:band2H>
    <a:band1V>
      <a:tcStyle>
        <a:tcBdr>
          <a:top>
            <a:lnRef idx="1">
              <a:schemeClr val="accent6"/>
            </a:lnRef>
          </a:top>
          <a:bottom>
            <a:lnRef idx="1">
              <a:schemeClr val="accent6"/>
            </a:lnRef>
          </a:bottom>
        </a:tcBdr>
        <a:fill>
          <a:solidFill>
            <a:schemeClr val="accent6">
              <a:alpha val="40000"/>
            </a:schemeClr>
          </a:solidFill>
        </a:fill>
      </a:tcStyle>
    </a:band1V>
    <a:band2V>
      <a:tcStyle>
        <a:tcBdr/>
      </a:tcStyle>
    </a:band2V>
    <a:lastCol>
      <a:tcTxStyle b="on"/>
      <a:tcStyle>
        <a:tcBdr>
          <a:left>
            <a:lnRef idx="2">
              <a:schemeClr val="accent6"/>
            </a:lnRef>
          </a:left>
          <a:right>
            <a:lnRef idx="1">
              <a:schemeClr val="accent6"/>
            </a:lnRef>
          </a:right>
          <a:top>
            <a:lnRef idx="1">
              <a:schemeClr val="accent6"/>
            </a:lnRef>
          </a:top>
          <a:bottom>
            <a:lnRef idx="1">
              <a:schemeClr val="accent6"/>
            </a:lnRef>
          </a:bottom>
          <a:insideH>
            <a:lnRef idx="1">
              <a:schemeClr val="accent6"/>
            </a:lnRef>
          </a:insideH>
          <a:insideV>
            <a:ln>
              <a:noFill/>
            </a:ln>
          </a:insideV>
        </a:tcBdr>
      </a:tcStyle>
    </a:lastCol>
    <a:firstCol>
      <a:tcTxStyle b="on"/>
      <a:tcStyle>
        <a:tcBdr>
          <a:left>
            <a:lnRef idx="1">
              <a:schemeClr val="accent6"/>
            </a:lnRef>
          </a:left>
          <a:right>
            <a:lnRef idx="2">
              <a:schemeClr val="accent6"/>
            </a:lnRef>
          </a:right>
          <a:top>
            <a:lnRef idx="1">
              <a:schemeClr val="accent6"/>
            </a:lnRef>
          </a:top>
          <a:bottom>
            <a:lnRef idx="1">
              <a:schemeClr val="accent6"/>
            </a:lnRef>
          </a:bottom>
          <a:insideH>
            <a:lnRef idx="1">
              <a:schemeClr val="accent6"/>
            </a:lnRef>
          </a:insideH>
          <a:insideV>
            <a:ln>
              <a:noFill/>
            </a:ln>
          </a:insideV>
        </a:tcBdr>
      </a:tcStyle>
    </a:firstCol>
    <a:lastRow>
      <a:tcTxStyle b="on"/>
      <a:tcStyle>
        <a:tcBdr>
          <a:left>
            <a:lnRef idx="1">
              <a:schemeClr val="accent6"/>
            </a:lnRef>
          </a:left>
          <a:right>
            <a:lnRef idx="1">
              <a:schemeClr val="accent6"/>
            </a:lnRef>
          </a:right>
          <a:top>
            <a:lnRef idx="2">
              <a:schemeClr val="accent6"/>
            </a:lnRef>
          </a:top>
          <a:bottom>
            <a:lnRef idx="2">
              <a:schemeClr val="accent6"/>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6"/>
            </a:lnRef>
          </a:left>
          <a:right>
            <a:lnRef idx="1">
              <a:schemeClr val="accent6"/>
            </a:lnRef>
          </a:right>
          <a:top>
            <a:lnRef idx="1">
              <a:schemeClr val="accent6"/>
            </a:lnRef>
          </a:top>
          <a:bottom>
            <a:lnRef idx="2">
              <a:schemeClr val="lt1"/>
            </a:lnRef>
          </a:bottom>
          <a:insideH>
            <a:ln>
              <a:noFill/>
            </a:ln>
          </a:insideH>
          <a:insideV>
            <a:ln>
              <a:noFill/>
            </a:ln>
          </a:insideV>
        </a:tcBdr>
        <a:fill>
          <a:solidFill>
            <a:schemeClr val="accent6"/>
          </a:solidFill>
        </a:fill>
      </a:tcStyle>
    </a:firstRow>
  </a:tblStyle>
  <a:tblStyle styleId="{912C8C85-51F0-491E-9774-3900AFEF0FD7}" styleName="Light Style 2 - Accent 6">
    <a:wholeTbl>
      <a:tcTxStyle>
        <a:fontRef idx="minor">
          <a:scrgbClr r="0" g="0" b="0"/>
        </a:fontRef>
        <a:schemeClr val="tx1"/>
      </a:tcTxStyle>
      <a:tcStyle>
        <a:tcBdr>
          <a:left>
            <a:lnRef idx="1">
              <a:schemeClr val="accent6"/>
            </a:lnRef>
          </a:left>
          <a:right>
            <a:lnRef idx="1">
              <a:schemeClr val="accent6"/>
            </a:lnRef>
          </a:right>
          <a:top>
            <a:lnRef idx="1">
              <a:schemeClr val="accent6"/>
            </a:lnRef>
          </a:top>
          <a:bottom>
            <a:lnRef idx="1">
              <a:schemeClr val="accent6"/>
            </a:lnRef>
          </a:bottom>
          <a:insideH>
            <a:ln>
              <a:noFill/>
            </a:ln>
          </a:insideH>
          <a:insideV>
            <a:ln>
              <a:noFill/>
            </a:ln>
          </a:insideV>
        </a:tcBdr>
        <a:fill>
          <a:noFill/>
        </a:fill>
      </a:tcStyle>
    </a:wholeTbl>
    <a:band1H>
      <a:tcStyle>
        <a:tcBdr>
          <a:top>
            <a:lnRef idx="1">
              <a:schemeClr val="accent6"/>
            </a:lnRef>
          </a:top>
          <a:bottom>
            <a:lnRef idx="1">
              <a:schemeClr val="accent6"/>
            </a:lnRef>
          </a:bottom>
        </a:tcBdr>
      </a:tcStyle>
    </a:band1H>
    <a:band1V>
      <a:tcStyle>
        <a:tcBdr>
          <a:left>
            <a:lnRef idx="1">
              <a:schemeClr val="accent6"/>
            </a:lnRef>
          </a:left>
          <a:right>
            <a:lnRef idx="1">
              <a:schemeClr val="accent6"/>
            </a:lnRef>
          </a:right>
        </a:tcBdr>
      </a:tcStyle>
    </a:band1V>
    <a:band2V>
      <a:tcStyle>
        <a:tcBdr>
          <a:left>
            <a:lnRef idx="1">
              <a:schemeClr val="accent6"/>
            </a:lnRef>
          </a:left>
          <a:right>
            <a:lnRef idx="1">
              <a:schemeClr val="accent6"/>
            </a:lnRef>
          </a:right>
        </a:tcBdr>
      </a:tcStyle>
    </a:band2V>
    <a:lastCol>
      <a:tcTxStyle b="on"/>
      <a:tcStyle>
        <a:tcBdr/>
      </a:tcStyle>
    </a:lastCol>
    <a:firstCol>
      <a:tcTxStyle b="on"/>
      <a:tcStyle>
        <a:tcBdr/>
      </a:tcStyle>
    </a:firstCol>
    <a:lastRow>
      <a:tcTxStyle b="on"/>
      <a:tcStyle>
        <a:tcBdr>
          <a:top>
            <a:ln w="50800" cmpd="dbl">
              <a:solidFill>
                <a:schemeClr val="accent6"/>
              </a:solidFill>
            </a:ln>
          </a:top>
        </a:tcBdr>
      </a:tcStyle>
    </a:lastRow>
    <a:firstRow>
      <a:tcTxStyle b="on">
        <a:fontRef idx="minor">
          <a:scrgbClr r="0" g="0" b="0"/>
        </a:fontRef>
        <a:schemeClr val="bg1"/>
      </a:tcTxStyle>
      <a:tcStyle>
        <a:tcBdr/>
        <a:fillRef idx="1">
          <a:schemeClr val="accent6"/>
        </a:fillRef>
      </a:tcStyle>
    </a:firstRow>
  </a:tblStyle>
  <a:tblStyle styleId="{793D81CF-94F2-401A-BA57-92F5A7B2D0C5}" styleName="Medium Style 1">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lt1"/>
          </a:solidFill>
        </a:fill>
      </a:tcStyle>
    </a:lastRow>
    <a:firstRow>
      <a:tcTxStyle b="on">
        <a:fontRef idx="minor">
          <a:scrgbClr r="0" g="0" b="0"/>
        </a:fontRef>
        <a:schemeClr val="lt1"/>
      </a:tcTxStyle>
      <a:tcStyle>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6" autoAdjust="0"/>
    <p:restoredTop sz="95669" autoAdjust="0"/>
  </p:normalViewPr>
  <p:slideViewPr>
    <p:cSldViewPr snapToGrid="0">
      <p:cViewPr varScale="1">
        <p:scale>
          <a:sx n="96" d="100"/>
          <a:sy n="96" d="100"/>
        </p:scale>
        <p:origin x="612" y="5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16" Type="http://schemas.openxmlformats.org/officeDocument/2006/relationships/slide" Target="slides/slide15.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5" Type="http://schemas.openxmlformats.org/officeDocument/2006/relationships/slide" Target="slides/slide4.xml"/><Relationship Id="rId61" Type="http://schemas.openxmlformats.org/officeDocument/2006/relationships/slide" Target="slides/slide60.xml"/><Relationship Id="rId82" Type="http://schemas.openxmlformats.org/officeDocument/2006/relationships/theme" Target="theme/theme1.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slide" Target="slides/slide76.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presProps" Target="presProp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7" Type="http://schemas.openxmlformats.org/officeDocument/2006/relationships/slide" Target="slides/slide6.xml"/><Relationship Id="rId71" Type="http://schemas.openxmlformats.org/officeDocument/2006/relationships/slide" Target="slides/slide70.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7E24E8-964D-11BB-1B53-35252C80716E}"/>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GB"/>
          </a:p>
        </p:txBody>
      </p:sp>
      <p:sp>
        <p:nvSpPr>
          <p:cNvPr id="3" name="Subtitle 2">
            <a:extLst>
              <a:ext uri="{FF2B5EF4-FFF2-40B4-BE49-F238E27FC236}">
                <a16:creationId xmlns:a16="http://schemas.microsoft.com/office/drawing/2014/main" id="{FC8CAF4D-98EC-F1DD-E535-E13CB15B1796}"/>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sp>
        <p:nvSpPr>
          <p:cNvPr id="4" name="Date Placeholder 3">
            <a:extLst>
              <a:ext uri="{FF2B5EF4-FFF2-40B4-BE49-F238E27FC236}">
                <a16:creationId xmlns:a16="http://schemas.microsoft.com/office/drawing/2014/main" id="{8A25E280-B052-9338-A12C-C869C7F3BA43}"/>
              </a:ext>
            </a:extLst>
          </p:cNvPr>
          <p:cNvSpPr>
            <a:spLocks noGrp="1"/>
          </p:cNvSpPr>
          <p:nvPr>
            <p:ph type="dt" sz="half" idx="10"/>
          </p:nvPr>
        </p:nvSpPr>
        <p:spPr/>
        <p:txBody>
          <a:bodyPr/>
          <a:lstStyle/>
          <a:p>
            <a:fld id="{22777EFD-BA5A-4BBA-84F1-F93BA90E8D59}" type="datetimeFigureOut">
              <a:rPr lang="en-GB" smtClean="0"/>
              <a:t>28/04/2026</a:t>
            </a:fld>
            <a:endParaRPr lang="en-GB"/>
          </a:p>
        </p:txBody>
      </p:sp>
      <p:sp>
        <p:nvSpPr>
          <p:cNvPr id="5" name="Footer Placeholder 4">
            <a:extLst>
              <a:ext uri="{FF2B5EF4-FFF2-40B4-BE49-F238E27FC236}">
                <a16:creationId xmlns:a16="http://schemas.microsoft.com/office/drawing/2014/main" id="{F2B27E79-5179-97AF-5E80-638F62815E7F}"/>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2617B041-452C-7262-C8FE-4D4E57BB43EF}"/>
              </a:ext>
            </a:extLst>
          </p:cNvPr>
          <p:cNvSpPr>
            <a:spLocks noGrp="1"/>
          </p:cNvSpPr>
          <p:nvPr>
            <p:ph type="sldNum" sz="quarter" idx="12"/>
          </p:nvPr>
        </p:nvSpPr>
        <p:spPr/>
        <p:txBody>
          <a:bodyPr/>
          <a:lstStyle/>
          <a:p>
            <a:fld id="{AA27B45A-DE7C-4F5D-9DF5-77B13659A844}" type="slidenum">
              <a:rPr lang="en-GB" smtClean="0"/>
              <a:t>‹#›</a:t>
            </a:fld>
            <a:endParaRPr lang="en-GB"/>
          </a:p>
        </p:txBody>
      </p:sp>
    </p:spTree>
    <p:extLst>
      <p:ext uri="{BB962C8B-B14F-4D97-AF65-F5344CB8AC3E}">
        <p14:creationId xmlns:p14="http://schemas.microsoft.com/office/powerpoint/2010/main" val="134885296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11EA4B-A2DC-D47F-C026-EE824F38A829}"/>
              </a:ext>
            </a:extLst>
          </p:cNvPr>
          <p:cNvSpPr>
            <a:spLocks noGrp="1"/>
          </p:cNvSpPr>
          <p:nvPr>
            <p:ph type="title"/>
          </p:nvPr>
        </p:nvSpPr>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699D6546-2E6F-EB58-1BD9-B630BCADDDDB}"/>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71B11A69-2F67-FF17-A5DC-828504B24E3C}"/>
              </a:ext>
            </a:extLst>
          </p:cNvPr>
          <p:cNvSpPr>
            <a:spLocks noGrp="1"/>
          </p:cNvSpPr>
          <p:nvPr>
            <p:ph type="dt" sz="half" idx="10"/>
          </p:nvPr>
        </p:nvSpPr>
        <p:spPr/>
        <p:txBody>
          <a:bodyPr/>
          <a:lstStyle/>
          <a:p>
            <a:fld id="{22777EFD-BA5A-4BBA-84F1-F93BA90E8D59}" type="datetimeFigureOut">
              <a:rPr lang="en-GB" smtClean="0"/>
              <a:t>28/04/2026</a:t>
            </a:fld>
            <a:endParaRPr lang="en-GB"/>
          </a:p>
        </p:txBody>
      </p:sp>
      <p:sp>
        <p:nvSpPr>
          <p:cNvPr id="5" name="Footer Placeholder 4">
            <a:extLst>
              <a:ext uri="{FF2B5EF4-FFF2-40B4-BE49-F238E27FC236}">
                <a16:creationId xmlns:a16="http://schemas.microsoft.com/office/drawing/2014/main" id="{7DE4A9B6-69D0-576C-5A25-89158B2F737D}"/>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A62F4F66-6CD8-17DA-9EF9-955DDF482AA7}"/>
              </a:ext>
            </a:extLst>
          </p:cNvPr>
          <p:cNvSpPr>
            <a:spLocks noGrp="1"/>
          </p:cNvSpPr>
          <p:nvPr>
            <p:ph type="sldNum" sz="quarter" idx="12"/>
          </p:nvPr>
        </p:nvSpPr>
        <p:spPr/>
        <p:txBody>
          <a:bodyPr/>
          <a:lstStyle/>
          <a:p>
            <a:fld id="{AA27B45A-DE7C-4F5D-9DF5-77B13659A844}" type="slidenum">
              <a:rPr lang="en-GB" smtClean="0"/>
              <a:t>‹#›</a:t>
            </a:fld>
            <a:endParaRPr lang="en-GB"/>
          </a:p>
        </p:txBody>
      </p:sp>
    </p:spTree>
    <p:extLst>
      <p:ext uri="{BB962C8B-B14F-4D97-AF65-F5344CB8AC3E}">
        <p14:creationId xmlns:p14="http://schemas.microsoft.com/office/powerpoint/2010/main" val="301874249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FD96CB6-2D60-E5E1-FAA6-B22C68A5AC88}"/>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GB"/>
          </a:p>
        </p:txBody>
      </p:sp>
      <p:sp>
        <p:nvSpPr>
          <p:cNvPr id="3" name="Text Placeholder 2">
            <a:extLst>
              <a:ext uri="{FF2B5EF4-FFF2-40B4-BE49-F238E27FC236}">
                <a16:creationId xmlns:a16="http://schemas.microsoft.com/office/drawing/2014/main" id="{2B4DFEFB-B6FC-97E8-0420-8614F42A3936}"/>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5FCACB70-E5AD-2414-7A9E-9413A98CB2CD}"/>
              </a:ext>
            </a:extLst>
          </p:cNvPr>
          <p:cNvSpPr>
            <a:spLocks noGrp="1"/>
          </p:cNvSpPr>
          <p:nvPr>
            <p:ph type="dt" sz="half" idx="10"/>
          </p:nvPr>
        </p:nvSpPr>
        <p:spPr/>
        <p:txBody>
          <a:bodyPr/>
          <a:lstStyle/>
          <a:p>
            <a:fld id="{22777EFD-BA5A-4BBA-84F1-F93BA90E8D59}" type="datetimeFigureOut">
              <a:rPr lang="en-GB" smtClean="0"/>
              <a:t>28/04/2026</a:t>
            </a:fld>
            <a:endParaRPr lang="en-GB"/>
          </a:p>
        </p:txBody>
      </p:sp>
      <p:sp>
        <p:nvSpPr>
          <p:cNvPr id="5" name="Footer Placeholder 4">
            <a:extLst>
              <a:ext uri="{FF2B5EF4-FFF2-40B4-BE49-F238E27FC236}">
                <a16:creationId xmlns:a16="http://schemas.microsoft.com/office/drawing/2014/main" id="{0291BE16-3402-CD75-1301-8411A8552047}"/>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BB76D5DE-157E-B1C4-E5D6-997B8380631B}"/>
              </a:ext>
            </a:extLst>
          </p:cNvPr>
          <p:cNvSpPr>
            <a:spLocks noGrp="1"/>
          </p:cNvSpPr>
          <p:nvPr>
            <p:ph type="sldNum" sz="quarter" idx="12"/>
          </p:nvPr>
        </p:nvSpPr>
        <p:spPr/>
        <p:txBody>
          <a:bodyPr/>
          <a:lstStyle/>
          <a:p>
            <a:fld id="{AA27B45A-DE7C-4F5D-9DF5-77B13659A844}" type="slidenum">
              <a:rPr lang="en-GB" smtClean="0"/>
              <a:t>‹#›</a:t>
            </a:fld>
            <a:endParaRPr lang="en-GB"/>
          </a:p>
        </p:txBody>
      </p:sp>
    </p:spTree>
    <p:extLst>
      <p:ext uri="{BB962C8B-B14F-4D97-AF65-F5344CB8AC3E}">
        <p14:creationId xmlns:p14="http://schemas.microsoft.com/office/powerpoint/2010/main" val="403513938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2C4124-BEF9-BAC4-4A92-502F3F89C9B0}"/>
              </a:ext>
            </a:extLst>
          </p:cNvPr>
          <p:cNvSpPr>
            <a:spLocks noGrp="1"/>
          </p:cNvSpPr>
          <p:nvPr>
            <p:ph type="title"/>
          </p:nvPr>
        </p:nvSpPr>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1B1B16DA-A973-2765-9BD7-12CF489C0E87}"/>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Content Placeholder 3">
            <a:extLst>
              <a:ext uri="{FF2B5EF4-FFF2-40B4-BE49-F238E27FC236}">
                <a16:creationId xmlns:a16="http://schemas.microsoft.com/office/drawing/2014/main" id="{FF9E1D39-BFDA-61CF-78DC-94DF7546F70E}"/>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Date Placeholder 4">
            <a:extLst>
              <a:ext uri="{FF2B5EF4-FFF2-40B4-BE49-F238E27FC236}">
                <a16:creationId xmlns:a16="http://schemas.microsoft.com/office/drawing/2014/main" id="{D30093C1-4D62-6FF6-BE43-F8901F4FC990}"/>
              </a:ext>
            </a:extLst>
          </p:cNvPr>
          <p:cNvSpPr>
            <a:spLocks noGrp="1"/>
          </p:cNvSpPr>
          <p:nvPr>
            <p:ph type="dt" sz="half" idx="10"/>
          </p:nvPr>
        </p:nvSpPr>
        <p:spPr/>
        <p:txBody>
          <a:bodyPr/>
          <a:lstStyle/>
          <a:p>
            <a:fld id="{22777EFD-BA5A-4BBA-84F1-F93BA90E8D59}" type="datetimeFigureOut">
              <a:rPr lang="en-GB" smtClean="0"/>
              <a:t>28/04/2026</a:t>
            </a:fld>
            <a:endParaRPr lang="en-GB"/>
          </a:p>
        </p:txBody>
      </p:sp>
      <p:sp>
        <p:nvSpPr>
          <p:cNvPr id="6" name="Footer Placeholder 5">
            <a:extLst>
              <a:ext uri="{FF2B5EF4-FFF2-40B4-BE49-F238E27FC236}">
                <a16:creationId xmlns:a16="http://schemas.microsoft.com/office/drawing/2014/main" id="{3E25002F-B48B-EA8B-7281-98E8E40D17B4}"/>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58093356-501F-42A2-D46E-FC25D459D66B}"/>
              </a:ext>
            </a:extLst>
          </p:cNvPr>
          <p:cNvSpPr>
            <a:spLocks noGrp="1"/>
          </p:cNvSpPr>
          <p:nvPr>
            <p:ph type="sldNum" sz="quarter" idx="12"/>
          </p:nvPr>
        </p:nvSpPr>
        <p:spPr/>
        <p:txBody>
          <a:bodyPr/>
          <a:lstStyle/>
          <a:p>
            <a:fld id="{AA27B45A-DE7C-4F5D-9DF5-77B13659A844}" type="slidenum">
              <a:rPr lang="en-GB" smtClean="0"/>
              <a:t>‹#›</a:t>
            </a:fld>
            <a:endParaRPr lang="en-GB"/>
          </a:p>
        </p:txBody>
      </p:sp>
    </p:spTree>
    <p:extLst>
      <p:ext uri="{BB962C8B-B14F-4D97-AF65-F5344CB8AC3E}">
        <p14:creationId xmlns:p14="http://schemas.microsoft.com/office/powerpoint/2010/main" val="90005759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73D988-3B4A-2032-A58A-87808EA90C0C}"/>
              </a:ext>
            </a:extLst>
          </p:cNvPr>
          <p:cNvSpPr>
            <a:spLocks noGrp="1"/>
          </p:cNvSpPr>
          <p:nvPr>
            <p:ph type="title"/>
          </p:nvPr>
        </p:nvSpPr>
        <p:spPr>
          <a:xfrm>
            <a:off x="839788" y="365125"/>
            <a:ext cx="10515600" cy="1325563"/>
          </a:xfrm>
        </p:spPr>
        <p:txBody>
          <a:bodyPr/>
          <a:lstStyle/>
          <a:p>
            <a:r>
              <a:rPr lang="en-US"/>
              <a:t>Click to edit Master title style</a:t>
            </a:r>
            <a:endParaRPr lang="en-GB"/>
          </a:p>
        </p:txBody>
      </p:sp>
      <p:sp>
        <p:nvSpPr>
          <p:cNvPr id="3" name="Text Placeholder 2">
            <a:extLst>
              <a:ext uri="{FF2B5EF4-FFF2-40B4-BE49-F238E27FC236}">
                <a16:creationId xmlns:a16="http://schemas.microsoft.com/office/drawing/2014/main" id="{AB417348-01F4-2AEA-F60A-D99690CA9846}"/>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CD10C523-59D0-0D2E-310F-3FA95B53AE8A}"/>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Text Placeholder 4">
            <a:extLst>
              <a:ext uri="{FF2B5EF4-FFF2-40B4-BE49-F238E27FC236}">
                <a16:creationId xmlns:a16="http://schemas.microsoft.com/office/drawing/2014/main" id="{307D0804-BE94-ED43-FAD8-88866C69B24A}"/>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D0C36403-DC10-30B6-6C10-132D51565137}"/>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7" name="Date Placeholder 6">
            <a:extLst>
              <a:ext uri="{FF2B5EF4-FFF2-40B4-BE49-F238E27FC236}">
                <a16:creationId xmlns:a16="http://schemas.microsoft.com/office/drawing/2014/main" id="{DD1B11BD-1CA8-E940-3DE4-E5C33BFCA825}"/>
              </a:ext>
            </a:extLst>
          </p:cNvPr>
          <p:cNvSpPr>
            <a:spLocks noGrp="1"/>
          </p:cNvSpPr>
          <p:nvPr>
            <p:ph type="dt" sz="half" idx="10"/>
          </p:nvPr>
        </p:nvSpPr>
        <p:spPr/>
        <p:txBody>
          <a:bodyPr/>
          <a:lstStyle/>
          <a:p>
            <a:fld id="{22777EFD-BA5A-4BBA-84F1-F93BA90E8D59}" type="datetimeFigureOut">
              <a:rPr lang="en-GB" smtClean="0"/>
              <a:t>28/04/2026</a:t>
            </a:fld>
            <a:endParaRPr lang="en-GB"/>
          </a:p>
        </p:txBody>
      </p:sp>
      <p:sp>
        <p:nvSpPr>
          <p:cNvPr id="8" name="Footer Placeholder 7">
            <a:extLst>
              <a:ext uri="{FF2B5EF4-FFF2-40B4-BE49-F238E27FC236}">
                <a16:creationId xmlns:a16="http://schemas.microsoft.com/office/drawing/2014/main" id="{71356A1F-3F65-8E5F-345D-6C268980C334}"/>
              </a:ext>
            </a:extLst>
          </p:cNvPr>
          <p:cNvSpPr>
            <a:spLocks noGrp="1"/>
          </p:cNvSpPr>
          <p:nvPr>
            <p:ph type="ftr" sz="quarter" idx="11"/>
          </p:nvPr>
        </p:nvSpPr>
        <p:spPr/>
        <p:txBody>
          <a:bodyPr/>
          <a:lstStyle/>
          <a:p>
            <a:endParaRPr lang="en-GB"/>
          </a:p>
        </p:txBody>
      </p:sp>
      <p:sp>
        <p:nvSpPr>
          <p:cNvPr id="9" name="Slide Number Placeholder 8">
            <a:extLst>
              <a:ext uri="{FF2B5EF4-FFF2-40B4-BE49-F238E27FC236}">
                <a16:creationId xmlns:a16="http://schemas.microsoft.com/office/drawing/2014/main" id="{FBA69185-8BBA-3829-46B4-47AF79B4FAC3}"/>
              </a:ext>
            </a:extLst>
          </p:cNvPr>
          <p:cNvSpPr>
            <a:spLocks noGrp="1"/>
          </p:cNvSpPr>
          <p:nvPr>
            <p:ph type="sldNum" sz="quarter" idx="12"/>
          </p:nvPr>
        </p:nvSpPr>
        <p:spPr/>
        <p:txBody>
          <a:bodyPr/>
          <a:lstStyle/>
          <a:p>
            <a:fld id="{AA27B45A-DE7C-4F5D-9DF5-77B13659A844}" type="slidenum">
              <a:rPr lang="en-GB" smtClean="0"/>
              <a:t>‹#›</a:t>
            </a:fld>
            <a:endParaRPr lang="en-GB"/>
          </a:p>
        </p:txBody>
      </p:sp>
    </p:spTree>
    <p:extLst>
      <p:ext uri="{BB962C8B-B14F-4D97-AF65-F5344CB8AC3E}">
        <p14:creationId xmlns:p14="http://schemas.microsoft.com/office/powerpoint/2010/main" val="165512889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A57407-F775-6A74-8328-7ACA877D3271}"/>
              </a:ext>
            </a:extLst>
          </p:cNvPr>
          <p:cNvSpPr>
            <a:spLocks noGrp="1"/>
          </p:cNvSpPr>
          <p:nvPr>
            <p:ph type="title"/>
          </p:nvPr>
        </p:nvSpPr>
        <p:spPr/>
        <p:txBody>
          <a:bodyPr/>
          <a:lstStyle/>
          <a:p>
            <a:r>
              <a:rPr lang="en-US"/>
              <a:t>Click to edit Master title style</a:t>
            </a:r>
            <a:endParaRPr lang="en-GB"/>
          </a:p>
        </p:txBody>
      </p:sp>
      <p:sp>
        <p:nvSpPr>
          <p:cNvPr id="3" name="Date Placeholder 2">
            <a:extLst>
              <a:ext uri="{FF2B5EF4-FFF2-40B4-BE49-F238E27FC236}">
                <a16:creationId xmlns:a16="http://schemas.microsoft.com/office/drawing/2014/main" id="{4DE9357D-67A2-2995-4FC8-78BFE1D46076}"/>
              </a:ext>
            </a:extLst>
          </p:cNvPr>
          <p:cNvSpPr>
            <a:spLocks noGrp="1"/>
          </p:cNvSpPr>
          <p:nvPr>
            <p:ph type="dt" sz="half" idx="10"/>
          </p:nvPr>
        </p:nvSpPr>
        <p:spPr/>
        <p:txBody>
          <a:bodyPr/>
          <a:lstStyle/>
          <a:p>
            <a:fld id="{22777EFD-BA5A-4BBA-84F1-F93BA90E8D59}" type="datetimeFigureOut">
              <a:rPr lang="en-GB" smtClean="0"/>
              <a:t>28/04/2026</a:t>
            </a:fld>
            <a:endParaRPr lang="en-GB"/>
          </a:p>
        </p:txBody>
      </p:sp>
      <p:sp>
        <p:nvSpPr>
          <p:cNvPr id="4" name="Footer Placeholder 3">
            <a:extLst>
              <a:ext uri="{FF2B5EF4-FFF2-40B4-BE49-F238E27FC236}">
                <a16:creationId xmlns:a16="http://schemas.microsoft.com/office/drawing/2014/main" id="{96456904-79A1-C20C-4F80-C88AAAA59FE7}"/>
              </a:ext>
            </a:extLst>
          </p:cNvPr>
          <p:cNvSpPr>
            <a:spLocks noGrp="1"/>
          </p:cNvSpPr>
          <p:nvPr>
            <p:ph type="ftr" sz="quarter" idx="11"/>
          </p:nvPr>
        </p:nvSpPr>
        <p:spPr/>
        <p:txBody>
          <a:bodyPr/>
          <a:lstStyle/>
          <a:p>
            <a:endParaRPr lang="en-GB"/>
          </a:p>
        </p:txBody>
      </p:sp>
      <p:sp>
        <p:nvSpPr>
          <p:cNvPr id="5" name="Slide Number Placeholder 4">
            <a:extLst>
              <a:ext uri="{FF2B5EF4-FFF2-40B4-BE49-F238E27FC236}">
                <a16:creationId xmlns:a16="http://schemas.microsoft.com/office/drawing/2014/main" id="{97EAB5FF-34EA-0346-88F5-38B8A1A3B9E7}"/>
              </a:ext>
            </a:extLst>
          </p:cNvPr>
          <p:cNvSpPr>
            <a:spLocks noGrp="1"/>
          </p:cNvSpPr>
          <p:nvPr>
            <p:ph type="sldNum" sz="quarter" idx="12"/>
          </p:nvPr>
        </p:nvSpPr>
        <p:spPr/>
        <p:txBody>
          <a:bodyPr/>
          <a:lstStyle/>
          <a:p>
            <a:fld id="{AA27B45A-DE7C-4F5D-9DF5-77B13659A844}" type="slidenum">
              <a:rPr lang="en-GB" smtClean="0"/>
              <a:t>‹#›</a:t>
            </a:fld>
            <a:endParaRPr lang="en-GB"/>
          </a:p>
        </p:txBody>
      </p:sp>
    </p:spTree>
    <p:extLst>
      <p:ext uri="{BB962C8B-B14F-4D97-AF65-F5344CB8AC3E}">
        <p14:creationId xmlns:p14="http://schemas.microsoft.com/office/powerpoint/2010/main" val="15185440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AC93BB56-CC67-59B5-EBDC-C727AA9EBCD3}"/>
              </a:ext>
            </a:extLst>
          </p:cNvPr>
          <p:cNvSpPr>
            <a:spLocks noGrp="1"/>
          </p:cNvSpPr>
          <p:nvPr>
            <p:ph type="dt" sz="half" idx="10"/>
          </p:nvPr>
        </p:nvSpPr>
        <p:spPr/>
        <p:txBody>
          <a:bodyPr/>
          <a:lstStyle/>
          <a:p>
            <a:fld id="{22777EFD-BA5A-4BBA-84F1-F93BA90E8D59}" type="datetimeFigureOut">
              <a:rPr lang="en-GB" smtClean="0"/>
              <a:t>28/04/2026</a:t>
            </a:fld>
            <a:endParaRPr lang="en-GB"/>
          </a:p>
        </p:txBody>
      </p:sp>
      <p:sp>
        <p:nvSpPr>
          <p:cNvPr id="3" name="Footer Placeholder 2">
            <a:extLst>
              <a:ext uri="{FF2B5EF4-FFF2-40B4-BE49-F238E27FC236}">
                <a16:creationId xmlns:a16="http://schemas.microsoft.com/office/drawing/2014/main" id="{DC8A00D5-92FF-B2CD-109A-4DBBC847C11B}"/>
              </a:ext>
            </a:extLst>
          </p:cNvPr>
          <p:cNvSpPr>
            <a:spLocks noGrp="1"/>
          </p:cNvSpPr>
          <p:nvPr>
            <p:ph type="ftr" sz="quarter" idx="11"/>
          </p:nvPr>
        </p:nvSpPr>
        <p:spPr/>
        <p:txBody>
          <a:bodyPr/>
          <a:lstStyle/>
          <a:p>
            <a:endParaRPr lang="en-GB"/>
          </a:p>
        </p:txBody>
      </p:sp>
      <p:sp>
        <p:nvSpPr>
          <p:cNvPr id="4" name="Slide Number Placeholder 3">
            <a:extLst>
              <a:ext uri="{FF2B5EF4-FFF2-40B4-BE49-F238E27FC236}">
                <a16:creationId xmlns:a16="http://schemas.microsoft.com/office/drawing/2014/main" id="{E24B2D27-4405-3D5D-8D0E-29C6D563A37A}"/>
              </a:ext>
            </a:extLst>
          </p:cNvPr>
          <p:cNvSpPr>
            <a:spLocks noGrp="1"/>
          </p:cNvSpPr>
          <p:nvPr>
            <p:ph type="sldNum" sz="quarter" idx="12"/>
          </p:nvPr>
        </p:nvSpPr>
        <p:spPr/>
        <p:txBody>
          <a:bodyPr/>
          <a:lstStyle/>
          <a:p>
            <a:fld id="{AA27B45A-DE7C-4F5D-9DF5-77B13659A844}" type="slidenum">
              <a:rPr lang="en-GB" smtClean="0"/>
              <a:t>‹#›</a:t>
            </a:fld>
            <a:endParaRPr lang="en-GB"/>
          </a:p>
        </p:txBody>
      </p:sp>
    </p:spTree>
    <p:extLst>
      <p:ext uri="{BB962C8B-B14F-4D97-AF65-F5344CB8AC3E}">
        <p14:creationId xmlns:p14="http://schemas.microsoft.com/office/powerpoint/2010/main" val="161278401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25BDF7-2900-F9C3-A678-E1D6E9F2A402}"/>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GB"/>
          </a:p>
        </p:txBody>
      </p:sp>
      <p:sp>
        <p:nvSpPr>
          <p:cNvPr id="3" name="Content Placeholder 2">
            <a:extLst>
              <a:ext uri="{FF2B5EF4-FFF2-40B4-BE49-F238E27FC236}">
                <a16:creationId xmlns:a16="http://schemas.microsoft.com/office/drawing/2014/main" id="{7420F0BA-8621-D4CC-3B03-AE605AE2B710}"/>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Text Placeholder 3">
            <a:extLst>
              <a:ext uri="{FF2B5EF4-FFF2-40B4-BE49-F238E27FC236}">
                <a16:creationId xmlns:a16="http://schemas.microsoft.com/office/drawing/2014/main" id="{EB7EABD6-B29D-F129-FE48-0B22EDA0279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19093D2A-8746-F7A2-CBD0-3B1AA97473DE}"/>
              </a:ext>
            </a:extLst>
          </p:cNvPr>
          <p:cNvSpPr>
            <a:spLocks noGrp="1"/>
          </p:cNvSpPr>
          <p:nvPr>
            <p:ph type="dt" sz="half" idx="10"/>
          </p:nvPr>
        </p:nvSpPr>
        <p:spPr/>
        <p:txBody>
          <a:bodyPr/>
          <a:lstStyle/>
          <a:p>
            <a:fld id="{22777EFD-BA5A-4BBA-84F1-F93BA90E8D59}" type="datetimeFigureOut">
              <a:rPr lang="en-GB" smtClean="0"/>
              <a:t>28/04/2026</a:t>
            </a:fld>
            <a:endParaRPr lang="en-GB"/>
          </a:p>
        </p:txBody>
      </p:sp>
      <p:sp>
        <p:nvSpPr>
          <p:cNvPr id="6" name="Footer Placeholder 5">
            <a:extLst>
              <a:ext uri="{FF2B5EF4-FFF2-40B4-BE49-F238E27FC236}">
                <a16:creationId xmlns:a16="http://schemas.microsoft.com/office/drawing/2014/main" id="{758CB57D-1FA9-6EB6-02BF-56D04A653C3C}"/>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7FD4586E-D6BD-BFA1-5310-817574FBA239}"/>
              </a:ext>
            </a:extLst>
          </p:cNvPr>
          <p:cNvSpPr>
            <a:spLocks noGrp="1"/>
          </p:cNvSpPr>
          <p:nvPr>
            <p:ph type="sldNum" sz="quarter" idx="12"/>
          </p:nvPr>
        </p:nvSpPr>
        <p:spPr/>
        <p:txBody>
          <a:bodyPr/>
          <a:lstStyle/>
          <a:p>
            <a:fld id="{AA27B45A-DE7C-4F5D-9DF5-77B13659A844}" type="slidenum">
              <a:rPr lang="en-GB" smtClean="0"/>
              <a:t>‹#›</a:t>
            </a:fld>
            <a:endParaRPr lang="en-GB"/>
          </a:p>
        </p:txBody>
      </p:sp>
    </p:spTree>
    <p:extLst>
      <p:ext uri="{BB962C8B-B14F-4D97-AF65-F5344CB8AC3E}">
        <p14:creationId xmlns:p14="http://schemas.microsoft.com/office/powerpoint/2010/main" val="133431341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F80EECB-DD58-E9E2-5C9B-4276DD18D41F}"/>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GB"/>
          </a:p>
        </p:txBody>
      </p:sp>
      <p:sp>
        <p:nvSpPr>
          <p:cNvPr id="3" name="Picture Placeholder 2">
            <a:extLst>
              <a:ext uri="{FF2B5EF4-FFF2-40B4-BE49-F238E27FC236}">
                <a16:creationId xmlns:a16="http://schemas.microsoft.com/office/drawing/2014/main" id="{7326B87A-7273-31CB-5DFB-3B22518F106D}"/>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GB"/>
          </a:p>
        </p:txBody>
      </p:sp>
      <p:sp>
        <p:nvSpPr>
          <p:cNvPr id="4" name="Text Placeholder 3">
            <a:extLst>
              <a:ext uri="{FF2B5EF4-FFF2-40B4-BE49-F238E27FC236}">
                <a16:creationId xmlns:a16="http://schemas.microsoft.com/office/drawing/2014/main" id="{5DE6E16C-4AFA-6C69-D862-346B8924A49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86550129-4C19-8319-F622-A064B772C855}"/>
              </a:ext>
            </a:extLst>
          </p:cNvPr>
          <p:cNvSpPr>
            <a:spLocks noGrp="1"/>
          </p:cNvSpPr>
          <p:nvPr>
            <p:ph type="dt" sz="half" idx="10"/>
          </p:nvPr>
        </p:nvSpPr>
        <p:spPr/>
        <p:txBody>
          <a:bodyPr/>
          <a:lstStyle/>
          <a:p>
            <a:fld id="{22777EFD-BA5A-4BBA-84F1-F93BA90E8D59}" type="datetimeFigureOut">
              <a:rPr lang="en-GB" smtClean="0"/>
              <a:t>28/04/2026</a:t>
            </a:fld>
            <a:endParaRPr lang="en-GB"/>
          </a:p>
        </p:txBody>
      </p:sp>
      <p:sp>
        <p:nvSpPr>
          <p:cNvPr id="6" name="Footer Placeholder 5">
            <a:extLst>
              <a:ext uri="{FF2B5EF4-FFF2-40B4-BE49-F238E27FC236}">
                <a16:creationId xmlns:a16="http://schemas.microsoft.com/office/drawing/2014/main" id="{7556B7C3-5D05-7776-4196-27E477F08FFA}"/>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6763AED1-E43A-7AC2-3C03-6A7E263AA1F4}"/>
              </a:ext>
            </a:extLst>
          </p:cNvPr>
          <p:cNvSpPr>
            <a:spLocks noGrp="1"/>
          </p:cNvSpPr>
          <p:nvPr>
            <p:ph type="sldNum" sz="quarter" idx="12"/>
          </p:nvPr>
        </p:nvSpPr>
        <p:spPr/>
        <p:txBody>
          <a:bodyPr/>
          <a:lstStyle/>
          <a:p>
            <a:fld id="{AA27B45A-DE7C-4F5D-9DF5-77B13659A844}" type="slidenum">
              <a:rPr lang="en-GB" smtClean="0"/>
              <a:t>‹#›</a:t>
            </a:fld>
            <a:endParaRPr lang="en-GB"/>
          </a:p>
        </p:txBody>
      </p:sp>
    </p:spTree>
    <p:extLst>
      <p:ext uri="{BB962C8B-B14F-4D97-AF65-F5344CB8AC3E}">
        <p14:creationId xmlns:p14="http://schemas.microsoft.com/office/powerpoint/2010/main" val="253065986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37DB9A-2AFC-D580-E3F5-A5AAA2AFDAB4}"/>
              </a:ext>
            </a:extLst>
          </p:cNvPr>
          <p:cNvSpPr>
            <a:spLocks noGrp="1"/>
          </p:cNvSpPr>
          <p:nvPr>
            <p:ph type="title"/>
          </p:nvPr>
        </p:nvSpPr>
        <p:spPr/>
        <p:txBody>
          <a:bodyPr/>
          <a:lstStyle/>
          <a:p>
            <a:r>
              <a:rPr lang="en-US"/>
              <a:t>Click to edit Master title style</a:t>
            </a:r>
            <a:endParaRPr lang="en-GB"/>
          </a:p>
        </p:txBody>
      </p:sp>
      <p:sp>
        <p:nvSpPr>
          <p:cNvPr id="3" name="Vertical Text Placeholder 2">
            <a:extLst>
              <a:ext uri="{FF2B5EF4-FFF2-40B4-BE49-F238E27FC236}">
                <a16:creationId xmlns:a16="http://schemas.microsoft.com/office/drawing/2014/main" id="{3F9E1267-405F-DA68-8540-88A1DD67F344}"/>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B9AFA79A-0E5B-4800-A7C5-DAA13EA5084C}"/>
              </a:ext>
            </a:extLst>
          </p:cNvPr>
          <p:cNvSpPr>
            <a:spLocks noGrp="1"/>
          </p:cNvSpPr>
          <p:nvPr>
            <p:ph type="dt" sz="half" idx="10"/>
          </p:nvPr>
        </p:nvSpPr>
        <p:spPr/>
        <p:txBody>
          <a:bodyPr/>
          <a:lstStyle/>
          <a:p>
            <a:fld id="{22777EFD-BA5A-4BBA-84F1-F93BA90E8D59}" type="datetimeFigureOut">
              <a:rPr lang="en-GB" smtClean="0"/>
              <a:t>28/04/2026</a:t>
            </a:fld>
            <a:endParaRPr lang="en-GB"/>
          </a:p>
        </p:txBody>
      </p:sp>
      <p:sp>
        <p:nvSpPr>
          <p:cNvPr id="5" name="Footer Placeholder 4">
            <a:extLst>
              <a:ext uri="{FF2B5EF4-FFF2-40B4-BE49-F238E27FC236}">
                <a16:creationId xmlns:a16="http://schemas.microsoft.com/office/drawing/2014/main" id="{0266CF85-AA6F-ACD6-9122-13648392C0DB}"/>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6D57466B-B120-9997-5EE8-A5533C2F2BA6}"/>
              </a:ext>
            </a:extLst>
          </p:cNvPr>
          <p:cNvSpPr>
            <a:spLocks noGrp="1"/>
          </p:cNvSpPr>
          <p:nvPr>
            <p:ph type="sldNum" sz="quarter" idx="12"/>
          </p:nvPr>
        </p:nvSpPr>
        <p:spPr/>
        <p:txBody>
          <a:bodyPr/>
          <a:lstStyle/>
          <a:p>
            <a:fld id="{AA27B45A-DE7C-4F5D-9DF5-77B13659A844}" type="slidenum">
              <a:rPr lang="en-GB" smtClean="0"/>
              <a:t>‹#›</a:t>
            </a:fld>
            <a:endParaRPr lang="en-GB"/>
          </a:p>
        </p:txBody>
      </p:sp>
    </p:spTree>
    <p:extLst>
      <p:ext uri="{BB962C8B-B14F-4D97-AF65-F5344CB8AC3E}">
        <p14:creationId xmlns:p14="http://schemas.microsoft.com/office/powerpoint/2010/main" val="59445828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1782A269-0555-F937-D483-C60FAB150F4A}"/>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GB"/>
          </a:p>
        </p:txBody>
      </p:sp>
      <p:sp>
        <p:nvSpPr>
          <p:cNvPr id="3" name="Vertical Text Placeholder 2">
            <a:extLst>
              <a:ext uri="{FF2B5EF4-FFF2-40B4-BE49-F238E27FC236}">
                <a16:creationId xmlns:a16="http://schemas.microsoft.com/office/drawing/2014/main" id="{0AC912DD-3E6F-E4E9-B728-2909D92AA82E}"/>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F8B86D3D-723B-C06B-49CF-3AECA2FD6F7B}"/>
              </a:ext>
            </a:extLst>
          </p:cNvPr>
          <p:cNvSpPr>
            <a:spLocks noGrp="1"/>
          </p:cNvSpPr>
          <p:nvPr>
            <p:ph type="dt" sz="half" idx="10"/>
          </p:nvPr>
        </p:nvSpPr>
        <p:spPr/>
        <p:txBody>
          <a:bodyPr/>
          <a:lstStyle/>
          <a:p>
            <a:fld id="{22777EFD-BA5A-4BBA-84F1-F93BA90E8D59}" type="datetimeFigureOut">
              <a:rPr lang="en-GB" smtClean="0"/>
              <a:t>28/04/2026</a:t>
            </a:fld>
            <a:endParaRPr lang="en-GB"/>
          </a:p>
        </p:txBody>
      </p:sp>
      <p:sp>
        <p:nvSpPr>
          <p:cNvPr id="5" name="Footer Placeholder 4">
            <a:extLst>
              <a:ext uri="{FF2B5EF4-FFF2-40B4-BE49-F238E27FC236}">
                <a16:creationId xmlns:a16="http://schemas.microsoft.com/office/drawing/2014/main" id="{60528DD1-69AB-C392-D38F-A3D5049A0290}"/>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572F4CFE-14EC-EAA2-DAA8-AC5DCC54C020}"/>
              </a:ext>
            </a:extLst>
          </p:cNvPr>
          <p:cNvSpPr>
            <a:spLocks noGrp="1"/>
          </p:cNvSpPr>
          <p:nvPr>
            <p:ph type="sldNum" sz="quarter" idx="12"/>
          </p:nvPr>
        </p:nvSpPr>
        <p:spPr/>
        <p:txBody>
          <a:bodyPr/>
          <a:lstStyle/>
          <a:p>
            <a:fld id="{AA27B45A-DE7C-4F5D-9DF5-77B13659A844}" type="slidenum">
              <a:rPr lang="en-GB" smtClean="0"/>
              <a:t>‹#›</a:t>
            </a:fld>
            <a:endParaRPr lang="en-GB"/>
          </a:p>
        </p:txBody>
      </p:sp>
    </p:spTree>
    <p:extLst>
      <p:ext uri="{BB962C8B-B14F-4D97-AF65-F5344CB8AC3E}">
        <p14:creationId xmlns:p14="http://schemas.microsoft.com/office/powerpoint/2010/main" val="304839377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943EC7AC-6B17-5DCE-25BB-2F9E463C1D20}"/>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GB"/>
          </a:p>
        </p:txBody>
      </p:sp>
      <p:sp>
        <p:nvSpPr>
          <p:cNvPr id="3" name="Text Placeholder 2">
            <a:extLst>
              <a:ext uri="{FF2B5EF4-FFF2-40B4-BE49-F238E27FC236}">
                <a16:creationId xmlns:a16="http://schemas.microsoft.com/office/drawing/2014/main" id="{920F5503-1A39-03FE-59AA-D598008AC24B}"/>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8263C4A2-1602-51B9-3138-9A3C775C3194}"/>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22777EFD-BA5A-4BBA-84F1-F93BA90E8D59}" type="datetimeFigureOut">
              <a:rPr lang="en-GB" smtClean="0"/>
              <a:t>28/04/2026</a:t>
            </a:fld>
            <a:endParaRPr lang="en-GB"/>
          </a:p>
        </p:txBody>
      </p:sp>
      <p:sp>
        <p:nvSpPr>
          <p:cNvPr id="5" name="Footer Placeholder 4">
            <a:extLst>
              <a:ext uri="{FF2B5EF4-FFF2-40B4-BE49-F238E27FC236}">
                <a16:creationId xmlns:a16="http://schemas.microsoft.com/office/drawing/2014/main" id="{811A0F51-ECF3-3F02-C83E-93014A15A8E8}"/>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GB"/>
          </a:p>
        </p:txBody>
      </p:sp>
      <p:sp>
        <p:nvSpPr>
          <p:cNvPr id="6" name="Slide Number Placeholder 5">
            <a:extLst>
              <a:ext uri="{FF2B5EF4-FFF2-40B4-BE49-F238E27FC236}">
                <a16:creationId xmlns:a16="http://schemas.microsoft.com/office/drawing/2014/main" id="{DACF8940-F876-F98A-612F-7EACDA00143A}"/>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AA27B45A-DE7C-4F5D-9DF5-77B13659A844}" type="slidenum">
              <a:rPr lang="en-GB" smtClean="0"/>
              <a:t>‹#›</a:t>
            </a:fld>
            <a:endParaRPr lang="en-GB"/>
          </a:p>
        </p:txBody>
      </p:sp>
    </p:spTree>
    <p:extLst>
      <p:ext uri="{BB962C8B-B14F-4D97-AF65-F5344CB8AC3E}">
        <p14:creationId xmlns:p14="http://schemas.microsoft.com/office/powerpoint/2010/main" val="289139315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hyperlink" Target="https://code.visualstudio.com/download" TargetMode="External"/><Relationship Id="rId2" Type="http://schemas.openxmlformats.org/officeDocument/2006/relationships/hyperlink" Target="https://www.python.org/downloads/release/python-31213/" TargetMode="Externa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2.xml"/><Relationship Id="rId4" Type="http://schemas.openxmlformats.org/officeDocument/2006/relationships/image" Target="../media/image11.png"/></Relationships>
</file>

<file path=ppt/slides/_rels/slide48.xml.rels><?xml version="1.0" encoding="UTF-8" standalone="yes"?>
<Relationships xmlns="http://schemas.openxmlformats.org/package/2006/relationships"><Relationship Id="rId8" Type="http://schemas.openxmlformats.org/officeDocument/2006/relationships/hyperlink" Target="https://pxhere.com/en/photo/663825" TargetMode="External"/><Relationship Id="rId13" Type="http://schemas.openxmlformats.org/officeDocument/2006/relationships/image" Target="../media/image20.png"/><Relationship Id="rId3" Type="http://schemas.openxmlformats.org/officeDocument/2006/relationships/image" Target="../media/image13.png"/><Relationship Id="rId7" Type="http://schemas.openxmlformats.org/officeDocument/2006/relationships/image" Target="../media/image16.jpg"/><Relationship Id="rId12" Type="http://schemas.openxmlformats.org/officeDocument/2006/relationships/image" Target="../media/image19.png"/><Relationship Id="rId2" Type="http://schemas.openxmlformats.org/officeDocument/2006/relationships/image" Target="../media/image12.png"/><Relationship Id="rId1" Type="http://schemas.openxmlformats.org/officeDocument/2006/relationships/slideLayout" Target="../slideLayouts/slideLayout2.xml"/><Relationship Id="rId6" Type="http://schemas.openxmlformats.org/officeDocument/2006/relationships/image" Target="../media/image15.png"/><Relationship Id="rId11" Type="http://schemas.openxmlformats.org/officeDocument/2006/relationships/hyperlink" Target="https://shop.mcdowellsherbal.com/us/content/modern-dogs-health-problems.html" TargetMode="External"/><Relationship Id="rId5" Type="http://schemas.openxmlformats.org/officeDocument/2006/relationships/hyperlink" Target="https://pxhere.com/en/photo/793339" TargetMode="External"/><Relationship Id="rId10" Type="http://schemas.openxmlformats.org/officeDocument/2006/relationships/image" Target="../media/image18.jpg"/><Relationship Id="rId4" Type="http://schemas.openxmlformats.org/officeDocument/2006/relationships/image" Target="../media/image14.jpg"/><Relationship Id="rId9" Type="http://schemas.openxmlformats.org/officeDocument/2006/relationships/image" Target="../media/image17.png"/></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2" Type="http://schemas.openxmlformats.org/officeDocument/2006/relationships/image" Target="../media/image23.jpeg"/><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2" Type="http://schemas.openxmlformats.org/officeDocument/2006/relationships/image" Target="../media/image25.jpeg"/><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3" Type="http://schemas.openxmlformats.org/officeDocument/2006/relationships/image" Target="../media/image27.png"/><Relationship Id="rId7" Type="http://schemas.openxmlformats.org/officeDocument/2006/relationships/image" Target="../media/image31.png"/><Relationship Id="rId2" Type="http://schemas.openxmlformats.org/officeDocument/2006/relationships/image" Target="../media/image26.png"/><Relationship Id="rId1" Type="http://schemas.openxmlformats.org/officeDocument/2006/relationships/slideLayout" Target="../slideLayouts/slideLayout2.xml"/><Relationship Id="rId6" Type="http://schemas.openxmlformats.org/officeDocument/2006/relationships/image" Target="../media/image30.png"/><Relationship Id="rId5" Type="http://schemas.openxmlformats.org/officeDocument/2006/relationships/image" Target="../media/image29.png"/><Relationship Id="rId4" Type="http://schemas.openxmlformats.org/officeDocument/2006/relationships/image" Target="../media/image28.png"/></Relationships>
</file>

<file path=ppt/slides/_rels/slide60.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image" Target="../media/image32.png"/><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2" Type="http://schemas.openxmlformats.org/officeDocument/2006/relationships/image" Target="../media/image34.jpeg"/><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image" Target="../media/image36.png"/><Relationship Id="rId1" Type="http://schemas.openxmlformats.org/officeDocument/2006/relationships/slideLayout" Target="../slideLayouts/slideLayout2.xml"/><Relationship Id="rId6" Type="http://schemas.openxmlformats.org/officeDocument/2006/relationships/image" Target="../media/image40.png"/><Relationship Id="rId5" Type="http://schemas.openxmlformats.org/officeDocument/2006/relationships/image" Target="../media/image39.png"/><Relationship Id="rId4" Type="http://schemas.openxmlformats.org/officeDocument/2006/relationships/image" Target="../media/image38.png"/></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AC84D9-ACEE-61D8-3103-F1EC3658184C}"/>
              </a:ext>
            </a:extLst>
          </p:cNvPr>
          <p:cNvSpPr>
            <a:spLocks noGrp="1"/>
          </p:cNvSpPr>
          <p:nvPr>
            <p:ph type="ctrTitle"/>
          </p:nvPr>
        </p:nvSpPr>
        <p:spPr/>
        <p:txBody>
          <a:bodyPr/>
          <a:lstStyle/>
          <a:p>
            <a:r>
              <a:rPr lang="en-US" noProof="0" dirty="0"/>
              <a:t>ML to Agentic AI</a:t>
            </a:r>
          </a:p>
        </p:txBody>
      </p:sp>
      <p:sp>
        <p:nvSpPr>
          <p:cNvPr id="3" name="Subtitle 2">
            <a:extLst>
              <a:ext uri="{FF2B5EF4-FFF2-40B4-BE49-F238E27FC236}">
                <a16:creationId xmlns:a16="http://schemas.microsoft.com/office/drawing/2014/main" id="{1A5A1F8A-388E-8DED-E08F-EF96EF488C2D}"/>
              </a:ext>
            </a:extLst>
          </p:cNvPr>
          <p:cNvSpPr>
            <a:spLocks noGrp="1"/>
          </p:cNvSpPr>
          <p:nvPr>
            <p:ph type="subTitle" idx="1"/>
          </p:nvPr>
        </p:nvSpPr>
        <p:spPr/>
        <p:txBody>
          <a:bodyPr/>
          <a:lstStyle/>
          <a:p>
            <a:r>
              <a:rPr lang="en-US" noProof="0" dirty="0"/>
              <a:t>Atul Kahate</a:t>
            </a:r>
          </a:p>
        </p:txBody>
      </p:sp>
    </p:spTree>
    <p:extLst>
      <p:ext uri="{BB962C8B-B14F-4D97-AF65-F5344CB8AC3E}">
        <p14:creationId xmlns:p14="http://schemas.microsoft.com/office/powerpoint/2010/main" val="38817854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D34021-B907-4C6A-9A4A-A1FB64DED210}"/>
              </a:ext>
            </a:extLst>
          </p:cNvPr>
          <p:cNvSpPr>
            <a:spLocks noGrp="1"/>
          </p:cNvSpPr>
          <p:nvPr>
            <p:ph type="title"/>
          </p:nvPr>
        </p:nvSpPr>
        <p:spPr/>
        <p:txBody>
          <a:bodyPr/>
          <a:lstStyle/>
          <a:p>
            <a:r>
              <a:rPr lang="en-US" noProof="0" dirty="0"/>
              <a:t>The Basics</a:t>
            </a:r>
          </a:p>
        </p:txBody>
      </p:sp>
      <p:graphicFrame>
        <p:nvGraphicFramePr>
          <p:cNvPr id="4" name="Content Placeholder 3">
            <a:extLst>
              <a:ext uri="{FF2B5EF4-FFF2-40B4-BE49-F238E27FC236}">
                <a16:creationId xmlns:a16="http://schemas.microsoft.com/office/drawing/2014/main" id="{3E0C0DD6-F880-3D91-894F-FB6727F1D3CB}"/>
              </a:ext>
            </a:extLst>
          </p:cNvPr>
          <p:cNvGraphicFramePr>
            <a:graphicFrameLocks noGrp="1"/>
          </p:cNvGraphicFramePr>
          <p:nvPr>
            <p:ph idx="1"/>
            <p:extLst>
              <p:ext uri="{D42A27DB-BD31-4B8C-83A1-F6EECF244321}">
                <p14:modId xmlns:p14="http://schemas.microsoft.com/office/powerpoint/2010/main" val="4165831349"/>
              </p:ext>
            </p:extLst>
          </p:nvPr>
        </p:nvGraphicFramePr>
        <p:xfrm>
          <a:off x="838200" y="1690688"/>
          <a:ext cx="10515600" cy="3901440"/>
        </p:xfrm>
        <a:graphic>
          <a:graphicData uri="http://schemas.openxmlformats.org/drawingml/2006/table">
            <a:tbl>
              <a:tblPr firstRow="1">
                <a:tableStyleId>{7E9639D4-E3E2-4D34-9284-5A2195B3D0D7}</a:tableStyleId>
              </a:tblPr>
              <a:tblGrid>
                <a:gridCol w="2103120">
                  <a:extLst>
                    <a:ext uri="{9D8B030D-6E8A-4147-A177-3AD203B41FA5}">
                      <a16:colId xmlns:a16="http://schemas.microsoft.com/office/drawing/2014/main" val="1311665733"/>
                    </a:ext>
                  </a:extLst>
                </a:gridCol>
                <a:gridCol w="2103120">
                  <a:extLst>
                    <a:ext uri="{9D8B030D-6E8A-4147-A177-3AD203B41FA5}">
                      <a16:colId xmlns:a16="http://schemas.microsoft.com/office/drawing/2014/main" val="1862283498"/>
                    </a:ext>
                  </a:extLst>
                </a:gridCol>
                <a:gridCol w="2103120">
                  <a:extLst>
                    <a:ext uri="{9D8B030D-6E8A-4147-A177-3AD203B41FA5}">
                      <a16:colId xmlns:a16="http://schemas.microsoft.com/office/drawing/2014/main" val="1553460307"/>
                    </a:ext>
                  </a:extLst>
                </a:gridCol>
                <a:gridCol w="2103120">
                  <a:extLst>
                    <a:ext uri="{9D8B030D-6E8A-4147-A177-3AD203B41FA5}">
                      <a16:colId xmlns:a16="http://schemas.microsoft.com/office/drawing/2014/main" val="3055974344"/>
                    </a:ext>
                  </a:extLst>
                </a:gridCol>
                <a:gridCol w="2103120">
                  <a:extLst>
                    <a:ext uri="{9D8B030D-6E8A-4147-A177-3AD203B41FA5}">
                      <a16:colId xmlns:a16="http://schemas.microsoft.com/office/drawing/2014/main" val="1723774792"/>
                    </a:ext>
                  </a:extLst>
                </a:gridCol>
              </a:tblGrid>
              <a:tr h="0">
                <a:tc>
                  <a:txBody>
                    <a:bodyPr/>
                    <a:lstStyle/>
                    <a:p>
                      <a:pPr>
                        <a:buNone/>
                      </a:pPr>
                      <a:r>
                        <a:rPr lang="en-US" sz="2000" noProof="0" dirty="0"/>
                        <a:t>Aspect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US" sz="2000" noProof="0" dirty="0"/>
                        <a:t>AI</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US" sz="2000" noProof="0" dirty="0"/>
                        <a:t>ML</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US" sz="2000" noProof="0" dirty="0"/>
                        <a:t>DL</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US" sz="2000" noProof="0" dirty="0"/>
                        <a:t>GenAI</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035348553"/>
                  </a:ext>
                </a:extLst>
              </a:tr>
              <a:tr h="0">
                <a:tc>
                  <a:txBody>
                    <a:bodyPr/>
                    <a:lstStyle/>
                    <a:p>
                      <a:pPr>
                        <a:buNone/>
                      </a:pPr>
                      <a:r>
                        <a:rPr lang="en-US" sz="2000" noProof="0" dirty="0"/>
                        <a:t>Full Form</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US" sz="2000" noProof="0" dirty="0"/>
                        <a:t>Artificial Intelligence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US" sz="2000" noProof="0" dirty="0"/>
                        <a:t>Machine Learning</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US" sz="2000" noProof="0" dirty="0"/>
                        <a:t>Deep Learning</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US" sz="2000" noProof="0" dirty="0"/>
                        <a:t>Generative AI</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495227885"/>
                  </a:ext>
                </a:extLst>
              </a:tr>
              <a:tr h="0">
                <a:tc>
                  <a:txBody>
                    <a:bodyPr/>
                    <a:lstStyle/>
                    <a:p>
                      <a:pPr>
                        <a:buNone/>
                      </a:pPr>
                      <a:r>
                        <a:rPr lang="en-US" sz="2000" noProof="0" dirty="0"/>
                        <a:t>What it does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US" sz="2000" noProof="0" dirty="0"/>
                        <a:t>Mimics human intelligence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US" sz="2000" noProof="0" dirty="0"/>
                        <a:t>Learns patterns from data</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US" sz="2000" noProof="0" dirty="0"/>
                        <a:t>Uses neural networks to learn complex patterns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US" sz="2000" noProof="0" dirty="0"/>
                        <a:t>Creates new content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251852489"/>
                  </a:ext>
                </a:extLst>
              </a:tr>
              <a:tr h="0">
                <a:tc>
                  <a:txBody>
                    <a:bodyPr/>
                    <a:lstStyle/>
                    <a:p>
                      <a:pPr>
                        <a:buNone/>
                      </a:pPr>
                      <a:r>
                        <a:rPr lang="en-US" sz="2000" noProof="0" dirty="0"/>
                        <a:t>Data dependency</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US" sz="2000" noProof="0" dirty="0"/>
                        <a:t>May or may not need data</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US" sz="2000" noProof="0" dirty="0"/>
                        <a:t>Needs historical data</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US" sz="2000" noProof="0" dirty="0"/>
                        <a:t>Needs large data</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US" sz="2000" noProof="0" dirty="0"/>
                        <a:t>Needs massive datasets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834950902"/>
                  </a:ext>
                </a:extLst>
              </a:tr>
              <a:tr h="0">
                <a:tc>
                  <a:txBody>
                    <a:bodyPr/>
                    <a:lstStyle/>
                    <a:p>
                      <a:pPr>
                        <a:buNone/>
                      </a:pPr>
                      <a:r>
                        <a:rPr lang="en-US" sz="2000" noProof="0" dirty="0"/>
                        <a:t>Complexity</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US" sz="2000" noProof="0" dirty="0"/>
                        <a:t>Broad umbrella</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US" sz="2000" noProof="0" dirty="0"/>
                        <a:t>Subset of AI</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US" sz="2000" noProof="0" dirty="0"/>
                        <a:t>Subset of ML</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US" sz="2000" noProof="0" dirty="0"/>
                        <a:t>Often built on DL</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358273330"/>
                  </a:ext>
                </a:extLst>
              </a:tr>
              <a:tr h="0">
                <a:tc>
                  <a:txBody>
                    <a:bodyPr/>
                    <a:lstStyle/>
                    <a:p>
                      <a:pPr>
                        <a:buNone/>
                      </a:pPr>
                      <a:r>
                        <a:rPr lang="en-US" sz="2000" noProof="0" dirty="0"/>
                        <a:t>Example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US" sz="2000" noProof="0" dirty="0"/>
                        <a:t>Rule-based chatbot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US" sz="2000" noProof="0" dirty="0"/>
                        <a:t>Spam detection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US" sz="2000" noProof="0" dirty="0"/>
                        <a:t>Face recognition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US" sz="2000" noProof="0" dirty="0"/>
                        <a:t>ChatGPT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2909426"/>
                  </a:ext>
                </a:extLst>
              </a:tr>
            </a:tbl>
          </a:graphicData>
        </a:graphic>
      </p:graphicFrame>
    </p:spTree>
    <p:extLst>
      <p:ext uri="{BB962C8B-B14F-4D97-AF65-F5344CB8AC3E}">
        <p14:creationId xmlns:p14="http://schemas.microsoft.com/office/powerpoint/2010/main" val="60403710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D8B24C-F33B-C7D5-2CFB-BB9FD6F9BCFA}"/>
              </a:ext>
            </a:extLst>
          </p:cNvPr>
          <p:cNvSpPr>
            <a:spLocks noGrp="1"/>
          </p:cNvSpPr>
          <p:nvPr>
            <p:ph type="title"/>
          </p:nvPr>
        </p:nvSpPr>
        <p:spPr/>
        <p:txBody>
          <a:bodyPr/>
          <a:lstStyle/>
          <a:p>
            <a:r>
              <a:rPr lang="en-US" noProof="0" dirty="0"/>
              <a:t>Fitment</a:t>
            </a:r>
          </a:p>
        </p:txBody>
      </p:sp>
      <p:graphicFrame>
        <p:nvGraphicFramePr>
          <p:cNvPr id="4" name="Content Placeholder 3">
            <a:extLst>
              <a:ext uri="{FF2B5EF4-FFF2-40B4-BE49-F238E27FC236}">
                <a16:creationId xmlns:a16="http://schemas.microsoft.com/office/drawing/2014/main" id="{1FE45832-A40B-5B6F-FF93-E0155A8D2273}"/>
              </a:ext>
            </a:extLst>
          </p:cNvPr>
          <p:cNvGraphicFramePr>
            <a:graphicFrameLocks noGrp="1"/>
          </p:cNvGraphicFramePr>
          <p:nvPr>
            <p:ph idx="1"/>
            <p:extLst>
              <p:ext uri="{D42A27DB-BD31-4B8C-83A1-F6EECF244321}">
                <p14:modId xmlns:p14="http://schemas.microsoft.com/office/powerpoint/2010/main" val="2941932215"/>
              </p:ext>
            </p:extLst>
          </p:nvPr>
        </p:nvGraphicFramePr>
        <p:xfrm>
          <a:off x="775378" y="1916671"/>
          <a:ext cx="10515600" cy="2895600"/>
        </p:xfrm>
        <a:graphic>
          <a:graphicData uri="http://schemas.openxmlformats.org/drawingml/2006/table">
            <a:tbl>
              <a:tblPr firstRow="1">
                <a:tableStyleId>{7E9639D4-E3E2-4D34-9284-5A2195B3D0D7}</a:tableStyleId>
              </a:tblPr>
              <a:tblGrid>
                <a:gridCol w="2628900">
                  <a:extLst>
                    <a:ext uri="{9D8B030D-6E8A-4147-A177-3AD203B41FA5}">
                      <a16:colId xmlns:a16="http://schemas.microsoft.com/office/drawing/2014/main" val="572479058"/>
                    </a:ext>
                  </a:extLst>
                </a:gridCol>
                <a:gridCol w="2628900">
                  <a:extLst>
                    <a:ext uri="{9D8B030D-6E8A-4147-A177-3AD203B41FA5}">
                      <a16:colId xmlns:a16="http://schemas.microsoft.com/office/drawing/2014/main" val="275497322"/>
                    </a:ext>
                  </a:extLst>
                </a:gridCol>
                <a:gridCol w="2628900">
                  <a:extLst>
                    <a:ext uri="{9D8B030D-6E8A-4147-A177-3AD203B41FA5}">
                      <a16:colId xmlns:a16="http://schemas.microsoft.com/office/drawing/2014/main" val="723066698"/>
                    </a:ext>
                  </a:extLst>
                </a:gridCol>
                <a:gridCol w="2628900">
                  <a:extLst>
                    <a:ext uri="{9D8B030D-6E8A-4147-A177-3AD203B41FA5}">
                      <a16:colId xmlns:a16="http://schemas.microsoft.com/office/drawing/2014/main" val="3387249320"/>
                    </a:ext>
                  </a:extLst>
                </a:gridCol>
              </a:tblGrid>
              <a:tr h="0">
                <a:tc>
                  <a:txBody>
                    <a:bodyPr/>
                    <a:lstStyle/>
                    <a:p>
                      <a:pPr>
                        <a:buNone/>
                      </a:pPr>
                      <a:r>
                        <a:rPr lang="en-US" sz="2000" noProof="0" dirty="0"/>
                        <a:t>Level</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US" sz="2000" noProof="0" dirty="0"/>
                        <a:t>Fits Inside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US" sz="2000" noProof="0" dirty="0"/>
                        <a:t>Purpose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US" sz="2000" noProof="0" dirty="0"/>
                        <a:t>Example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684579598"/>
                  </a:ext>
                </a:extLst>
              </a:tr>
              <a:tr h="0">
                <a:tc>
                  <a:txBody>
                    <a:bodyPr/>
                    <a:lstStyle/>
                    <a:p>
                      <a:pPr>
                        <a:buNone/>
                      </a:pPr>
                      <a:r>
                        <a:rPr lang="en-US" sz="2000" noProof="0" dirty="0"/>
                        <a:t>AI</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US" sz="2000" noProof="0" dirty="0"/>
                        <a:t>Top-level umbrella</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US" sz="2000" noProof="0" dirty="0"/>
                        <a:t>Intelligent decision-making</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US" sz="2000" noProof="0" dirty="0"/>
                        <a:t>Chess engine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932498513"/>
                  </a:ext>
                </a:extLst>
              </a:tr>
              <a:tr h="0">
                <a:tc>
                  <a:txBody>
                    <a:bodyPr/>
                    <a:lstStyle/>
                    <a:p>
                      <a:pPr>
                        <a:buNone/>
                      </a:pPr>
                      <a:r>
                        <a:rPr lang="en-US" sz="2000" noProof="0" dirty="0"/>
                        <a:t>ML</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US" sz="2000" noProof="0" dirty="0"/>
                        <a:t>Inside AI</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US" sz="2000" noProof="0" dirty="0"/>
                        <a:t>Learning from past data</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US" sz="2000" noProof="0" dirty="0"/>
                        <a:t>House price prediction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834158189"/>
                  </a:ext>
                </a:extLst>
              </a:tr>
              <a:tr h="0">
                <a:tc>
                  <a:txBody>
                    <a:bodyPr/>
                    <a:lstStyle/>
                    <a:p>
                      <a:pPr>
                        <a:buNone/>
                      </a:pPr>
                      <a:r>
                        <a:rPr lang="en-US" sz="2000" noProof="0" dirty="0"/>
                        <a:t>DL</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US" sz="2000" noProof="0" dirty="0"/>
                        <a:t>Inside ML</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US" sz="2000" noProof="0" dirty="0"/>
                        <a:t>Learning deep patterns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US" sz="2000" noProof="0" dirty="0"/>
                        <a:t>Image recognition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935608211"/>
                  </a:ext>
                </a:extLst>
              </a:tr>
              <a:tr h="0">
                <a:tc>
                  <a:txBody>
                    <a:bodyPr/>
                    <a:lstStyle/>
                    <a:p>
                      <a:pPr>
                        <a:buNone/>
                      </a:pPr>
                      <a:r>
                        <a:rPr lang="en-US" sz="2000" noProof="0" dirty="0"/>
                        <a:t>GenAI</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US" sz="2000" noProof="0" dirty="0"/>
                        <a:t>Mostly DL-based</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US" sz="2000" noProof="0" dirty="0"/>
                        <a:t>Creating new content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US" sz="2000" noProof="0" dirty="0"/>
                        <a:t>AI-generated text / image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701103476"/>
                  </a:ext>
                </a:extLst>
              </a:tr>
            </a:tbl>
          </a:graphicData>
        </a:graphic>
      </p:graphicFrame>
    </p:spTree>
    <p:extLst>
      <p:ext uri="{BB962C8B-B14F-4D97-AF65-F5344CB8AC3E}">
        <p14:creationId xmlns:p14="http://schemas.microsoft.com/office/powerpoint/2010/main" val="398390602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712B6B-4F87-F133-107C-9CEC806A9FD0}"/>
              </a:ext>
            </a:extLst>
          </p:cNvPr>
          <p:cNvSpPr>
            <a:spLocks noGrp="1"/>
          </p:cNvSpPr>
          <p:nvPr>
            <p:ph type="title"/>
          </p:nvPr>
        </p:nvSpPr>
        <p:spPr/>
        <p:txBody>
          <a:bodyPr/>
          <a:lstStyle/>
          <a:p>
            <a:r>
              <a:rPr lang="en-US" noProof="0" dirty="0"/>
              <a:t>Traditional Programming versus ML</a:t>
            </a:r>
          </a:p>
        </p:txBody>
      </p:sp>
      <p:graphicFrame>
        <p:nvGraphicFramePr>
          <p:cNvPr id="4" name="Content Placeholder 3">
            <a:extLst>
              <a:ext uri="{FF2B5EF4-FFF2-40B4-BE49-F238E27FC236}">
                <a16:creationId xmlns:a16="http://schemas.microsoft.com/office/drawing/2014/main" id="{D65BE5B7-E179-A439-4B46-B1468B1D8D9F}"/>
              </a:ext>
            </a:extLst>
          </p:cNvPr>
          <p:cNvGraphicFramePr>
            <a:graphicFrameLocks noGrp="1"/>
          </p:cNvGraphicFramePr>
          <p:nvPr>
            <p:ph idx="1"/>
            <p:extLst>
              <p:ext uri="{D42A27DB-BD31-4B8C-83A1-F6EECF244321}">
                <p14:modId xmlns:p14="http://schemas.microsoft.com/office/powerpoint/2010/main" val="305677986"/>
              </p:ext>
            </p:extLst>
          </p:nvPr>
        </p:nvGraphicFramePr>
        <p:xfrm>
          <a:off x="838200" y="1690688"/>
          <a:ext cx="10515600" cy="1981200"/>
        </p:xfrm>
        <a:graphic>
          <a:graphicData uri="http://schemas.openxmlformats.org/drawingml/2006/table">
            <a:tbl>
              <a:tblPr firstRow="1">
                <a:tableStyleId>{7E9639D4-E3E2-4D34-9284-5A2195B3D0D7}</a:tableStyleId>
              </a:tblPr>
              <a:tblGrid>
                <a:gridCol w="5257800">
                  <a:extLst>
                    <a:ext uri="{9D8B030D-6E8A-4147-A177-3AD203B41FA5}">
                      <a16:colId xmlns:a16="http://schemas.microsoft.com/office/drawing/2014/main" val="4185326514"/>
                    </a:ext>
                  </a:extLst>
                </a:gridCol>
                <a:gridCol w="5257800">
                  <a:extLst>
                    <a:ext uri="{9D8B030D-6E8A-4147-A177-3AD203B41FA5}">
                      <a16:colId xmlns:a16="http://schemas.microsoft.com/office/drawing/2014/main" val="1385135585"/>
                    </a:ext>
                  </a:extLst>
                </a:gridCol>
              </a:tblGrid>
              <a:tr h="0">
                <a:tc>
                  <a:txBody>
                    <a:bodyPr/>
                    <a:lstStyle/>
                    <a:p>
                      <a:pPr>
                        <a:buNone/>
                      </a:pPr>
                      <a:r>
                        <a:rPr lang="en-US" sz="2000" noProof="0" dirty="0"/>
                        <a:t>Traditional Programming</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US" sz="2000" noProof="0" dirty="0"/>
                        <a:t>Machine Learning</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595186805"/>
                  </a:ext>
                </a:extLst>
              </a:tr>
              <a:tr h="0">
                <a:tc>
                  <a:txBody>
                    <a:bodyPr/>
                    <a:lstStyle/>
                    <a:p>
                      <a:pPr>
                        <a:buNone/>
                      </a:pPr>
                      <a:r>
                        <a:rPr lang="en-US" sz="2000" noProof="0" dirty="0"/>
                        <a:t>Rules + Data → Output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US" sz="2000" noProof="0" dirty="0"/>
                        <a:t>Data + Output → Rules (Model)</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91935891"/>
                  </a:ext>
                </a:extLst>
              </a:tr>
              <a:tr h="0">
                <a:tc>
                  <a:txBody>
                    <a:bodyPr/>
                    <a:lstStyle/>
                    <a:p>
                      <a:pPr>
                        <a:buNone/>
                      </a:pPr>
                      <a:r>
                        <a:rPr lang="en-US" sz="2000" noProof="0" dirty="0"/>
                        <a:t>Human writes logic</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US" sz="2000" noProof="0" dirty="0"/>
                        <a:t>System learns logic</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69310368"/>
                  </a:ext>
                </a:extLst>
              </a:tr>
              <a:tr h="0">
                <a:tc>
                  <a:txBody>
                    <a:bodyPr/>
                    <a:lstStyle/>
                    <a:p>
                      <a:pPr>
                        <a:buNone/>
                      </a:pPr>
                      <a:r>
                        <a:rPr lang="en-US" sz="2000" noProof="0" dirty="0"/>
                        <a:t>Fixed rules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US" sz="2000" noProof="0" dirty="0"/>
                        <a:t>Adaptive rules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354705502"/>
                  </a:ext>
                </a:extLst>
              </a:tr>
              <a:tr h="0">
                <a:tc>
                  <a:txBody>
                    <a:bodyPr/>
                    <a:lstStyle/>
                    <a:p>
                      <a:pPr>
                        <a:buNone/>
                      </a:pPr>
                      <a:r>
                        <a:rPr lang="en-US" sz="2000" noProof="0" dirty="0"/>
                        <a:t>Good for deterministic tasks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US" sz="2000" noProof="0" dirty="0"/>
                        <a:t>Good for prediction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850536729"/>
                  </a:ext>
                </a:extLst>
              </a:tr>
            </a:tbl>
          </a:graphicData>
        </a:graphic>
      </p:graphicFrame>
    </p:spTree>
    <p:extLst>
      <p:ext uri="{BB962C8B-B14F-4D97-AF65-F5344CB8AC3E}">
        <p14:creationId xmlns:p14="http://schemas.microsoft.com/office/powerpoint/2010/main" val="10709592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619B079-4857-F149-AC04-C915D80905E2}"/>
              </a:ext>
            </a:extLst>
          </p:cNvPr>
          <p:cNvSpPr>
            <a:spLocks noGrp="1"/>
          </p:cNvSpPr>
          <p:nvPr>
            <p:ph type="title"/>
          </p:nvPr>
        </p:nvSpPr>
        <p:spPr/>
        <p:txBody>
          <a:bodyPr/>
          <a:lstStyle/>
          <a:p>
            <a:r>
              <a:rPr lang="en-US" noProof="0" dirty="0"/>
              <a:t>When to Use What</a:t>
            </a:r>
          </a:p>
        </p:txBody>
      </p:sp>
      <p:graphicFrame>
        <p:nvGraphicFramePr>
          <p:cNvPr id="4" name="Content Placeholder 3">
            <a:extLst>
              <a:ext uri="{FF2B5EF4-FFF2-40B4-BE49-F238E27FC236}">
                <a16:creationId xmlns:a16="http://schemas.microsoft.com/office/drawing/2014/main" id="{CE87DF4C-7D42-65CE-0CFB-D92C6BB6E011}"/>
              </a:ext>
            </a:extLst>
          </p:cNvPr>
          <p:cNvGraphicFramePr>
            <a:graphicFrameLocks noGrp="1"/>
          </p:cNvGraphicFramePr>
          <p:nvPr>
            <p:ph idx="1"/>
            <p:extLst>
              <p:ext uri="{D42A27DB-BD31-4B8C-83A1-F6EECF244321}">
                <p14:modId xmlns:p14="http://schemas.microsoft.com/office/powerpoint/2010/main" val="1333513525"/>
              </p:ext>
            </p:extLst>
          </p:nvPr>
        </p:nvGraphicFramePr>
        <p:xfrm>
          <a:off x="838200" y="1690688"/>
          <a:ext cx="10515600" cy="1981200"/>
        </p:xfrm>
        <a:graphic>
          <a:graphicData uri="http://schemas.openxmlformats.org/drawingml/2006/table">
            <a:tbl>
              <a:tblPr firstRow="1">
                <a:tableStyleId>{7E9639D4-E3E2-4D34-9284-5A2195B3D0D7}</a:tableStyleId>
              </a:tblPr>
              <a:tblGrid>
                <a:gridCol w="5257800">
                  <a:extLst>
                    <a:ext uri="{9D8B030D-6E8A-4147-A177-3AD203B41FA5}">
                      <a16:colId xmlns:a16="http://schemas.microsoft.com/office/drawing/2014/main" val="1383323205"/>
                    </a:ext>
                  </a:extLst>
                </a:gridCol>
                <a:gridCol w="5257800">
                  <a:extLst>
                    <a:ext uri="{9D8B030D-6E8A-4147-A177-3AD203B41FA5}">
                      <a16:colId xmlns:a16="http://schemas.microsoft.com/office/drawing/2014/main" val="3679698400"/>
                    </a:ext>
                  </a:extLst>
                </a:gridCol>
              </a:tblGrid>
              <a:tr h="0">
                <a:tc>
                  <a:txBody>
                    <a:bodyPr/>
                    <a:lstStyle/>
                    <a:p>
                      <a:pPr>
                        <a:buNone/>
                      </a:pPr>
                      <a:r>
                        <a:rPr lang="en-US" sz="2000" noProof="0" dirty="0"/>
                        <a:t>Situation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US" sz="2000" noProof="0" dirty="0"/>
                        <a:t>Best Fit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180692985"/>
                  </a:ext>
                </a:extLst>
              </a:tr>
              <a:tr h="0">
                <a:tc>
                  <a:txBody>
                    <a:bodyPr/>
                    <a:lstStyle/>
                    <a:p>
                      <a:pPr>
                        <a:buNone/>
                      </a:pPr>
                      <a:r>
                        <a:rPr lang="en-US" sz="2000" noProof="0" dirty="0"/>
                        <a:t>Rule-based decision system</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US" sz="2000" noProof="0" dirty="0"/>
                        <a:t>AI</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602980662"/>
                  </a:ext>
                </a:extLst>
              </a:tr>
              <a:tr h="0">
                <a:tc>
                  <a:txBody>
                    <a:bodyPr/>
                    <a:lstStyle/>
                    <a:p>
                      <a:pPr>
                        <a:buNone/>
                      </a:pPr>
                      <a:r>
                        <a:rPr lang="en-US" sz="2000" noProof="0" dirty="0"/>
                        <a:t>Predict future outcomes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US" sz="2000" noProof="0" dirty="0"/>
                        <a:t>ML</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661105445"/>
                  </a:ext>
                </a:extLst>
              </a:tr>
              <a:tr h="0">
                <a:tc>
                  <a:txBody>
                    <a:bodyPr/>
                    <a:lstStyle/>
                    <a:p>
                      <a:pPr>
                        <a:buNone/>
                      </a:pPr>
                      <a:r>
                        <a:rPr lang="en-US" sz="2000" noProof="0" dirty="0"/>
                        <a:t>Image / voice / video analysis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US" sz="2000" noProof="0" dirty="0"/>
                        <a:t>DL</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254899611"/>
                  </a:ext>
                </a:extLst>
              </a:tr>
              <a:tr h="0">
                <a:tc>
                  <a:txBody>
                    <a:bodyPr/>
                    <a:lstStyle/>
                    <a:p>
                      <a:pPr>
                        <a:buNone/>
                      </a:pPr>
                      <a:r>
                        <a:rPr lang="en-US" sz="2000" noProof="0" dirty="0"/>
                        <a:t>Create text, image, code, PPT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US" sz="2000" noProof="0" dirty="0"/>
                        <a:t>GenAI</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97249497"/>
                  </a:ext>
                </a:extLst>
              </a:tr>
            </a:tbl>
          </a:graphicData>
        </a:graphic>
      </p:graphicFrame>
    </p:spTree>
    <p:extLst>
      <p:ext uri="{BB962C8B-B14F-4D97-AF65-F5344CB8AC3E}">
        <p14:creationId xmlns:p14="http://schemas.microsoft.com/office/powerpoint/2010/main" val="244009832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131836-8363-2E5C-539D-B0135AAFE582}"/>
              </a:ext>
            </a:extLst>
          </p:cNvPr>
          <p:cNvSpPr>
            <a:spLocks noGrp="1"/>
          </p:cNvSpPr>
          <p:nvPr>
            <p:ph type="title"/>
          </p:nvPr>
        </p:nvSpPr>
        <p:spPr/>
        <p:txBody>
          <a:bodyPr/>
          <a:lstStyle/>
          <a:p>
            <a:r>
              <a:rPr lang="en-US" noProof="0" dirty="0"/>
              <a:t>Risks and Ethics</a:t>
            </a:r>
          </a:p>
        </p:txBody>
      </p:sp>
      <p:graphicFrame>
        <p:nvGraphicFramePr>
          <p:cNvPr id="4" name="Content Placeholder 3">
            <a:extLst>
              <a:ext uri="{FF2B5EF4-FFF2-40B4-BE49-F238E27FC236}">
                <a16:creationId xmlns:a16="http://schemas.microsoft.com/office/drawing/2014/main" id="{C12CFC6C-6BC3-8CEF-6B2B-6363D2DEF688}"/>
              </a:ext>
            </a:extLst>
          </p:cNvPr>
          <p:cNvGraphicFramePr>
            <a:graphicFrameLocks noGrp="1"/>
          </p:cNvGraphicFramePr>
          <p:nvPr>
            <p:ph idx="1"/>
            <p:extLst>
              <p:ext uri="{D42A27DB-BD31-4B8C-83A1-F6EECF244321}">
                <p14:modId xmlns:p14="http://schemas.microsoft.com/office/powerpoint/2010/main" val="3407717214"/>
              </p:ext>
            </p:extLst>
          </p:nvPr>
        </p:nvGraphicFramePr>
        <p:xfrm>
          <a:off x="838200" y="1877931"/>
          <a:ext cx="10515600" cy="2377440"/>
        </p:xfrm>
        <a:graphic>
          <a:graphicData uri="http://schemas.openxmlformats.org/drawingml/2006/table">
            <a:tbl>
              <a:tblPr firstRow="1">
                <a:tableStyleId>{7E9639D4-E3E2-4D34-9284-5A2195B3D0D7}</a:tableStyleId>
              </a:tblPr>
              <a:tblGrid>
                <a:gridCol w="5257800">
                  <a:extLst>
                    <a:ext uri="{9D8B030D-6E8A-4147-A177-3AD203B41FA5}">
                      <a16:colId xmlns:a16="http://schemas.microsoft.com/office/drawing/2014/main" val="1019381005"/>
                    </a:ext>
                  </a:extLst>
                </a:gridCol>
                <a:gridCol w="5257800">
                  <a:extLst>
                    <a:ext uri="{9D8B030D-6E8A-4147-A177-3AD203B41FA5}">
                      <a16:colId xmlns:a16="http://schemas.microsoft.com/office/drawing/2014/main" val="2913024552"/>
                    </a:ext>
                  </a:extLst>
                </a:gridCol>
              </a:tblGrid>
              <a:tr h="0">
                <a:tc>
                  <a:txBody>
                    <a:bodyPr/>
                    <a:lstStyle/>
                    <a:p>
                      <a:pPr>
                        <a:buNone/>
                      </a:pPr>
                      <a:r>
                        <a:rPr lang="en-US" sz="2000" noProof="0" dirty="0"/>
                        <a:t>Risk</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US" sz="2000" noProof="0" dirty="0"/>
                        <a:t>Example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7390403"/>
                  </a:ext>
                </a:extLst>
              </a:tr>
              <a:tr h="0">
                <a:tc>
                  <a:txBody>
                    <a:bodyPr/>
                    <a:lstStyle/>
                    <a:p>
                      <a:pPr>
                        <a:buNone/>
                      </a:pPr>
                      <a:r>
                        <a:rPr lang="en-US" sz="2000" noProof="0" dirty="0"/>
                        <a:t>Bias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US" sz="2000" noProof="0" dirty="0"/>
                        <a:t>Unfair hiring decisions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908013832"/>
                  </a:ext>
                </a:extLst>
              </a:tr>
              <a:tr h="0">
                <a:tc>
                  <a:txBody>
                    <a:bodyPr/>
                    <a:lstStyle/>
                    <a:p>
                      <a:pPr>
                        <a:buNone/>
                      </a:pPr>
                      <a:r>
                        <a:rPr lang="en-US" sz="2000" noProof="0" dirty="0"/>
                        <a:t>Privacy</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US" sz="2000" noProof="0" dirty="0"/>
                        <a:t>Personal data exposure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583577335"/>
                  </a:ext>
                </a:extLst>
              </a:tr>
              <a:tr h="0">
                <a:tc>
                  <a:txBody>
                    <a:bodyPr/>
                    <a:lstStyle/>
                    <a:p>
                      <a:pPr>
                        <a:buNone/>
                      </a:pPr>
                      <a:r>
                        <a:rPr lang="en-US" sz="2000" noProof="0" dirty="0"/>
                        <a:t>Hallucination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US" sz="2000" noProof="0" dirty="0"/>
                        <a:t>Wrong generated facts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2504725"/>
                  </a:ext>
                </a:extLst>
              </a:tr>
              <a:tr h="0">
                <a:tc>
                  <a:txBody>
                    <a:bodyPr/>
                    <a:lstStyle/>
                    <a:p>
                      <a:pPr>
                        <a:buNone/>
                      </a:pPr>
                      <a:r>
                        <a:rPr lang="en-US" sz="2000" noProof="0" dirty="0"/>
                        <a:t>Deepfake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US" sz="2000" noProof="0" dirty="0"/>
                        <a:t>Fake voice/video</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224581759"/>
                  </a:ext>
                </a:extLst>
              </a:tr>
              <a:tr h="0">
                <a:tc>
                  <a:txBody>
                    <a:bodyPr/>
                    <a:lstStyle/>
                    <a:p>
                      <a:pPr>
                        <a:buNone/>
                      </a:pPr>
                      <a:r>
                        <a:rPr lang="en-US" sz="2000" noProof="0" dirty="0"/>
                        <a:t>Overdependence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US" sz="2000" noProof="0" dirty="0"/>
                        <a:t>Reduced human judgment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039764973"/>
                  </a:ext>
                </a:extLst>
              </a:tr>
            </a:tbl>
          </a:graphicData>
        </a:graphic>
      </p:graphicFrame>
    </p:spTree>
    <p:extLst>
      <p:ext uri="{BB962C8B-B14F-4D97-AF65-F5344CB8AC3E}">
        <p14:creationId xmlns:p14="http://schemas.microsoft.com/office/powerpoint/2010/main" val="325332497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C2B343F-145C-9E67-4B2E-BD88AF32B829}"/>
              </a:ext>
            </a:extLst>
          </p:cNvPr>
          <p:cNvSpPr>
            <a:spLocks noGrp="1"/>
          </p:cNvSpPr>
          <p:nvPr>
            <p:ph type="title"/>
          </p:nvPr>
        </p:nvSpPr>
        <p:spPr/>
        <p:txBody>
          <a:bodyPr/>
          <a:lstStyle/>
          <a:p>
            <a:r>
              <a:rPr lang="en-IN" dirty="0"/>
              <a:t>Installation</a:t>
            </a:r>
            <a:endParaRPr lang="en-GB" dirty="0"/>
          </a:p>
        </p:txBody>
      </p:sp>
      <p:sp>
        <p:nvSpPr>
          <p:cNvPr id="3" name="Content Placeholder 2">
            <a:extLst>
              <a:ext uri="{FF2B5EF4-FFF2-40B4-BE49-F238E27FC236}">
                <a16:creationId xmlns:a16="http://schemas.microsoft.com/office/drawing/2014/main" id="{6DD2B940-F502-7A56-AFE1-07B4DD9D8062}"/>
              </a:ext>
            </a:extLst>
          </p:cNvPr>
          <p:cNvSpPr>
            <a:spLocks noGrp="1"/>
          </p:cNvSpPr>
          <p:nvPr>
            <p:ph idx="1"/>
          </p:nvPr>
        </p:nvSpPr>
        <p:spPr/>
        <p:txBody>
          <a:bodyPr/>
          <a:lstStyle/>
          <a:p>
            <a:r>
              <a:rPr lang="en-IN" dirty="0"/>
              <a:t>Install Python: </a:t>
            </a:r>
            <a:r>
              <a:rPr lang="en-IN" dirty="0">
                <a:hlinkClick r:id="rId2"/>
              </a:rPr>
              <a:t>https://www.python.org/downloads/release/python-31213/</a:t>
            </a:r>
            <a:endParaRPr lang="en-IN" dirty="0"/>
          </a:p>
          <a:p>
            <a:endParaRPr lang="en-IN" dirty="0"/>
          </a:p>
          <a:p>
            <a:r>
              <a:rPr lang="en-IN" dirty="0"/>
              <a:t>Install VS Code: </a:t>
            </a:r>
            <a:r>
              <a:rPr lang="en-IN" dirty="0">
                <a:hlinkClick r:id="rId3"/>
              </a:rPr>
              <a:t>https://code.visualstudio.com/download</a:t>
            </a:r>
            <a:endParaRPr lang="en-IN" dirty="0"/>
          </a:p>
          <a:p>
            <a:endParaRPr lang="en-IN" dirty="0"/>
          </a:p>
          <a:p>
            <a:r>
              <a:rPr lang="en-IN" dirty="0"/>
              <a:t>Start VS Code and Set Python Interpreter: Ctrl + Shift + P and then </a:t>
            </a:r>
            <a:r>
              <a:rPr lang="en-IN"/>
              <a:t>type Python</a:t>
            </a:r>
            <a:endParaRPr lang="en-GB"/>
          </a:p>
        </p:txBody>
      </p:sp>
    </p:spTree>
    <p:extLst>
      <p:ext uri="{BB962C8B-B14F-4D97-AF65-F5344CB8AC3E}">
        <p14:creationId xmlns:p14="http://schemas.microsoft.com/office/powerpoint/2010/main" val="165118853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845E04-6B48-ED30-C982-00C37CF07697}"/>
              </a:ext>
            </a:extLst>
          </p:cNvPr>
          <p:cNvSpPr>
            <a:spLocks noGrp="1"/>
          </p:cNvSpPr>
          <p:nvPr>
            <p:ph type="title"/>
          </p:nvPr>
        </p:nvSpPr>
        <p:spPr/>
        <p:txBody>
          <a:bodyPr/>
          <a:lstStyle/>
          <a:p>
            <a:r>
              <a:rPr lang="en-US" noProof="0" dirty="0"/>
              <a:t>How does a Machine Learn?</a:t>
            </a:r>
          </a:p>
        </p:txBody>
      </p:sp>
      <p:sp>
        <p:nvSpPr>
          <p:cNvPr id="3" name="Content Placeholder 2">
            <a:extLst>
              <a:ext uri="{FF2B5EF4-FFF2-40B4-BE49-F238E27FC236}">
                <a16:creationId xmlns:a16="http://schemas.microsoft.com/office/drawing/2014/main" id="{58DFCC52-36FF-B860-0AD2-3C4D9F711BA1}"/>
              </a:ext>
            </a:extLst>
          </p:cNvPr>
          <p:cNvSpPr>
            <a:spLocks noGrp="1"/>
          </p:cNvSpPr>
          <p:nvPr>
            <p:ph idx="1"/>
          </p:nvPr>
        </p:nvSpPr>
        <p:spPr/>
        <p:txBody>
          <a:bodyPr/>
          <a:lstStyle/>
          <a:p>
            <a:r>
              <a:rPr lang="en-US" noProof="0" dirty="0"/>
              <a:t>What is the pattern here?</a:t>
            </a:r>
          </a:p>
          <a:p>
            <a:endParaRPr lang="en-US" noProof="0" dirty="0"/>
          </a:p>
        </p:txBody>
      </p:sp>
      <p:graphicFrame>
        <p:nvGraphicFramePr>
          <p:cNvPr id="4" name="Table 3">
            <a:extLst>
              <a:ext uri="{FF2B5EF4-FFF2-40B4-BE49-F238E27FC236}">
                <a16:creationId xmlns:a16="http://schemas.microsoft.com/office/drawing/2014/main" id="{ED067116-55E5-FF44-277C-4757F2A0A5F1}"/>
              </a:ext>
            </a:extLst>
          </p:cNvPr>
          <p:cNvGraphicFramePr>
            <a:graphicFrameLocks noGrp="1"/>
          </p:cNvGraphicFramePr>
          <p:nvPr>
            <p:extLst>
              <p:ext uri="{D42A27DB-BD31-4B8C-83A1-F6EECF244321}">
                <p14:modId xmlns:p14="http://schemas.microsoft.com/office/powerpoint/2010/main" val="1352200615"/>
              </p:ext>
            </p:extLst>
          </p:nvPr>
        </p:nvGraphicFramePr>
        <p:xfrm>
          <a:off x="838200" y="2478225"/>
          <a:ext cx="10515600" cy="2194560"/>
        </p:xfrm>
        <a:graphic>
          <a:graphicData uri="http://schemas.openxmlformats.org/drawingml/2006/table">
            <a:tbl>
              <a:tblPr bandRow="1">
                <a:tableStyleId>{5DA37D80-6434-44D0-A028-1B22A696006F}</a:tableStyleId>
              </a:tblPr>
              <a:tblGrid>
                <a:gridCol w="2628900">
                  <a:extLst>
                    <a:ext uri="{9D8B030D-6E8A-4147-A177-3AD203B41FA5}">
                      <a16:colId xmlns:a16="http://schemas.microsoft.com/office/drawing/2014/main" val="1601742254"/>
                    </a:ext>
                  </a:extLst>
                </a:gridCol>
                <a:gridCol w="2628900">
                  <a:extLst>
                    <a:ext uri="{9D8B030D-6E8A-4147-A177-3AD203B41FA5}">
                      <a16:colId xmlns:a16="http://schemas.microsoft.com/office/drawing/2014/main" val="3960238168"/>
                    </a:ext>
                  </a:extLst>
                </a:gridCol>
                <a:gridCol w="2628900">
                  <a:extLst>
                    <a:ext uri="{9D8B030D-6E8A-4147-A177-3AD203B41FA5}">
                      <a16:colId xmlns:a16="http://schemas.microsoft.com/office/drawing/2014/main" val="762061409"/>
                    </a:ext>
                  </a:extLst>
                </a:gridCol>
                <a:gridCol w="2628900">
                  <a:extLst>
                    <a:ext uri="{9D8B030D-6E8A-4147-A177-3AD203B41FA5}">
                      <a16:colId xmlns:a16="http://schemas.microsoft.com/office/drawing/2014/main" val="1759850880"/>
                    </a:ext>
                  </a:extLst>
                </a:gridCol>
              </a:tblGrid>
              <a:tr h="0">
                <a:tc>
                  <a:txBody>
                    <a:bodyPr/>
                    <a:lstStyle/>
                    <a:p>
                      <a:pPr>
                        <a:buNone/>
                      </a:pPr>
                      <a:r>
                        <a:rPr lang="en-US" noProof="0" dirty="0"/>
                        <a:t>Student</a:t>
                      </a:r>
                    </a:p>
                  </a:txBody>
                  <a:tcPr anchor="ctr"/>
                </a:tc>
                <a:tc>
                  <a:txBody>
                    <a:bodyPr/>
                    <a:lstStyle/>
                    <a:p>
                      <a:pPr algn="r">
                        <a:buNone/>
                      </a:pPr>
                      <a:r>
                        <a:rPr lang="en-US" noProof="0" dirty="0"/>
                        <a:t>Study Hours</a:t>
                      </a:r>
                    </a:p>
                  </a:txBody>
                  <a:tcPr anchor="ctr"/>
                </a:tc>
                <a:tc>
                  <a:txBody>
                    <a:bodyPr/>
                    <a:lstStyle/>
                    <a:p>
                      <a:pPr algn="r">
                        <a:buNone/>
                      </a:pPr>
                      <a:r>
                        <a:rPr lang="en-US" noProof="0" dirty="0"/>
                        <a:t>Attendance</a:t>
                      </a:r>
                    </a:p>
                  </a:txBody>
                  <a:tcPr anchor="ctr"/>
                </a:tc>
                <a:tc>
                  <a:txBody>
                    <a:bodyPr/>
                    <a:lstStyle/>
                    <a:p>
                      <a:pPr>
                        <a:buNone/>
                      </a:pPr>
                      <a:r>
                        <a:rPr lang="en-US" noProof="0" dirty="0"/>
                        <a:t>Result</a:t>
                      </a:r>
                    </a:p>
                  </a:txBody>
                  <a:tcPr anchor="ctr"/>
                </a:tc>
                <a:extLst>
                  <a:ext uri="{0D108BD9-81ED-4DB2-BD59-A6C34878D82A}">
                    <a16:rowId xmlns:a16="http://schemas.microsoft.com/office/drawing/2014/main" val="2680044977"/>
                  </a:ext>
                </a:extLst>
              </a:tr>
              <a:tr h="0">
                <a:tc>
                  <a:txBody>
                    <a:bodyPr/>
                    <a:lstStyle/>
                    <a:p>
                      <a:pPr>
                        <a:buNone/>
                      </a:pPr>
                      <a:r>
                        <a:rPr lang="en-US" noProof="0" dirty="0"/>
                        <a:t>A</a:t>
                      </a:r>
                    </a:p>
                  </a:txBody>
                  <a:tcPr anchor="ctr"/>
                </a:tc>
                <a:tc>
                  <a:txBody>
                    <a:bodyPr/>
                    <a:lstStyle/>
                    <a:p>
                      <a:pPr algn="r">
                        <a:buNone/>
                      </a:pPr>
                      <a:r>
                        <a:rPr lang="en-US" noProof="0" dirty="0"/>
                        <a:t>2</a:t>
                      </a:r>
                    </a:p>
                  </a:txBody>
                  <a:tcPr anchor="ctr"/>
                </a:tc>
                <a:tc>
                  <a:txBody>
                    <a:bodyPr/>
                    <a:lstStyle/>
                    <a:p>
                      <a:pPr algn="r">
                        <a:buNone/>
                      </a:pPr>
                      <a:r>
                        <a:rPr lang="en-US" noProof="0" dirty="0"/>
                        <a:t>40%</a:t>
                      </a:r>
                    </a:p>
                  </a:txBody>
                  <a:tcPr anchor="ctr"/>
                </a:tc>
                <a:tc>
                  <a:txBody>
                    <a:bodyPr/>
                    <a:lstStyle/>
                    <a:p>
                      <a:pPr>
                        <a:buNone/>
                      </a:pPr>
                      <a:r>
                        <a:rPr lang="en-US" noProof="0" dirty="0"/>
                        <a:t>Fail</a:t>
                      </a:r>
                    </a:p>
                  </a:txBody>
                  <a:tcPr anchor="ctr"/>
                </a:tc>
                <a:extLst>
                  <a:ext uri="{0D108BD9-81ED-4DB2-BD59-A6C34878D82A}">
                    <a16:rowId xmlns:a16="http://schemas.microsoft.com/office/drawing/2014/main" val="1000201432"/>
                  </a:ext>
                </a:extLst>
              </a:tr>
              <a:tr h="0">
                <a:tc>
                  <a:txBody>
                    <a:bodyPr/>
                    <a:lstStyle/>
                    <a:p>
                      <a:pPr>
                        <a:buNone/>
                      </a:pPr>
                      <a:r>
                        <a:rPr lang="en-US" noProof="0" dirty="0"/>
                        <a:t>B</a:t>
                      </a:r>
                    </a:p>
                  </a:txBody>
                  <a:tcPr anchor="ctr"/>
                </a:tc>
                <a:tc>
                  <a:txBody>
                    <a:bodyPr/>
                    <a:lstStyle/>
                    <a:p>
                      <a:pPr algn="r">
                        <a:buNone/>
                      </a:pPr>
                      <a:r>
                        <a:rPr lang="en-US" noProof="0" dirty="0"/>
                        <a:t>3</a:t>
                      </a:r>
                    </a:p>
                  </a:txBody>
                  <a:tcPr anchor="ctr"/>
                </a:tc>
                <a:tc>
                  <a:txBody>
                    <a:bodyPr/>
                    <a:lstStyle/>
                    <a:p>
                      <a:pPr algn="r">
                        <a:buNone/>
                      </a:pPr>
                      <a:r>
                        <a:rPr lang="en-US" noProof="0" dirty="0"/>
                        <a:t>50%</a:t>
                      </a:r>
                    </a:p>
                  </a:txBody>
                  <a:tcPr anchor="ctr"/>
                </a:tc>
                <a:tc>
                  <a:txBody>
                    <a:bodyPr/>
                    <a:lstStyle/>
                    <a:p>
                      <a:pPr>
                        <a:buNone/>
                      </a:pPr>
                      <a:r>
                        <a:rPr lang="en-US" noProof="0" dirty="0"/>
                        <a:t>Fail</a:t>
                      </a:r>
                    </a:p>
                  </a:txBody>
                  <a:tcPr anchor="ctr"/>
                </a:tc>
                <a:extLst>
                  <a:ext uri="{0D108BD9-81ED-4DB2-BD59-A6C34878D82A}">
                    <a16:rowId xmlns:a16="http://schemas.microsoft.com/office/drawing/2014/main" val="2236655145"/>
                  </a:ext>
                </a:extLst>
              </a:tr>
              <a:tr h="0">
                <a:tc>
                  <a:txBody>
                    <a:bodyPr/>
                    <a:lstStyle/>
                    <a:p>
                      <a:pPr>
                        <a:buNone/>
                      </a:pPr>
                      <a:r>
                        <a:rPr lang="en-US" noProof="0" dirty="0"/>
                        <a:t>C</a:t>
                      </a:r>
                    </a:p>
                  </a:txBody>
                  <a:tcPr anchor="ctr"/>
                </a:tc>
                <a:tc>
                  <a:txBody>
                    <a:bodyPr/>
                    <a:lstStyle/>
                    <a:p>
                      <a:pPr algn="r">
                        <a:buNone/>
                      </a:pPr>
                      <a:r>
                        <a:rPr lang="en-US" noProof="0" dirty="0"/>
                        <a:t>5</a:t>
                      </a:r>
                    </a:p>
                  </a:txBody>
                  <a:tcPr anchor="ctr"/>
                </a:tc>
                <a:tc>
                  <a:txBody>
                    <a:bodyPr/>
                    <a:lstStyle/>
                    <a:p>
                      <a:pPr algn="r">
                        <a:buNone/>
                      </a:pPr>
                      <a:r>
                        <a:rPr lang="en-US" noProof="0" dirty="0"/>
                        <a:t>70%</a:t>
                      </a:r>
                    </a:p>
                  </a:txBody>
                  <a:tcPr anchor="ctr"/>
                </a:tc>
                <a:tc>
                  <a:txBody>
                    <a:bodyPr/>
                    <a:lstStyle/>
                    <a:p>
                      <a:pPr>
                        <a:buNone/>
                      </a:pPr>
                      <a:r>
                        <a:rPr lang="en-US" noProof="0" dirty="0"/>
                        <a:t>Pass</a:t>
                      </a:r>
                    </a:p>
                  </a:txBody>
                  <a:tcPr anchor="ctr"/>
                </a:tc>
                <a:extLst>
                  <a:ext uri="{0D108BD9-81ED-4DB2-BD59-A6C34878D82A}">
                    <a16:rowId xmlns:a16="http://schemas.microsoft.com/office/drawing/2014/main" val="2524159679"/>
                  </a:ext>
                </a:extLst>
              </a:tr>
              <a:tr h="0">
                <a:tc>
                  <a:txBody>
                    <a:bodyPr/>
                    <a:lstStyle/>
                    <a:p>
                      <a:pPr>
                        <a:buNone/>
                      </a:pPr>
                      <a:r>
                        <a:rPr lang="en-US" noProof="0" dirty="0"/>
                        <a:t>D</a:t>
                      </a:r>
                    </a:p>
                  </a:txBody>
                  <a:tcPr anchor="ctr"/>
                </a:tc>
                <a:tc>
                  <a:txBody>
                    <a:bodyPr/>
                    <a:lstStyle/>
                    <a:p>
                      <a:pPr algn="r">
                        <a:buNone/>
                      </a:pPr>
                      <a:r>
                        <a:rPr lang="en-US" noProof="0" dirty="0"/>
                        <a:t>6</a:t>
                      </a:r>
                    </a:p>
                  </a:txBody>
                  <a:tcPr anchor="ctr"/>
                </a:tc>
                <a:tc>
                  <a:txBody>
                    <a:bodyPr/>
                    <a:lstStyle/>
                    <a:p>
                      <a:pPr algn="r">
                        <a:buNone/>
                      </a:pPr>
                      <a:r>
                        <a:rPr lang="en-US" noProof="0" dirty="0"/>
                        <a:t>80%</a:t>
                      </a:r>
                    </a:p>
                  </a:txBody>
                  <a:tcPr anchor="ctr"/>
                </a:tc>
                <a:tc>
                  <a:txBody>
                    <a:bodyPr/>
                    <a:lstStyle/>
                    <a:p>
                      <a:pPr>
                        <a:buNone/>
                      </a:pPr>
                      <a:r>
                        <a:rPr lang="en-US" noProof="0" dirty="0"/>
                        <a:t>Pass</a:t>
                      </a:r>
                    </a:p>
                  </a:txBody>
                  <a:tcPr anchor="ctr"/>
                </a:tc>
                <a:extLst>
                  <a:ext uri="{0D108BD9-81ED-4DB2-BD59-A6C34878D82A}">
                    <a16:rowId xmlns:a16="http://schemas.microsoft.com/office/drawing/2014/main" val="2205505993"/>
                  </a:ext>
                </a:extLst>
              </a:tr>
              <a:tr h="0">
                <a:tc>
                  <a:txBody>
                    <a:bodyPr/>
                    <a:lstStyle/>
                    <a:p>
                      <a:pPr>
                        <a:buNone/>
                      </a:pPr>
                      <a:r>
                        <a:rPr lang="en-US" noProof="0" dirty="0"/>
                        <a:t>E</a:t>
                      </a:r>
                    </a:p>
                  </a:txBody>
                  <a:tcPr anchor="ctr"/>
                </a:tc>
                <a:tc>
                  <a:txBody>
                    <a:bodyPr/>
                    <a:lstStyle/>
                    <a:p>
                      <a:pPr algn="r">
                        <a:buNone/>
                      </a:pPr>
                      <a:r>
                        <a:rPr lang="en-US" noProof="0" dirty="0"/>
                        <a:t>8</a:t>
                      </a:r>
                    </a:p>
                  </a:txBody>
                  <a:tcPr anchor="ctr"/>
                </a:tc>
                <a:tc>
                  <a:txBody>
                    <a:bodyPr/>
                    <a:lstStyle/>
                    <a:p>
                      <a:pPr algn="r">
                        <a:buNone/>
                      </a:pPr>
                      <a:r>
                        <a:rPr lang="en-US" noProof="0" dirty="0"/>
                        <a:t>90%</a:t>
                      </a:r>
                    </a:p>
                  </a:txBody>
                  <a:tcPr anchor="ctr"/>
                </a:tc>
                <a:tc>
                  <a:txBody>
                    <a:bodyPr/>
                    <a:lstStyle/>
                    <a:p>
                      <a:pPr>
                        <a:buNone/>
                      </a:pPr>
                      <a:r>
                        <a:rPr lang="en-US" noProof="0" dirty="0"/>
                        <a:t>Pass</a:t>
                      </a:r>
                    </a:p>
                  </a:txBody>
                  <a:tcPr anchor="ctr"/>
                </a:tc>
                <a:extLst>
                  <a:ext uri="{0D108BD9-81ED-4DB2-BD59-A6C34878D82A}">
                    <a16:rowId xmlns:a16="http://schemas.microsoft.com/office/drawing/2014/main" val="1386552164"/>
                  </a:ext>
                </a:extLst>
              </a:tr>
            </a:tbl>
          </a:graphicData>
        </a:graphic>
      </p:graphicFrame>
      <p:sp>
        <p:nvSpPr>
          <p:cNvPr id="5" name="TextBox 4">
            <a:extLst>
              <a:ext uri="{FF2B5EF4-FFF2-40B4-BE49-F238E27FC236}">
                <a16:creationId xmlns:a16="http://schemas.microsoft.com/office/drawing/2014/main" id="{E9602677-35D8-5478-7395-6DC09710F620}"/>
              </a:ext>
            </a:extLst>
          </p:cNvPr>
          <p:cNvSpPr txBox="1"/>
          <p:nvPr/>
        </p:nvSpPr>
        <p:spPr>
          <a:xfrm>
            <a:off x="2401172" y="4976634"/>
            <a:ext cx="4427744" cy="1200329"/>
          </a:xfrm>
          <a:prstGeom prst="rect">
            <a:avLst/>
          </a:prstGeom>
          <a:solidFill>
            <a:schemeClr val="accent6">
              <a:lumMod val="20000"/>
              <a:lumOff val="80000"/>
            </a:schemeClr>
          </a:solidFill>
        </p:spPr>
        <p:txBody>
          <a:bodyPr wrap="square" rtlCol="0">
            <a:spAutoFit/>
          </a:bodyPr>
          <a:lstStyle/>
          <a:p>
            <a:r>
              <a:rPr lang="en-US" noProof="0" dirty="0"/>
              <a:t>Code:</a:t>
            </a:r>
          </a:p>
          <a:p>
            <a:r>
              <a:rPr lang="en-US" noProof="0" dirty="0"/>
              <a:t>C:\lectures\Others\Edureka\intralinks</a:t>
            </a:r>
          </a:p>
          <a:p>
            <a:r>
              <a:rPr lang="en-US" noProof="0" dirty="0"/>
              <a:t>1_hardcoded.py</a:t>
            </a:r>
          </a:p>
          <a:p>
            <a:r>
              <a:rPr lang="en-US" noProof="0" dirty="0"/>
              <a:t>2_ml.py</a:t>
            </a:r>
          </a:p>
        </p:txBody>
      </p:sp>
    </p:spTree>
    <p:extLst>
      <p:ext uri="{BB962C8B-B14F-4D97-AF65-F5344CB8AC3E}">
        <p14:creationId xmlns:p14="http://schemas.microsoft.com/office/powerpoint/2010/main" val="424068590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750BF59-6251-C240-1CF9-55F962B56083}"/>
              </a:ext>
            </a:extLst>
          </p:cNvPr>
          <p:cNvSpPr>
            <a:spLocks noGrp="1"/>
          </p:cNvSpPr>
          <p:nvPr>
            <p:ph type="title"/>
          </p:nvPr>
        </p:nvSpPr>
        <p:spPr/>
        <p:txBody>
          <a:bodyPr/>
          <a:lstStyle/>
          <a:p>
            <a:r>
              <a:rPr lang="en-US" noProof="0" dirty="0"/>
              <a:t>Detecting Hidden Layers</a:t>
            </a:r>
          </a:p>
        </p:txBody>
      </p:sp>
      <p:sp>
        <p:nvSpPr>
          <p:cNvPr id="3" name="Content Placeholder 2">
            <a:extLst>
              <a:ext uri="{FF2B5EF4-FFF2-40B4-BE49-F238E27FC236}">
                <a16:creationId xmlns:a16="http://schemas.microsoft.com/office/drawing/2014/main" id="{9EE9A702-3653-228B-164F-D2E4B7D73D51}"/>
              </a:ext>
            </a:extLst>
          </p:cNvPr>
          <p:cNvSpPr>
            <a:spLocks noGrp="1"/>
          </p:cNvSpPr>
          <p:nvPr>
            <p:ph idx="1"/>
          </p:nvPr>
        </p:nvSpPr>
        <p:spPr/>
        <p:txBody>
          <a:bodyPr/>
          <a:lstStyle/>
          <a:p>
            <a:r>
              <a:rPr lang="en-US" b="1" noProof="0" dirty="0"/>
              <a:t>Goal:</a:t>
            </a:r>
            <a:r>
              <a:rPr lang="en-US" noProof="0" dirty="0"/>
              <a:t> Demonstrate how Deep Learning uses neural networks to learn complex, non-linear patterns that a simple ML model cannot easily untangle</a:t>
            </a:r>
          </a:p>
          <a:p>
            <a:r>
              <a:rPr lang="en-US" b="1" noProof="0" dirty="0"/>
              <a:t>The Narrative:</a:t>
            </a:r>
            <a:r>
              <a:rPr lang="en-US" noProof="0" dirty="0"/>
              <a:t> You are building a travel app to map a 7-day itinerary across Japan. You want the app to differentiate between "Typical Tourist Traps" and true "Off-the-Beaten-Path Hidden Gems." The relationship between geographical coordinates, foot traffic, and local reviews is highly complex.</a:t>
            </a:r>
          </a:p>
          <a:p>
            <a:r>
              <a:rPr lang="en-US" noProof="0" dirty="0"/>
              <a:t>Solution: Build a DL network</a:t>
            </a:r>
          </a:p>
          <a:p>
            <a:r>
              <a:rPr lang="en-US" noProof="0" dirty="0"/>
              <a:t>Code: 3_dl.py</a:t>
            </a:r>
          </a:p>
        </p:txBody>
      </p:sp>
    </p:spTree>
    <p:extLst>
      <p:ext uri="{BB962C8B-B14F-4D97-AF65-F5344CB8AC3E}">
        <p14:creationId xmlns:p14="http://schemas.microsoft.com/office/powerpoint/2010/main" val="20774019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8FD6CB4-6286-2D92-4B4F-ED5E759216C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46C02C2-B2E0-B3B1-7A2C-295E67A7908D}"/>
              </a:ext>
            </a:extLst>
          </p:cNvPr>
          <p:cNvSpPr>
            <a:spLocks noGrp="1"/>
          </p:cNvSpPr>
          <p:nvPr>
            <p:ph type="title"/>
          </p:nvPr>
        </p:nvSpPr>
        <p:spPr/>
        <p:txBody>
          <a:bodyPr/>
          <a:lstStyle/>
          <a:p>
            <a:r>
              <a:rPr lang="en-US" noProof="0" dirty="0"/>
              <a:t>Detecting Hidden Layers</a:t>
            </a:r>
          </a:p>
        </p:txBody>
      </p:sp>
      <p:sp>
        <p:nvSpPr>
          <p:cNvPr id="3" name="Content Placeholder 2">
            <a:extLst>
              <a:ext uri="{FF2B5EF4-FFF2-40B4-BE49-F238E27FC236}">
                <a16:creationId xmlns:a16="http://schemas.microsoft.com/office/drawing/2014/main" id="{2196905F-70F2-3FDA-7673-C737DB4E9EF2}"/>
              </a:ext>
            </a:extLst>
          </p:cNvPr>
          <p:cNvSpPr>
            <a:spLocks noGrp="1"/>
          </p:cNvSpPr>
          <p:nvPr>
            <p:ph idx="1"/>
          </p:nvPr>
        </p:nvSpPr>
        <p:spPr/>
        <p:txBody>
          <a:bodyPr>
            <a:normAutofit fontScale="92500" lnSpcReduction="20000"/>
          </a:bodyPr>
          <a:lstStyle/>
          <a:p>
            <a:r>
              <a:rPr lang="en-US" noProof="0" dirty="0"/>
              <a:t>In the dataset, we gave the model three distinct numbers: Latitude, Longitude, and Tourist Density.</a:t>
            </a:r>
          </a:p>
          <a:p>
            <a:pPr lvl="1"/>
            <a:r>
              <a:rPr lang="en-US" noProof="0" dirty="0"/>
              <a:t>A basic model looks at these as independent columns of numbers.</a:t>
            </a:r>
          </a:p>
          <a:p>
            <a:pPr lvl="1"/>
            <a:r>
              <a:rPr lang="en-US" noProof="0" dirty="0"/>
              <a:t>The Deep Learning model's "hidden layers" act as intermediate filters that combine these numbers to figure out </a:t>
            </a:r>
            <a:r>
              <a:rPr lang="en-US" i="1" noProof="0" dirty="0"/>
              <a:t>what they actually represent in the real world</a:t>
            </a:r>
            <a:r>
              <a:rPr lang="en-US" noProof="0" dirty="0"/>
              <a:t>.</a:t>
            </a:r>
          </a:p>
          <a:p>
            <a:r>
              <a:rPr lang="en-US" noProof="0" dirty="0"/>
              <a:t>During training, the first hidden layer might figure out that a specific combination of Latitude and Longitude represents an "Urban Area." The second hidden layer might combine that new "Urban Area" concept with the "Tourist Density" score.</a:t>
            </a:r>
          </a:p>
          <a:p>
            <a:r>
              <a:rPr lang="en-US" noProof="0" dirty="0"/>
              <a:t>It eventually learns the unwritten rule: </a:t>
            </a:r>
            <a:r>
              <a:rPr lang="en-US" i="1" noProof="0" dirty="0"/>
              <a:t>A density of 85 in an Urban Area means it's a Tourist Trap. But a density of 85 at a remote mountain coordinate means there is a localized event or festival happening, making it a Hidden Gem.</a:t>
            </a:r>
            <a:r>
              <a:rPr lang="en-US" noProof="0" dirty="0"/>
              <a:t> It learned to map the geography without us ever feeding it a literal map.</a:t>
            </a:r>
          </a:p>
          <a:p>
            <a:endParaRPr lang="en-US" noProof="0" dirty="0"/>
          </a:p>
          <a:p>
            <a:endParaRPr lang="en-US" noProof="0" dirty="0"/>
          </a:p>
        </p:txBody>
      </p:sp>
    </p:spTree>
    <p:extLst>
      <p:ext uri="{BB962C8B-B14F-4D97-AF65-F5344CB8AC3E}">
        <p14:creationId xmlns:p14="http://schemas.microsoft.com/office/powerpoint/2010/main" val="54356372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FFB5646-3D3B-BA55-B2AE-C8D54C14A0D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D95F88D-B869-4DC0-8622-FA6650DE8863}"/>
              </a:ext>
            </a:extLst>
          </p:cNvPr>
          <p:cNvSpPr>
            <a:spLocks noGrp="1"/>
          </p:cNvSpPr>
          <p:nvPr>
            <p:ph type="title"/>
          </p:nvPr>
        </p:nvSpPr>
        <p:spPr/>
        <p:txBody>
          <a:bodyPr/>
          <a:lstStyle/>
          <a:p>
            <a:r>
              <a:rPr lang="en-US" noProof="0" dirty="0"/>
              <a:t>Why is it Difficult for ML?</a:t>
            </a:r>
          </a:p>
        </p:txBody>
      </p:sp>
      <p:sp>
        <p:nvSpPr>
          <p:cNvPr id="3" name="Content Placeholder 2">
            <a:extLst>
              <a:ext uri="{FF2B5EF4-FFF2-40B4-BE49-F238E27FC236}">
                <a16:creationId xmlns:a16="http://schemas.microsoft.com/office/drawing/2014/main" id="{8F3EF759-64AB-B6D2-086B-1A02CAE0C077}"/>
              </a:ext>
            </a:extLst>
          </p:cNvPr>
          <p:cNvSpPr>
            <a:spLocks noGrp="1"/>
          </p:cNvSpPr>
          <p:nvPr>
            <p:ph idx="1"/>
          </p:nvPr>
        </p:nvSpPr>
        <p:spPr/>
        <p:txBody>
          <a:bodyPr>
            <a:normAutofit fontScale="85000" lnSpcReduction="10000"/>
          </a:bodyPr>
          <a:lstStyle/>
          <a:p>
            <a:r>
              <a:rPr lang="en-US" noProof="0" dirty="0"/>
              <a:t>It comes down to </a:t>
            </a:r>
            <a:r>
              <a:rPr lang="en-US" b="1" noProof="0" dirty="0"/>
              <a:t>Non-Linearity</a:t>
            </a:r>
            <a:r>
              <a:rPr lang="en-US" noProof="0" dirty="0"/>
              <a:t>.</a:t>
            </a:r>
          </a:p>
          <a:p>
            <a:r>
              <a:rPr lang="en-US" noProof="0" dirty="0"/>
              <a:t>Think about how you would plot these locations on a literal map of Japan. Tourist traps are not grouped together in one massive, neat square on the map. They are scattered in isolated pockets (a pocket in Tokyo, a pocket in Kyoto, a pocket in Osaka).</a:t>
            </a:r>
          </a:p>
          <a:p>
            <a:r>
              <a:rPr lang="en-US" b="1" noProof="0" dirty="0"/>
              <a:t>The ML Limitation (Straight Lines):</a:t>
            </a:r>
            <a:r>
              <a:rPr lang="en-US" noProof="0" dirty="0"/>
              <a:t> Simple ML models (like Linear Regression or basic Support Vector Machines) try to draw straight lines or blunt boxes to separate data. You cannot draw one single straight line across a map of Japan that perfectly separates all the tourist traps from the hidden gems.</a:t>
            </a:r>
          </a:p>
          <a:p>
            <a:r>
              <a:rPr lang="en-US" b="1" noProof="0" dirty="0"/>
              <a:t>The DL Advantage (Bending the Space):</a:t>
            </a:r>
            <a:r>
              <a:rPr lang="en-US" noProof="0" dirty="0"/>
              <a:t> A neural network doesn't draw straight lines. By using multiple hidden layers, it essentially bends, folds, and warps the mathematical space. It can draw complex, highly irregular boundaries that wrap perfectly around those scattered pockets of data.</a:t>
            </a:r>
          </a:p>
        </p:txBody>
      </p:sp>
    </p:spTree>
    <p:extLst>
      <p:ext uri="{BB962C8B-B14F-4D97-AF65-F5344CB8AC3E}">
        <p14:creationId xmlns:p14="http://schemas.microsoft.com/office/powerpoint/2010/main" val="294570565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A00E5A-208F-AB12-E5A5-A940C7966AFB}"/>
              </a:ext>
            </a:extLst>
          </p:cNvPr>
          <p:cNvSpPr>
            <a:spLocks noGrp="1"/>
          </p:cNvSpPr>
          <p:nvPr>
            <p:ph type="title"/>
          </p:nvPr>
        </p:nvSpPr>
        <p:spPr/>
        <p:txBody>
          <a:bodyPr/>
          <a:lstStyle/>
          <a:p>
            <a:r>
              <a:rPr lang="en-US" noProof="0" dirty="0"/>
              <a:t>Gen AI</a:t>
            </a:r>
          </a:p>
        </p:txBody>
      </p:sp>
      <p:sp>
        <p:nvSpPr>
          <p:cNvPr id="3" name="Content Placeholder 2">
            <a:extLst>
              <a:ext uri="{FF2B5EF4-FFF2-40B4-BE49-F238E27FC236}">
                <a16:creationId xmlns:a16="http://schemas.microsoft.com/office/drawing/2014/main" id="{6BE07D10-20AF-A4A6-1C70-A56C6404C49C}"/>
              </a:ext>
            </a:extLst>
          </p:cNvPr>
          <p:cNvSpPr>
            <a:spLocks noGrp="1"/>
          </p:cNvSpPr>
          <p:nvPr>
            <p:ph idx="1"/>
          </p:nvPr>
        </p:nvSpPr>
        <p:spPr/>
        <p:txBody>
          <a:bodyPr/>
          <a:lstStyle/>
          <a:p>
            <a:r>
              <a:rPr lang="en-US" b="1" noProof="0" dirty="0"/>
              <a:t>Goal</a:t>
            </a:r>
            <a:r>
              <a:rPr lang="en-US" noProof="0" dirty="0"/>
              <a:t>: Show exactly how GenAI creates new content and demonstrate the very real production risks of Hallucination and wrong generated facts.</a:t>
            </a:r>
          </a:p>
          <a:p>
            <a:r>
              <a:rPr lang="en-US" b="1" noProof="0" dirty="0"/>
              <a:t>The Narrative</a:t>
            </a:r>
            <a:r>
              <a:rPr lang="en-US" noProof="0" dirty="0"/>
              <a:t>: You are drafting a pitch deck for a new AI startup in India that integrates linear optical quantum computing for secure enterprise workflows. You use GenAI to generate the opening statement.</a:t>
            </a:r>
          </a:p>
          <a:p>
            <a:r>
              <a:rPr lang="en-US" noProof="0" dirty="0"/>
              <a:t>Note: The participants will need to add pip install transformers</a:t>
            </a:r>
          </a:p>
          <a:p>
            <a:r>
              <a:rPr lang="en-US" noProof="0" dirty="0"/>
              <a:t>Code: 4_gen_ai.py</a:t>
            </a:r>
          </a:p>
          <a:p>
            <a:endParaRPr lang="en-US" noProof="0" dirty="0"/>
          </a:p>
        </p:txBody>
      </p:sp>
    </p:spTree>
    <p:extLst>
      <p:ext uri="{BB962C8B-B14F-4D97-AF65-F5344CB8AC3E}">
        <p14:creationId xmlns:p14="http://schemas.microsoft.com/office/powerpoint/2010/main" val="141262383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3CB685-6AA5-282A-D1A5-E9C065079B1B}"/>
              </a:ext>
            </a:extLst>
          </p:cNvPr>
          <p:cNvSpPr>
            <a:spLocks noGrp="1"/>
          </p:cNvSpPr>
          <p:nvPr>
            <p:ph type="title"/>
          </p:nvPr>
        </p:nvSpPr>
        <p:spPr/>
        <p:txBody>
          <a:bodyPr/>
          <a:lstStyle/>
          <a:p>
            <a:r>
              <a:rPr lang="en-US" noProof="0" dirty="0"/>
              <a:t>What is Happening in the Gen AI Case?</a:t>
            </a:r>
          </a:p>
        </p:txBody>
      </p:sp>
      <p:sp>
        <p:nvSpPr>
          <p:cNvPr id="3" name="Content Placeholder 2">
            <a:extLst>
              <a:ext uri="{FF2B5EF4-FFF2-40B4-BE49-F238E27FC236}">
                <a16:creationId xmlns:a16="http://schemas.microsoft.com/office/drawing/2014/main" id="{2615FCAE-0B81-C246-3A5E-F855EC15CE26}"/>
              </a:ext>
            </a:extLst>
          </p:cNvPr>
          <p:cNvSpPr>
            <a:spLocks noGrp="1"/>
          </p:cNvSpPr>
          <p:nvPr>
            <p:ph idx="1"/>
          </p:nvPr>
        </p:nvSpPr>
        <p:spPr/>
        <p:txBody>
          <a:bodyPr>
            <a:normAutofit fontScale="92500"/>
          </a:bodyPr>
          <a:lstStyle/>
          <a:p>
            <a:r>
              <a:rPr lang="en-US" sz="1600" noProof="0" dirty="0"/>
              <a:t>While Deep Learning learns to map complex boundaries (like finding hidden gems on a map), Generative AI (specifically Large Language Models like the one in the lab) does something entirely different: it plays a massive, high-speed game of probability.</a:t>
            </a:r>
          </a:p>
          <a:p>
            <a:r>
              <a:rPr lang="en-US" sz="1600" noProof="0" dirty="0"/>
              <a:t>At its core, an LLM is essentially "autocomplete on steroids." It does not "think," and it does not "know" facts. It only knows the mathematical likelihood of one word following another based on the massive datasets it was trained on.</a:t>
            </a:r>
          </a:p>
          <a:p>
            <a:r>
              <a:rPr lang="en-US" sz="1600" noProof="0" dirty="0"/>
              <a:t>When we gave the model the prompt: "Our new startup in India will combine Agentic AI and linear optical quantum computing to..." the model paused and assigned a probability score to every single word in the English language.</a:t>
            </a:r>
          </a:p>
          <a:p>
            <a:r>
              <a:rPr lang="en-US" sz="1600" noProof="0" dirty="0"/>
              <a:t>1. The Strict and Safe Output (Low Temperature = 0.3)</a:t>
            </a:r>
          </a:p>
          <a:p>
            <a:pPr lvl="1"/>
            <a:r>
              <a:rPr lang="en-US" sz="1400" noProof="0" dirty="0"/>
              <a:t>"Temperature" is the dial that controls randomness. When the temperature is low, the model is mathematically conservative. It looks at the probabilities and says, "I will only pick from the top 1% most likely next words."</a:t>
            </a:r>
          </a:p>
          <a:p>
            <a:pPr lvl="1"/>
            <a:r>
              <a:rPr lang="en-US" sz="1400" noProof="0" dirty="0"/>
              <a:t>The Result: It picks highly predictable words (e.g., "...to build...", "...to solve..."). It is factually safe, grammatically perfect, but incredibly boring and repetitive.</a:t>
            </a:r>
          </a:p>
          <a:p>
            <a:r>
              <a:rPr lang="en-US" sz="1600" noProof="0" dirty="0"/>
              <a:t>2. The Chaotic Output (High Temperature = 2.0)</a:t>
            </a:r>
          </a:p>
          <a:p>
            <a:pPr lvl="1"/>
            <a:r>
              <a:rPr lang="en-US" sz="1400" noProof="0" dirty="0"/>
              <a:t>When we cranked the temperature up, we flattened the math. We told the model, "Ignore the obvious choices. Give those highly unlikely, low-probability words a chance to be picked."</a:t>
            </a:r>
          </a:p>
          <a:p>
            <a:pPr lvl="1"/>
            <a:r>
              <a:rPr lang="en-US" sz="1400" noProof="0" dirty="0"/>
              <a:t>The Result: The model reaches deeper into the vocabulary. Sometimes this results in brilliant "creativity" (pairing concepts a human wouldn't normally pair). But if forced too far, it picks words that mathematically have no business being next to each other.</a:t>
            </a:r>
          </a:p>
          <a:p>
            <a:pPr lvl="1"/>
            <a:r>
              <a:rPr lang="en-US" sz="1400" noProof="0" dirty="0"/>
              <a:t>The Production Risk: This is exactly what a Hallucination is. The model isn't "lying" to you; it was just mathematically forced to pick a low-probability sequence of words that forms a grammatically correct sentence but is entirely false in the real world.</a:t>
            </a:r>
          </a:p>
        </p:txBody>
      </p:sp>
    </p:spTree>
    <p:extLst>
      <p:ext uri="{BB962C8B-B14F-4D97-AF65-F5344CB8AC3E}">
        <p14:creationId xmlns:p14="http://schemas.microsoft.com/office/powerpoint/2010/main" val="268937519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6A95379-CE8E-45C2-8D39-AF3E567DD9B7}"/>
              </a:ext>
            </a:extLst>
          </p:cNvPr>
          <p:cNvSpPr>
            <a:spLocks noGrp="1"/>
          </p:cNvSpPr>
          <p:nvPr>
            <p:ph type="title"/>
          </p:nvPr>
        </p:nvSpPr>
        <p:spPr/>
        <p:txBody>
          <a:bodyPr/>
          <a:lstStyle/>
          <a:p>
            <a:r>
              <a:rPr lang="en-US" noProof="0" dirty="0"/>
              <a:t>AI/ML Infrastructure</a:t>
            </a:r>
          </a:p>
        </p:txBody>
      </p:sp>
      <p:graphicFrame>
        <p:nvGraphicFramePr>
          <p:cNvPr id="4" name="Table 3">
            <a:extLst>
              <a:ext uri="{FF2B5EF4-FFF2-40B4-BE49-F238E27FC236}">
                <a16:creationId xmlns:a16="http://schemas.microsoft.com/office/drawing/2014/main" id="{5E7364B3-3B01-8611-973E-2F008D0C0838}"/>
              </a:ext>
            </a:extLst>
          </p:cNvPr>
          <p:cNvGraphicFramePr>
            <a:graphicFrameLocks noGrp="1"/>
          </p:cNvGraphicFramePr>
          <p:nvPr>
            <p:extLst>
              <p:ext uri="{D42A27DB-BD31-4B8C-83A1-F6EECF244321}">
                <p14:modId xmlns:p14="http://schemas.microsoft.com/office/powerpoint/2010/main" val="2632556490"/>
              </p:ext>
            </p:extLst>
          </p:nvPr>
        </p:nvGraphicFramePr>
        <p:xfrm>
          <a:off x="838200" y="1604309"/>
          <a:ext cx="10515600" cy="2773680"/>
        </p:xfrm>
        <a:graphic>
          <a:graphicData uri="http://schemas.openxmlformats.org/drawingml/2006/table">
            <a:tbl>
              <a:tblPr firstRow="1">
                <a:tableStyleId>{7E9639D4-E3E2-4D34-9284-5A2195B3D0D7}</a:tableStyleId>
              </a:tblPr>
              <a:tblGrid>
                <a:gridCol w="2644896">
                  <a:extLst>
                    <a:ext uri="{9D8B030D-6E8A-4147-A177-3AD203B41FA5}">
                      <a16:colId xmlns:a16="http://schemas.microsoft.com/office/drawing/2014/main" val="884127750"/>
                    </a:ext>
                  </a:extLst>
                </a:gridCol>
                <a:gridCol w="4139231">
                  <a:extLst>
                    <a:ext uri="{9D8B030D-6E8A-4147-A177-3AD203B41FA5}">
                      <a16:colId xmlns:a16="http://schemas.microsoft.com/office/drawing/2014/main" val="569932759"/>
                    </a:ext>
                  </a:extLst>
                </a:gridCol>
                <a:gridCol w="3731473">
                  <a:extLst>
                    <a:ext uri="{9D8B030D-6E8A-4147-A177-3AD203B41FA5}">
                      <a16:colId xmlns:a16="http://schemas.microsoft.com/office/drawing/2014/main" val="3861548057"/>
                    </a:ext>
                  </a:extLst>
                </a:gridCol>
              </a:tblGrid>
              <a:tr h="0">
                <a:tc>
                  <a:txBody>
                    <a:bodyPr/>
                    <a:lstStyle/>
                    <a:p>
                      <a:pPr>
                        <a:buNone/>
                      </a:pPr>
                      <a:r>
                        <a:rPr lang="en-US" sz="2000" noProof="0" dirty="0"/>
                        <a:t>Layer</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US" sz="2000" noProof="0" dirty="0"/>
                        <a:t>Description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US" sz="2000" noProof="0" dirty="0"/>
                        <a:t>Key Components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731774994"/>
                  </a:ext>
                </a:extLst>
              </a:tr>
              <a:tr h="0">
                <a:tc>
                  <a:txBody>
                    <a:bodyPr/>
                    <a:lstStyle/>
                    <a:p>
                      <a:pPr>
                        <a:buNone/>
                      </a:pPr>
                      <a:r>
                        <a:rPr lang="en-US" sz="2000" noProof="0" dirty="0"/>
                        <a:t>Data Layer</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US" sz="2000" noProof="0" dirty="0"/>
                        <a:t>Raw data ingestion and storage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US" sz="2000" noProof="0" dirty="0"/>
                        <a:t>Data lake, DBs, APIs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812114490"/>
                  </a:ext>
                </a:extLst>
              </a:tr>
              <a:tr h="0">
                <a:tc>
                  <a:txBody>
                    <a:bodyPr/>
                    <a:lstStyle/>
                    <a:p>
                      <a:pPr>
                        <a:buNone/>
                      </a:pPr>
                      <a:r>
                        <a:rPr lang="en-US" sz="2000" noProof="0" dirty="0"/>
                        <a:t>Processing Layer</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US" sz="2000" noProof="0" dirty="0"/>
                        <a:t>Data cleaning and transformation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US" sz="2000" noProof="0" dirty="0"/>
                        <a:t>ETL/ELT pipelines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198120815"/>
                  </a:ext>
                </a:extLst>
              </a:tr>
              <a:tr h="0">
                <a:tc>
                  <a:txBody>
                    <a:bodyPr/>
                    <a:lstStyle/>
                    <a:p>
                      <a:pPr>
                        <a:buNone/>
                      </a:pPr>
                      <a:r>
                        <a:rPr lang="en-US" sz="2000" noProof="0" dirty="0"/>
                        <a:t>Feature Layer</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US" sz="2000" noProof="0" dirty="0"/>
                        <a:t>Feature creation and storage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US" sz="2000" noProof="0" dirty="0"/>
                        <a:t>Feature engineering, feature store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619536421"/>
                  </a:ext>
                </a:extLst>
              </a:tr>
              <a:tr h="0">
                <a:tc>
                  <a:txBody>
                    <a:bodyPr/>
                    <a:lstStyle/>
                    <a:p>
                      <a:pPr>
                        <a:buNone/>
                      </a:pPr>
                      <a:r>
                        <a:rPr lang="en-US" sz="2000" noProof="0" dirty="0"/>
                        <a:t>Training Layer</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US" sz="2000" noProof="0" dirty="0"/>
                        <a:t>Model building and experimentation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US" sz="2000" noProof="0" dirty="0"/>
                        <a:t>ML frameworks, GPUs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79569101"/>
                  </a:ext>
                </a:extLst>
              </a:tr>
              <a:tr h="0">
                <a:tc>
                  <a:txBody>
                    <a:bodyPr/>
                    <a:lstStyle/>
                    <a:p>
                      <a:pPr>
                        <a:buNone/>
                      </a:pPr>
                      <a:r>
                        <a:rPr lang="en-US" sz="2000" noProof="0" dirty="0"/>
                        <a:t>Deployment Layer</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US" sz="2000" noProof="0" dirty="0"/>
                        <a:t>Serving models in production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US" sz="2000" noProof="0" dirty="0"/>
                        <a:t>APIs, batch jobs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719161541"/>
                  </a:ext>
                </a:extLst>
              </a:tr>
              <a:tr h="0">
                <a:tc>
                  <a:txBody>
                    <a:bodyPr/>
                    <a:lstStyle/>
                    <a:p>
                      <a:pPr>
                        <a:buNone/>
                      </a:pPr>
                      <a:r>
                        <a:rPr lang="en-US" sz="2000" noProof="0" dirty="0"/>
                        <a:t>Monitoring Layer</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US" sz="2000" noProof="0" dirty="0"/>
                        <a:t>Performance and drift tracking</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US" sz="2000" noProof="0" dirty="0"/>
                        <a:t>Logging, alerts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20747513"/>
                  </a:ext>
                </a:extLst>
              </a:tr>
            </a:tbl>
          </a:graphicData>
        </a:graphic>
      </p:graphicFrame>
      <p:sp>
        <p:nvSpPr>
          <p:cNvPr id="5" name="TextBox 4">
            <a:extLst>
              <a:ext uri="{FF2B5EF4-FFF2-40B4-BE49-F238E27FC236}">
                <a16:creationId xmlns:a16="http://schemas.microsoft.com/office/drawing/2014/main" id="{295F4A97-8C8D-7B37-EDDA-C4A6BC8F1F25}"/>
              </a:ext>
            </a:extLst>
          </p:cNvPr>
          <p:cNvSpPr txBox="1"/>
          <p:nvPr/>
        </p:nvSpPr>
        <p:spPr>
          <a:xfrm>
            <a:off x="1368110" y="4781405"/>
            <a:ext cx="3217850" cy="369332"/>
          </a:xfrm>
          <a:prstGeom prst="rect">
            <a:avLst/>
          </a:prstGeom>
          <a:noFill/>
        </p:spPr>
        <p:txBody>
          <a:bodyPr wrap="square" rtlCol="0">
            <a:spAutoFit/>
          </a:bodyPr>
          <a:lstStyle/>
          <a:p>
            <a:r>
              <a:rPr lang="en-US" noProof="0" dirty="0"/>
              <a:t>Code: 5_ai_ml_end_to_end.py</a:t>
            </a:r>
          </a:p>
        </p:txBody>
      </p:sp>
    </p:spTree>
    <p:extLst>
      <p:ext uri="{BB962C8B-B14F-4D97-AF65-F5344CB8AC3E}">
        <p14:creationId xmlns:p14="http://schemas.microsoft.com/office/powerpoint/2010/main" val="342308309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A6D4CD-A9EE-496E-56A0-F270A27A78DD}"/>
              </a:ext>
            </a:extLst>
          </p:cNvPr>
          <p:cNvSpPr>
            <a:spLocks noGrp="1"/>
          </p:cNvSpPr>
          <p:nvPr>
            <p:ph type="title"/>
          </p:nvPr>
        </p:nvSpPr>
        <p:spPr/>
        <p:txBody>
          <a:bodyPr/>
          <a:lstStyle/>
          <a:p>
            <a:r>
              <a:rPr lang="en-US" noProof="0" dirty="0"/>
              <a:t>Data Layer (Ingestion)</a:t>
            </a:r>
          </a:p>
        </p:txBody>
      </p:sp>
      <p:graphicFrame>
        <p:nvGraphicFramePr>
          <p:cNvPr id="4" name="Table 3">
            <a:extLst>
              <a:ext uri="{FF2B5EF4-FFF2-40B4-BE49-F238E27FC236}">
                <a16:creationId xmlns:a16="http://schemas.microsoft.com/office/drawing/2014/main" id="{6185E77B-8B55-9E73-A141-D823CE402927}"/>
              </a:ext>
            </a:extLst>
          </p:cNvPr>
          <p:cNvGraphicFramePr>
            <a:graphicFrameLocks noGrp="1"/>
          </p:cNvGraphicFramePr>
          <p:nvPr>
            <p:extLst>
              <p:ext uri="{D42A27DB-BD31-4B8C-83A1-F6EECF244321}">
                <p14:modId xmlns:p14="http://schemas.microsoft.com/office/powerpoint/2010/main" val="1466301998"/>
              </p:ext>
            </p:extLst>
          </p:nvPr>
        </p:nvGraphicFramePr>
        <p:xfrm>
          <a:off x="838200" y="2904014"/>
          <a:ext cx="10515600" cy="2194560"/>
        </p:xfrm>
        <a:graphic>
          <a:graphicData uri="http://schemas.openxmlformats.org/drawingml/2006/table">
            <a:tbl>
              <a:tblPr firstRow="1">
                <a:tableStyleId>{69012ECD-51FC-41F1-AA8D-1B2483CD663E}</a:tableStyleId>
              </a:tblPr>
              <a:tblGrid>
                <a:gridCol w="2826026">
                  <a:extLst>
                    <a:ext uri="{9D8B030D-6E8A-4147-A177-3AD203B41FA5}">
                      <a16:colId xmlns:a16="http://schemas.microsoft.com/office/drawing/2014/main" val="2682338032"/>
                    </a:ext>
                  </a:extLst>
                </a:gridCol>
                <a:gridCol w="7689574">
                  <a:extLst>
                    <a:ext uri="{9D8B030D-6E8A-4147-A177-3AD203B41FA5}">
                      <a16:colId xmlns:a16="http://schemas.microsoft.com/office/drawing/2014/main" val="2561721359"/>
                    </a:ext>
                  </a:extLst>
                </a:gridCol>
              </a:tblGrid>
              <a:tr h="0">
                <a:tc>
                  <a:txBody>
                    <a:bodyPr/>
                    <a:lstStyle/>
                    <a:p>
                      <a:pPr>
                        <a:buNone/>
                      </a:pPr>
                      <a:r>
                        <a:rPr lang="en-US" noProof="0" dirty="0"/>
                        <a:t>Aspect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US" noProof="0" dirty="0"/>
                        <a:t>Details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652967693"/>
                  </a:ext>
                </a:extLst>
              </a:tr>
              <a:tr h="0">
                <a:tc>
                  <a:txBody>
                    <a:bodyPr/>
                    <a:lstStyle/>
                    <a:p>
                      <a:pPr>
                        <a:buNone/>
                      </a:pPr>
                      <a:r>
                        <a:rPr lang="en-US" noProof="0" dirty="0"/>
                        <a:t>Purpose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US" noProof="0" dirty="0"/>
                        <a:t>Collect raw data from various sources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243189840"/>
                  </a:ext>
                </a:extLst>
              </a:tr>
              <a:tr h="0">
                <a:tc>
                  <a:txBody>
                    <a:bodyPr/>
                    <a:lstStyle/>
                    <a:p>
                      <a:pPr>
                        <a:buNone/>
                      </a:pPr>
                      <a:r>
                        <a:rPr lang="en-US" noProof="0" dirty="0"/>
                        <a:t>Sources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US" noProof="0" dirty="0"/>
                        <a:t>Databases, APIs, sensors, logs, user input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18186916"/>
                  </a:ext>
                </a:extLst>
              </a:tr>
              <a:tr h="0">
                <a:tc>
                  <a:txBody>
                    <a:bodyPr/>
                    <a:lstStyle/>
                    <a:p>
                      <a:pPr>
                        <a:buNone/>
                      </a:pPr>
                      <a:r>
                        <a:rPr lang="en-US" noProof="0" dirty="0"/>
                        <a:t>Nature of Data</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US" noProof="0" dirty="0"/>
                        <a:t>Unstructured, incomplete, noisy</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98485046"/>
                  </a:ext>
                </a:extLst>
              </a:tr>
              <a:tr h="0">
                <a:tc>
                  <a:txBody>
                    <a:bodyPr/>
                    <a:lstStyle/>
                    <a:p>
                      <a:pPr>
                        <a:buNone/>
                      </a:pPr>
                      <a:r>
                        <a:rPr lang="en-US" noProof="0" dirty="0"/>
                        <a:t>Key Tasks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US" noProof="0" dirty="0"/>
                        <a:t>Data collection, ingestion, storage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634729339"/>
                  </a:ext>
                </a:extLst>
              </a:tr>
              <a:tr h="0">
                <a:tc>
                  <a:txBody>
                    <a:bodyPr/>
                    <a:lstStyle/>
                    <a:p>
                      <a:pPr>
                        <a:buNone/>
                      </a:pPr>
                      <a:r>
                        <a:rPr lang="en-US" noProof="0" dirty="0"/>
                        <a:t>Challenges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US" noProof="0" dirty="0"/>
                        <a:t>Missing values, inconsistent formats, duplicates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200848869"/>
                  </a:ext>
                </a:extLst>
              </a:tr>
            </a:tbl>
          </a:graphicData>
        </a:graphic>
      </p:graphicFrame>
    </p:spTree>
    <p:extLst>
      <p:ext uri="{BB962C8B-B14F-4D97-AF65-F5344CB8AC3E}">
        <p14:creationId xmlns:p14="http://schemas.microsoft.com/office/powerpoint/2010/main" val="340083016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96CFF2-8E9F-071B-ACDF-53859B87813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4ED1C57-B13B-CABE-CDDE-1B2B6FF1A17A}"/>
              </a:ext>
            </a:extLst>
          </p:cNvPr>
          <p:cNvSpPr>
            <a:spLocks noGrp="1"/>
          </p:cNvSpPr>
          <p:nvPr>
            <p:ph type="title"/>
          </p:nvPr>
        </p:nvSpPr>
        <p:spPr/>
        <p:txBody>
          <a:bodyPr/>
          <a:lstStyle/>
          <a:p>
            <a:r>
              <a:rPr lang="en-US" noProof="0" dirty="0"/>
              <a:t>Processing Layer (Data Cleaning)</a:t>
            </a:r>
          </a:p>
        </p:txBody>
      </p:sp>
      <p:graphicFrame>
        <p:nvGraphicFramePr>
          <p:cNvPr id="3" name="Table 2">
            <a:extLst>
              <a:ext uri="{FF2B5EF4-FFF2-40B4-BE49-F238E27FC236}">
                <a16:creationId xmlns:a16="http://schemas.microsoft.com/office/drawing/2014/main" id="{46C4E575-6A00-181E-579A-EDA07DF65E86}"/>
              </a:ext>
            </a:extLst>
          </p:cNvPr>
          <p:cNvGraphicFramePr>
            <a:graphicFrameLocks noGrp="1"/>
          </p:cNvGraphicFramePr>
          <p:nvPr>
            <p:extLst>
              <p:ext uri="{D42A27DB-BD31-4B8C-83A1-F6EECF244321}">
                <p14:modId xmlns:p14="http://schemas.microsoft.com/office/powerpoint/2010/main" val="1401888082"/>
              </p:ext>
            </p:extLst>
          </p:nvPr>
        </p:nvGraphicFramePr>
        <p:xfrm>
          <a:off x="838200" y="2904014"/>
          <a:ext cx="10515600" cy="2194560"/>
        </p:xfrm>
        <a:graphic>
          <a:graphicData uri="http://schemas.openxmlformats.org/drawingml/2006/table">
            <a:tbl>
              <a:tblPr firstRow="1">
                <a:tableStyleId>{69012ECD-51FC-41F1-AA8D-1B2483CD663E}</a:tableStyleId>
              </a:tblPr>
              <a:tblGrid>
                <a:gridCol w="5257800">
                  <a:extLst>
                    <a:ext uri="{9D8B030D-6E8A-4147-A177-3AD203B41FA5}">
                      <a16:colId xmlns:a16="http://schemas.microsoft.com/office/drawing/2014/main" val="3250234826"/>
                    </a:ext>
                  </a:extLst>
                </a:gridCol>
                <a:gridCol w="5257800">
                  <a:extLst>
                    <a:ext uri="{9D8B030D-6E8A-4147-A177-3AD203B41FA5}">
                      <a16:colId xmlns:a16="http://schemas.microsoft.com/office/drawing/2014/main" val="363697261"/>
                    </a:ext>
                  </a:extLst>
                </a:gridCol>
              </a:tblGrid>
              <a:tr h="0">
                <a:tc>
                  <a:txBody>
                    <a:bodyPr/>
                    <a:lstStyle/>
                    <a:p>
                      <a:pPr>
                        <a:buNone/>
                      </a:pPr>
                      <a:r>
                        <a:rPr lang="en-GB"/>
                        <a:t>Aspect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GB" dirty="0"/>
                        <a:t>Details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067716740"/>
                  </a:ext>
                </a:extLst>
              </a:tr>
              <a:tr h="0">
                <a:tc>
                  <a:txBody>
                    <a:bodyPr/>
                    <a:lstStyle/>
                    <a:p>
                      <a:pPr>
                        <a:buNone/>
                      </a:pPr>
                      <a:r>
                        <a:rPr lang="en-GB"/>
                        <a:t>Purpose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GB"/>
                        <a:t>Prepare data for analysis and modeling</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661697344"/>
                  </a:ext>
                </a:extLst>
              </a:tr>
              <a:tr h="0">
                <a:tc>
                  <a:txBody>
                    <a:bodyPr/>
                    <a:lstStyle/>
                    <a:p>
                      <a:pPr>
                        <a:buNone/>
                      </a:pPr>
                      <a:r>
                        <a:rPr lang="en-GB"/>
                        <a:t>Key Tasks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GB"/>
                        <a:t>Cleaning, validation, transformation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145798346"/>
                  </a:ext>
                </a:extLst>
              </a:tr>
              <a:tr h="0">
                <a:tc>
                  <a:txBody>
                    <a:bodyPr/>
                    <a:lstStyle/>
                    <a:p>
                      <a:pPr>
                        <a:buNone/>
                      </a:pPr>
                      <a:r>
                        <a:rPr lang="en-GB"/>
                        <a:t>Techniques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GB"/>
                        <a:t>Imputation, normalization, deduplication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319867783"/>
                  </a:ext>
                </a:extLst>
              </a:tr>
              <a:tr h="0">
                <a:tc>
                  <a:txBody>
                    <a:bodyPr/>
                    <a:lstStyle/>
                    <a:p>
                      <a:pPr>
                        <a:buNone/>
                      </a:pPr>
                      <a:r>
                        <a:rPr lang="en-GB"/>
                        <a:t>Output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GB"/>
                        <a:t>Clean and consistent dataset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523938021"/>
                  </a:ext>
                </a:extLst>
              </a:tr>
              <a:tr h="0">
                <a:tc>
                  <a:txBody>
                    <a:bodyPr/>
                    <a:lstStyle/>
                    <a:p>
                      <a:pPr>
                        <a:buNone/>
                      </a:pPr>
                      <a:r>
                        <a:rPr lang="en-GB" dirty="0"/>
                        <a:t>Challenges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US" dirty="0"/>
                        <a:t>Handling large-scale messy data reliably</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830928770"/>
                  </a:ext>
                </a:extLst>
              </a:tr>
            </a:tbl>
          </a:graphicData>
        </a:graphic>
      </p:graphicFrame>
    </p:spTree>
    <p:extLst>
      <p:ext uri="{BB962C8B-B14F-4D97-AF65-F5344CB8AC3E}">
        <p14:creationId xmlns:p14="http://schemas.microsoft.com/office/powerpoint/2010/main" val="56562331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DE64ADA-0BB4-3333-18AB-7AD0FAF927B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9BBAAD9-325B-4A79-2E19-20CB676B3FD8}"/>
              </a:ext>
            </a:extLst>
          </p:cNvPr>
          <p:cNvSpPr>
            <a:spLocks noGrp="1"/>
          </p:cNvSpPr>
          <p:nvPr>
            <p:ph type="title"/>
          </p:nvPr>
        </p:nvSpPr>
        <p:spPr/>
        <p:txBody>
          <a:bodyPr/>
          <a:lstStyle/>
          <a:p>
            <a:r>
              <a:rPr lang="en-US" noProof="0" dirty="0"/>
              <a:t>Feature Layer (Feature Engineering)</a:t>
            </a:r>
          </a:p>
        </p:txBody>
      </p:sp>
      <p:graphicFrame>
        <p:nvGraphicFramePr>
          <p:cNvPr id="4" name="Table 3">
            <a:extLst>
              <a:ext uri="{FF2B5EF4-FFF2-40B4-BE49-F238E27FC236}">
                <a16:creationId xmlns:a16="http://schemas.microsoft.com/office/drawing/2014/main" id="{75BF5B44-9C63-36F2-4A20-565C1DB1D0D6}"/>
              </a:ext>
            </a:extLst>
          </p:cNvPr>
          <p:cNvGraphicFramePr>
            <a:graphicFrameLocks noGrp="1"/>
          </p:cNvGraphicFramePr>
          <p:nvPr>
            <p:extLst>
              <p:ext uri="{D42A27DB-BD31-4B8C-83A1-F6EECF244321}">
                <p14:modId xmlns:p14="http://schemas.microsoft.com/office/powerpoint/2010/main" val="2313204006"/>
              </p:ext>
            </p:extLst>
          </p:nvPr>
        </p:nvGraphicFramePr>
        <p:xfrm>
          <a:off x="838200" y="2904014"/>
          <a:ext cx="10515600" cy="2194560"/>
        </p:xfrm>
        <a:graphic>
          <a:graphicData uri="http://schemas.openxmlformats.org/drawingml/2006/table">
            <a:tbl>
              <a:tblPr firstRow="1">
                <a:tableStyleId>{69012ECD-51FC-41F1-AA8D-1B2483CD663E}</a:tableStyleId>
              </a:tblPr>
              <a:tblGrid>
                <a:gridCol w="5257800">
                  <a:extLst>
                    <a:ext uri="{9D8B030D-6E8A-4147-A177-3AD203B41FA5}">
                      <a16:colId xmlns:a16="http://schemas.microsoft.com/office/drawing/2014/main" val="54344800"/>
                    </a:ext>
                  </a:extLst>
                </a:gridCol>
                <a:gridCol w="5257800">
                  <a:extLst>
                    <a:ext uri="{9D8B030D-6E8A-4147-A177-3AD203B41FA5}">
                      <a16:colId xmlns:a16="http://schemas.microsoft.com/office/drawing/2014/main" val="288817517"/>
                    </a:ext>
                  </a:extLst>
                </a:gridCol>
              </a:tblGrid>
              <a:tr h="0">
                <a:tc>
                  <a:txBody>
                    <a:bodyPr/>
                    <a:lstStyle/>
                    <a:p>
                      <a:pPr>
                        <a:buNone/>
                      </a:pPr>
                      <a:r>
                        <a:rPr lang="en-GB" dirty="0"/>
                        <a:t>Aspect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GB"/>
                        <a:t>Details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873136942"/>
                  </a:ext>
                </a:extLst>
              </a:tr>
              <a:tr h="0">
                <a:tc>
                  <a:txBody>
                    <a:bodyPr/>
                    <a:lstStyle/>
                    <a:p>
                      <a:pPr>
                        <a:buNone/>
                      </a:pPr>
                      <a:r>
                        <a:rPr lang="en-GB"/>
                        <a:t>Purpose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US"/>
                        <a:t>Create meaningful inputs for models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42870125"/>
                  </a:ext>
                </a:extLst>
              </a:tr>
              <a:tr h="0">
                <a:tc>
                  <a:txBody>
                    <a:bodyPr/>
                    <a:lstStyle/>
                    <a:p>
                      <a:pPr>
                        <a:buNone/>
                      </a:pPr>
                      <a:r>
                        <a:rPr lang="en-GB"/>
                        <a:t>Key Tasks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GB"/>
                        <a:t>Feature creation, selection, transformation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666409658"/>
                  </a:ext>
                </a:extLst>
              </a:tr>
              <a:tr h="0">
                <a:tc>
                  <a:txBody>
                    <a:bodyPr/>
                    <a:lstStyle/>
                    <a:p>
                      <a:pPr>
                        <a:buNone/>
                      </a:pPr>
                      <a:r>
                        <a:rPr lang="en-GB"/>
                        <a:t>Types of Features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GB" dirty="0"/>
                        <a:t>Derived, aggregated, domain-specific</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977571758"/>
                  </a:ext>
                </a:extLst>
              </a:tr>
              <a:tr h="0">
                <a:tc>
                  <a:txBody>
                    <a:bodyPr/>
                    <a:lstStyle/>
                    <a:p>
                      <a:pPr>
                        <a:buNone/>
                      </a:pPr>
                      <a:r>
                        <a:rPr lang="en-GB"/>
                        <a:t>Benefit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GB"/>
                        <a:t>Improves model performance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721358569"/>
                  </a:ext>
                </a:extLst>
              </a:tr>
              <a:tr h="0">
                <a:tc>
                  <a:txBody>
                    <a:bodyPr/>
                    <a:lstStyle/>
                    <a:p>
                      <a:pPr>
                        <a:buNone/>
                      </a:pPr>
                      <a:r>
                        <a:rPr lang="en-GB"/>
                        <a:t>Challenges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GB" dirty="0"/>
                        <a:t>Identifying useful features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803780045"/>
                  </a:ext>
                </a:extLst>
              </a:tr>
            </a:tbl>
          </a:graphicData>
        </a:graphic>
      </p:graphicFrame>
    </p:spTree>
    <p:extLst>
      <p:ext uri="{BB962C8B-B14F-4D97-AF65-F5344CB8AC3E}">
        <p14:creationId xmlns:p14="http://schemas.microsoft.com/office/powerpoint/2010/main" val="95734297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A5ECE4-81B5-EFF0-6E21-C5DCE479F89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F879F3A-6F65-9110-4ABC-CB7E8D827523}"/>
              </a:ext>
            </a:extLst>
          </p:cNvPr>
          <p:cNvSpPr>
            <a:spLocks noGrp="1"/>
          </p:cNvSpPr>
          <p:nvPr>
            <p:ph type="title"/>
          </p:nvPr>
        </p:nvSpPr>
        <p:spPr/>
        <p:txBody>
          <a:bodyPr/>
          <a:lstStyle/>
          <a:p>
            <a:r>
              <a:rPr lang="en-US" noProof="0" dirty="0"/>
              <a:t>Training Layer (Model Building)</a:t>
            </a:r>
          </a:p>
        </p:txBody>
      </p:sp>
      <p:graphicFrame>
        <p:nvGraphicFramePr>
          <p:cNvPr id="3" name="Table 2">
            <a:extLst>
              <a:ext uri="{FF2B5EF4-FFF2-40B4-BE49-F238E27FC236}">
                <a16:creationId xmlns:a16="http://schemas.microsoft.com/office/drawing/2014/main" id="{52D2C787-D312-08BE-1636-BC140A1B7254}"/>
              </a:ext>
            </a:extLst>
          </p:cNvPr>
          <p:cNvGraphicFramePr>
            <a:graphicFrameLocks noGrp="1"/>
          </p:cNvGraphicFramePr>
          <p:nvPr>
            <p:extLst>
              <p:ext uri="{D42A27DB-BD31-4B8C-83A1-F6EECF244321}">
                <p14:modId xmlns:p14="http://schemas.microsoft.com/office/powerpoint/2010/main" val="3518108323"/>
              </p:ext>
            </p:extLst>
          </p:nvPr>
        </p:nvGraphicFramePr>
        <p:xfrm>
          <a:off x="838200" y="2904014"/>
          <a:ext cx="10515600" cy="2194560"/>
        </p:xfrm>
        <a:graphic>
          <a:graphicData uri="http://schemas.openxmlformats.org/drawingml/2006/table">
            <a:tbl>
              <a:tblPr firstRow="1">
                <a:tableStyleId>{69012ECD-51FC-41F1-AA8D-1B2483CD663E}</a:tableStyleId>
              </a:tblPr>
              <a:tblGrid>
                <a:gridCol w="5257800">
                  <a:extLst>
                    <a:ext uri="{9D8B030D-6E8A-4147-A177-3AD203B41FA5}">
                      <a16:colId xmlns:a16="http://schemas.microsoft.com/office/drawing/2014/main" val="1900864450"/>
                    </a:ext>
                  </a:extLst>
                </a:gridCol>
                <a:gridCol w="5257800">
                  <a:extLst>
                    <a:ext uri="{9D8B030D-6E8A-4147-A177-3AD203B41FA5}">
                      <a16:colId xmlns:a16="http://schemas.microsoft.com/office/drawing/2014/main" val="3579840721"/>
                    </a:ext>
                  </a:extLst>
                </a:gridCol>
              </a:tblGrid>
              <a:tr h="0">
                <a:tc>
                  <a:txBody>
                    <a:bodyPr/>
                    <a:lstStyle/>
                    <a:p>
                      <a:pPr>
                        <a:buNone/>
                      </a:pPr>
                      <a:r>
                        <a:rPr lang="en-GB"/>
                        <a:t>Aspect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GB"/>
                        <a:t>Details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370126934"/>
                  </a:ext>
                </a:extLst>
              </a:tr>
              <a:tr h="0">
                <a:tc>
                  <a:txBody>
                    <a:bodyPr/>
                    <a:lstStyle/>
                    <a:p>
                      <a:pPr>
                        <a:buNone/>
                      </a:pPr>
                      <a:r>
                        <a:rPr lang="en-GB" dirty="0"/>
                        <a:t>Purpose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GB"/>
                        <a:t>Learn patterns from data</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538237619"/>
                  </a:ext>
                </a:extLst>
              </a:tr>
              <a:tr h="0">
                <a:tc>
                  <a:txBody>
                    <a:bodyPr/>
                    <a:lstStyle/>
                    <a:p>
                      <a:pPr>
                        <a:buNone/>
                      </a:pPr>
                      <a:r>
                        <a:rPr lang="en-GB"/>
                        <a:t>Inputs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US"/>
                        <a:t>Features (X) and labels (Y)</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441206721"/>
                  </a:ext>
                </a:extLst>
              </a:tr>
              <a:tr h="0">
                <a:tc>
                  <a:txBody>
                    <a:bodyPr/>
                    <a:lstStyle/>
                    <a:p>
                      <a:pPr>
                        <a:buNone/>
                      </a:pPr>
                      <a:r>
                        <a:rPr lang="en-GB"/>
                        <a:t>Key Tasks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GB"/>
                        <a:t>Model selection, training, evaluation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710426644"/>
                  </a:ext>
                </a:extLst>
              </a:tr>
              <a:tr h="0">
                <a:tc>
                  <a:txBody>
                    <a:bodyPr/>
                    <a:lstStyle/>
                    <a:p>
                      <a:pPr>
                        <a:buNone/>
                      </a:pPr>
                      <a:r>
                        <a:rPr lang="en-GB"/>
                        <a:t>Techniques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GB"/>
                        <a:t>ML algorithms, hyperparameter tuning</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006961783"/>
                  </a:ext>
                </a:extLst>
              </a:tr>
              <a:tr h="0">
                <a:tc>
                  <a:txBody>
                    <a:bodyPr/>
                    <a:lstStyle/>
                    <a:p>
                      <a:pPr>
                        <a:buNone/>
                      </a:pPr>
                      <a:r>
                        <a:rPr lang="en-GB"/>
                        <a:t>Challenges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GB" dirty="0"/>
                        <a:t>Overfitting, underfitting, model selection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245072143"/>
                  </a:ext>
                </a:extLst>
              </a:tr>
            </a:tbl>
          </a:graphicData>
        </a:graphic>
      </p:graphicFrame>
    </p:spTree>
    <p:extLst>
      <p:ext uri="{BB962C8B-B14F-4D97-AF65-F5344CB8AC3E}">
        <p14:creationId xmlns:p14="http://schemas.microsoft.com/office/powerpoint/2010/main" val="19439039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3053CE0-A1A2-FA41-6569-791177DA63E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0B81926-36A0-E3C7-3DFE-166C07B41AF2}"/>
              </a:ext>
            </a:extLst>
          </p:cNvPr>
          <p:cNvSpPr>
            <a:spLocks noGrp="1"/>
          </p:cNvSpPr>
          <p:nvPr>
            <p:ph type="title"/>
          </p:nvPr>
        </p:nvSpPr>
        <p:spPr/>
        <p:txBody>
          <a:bodyPr/>
          <a:lstStyle/>
          <a:p>
            <a:r>
              <a:rPr lang="en-US" noProof="0" dirty="0"/>
              <a:t>Deployment Layer (Model Serving)</a:t>
            </a:r>
          </a:p>
        </p:txBody>
      </p:sp>
      <p:graphicFrame>
        <p:nvGraphicFramePr>
          <p:cNvPr id="4" name="Table 3">
            <a:extLst>
              <a:ext uri="{FF2B5EF4-FFF2-40B4-BE49-F238E27FC236}">
                <a16:creationId xmlns:a16="http://schemas.microsoft.com/office/drawing/2014/main" id="{1EDBCB8C-55FE-9568-E60B-8D6C7028A39E}"/>
              </a:ext>
            </a:extLst>
          </p:cNvPr>
          <p:cNvGraphicFramePr>
            <a:graphicFrameLocks noGrp="1"/>
          </p:cNvGraphicFramePr>
          <p:nvPr>
            <p:extLst>
              <p:ext uri="{D42A27DB-BD31-4B8C-83A1-F6EECF244321}">
                <p14:modId xmlns:p14="http://schemas.microsoft.com/office/powerpoint/2010/main" val="1797196647"/>
              </p:ext>
            </p:extLst>
          </p:nvPr>
        </p:nvGraphicFramePr>
        <p:xfrm>
          <a:off x="838200" y="2904014"/>
          <a:ext cx="10515600" cy="2194560"/>
        </p:xfrm>
        <a:graphic>
          <a:graphicData uri="http://schemas.openxmlformats.org/drawingml/2006/table">
            <a:tbl>
              <a:tblPr firstRow="1">
                <a:tableStyleId>{69012ECD-51FC-41F1-AA8D-1B2483CD663E}</a:tableStyleId>
              </a:tblPr>
              <a:tblGrid>
                <a:gridCol w="5257800">
                  <a:extLst>
                    <a:ext uri="{9D8B030D-6E8A-4147-A177-3AD203B41FA5}">
                      <a16:colId xmlns:a16="http://schemas.microsoft.com/office/drawing/2014/main" val="1675712323"/>
                    </a:ext>
                  </a:extLst>
                </a:gridCol>
                <a:gridCol w="5257800">
                  <a:extLst>
                    <a:ext uri="{9D8B030D-6E8A-4147-A177-3AD203B41FA5}">
                      <a16:colId xmlns:a16="http://schemas.microsoft.com/office/drawing/2014/main" val="3213688302"/>
                    </a:ext>
                  </a:extLst>
                </a:gridCol>
              </a:tblGrid>
              <a:tr h="0">
                <a:tc>
                  <a:txBody>
                    <a:bodyPr/>
                    <a:lstStyle/>
                    <a:p>
                      <a:pPr>
                        <a:buNone/>
                      </a:pPr>
                      <a:r>
                        <a:rPr lang="en-GB"/>
                        <a:t>Aspect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GB"/>
                        <a:t>Details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748764444"/>
                  </a:ext>
                </a:extLst>
              </a:tr>
              <a:tr h="0">
                <a:tc>
                  <a:txBody>
                    <a:bodyPr/>
                    <a:lstStyle/>
                    <a:p>
                      <a:pPr>
                        <a:buNone/>
                      </a:pPr>
                      <a:r>
                        <a:rPr lang="en-GB" dirty="0"/>
                        <a:t>Purpose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US"/>
                        <a:t>Make model available for real-world use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68465097"/>
                  </a:ext>
                </a:extLst>
              </a:tr>
              <a:tr h="0">
                <a:tc>
                  <a:txBody>
                    <a:bodyPr/>
                    <a:lstStyle/>
                    <a:p>
                      <a:pPr>
                        <a:buNone/>
                      </a:pPr>
                      <a:r>
                        <a:rPr lang="en-GB"/>
                        <a:t>Methods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US"/>
                        <a:t>APIs, batch processing, embedded systems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606234394"/>
                  </a:ext>
                </a:extLst>
              </a:tr>
              <a:tr h="0">
                <a:tc>
                  <a:txBody>
                    <a:bodyPr/>
                    <a:lstStyle/>
                    <a:p>
                      <a:pPr>
                        <a:buNone/>
                      </a:pPr>
                      <a:r>
                        <a:rPr lang="en-GB"/>
                        <a:t>Key Tasks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GB"/>
                        <a:t>Integration, scaling, versioning</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431477411"/>
                  </a:ext>
                </a:extLst>
              </a:tr>
              <a:tr h="0">
                <a:tc>
                  <a:txBody>
                    <a:bodyPr/>
                    <a:lstStyle/>
                    <a:p>
                      <a:pPr>
                        <a:buNone/>
                      </a:pPr>
                      <a:r>
                        <a:rPr lang="en-GB"/>
                        <a:t>Output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US"/>
                        <a:t>Predictions in real-time or batch</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651320536"/>
                  </a:ext>
                </a:extLst>
              </a:tr>
              <a:tr h="0">
                <a:tc>
                  <a:txBody>
                    <a:bodyPr/>
                    <a:lstStyle/>
                    <a:p>
                      <a:pPr>
                        <a:buNone/>
                      </a:pPr>
                      <a:r>
                        <a:rPr lang="en-GB"/>
                        <a:t>Challenges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GB" dirty="0"/>
                        <a:t>Latency, scalability, consistency</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015440567"/>
                  </a:ext>
                </a:extLst>
              </a:tr>
            </a:tbl>
          </a:graphicData>
        </a:graphic>
      </p:graphicFrame>
    </p:spTree>
    <p:extLst>
      <p:ext uri="{BB962C8B-B14F-4D97-AF65-F5344CB8AC3E}">
        <p14:creationId xmlns:p14="http://schemas.microsoft.com/office/powerpoint/2010/main" val="154676934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C00310C-8A2A-BF6F-0C5E-B91C01B9D44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52BE796-4526-35A3-1FEB-3C4D03E71D38}"/>
              </a:ext>
            </a:extLst>
          </p:cNvPr>
          <p:cNvSpPr>
            <a:spLocks noGrp="1"/>
          </p:cNvSpPr>
          <p:nvPr>
            <p:ph type="title"/>
          </p:nvPr>
        </p:nvSpPr>
        <p:spPr/>
        <p:txBody>
          <a:bodyPr/>
          <a:lstStyle/>
          <a:p>
            <a:r>
              <a:rPr lang="en-US" noProof="0" dirty="0"/>
              <a:t>Monitoring Layer (Maintenance and Drift Detection)</a:t>
            </a:r>
          </a:p>
        </p:txBody>
      </p:sp>
      <p:graphicFrame>
        <p:nvGraphicFramePr>
          <p:cNvPr id="3" name="Table 2">
            <a:extLst>
              <a:ext uri="{FF2B5EF4-FFF2-40B4-BE49-F238E27FC236}">
                <a16:creationId xmlns:a16="http://schemas.microsoft.com/office/drawing/2014/main" id="{58959239-AFF0-4CF5-6024-A418F75053D5}"/>
              </a:ext>
            </a:extLst>
          </p:cNvPr>
          <p:cNvGraphicFramePr>
            <a:graphicFrameLocks noGrp="1"/>
          </p:cNvGraphicFramePr>
          <p:nvPr>
            <p:extLst>
              <p:ext uri="{D42A27DB-BD31-4B8C-83A1-F6EECF244321}">
                <p14:modId xmlns:p14="http://schemas.microsoft.com/office/powerpoint/2010/main" val="668554494"/>
              </p:ext>
            </p:extLst>
          </p:nvPr>
        </p:nvGraphicFramePr>
        <p:xfrm>
          <a:off x="838200" y="2904014"/>
          <a:ext cx="10515600" cy="2194560"/>
        </p:xfrm>
        <a:graphic>
          <a:graphicData uri="http://schemas.openxmlformats.org/drawingml/2006/table">
            <a:tbl>
              <a:tblPr firstRow="1">
                <a:tableStyleId>{69012ECD-51FC-41F1-AA8D-1B2483CD663E}</a:tableStyleId>
              </a:tblPr>
              <a:tblGrid>
                <a:gridCol w="5257800">
                  <a:extLst>
                    <a:ext uri="{9D8B030D-6E8A-4147-A177-3AD203B41FA5}">
                      <a16:colId xmlns:a16="http://schemas.microsoft.com/office/drawing/2014/main" val="2415396433"/>
                    </a:ext>
                  </a:extLst>
                </a:gridCol>
                <a:gridCol w="5257800">
                  <a:extLst>
                    <a:ext uri="{9D8B030D-6E8A-4147-A177-3AD203B41FA5}">
                      <a16:colId xmlns:a16="http://schemas.microsoft.com/office/drawing/2014/main" val="4000623334"/>
                    </a:ext>
                  </a:extLst>
                </a:gridCol>
              </a:tblGrid>
              <a:tr h="0">
                <a:tc>
                  <a:txBody>
                    <a:bodyPr/>
                    <a:lstStyle/>
                    <a:p>
                      <a:pPr>
                        <a:buNone/>
                      </a:pPr>
                      <a:r>
                        <a:rPr lang="en-GB"/>
                        <a:t>Aspect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GB" dirty="0"/>
                        <a:t>Details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035811392"/>
                  </a:ext>
                </a:extLst>
              </a:tr>
              <a:tr h="0">
                <a:tc>
                  <a:txBody>
                    <a:bodyPr/>
                    <a:lstStyle/>
                    <a:p>
                      <a:pPr>
                        <a:buNone/>
                      </a:pPr>
                      <a:r>
                        <a:rPr lang="en-GB"/>
                        <a:t>Purpose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US"/>
                        <a:t>Ensure model performance over time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266513785"/>
                  </a:ext>
                </a:extLst>
              </a:tr>
              <a:tr h="0">
                <a:tc>
                  <a:txBody>
                    <a:bodyPr/>
                    <a:lstStyle/>
                    <a:p>
                      <a:pPr>
                        <a:buNone/>
                      </a:pPr>
                      <a:r>
                        <a:rPr lang="en-GB"/>
                        <a:t>Key Tasks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GB"/>
                        <a:t>Monitoring, alerting, logging</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597913725"/>
                  </a:ext>
                </a:extLst>
              </a:tr>
              <a:tr h="0">
                <a:tc>
                  <a:txBody>
                    <a:bodyPr/>
                    <a:lstStyle/>
                    <a:p>
                      <a:pPr>
                        <a:buNone/>
                      </a:pPr>
                      <a:r>
                        <a:rPr lang="en-GB"/>
                        <a:t>Focus Areas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US"/>
                        <a:t>Data drift, model accuracy, system health</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690714746"/>
                  </a:ext>
                </a:extLst>
              </a:tr>
              <a:tr h="0">
                <a:tc>
                  <a:txBody>
                    <a:bodyPr/>
                    <a:lstStyle/>
                    <a:p>
                      <a:pPr>
                        <a:buNone/>
                      </a:pPr>
                      <a:r>
                        <a:rPr lang="en-GB"/>
                        <a:t>Actions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GB"/>
                        <a:t>Retraining, rollback, updates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624139726"/>
                  </a:ext>
                </a:extLst>
              </a:tr>
              <a:tr h="0">
                <a:tc>
                  <a:txBody>
                    <a:bodyPr/>
                    <a:lstStyle/>
                    <a:p>
                      <a:pPr>
                        <a:buNone/>
                      </a:pPr>
                      <a:r>
                        <a:rPr lang="en-GB"/>
                        <a:t>Challenges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US" dirty="0"/>
                        <a:t>Detecting drift and maintaining reliability</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566181543"/>
                  </a:ext>
                </a:extLst>
              </a:tr>
            </a:tbl>
          </a:graphicData>
        </a:graphic>
      </p:graphicFrame>
    </p:spTree>
    <p:extLst>
      <p:ext uri="{BB962C8B-B14F-4D97-AF65-F5344CB8AC3E}">
        <p14:creationId xmlns:p14="http://schemas.microsoft.com/office/powerpoint/2010/main" val="94472949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F34E57-A30E-9D62-C827-269500EBED63}"/>
              </a:ext>
            </a:extLst>
          </p:cNvPr>
          <p:cNvSpPr>
            <a:spLocks noGrp="1"/>
          </p:cNvSpPr>
          <p:nvPr>
            <p:ph type="title"/>
          </p:nvPr>
        </p:nvSpPr>
        <p:spPr/>
        <p:txBody>
          <a:bodyPr/>
          <a:lstStyle/>
          <a:p>
            <a:r>
              <a:rPr lang="en-US" noProof="0" dirty="0"/>
              <a:t>Data Pipeline</a:t>
            </a:r>
          </a:p>
        </p:txBody>
      </p:sp>
      <p:graphicFrame>
        <p:nvGraphicFramePr>
          <p:cNvPr id="4" name="Table 3">
            <a:extLst>
              <a:ext uri="{FF2B5EF4-FFF2-40B4-BE49-F238E27FC236}">
                <a16:creationId xmlns:a16="http://schemas.microsoft.com/office/drawing/2014/main" id="{4B2FC707-6F7A-B68F-D39B-D68DF122CDD9}"/>
              </a:ext>
            </a:extLst>
          </p:cNvPr>
          <p:cNvGraphicFramePr>
            <a:graphicFrameLocks noGrp="1"/>
          </p:cNvGraphicFramePr>
          <p:nvPr>
            <p:extLst>
              <p:ext uri="{D42A27DB-BD31-4B8C-83A1-F6EECF244321}">
                <p14:modId xmlns:p14="http://schemas.microsoft.com/office/powerpoint/2010/main" val="2526979385"/>
              </p:ext>
            </p:extLst>
          </p:nvPr>
        </p:nvGraphicFramePr>
        <p:xfrm>
          <a:off x="838200" y="1577785"/>
          <a:ext cx="10515600" cy="2377440"/>
        </p:xfrm>
        <a:graphic>
          <a:graphicData uri="http://schemas.openxmlformats.org/drawingml/2006/table">
            <a:tbl>
              <a:tblPr firstRow="1">
                <a:tableStyleId>{7E9639D4-E3E2-4D34-9284-5A2195B3D0D7}</a:tableStyleId>
              </a:tblPr>
              <a:tblGrid>
                <a:gridCol w="3505200">
                  <a:extLst>
                    <a:ext uri="{9D8B030D-6E8A-4147-A177-3AD203B41FA5}">
                      <a16:colId xmlns:a16="http://schemas.microsoft.com/office/drawing/2014/main" val="2440583941"/>
                    </a:ext>
                  </a:extLst>
                </a:gridCol>
                <a:gridCol w="3505200">
                  <a:extLst>
                    <a:ext uri="{9D8B030D-6E8A-4147-A177-3AD203B41FA5}">
                      <a16:colId xmlns:a16="http://schemas.microsoft.com/office/drawing/2014/main" val="66806172"/>
                    </a:ext>
                  </a:extLst>
                </a:gridCol>
                <a:gridCol w="3505200">
                  <a:extLst>
                    <a:ext uri="{9D8B030D-6E8A-4147-A177-3AD203B41FA5}">
                      <a16:colId xmlns:a16="http://schemas.microsoft.com/office/drawing/2014/main" val="176620553"/>
                    </a:ext>
                  </a:extLst>
                </a:gridCol>
              </a:tblGrid>
              <a:tr h="0">
                <a:tc>
                  <a:txBody>
                    <a:bodyPr/>
                    <a:lstStyle/>
                    <a:p>
                      <a:pPr>
                        <a:buNone/>
                      </a:pPr>
                      <a:r>
                        <a:rPr lang="en-US" sz="2000" noProof="0" dirty="0"/>
                        <a:t>Stage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US" sz="2000" noProof="0" dirty="0"/>
                        <a:t>Purpose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US" sz="2000" noProof="0" dirty="0"/>
                        <a:t>Tools / Tech</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447246323"/>
                  </a:ext>
                </a:extLst>
              </a:tr>
              <a:tr h="0">
                <a:tc>
                  <a:txBody>
                    <a:bodyPr/>
                    <a:lstStyle/>
                    <a:p>
                      <a:pPr>
                        <a:buNone/>
                      </a:pPr>
                      <a:r>
                        <a:rPr lang="en-US" sz="2000" noProof="0" dirty="0"/>
                        <a:t>Data Sources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US" sz="2000" noProof="0" dirty="0"/>
                        <a:t>Collect raw data</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US" sz="2000" noProof="0" dirty="0"/>
                        <a:t>Logs, IoT, DBs, APIs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088588619"/>
                  </a:ext>
                </a:extLst>
              </a:tr>
              <a:tr h="0">
                <a:tc>
                  <a:txBody>
                    <a:bodyPr/>
                    <a:lstStyle/>
                    <a:p>
                      <a:pPr>
                        <a:buNone/>
                      </a:pPr>
                      <a:r>
                        <a:rPr lang="en-US" sz="2000" noProof="0" dirty="0"/>
                        <a:t>Ingestion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US" sz="2000" noProof="0" dirty="0"/>
                        <a:t>Move data into system</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US" sz="2000" noProof="0" dirty="0"/>
                        <a:t>Kafka, Flume, Airflow</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311223950"/>
                  </a:ext>
                </a:extLst>
              </a:tr>
              <a:tr h="0">
                <a:tc>
                  <a:txBody>
                    <a:bodyPr/>
                    <a:lstStyle/>
                    <a:p>
                      <a:pPr>
                        <a:buNone/>
                      </a:pPr>
                      <a:r>
                        <a:rPr lang="en-US" sz="2000" noProof="0" dirty="0"/>
                        <a:t>Storage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US" sz="2000" noProof="0" dirty="0"/>
                        <a:t>Persist raw/processed data</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US" sz="2000" noProof="0" dirty="0"/>
                        <a:t>S3, HDFS, Data Warehouse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060949145"/>
                  </a:ext>
                </a:extLst>
              </a:tr>
              <a:tr h="0">
                <a:tc>
                  <a:txBody>
                    <a:bodyPr/>
                    <a:lstStyle/>
                    <a:p>
                      <a:pPr>
                        <a:buNone/>
                      </a:pPr>
                      <a:r>
                        <a:rPr lang="en-US" sz="2000" noProof="0" dirty="0"/>
                        <a:t>Processing</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US" sz="2000" noProof="0" dirty="0"/>
                        <a:t>Clean and transform</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US" sz="2000" noProof="0" dirty="0"/>
                        <a:t>Spark, Pandas, </a:t>
                      </a:r>
                      <a:r>
                        <a:rPr lang="en-US" sz="2000" noProof="0" dirty="0" err="1"/>
                        <a:t>dbt</a:t>
                      </a:r>
                      <a:endParaRPr lang="en-US" sz="2000" noProof="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2298277"/>
                  </a:ext>
                </a:extLst>
              </a:tr>
              <a:tr h="0">
                <a:tc>
                  <a:txBody>
                    <a:bodyPr/>
                    <a:lstStyle/>
                    <a:p>
                      <a:pPr>
                        <a:buNone/>
                      </a:pPr>
                      <a:r>
                        <a:rPr lang="en-US" sz="2000" noProof="0" dirty="0"/>
                        <a:t>Validation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US" sz="2000" noProof="0" dirty="0"/>
                        <a:t>Ensure quality</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US" sz="2000" noProof="0" dirty="0"/>
                        <a:t>Great Expectations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306780502"/>
                  </a:ext>
                </a:extLst>
              </a:tr>
            </a:tbl>
          </a:graphicData>
        </a:graphic>
      </p:graphicFrame>
      <p:sp>
        <p:nvSpPr>
          <p:cNvPr id="5" name="TextBox 4">
            <a:extLst>
              <a:ext uri="{FF2B5EF4-FFF2-40B4-BE49-F238E27FC236}">
                <a16:creationId xmlns:a16="http://schemas.microsoft.com/office/drawing/2014/main" id="{C91063C4-7E0E-5746-9222-9511F3F98A38}"/>
              </a:ext>
            </a:extLst>
          </p:cNvPr>
          <p:cNvSpPr txBox="1"/>
          <p:nvPr/>
        </p:nvSpPr>
        <p:spPr>
          <a:xfrm>
            <a:off x="1368110" y="4781405"/>
            <a:ext cx="4383536" cy="923330"/>
          </a:xfrm>
          <a:prstGeom prst="rect">
            <a:avLst/>
          </a:prstGeom>
          <a:noFill/>
        </p:spPr>
        <p:txBody>
          <a:bodyPr wrap="square" rtlCol="0">
            <a:spAutoFit/>
          </a:bodyPr>
          <a:lstStyle/>
          <a:p>
            <a:r>
              <a:rPr lang="en-US" noProof="0" dirty="0"/>
              <a:t>Code: 6_data_pipeline.py</a:t>
            </a:r>
          </a:p>
          <a:p>
            <a:endParaRPr lang="en-US" noProof="0" dirty="0"/>
          </a:p>
          <a:p>
            <a:r>
              <a:rPr lang="en-US" noProof="0" dirty="0"/>
              <a:t>Also run Intralinks_6_data_pipeline in n8n</a:t>
            </a:r>
          </a:p>
        </p:txBody>
      </p:sp>
    </p:spTree>
    <p:extLst>
      <p:ext uri="{BB962C8B-B14F-4D97-AF65-F5344CB8AC3E}">
        <p14:creationId xmlns:p14="http://schemas.microsoft.com/office/powerpoint/2010/main" val="337189600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8974E8-F4A2-18EF-D6DD-6F66979C66A0}"/>
              </a:ext>
            </a:extLst>
          </p:cNvPr>
          <p:cNvSpPr>
            <a:spLocks noGrp="1"/>
          </p:cNvSpPr>
          <p:nvPr>
            <p:ph type="title"/>
          </p:nvPr>
        </p:nvSpPr>
        <p:spPr/>
        <p:txBody>
          <a:bodyPr/>
          <a:lstStyle/>
          <a:p>
            <a:r>
              <a:rPr lang="en-US" noProof="0" dirty="0"/>
              <a:t>Feature Engineering Pipeline</a:t>
            </a:r>
          </a:p>
        </p:txBody>
      </p:sp>
      <p:graphicFrame>
        <p:nvGraphicFramePr>
          <p:cNvPr id="4" name="Table 3">
            <a:extLst>
              <a:ext uri="{FF2B5EF4-FFF2-40B4-BE49-F238E27FC236}">
                <a16:creationId xmlns:a16="http://schemas.microsoft.com/office/drawing/2014/main" id="{E9629B21-1D6C-BFCE-6CFE-35DFB11EECC8}"/>
              </a:ext>
            </a:extLst>
          </p:cNvPr>
          <p:cNvGraphicFramePr>
            <a:graphicFrameLocks noGrp="1"/>
          </p:cNvGraphicFramePr>
          <p:nvPr>
            <p:extLst>
              <p:ext uri="{D42A27DB-BD31-4B8C-83A1-F6EECF244321}">
                <p14:modId xmlns:p14="http://schemas.microsoft.com/office/powerpoint/2010/main" val="2575554773"/>
              </p:ext>
            </p:extLst>
          </p:nvPr>
        </p:nvGraphicFramePr>
        <p:xfrm>
          <a:off x="838200" y="1820694"/>
          <a:ext cx="10515600" cy="2773680"/>
        </p:xfrm>
        <a:graphic>
          <a:graphicData uri="http://schemas.openxmlformats.org/drawingml/2006/table">
            <a:tbl>
              <a:tblPr firstRow="1">
                <a:tableStyleId>{7E9639D4-E3E2-4D34-9284-5A2195B3D0D7}</a:tableStyleId>
              </a:tblPr>
              <a:tblGrid>
                <a:gridCol w="3505200">
                  <a:extLst>
                    <a:ext uri="{9D8B030D-6E8A-4147-A177-3AD203B41FA5}">
                      <a16:colId xmlns:a16="http://schemas.microsoft.com/office/drawing/2014/main" val="3913403025"/>
                    </a:ext>
                  </a:extLst>
                </a:gridCol>
                <a:gridCol w="3505200">
                  <a:extLst>
                    <a:ext uri="{9D8B030D-6E8A-4147-A177-3AD203B41FA5}">
                      <a16:colId xmlns:a16="http://schemas.microsoft.com/office/drawing/2014/main" val="895707938"/>
                    </a:ext>
                  </a:extLst>
                </a:gridCol>
                <a:gridCol w="3505200">
                  <a:extLst>
                    <a:ext uri="{9D8B030D-6E8A-4147-A177-3AD203B41FA5}">
                      <a16:colId xmlns:a16="http://schemas.microsoft.com/office/drawing/2014/main" val="3132596788"/>
                    </a:ext>
                  </a:extLst>
                </a:gridCol>
              </a:tblGrid>
              <a:tr h="0">
                <a:tc>
                  <a:txBody>
                    <a:bodyPr/>
                    <a:lstStyle/>
                    <a:p>
                      <a:pPr>
                        <a:buNone/>
                      </a:pPr>
                      <a:r>
                        <a:rPr lang="en-US" sz="2000" noProof="0" dirty="0"/>
                        <a:t>Step</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US" sz="2000" noProof="0" dirty="0"/>
                        <a:t>Description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US" sz="2000" noProof="0" dirty="0"/>
                        <a:t>Example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24992190"/>
                  </a:ext>
                </a:extLst>
              </a:tr>
              <a:tr h="0">
                <a:tc>
                  <a:txBody>
                    <a:bodyPr/>
                    <a:lstStyle/>
                    <a:p>
                      <a:pPr>
                        <a:buNone/>
                      </a:pPr>
                      <a:r>
                        <a:rPr lang="en-US" sz="2000" noProof="0" dirty="0"/>
                        <a:t>Cleaning</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US" sz="2000" noProof="0" dirty="0"/>
                        <a:t>Handle missing/outliers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US" sz="2000" noProof="0" dirty="0"/>
                        <a:t>Fill NA, remove noise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140220180"/>
                  </a:ext>
                </a:extLst>
              </a:tr>
              <a:tr h="0">
                <a:tc>
                  <a:txBody>
                    <a:bodyPr/>
                    <a:lstStyle/>
                    <a:p>
                      <a:pPr>
                        <a:buNone/>
                      </a:pPr>
                      <a:r>
                        <a:rPr lang="en-US" sz="2000" noProof="0" dirty="0"/>
                        <a:t>Transformation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US" sz="2000" noProof="0" dirty="0"/>
                        <a:t>Convert formats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US" sz="2000" noProof="0" dirty="0"/>
                        <a:t>Log transform, scaling</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137245300"/>
                  </a:ext>
                </a:extLst>
              </a:tr>
              <a:tr h="0">
                <a:tc>
                  <a:txBody>
                    <a:bodyPr/>
                    <a:lstStyle/>
                    <a:p>
                      <a:pPr>
                        <a:buNone/>
                      </a:pPr>
                      <a:r>
                        <a:rPr lang="en-US" sz="2000" noProof="0" dirty="0"/>
                        <a:t>Encoding</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US" sz="2000" noProof="0" dirty="0"/>
                        <a:t>Convert categorical</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US" sz="2000" noProof="0" dirty="0"/>
                        <a:t>One-hot, label encoding</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450659272"/>
                  </a:ext>
                </a:extLst>
              </a:tr>
              <a:tr h="0">
                <a:tc>
                  <a:txBody>
                    <a:bodyPr/>
                    <a:lstStyle/>
                    <a:p>
                      <a:pPr>
                        <a:buNone/>
                      </a:pPr>
                      <a:r>
                        <a:rPr lang="en-US" sz="2000" noProof="0" dirty="0"/>
                        <a:t>Aggregation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US" sz="2000" noProof="0" dirty="0"/>
                        <a:t>Create summary features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US" sz="2000" noProof="0" dirty="0"/>
                        <a:t>Avg purchase per user</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765382277"/>
                  </a:ext>
                </a:extLst>
              </a:tr>
              <a:tr h="0">
                <a:tc>
                  <a:txBody>
                    <a:bodyPr/>
                    <a:lstStyle/>
                    <a:p>
                      <a:pPr>
                        <a:buNone/>
                      </a:pPr>
                      <a:r>
                        <a:rPr lang="en-US" sz="2000" noProof="0" dirty="0"/>
                        <a:t>Feature Selection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US" sz="2000" noProof="0" dirty="0"/>
                        <a:t>Reduce dimensionality</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US" sz="2000" noProof="0" dirty="0"/>
                        <a:t>PCA, correlation filtering</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227036826"/>
                  </a:ext>
                </a:extLst>
              </a:tr>
              <a:tr h="0">
                <a:tc>
                  <a:txBody>
                    <a:bodyPr/>
                    <a:lstStyle/>
                    <a:p>
                      <a:pPr>
                        <a:buNone/>
                      </a:pPr>
                      <a:r>
                        <a:rPr lang="en-US" sz="2000" noProof="0" dirty="0"/>
                        <a:t>Feature Store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US" sz="2000" noProof="0" dirty="0"/>
                        <a:t>Centralized storage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US" sz="2000" noProof="0" dirty="0"/>
                        <a:t>Online + Offline store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180380793"/>
                  </a:ext>
                </a:extLst>
              </a:tr>
            </a:tbl>
          </a:graphicData>
        </a:graphic>
      </p:graphicFrame>
      <p:sp>
        <p:nvSpPr>
          <p:cNvPr id="5" name="TextBox 4">
            <a:extLst>
              <a:ext uri="{FF2B5EF4-FFF2-40B4-BE49-F238E27FC236}">
                <a16:creationId xmlns:a16="http://schemas.microsoft.com/office/drawing/2014/main" id="{509FE577-A0D5-4950-76A1-6A517B8A4D02}"/>
              </a:ext>
            </a:extLst>
          </p:cNvPr>
          <p:cNvSpPr txBox="1"/>
          <p:nvPr/>
        </p:nvSpPr>
        <p:spPr>
          <a:xfrm>
            <a:off x="2254588" y="4983829"/>
            <a:ext cx="5046651" cy="923330"/>
          </a:xfrm>
          <a:prstGeom prst="rect">
            <a:avLst/>
          </a:prstGeom>
          <a:noFill/>
        </p:spPr>
        <p:txBody>
          <a:bodyPr wrap="square" rtlCol="0">
            <a:spAutoFit/>
          </a:bodyPr>
          <a:lstStyle/>
          <a:p>
            <a:r>
              <a:rPr lang="en-US" noProof="0" dirty="0"/>
              <a:t>Code: 7_feature_engineering.py</a:t>
            </a:r>
          </a:p>
          <a:p>
            <a:endParaRPr lang="en-US" noProof="0" dirty="0"/>
          </a:p>
          <a:p>
            <a:r>
              <a:rPr lang="en-US" noProof="0" dirty="0"/>
              <a:t>Also run intralinks_7_feature_engineering in n8n</a:t>
            </a:r>
          </a:p>
        </p:txBody>
      </p:sp>
    </p:spTree>
    <p:extLst>
      <p:ext uri="{BB962C8B-B14F-4D97-AF65-F5344CB8AC3E}">
        <p14:creationId xmlns:p14="http://schemas.microsoft.com/office/powerpoint/2010/main" val="45320367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3FEFECC-7B79-27BA-1BC7-32A0408AF88E}"/>
              </a:ext>
            </a:extLst>
          </p:cNvPr>
          <p:cNvSpPr>
            <a:spLocks noGrp="1"/>
          </p:cNvSpPr>
          <p:nvPr>
            <p:ph type="title"/>
          </p:nvPr>
        </p:nvSpPr>
        <p:spPr/>
        <p:txBody>
          <a:bodyPr/>
          <a:lstStyle/>
          <a:p>
            <a:r>
              <a:rPr lang="en-US" noProof="0" dirty="0"/>
              <a:t>Training Flow</a:t>
            </a:r>
          </a:p>
        </p:txBody>
      </p:sp>
      <p:graphicFrame>
        <p:nvGraphicFramePr>
          <p:cNvPr id="4" name="Table 3">
            <a:extLst>
              <a:ext uri="{FF2B5EF4-FFF2-40B4-BE49-F238E27FC236}">
                <a16:creationId xmlns:a16="http://schemas.microsoft.com/office/drawing/2014/main" id="{F2017250-A6F9-D0E6-D854-AA52BD95E86B}"/>
              </a:ext>
            </a:extLst>
          </p:cNvPr>
          <p:cNvGraphicFramePr>
            <a:graphicFrameLocks noGrp="1"/>
          </p:cNvGraphicFramePr>
          <p:nvPr>
            <p:extLst>
              <p:ext uri="{D42A27DB-BD31-4B8C-83A1-F6EECF244321}">
                <p14:modId xmlns:p14="http://schemas.microsoft.com/office/powerpoint/2010/main" val="985651056"/>
              </p:ext>
            </p:extLst>
          </p:nvPr>
        </p:nvGraphicFramePr>
        <p:xfrm>
          <a:off x="733497" y="1690688"/>
          <a:ext cx="10515600" cy="2773680"/>
        </p:xfrm>
        <a:graphic>
          <a:graphicData uri="http://schemas.openxmlformats.org/drawingml/2006/table">
            <a:tbl>
              <a:tblPr firstRow="1">
                <a:tableStyleId>{7E9639D4-E3E2-4D34-9284-5A2195B3D0D7}</a:tableStyleId>
              </a:tblPr>
              <a:tblGrid>
                <a:gridCol w="5257800">
                  <a:extLst>
                    <a:ext uri="{9D8B030D-6E8A-4147-A177-3AD203B41FA5}">
                      <a16:colId xmlns:a16="http://schemas.microsoft.com/office/drawing/2014/main" val="34713461"/>
                    </a:ext>
                  </a:extLst>
                </a:gridCol>
                <a:gridCol w="5257800">
                  <a:extLst>
                    <a:ext uri="{9D8B030D-6E8A-4147-A177-3AD203B41FA5}">
                      <a16:colId xmlns:a16="http://schemas.microsoft.com/office/drawing/2014/main" val="1175248965"/>
                    </a:ext>
                  </a:extLst>
                </a:gridCol>
              </a:tblGrid>
              <a:tr h="0">
                <a:tc>
                  <a:txBody>
                    <a:bodyPr/>
                    <a:lstStyle/>
                    <a:p>
                      <a:pPr>
                        <a:buNone/>
                      </a:pPr>
                      <a:r>
                        <a:rPr lang="en-US" sz="2000" noProof="0" dirty="0"/>
                        <a:t>Stage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US" sz="2000" noProof="0" dirty="0"/>
                        <a:t>Description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860454104"/>
                  </a:ext>
                </a:extLst>
              </a:tr>
              <a:tr h="0">
                <a:tc>
                  <a:txBody>
                    <a:bodyPr/>
                    <a:lstStyle/>
                    <a:p>
                      <a:pPr>
                        <a:buNone/>
                      </a:pPr>
                      <a:r>
                        <a:rPr lang="en-US" sz="2000" noProof="0" dirty="0"/>
                        <a:t>Data Split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US" sz="2000" noProof="0" dirty="0"/>
                        <a:t>Train / Validation / Test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614798596"/>
                  </a:ext>
                </a:extLst>
              </a:tr>
              <a:tr h="0">
                <a:tc>
                  <a:txBody>
                    <a:bodyPr/>
                    <a:lstStyle/>
                    <a:p>
                      <a:pPr>
                        <a:buNone/>
                      </a:pPr>
                      <a:r>
                        <a:rPr lang="en-US" sz="2000" noProof="0" dirty="0"/>
                        <a:t>Model Selection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US" sz="2000" noProof="0" dirty="0"/>
                        <a:t>Choose algorithm</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35513359"/>
                  </a:ext>
                </a:extLst>
              </a:tr>
              <a:tr h="0">
                <a:tc>
                  <a:txBody>
                    <a:bodyPr/>
                    <a:lstStyle/>
                    <a:p>
                      <a:pPr>
                        <a:buNone/>
                      </a:pPr>
                      <a:r>
                        <a:rPr lang="en-US" sz="2000" noProof="0" dirty="0"/>
                        <a:t>Training</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US" sz="2000" noProof="0" dirty="0"/>
                        <a:t>Fit model on data</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713389411"/>
                  </a:ext>
                </a:extLst>
              </a:tr>
              <a:tr h="0">
                <a:tc>
                  <a:txBody>
                    <a:bodyPr/>
                    <a:lstStyle/>
                    <a:p>
                      <a:pPr>
                        <a:buNone/>
                      </a:pPr>
                      <a:r>
                        <a:rPr lang="en-US" sz="2000" noProof="0" dirty="0"/>
                        <a:t>Hyperparameter Tuning</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US" sz="2000" noProof="0" dirty="0"/>
                        <a:t>Optimize performance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836277139"/>
                  </a:ext>
                </a:extLst>
              </a:tr>
              <a:tr h="0">
                <a:tc>
                  <a:txBody>
                    <a:bodyPr/>
                    <a:lstStyle/>
                    <a:p>
                      <a:pPr>
                        <a:buNone/>
                      </a:pPr>
                      <a:r>
                        <a:rPr lang="en-US" sz="2000" noProof="0" dirty="0"/>
                        <a:t>Evaluation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US" sz="2000" noProof="0" dirty="0"/>
                        <a:t>Metrics (Accuracy, RMSE, F1)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924044650"/>
                  </a:ext>
                </a:extLst>
              </a:tr>
              <a:tr h="0">
                <a:tc>
                  <a:txBody>
                    <a:bodyPr/>
                    <a:lstStyle/>
                    <a:p>
                      <a:pPr>
                        <a:buNone/>
                      </a:pPr>
                      <a:r>
                        <a:rPr lang="en-US" sz="2000" noProof="0" dirty="0"/>
                        <a:t>Experiment Tracking</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US" sz="2000" noProof="0" dirty="0"/>
                        <a:t>Log runs and results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908020832"/>
                  </a:ext>
                </a:extLst>
              </a:tr>
            </a:tbl>
          </a:graphicData>
        </a:graphic>
      </p:graphicFrame>
      <p:sp>
        <p:nvSpPr>
          <p:cNvPr id="5" name="TextBox 4">
            <a:extLst>
              <a:ext uri="{FF2B5EF4-FFF2-40B4-BE49-F238E27FC236}">
                <a16:creationId xmlns:a16="http://schemas.microsoft.com/office/drawing/2014/main" id="{B4F7D124-55A8-D9BE-698E-52BC966A114F}"/>
              </a:ext>
            </a:extLst>
          </p:cNvPr>
          <p:cNvSpPr txBox="1"/>
          <p:nvPr/>
        </p:nvSpPr>
        <p:spPr>
          <a:xfrm>
            <a:off x="2254588" y="4983829"/>
            <a:ext cx="2917705" cy="369332"/>
          </a:xfrm>
          <a:prstGeom prst="rect">
            <a:avLst/>
          </a:prstGeom>
          <a:noFill/>
        </p:spPr>
        <p:txBody>
          <a:bodyPr wrap="square" rtlCol="0">
            <a:spAutoFit/>
          </a:bodyPr>
          <a:lstStyle/>
          <a:p>
            <a:r>
              <a:rPr lang="en-US" noProof="0" dirty="0"/>
              <a:t>KNIME workflow for titanic</a:t>
            </a:r>
          </a:p>
        </p:txBody>
      </p:sp>
    </p:spTree>
    <p:extLst>
      <p:ext uri="{BB962C8B-B14F-4D97-AF65-F5344CB8AC3E}">
        <p14:creationId xmlns:p14="http://schemas.microsoft.com/office/powerpoint/2010/main" val="158883733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905564-B390-FC1C-ED57-BBA40BDC763D}"/>
              </a:ext>
            </a:extLst>
          </p:cNvPr>
          <p:cNvSpPr>
            <a:spLocks noGrp="1"/>
          </p:cNvSpPr>
          <p:nvPr>
            <p:ph type="title"/>
          </p:nvPr>
        </p:nvSpPr>
        <p:spPr/>
        <p:txBody>
          <a:bodyPr/>
          <a:lstStyle/>
          <a:p>
            <a:r>
              <a:rPr lang="en-US" noProof="0" dirty="0"/>
              <a:t>Core ML Frameworks</a:t>
            </a:r>
          </a:p>
        </p:txBody>
      </p:sp>
      <p:graphicFrame>
        <p:nvGraphicFramePr>
          <p:cNvPr id="4" name="Content Placeholder 3">
            <a:extLst>
              <a:ext uri="{FF2B5EF4-FFF2-40B4-BE49-F238E27FC236}">
                <a16:creationId xmlns:a16="http://schemas.microsoft.com/office/drawing/2014/main" id="{965D5C40-5EDD-E1D9-864C-A10C7342584B}"/>
              </a:ext>
            </a:extLst>
          </p:cNvPr>
          <p:cNvGraphicFramePr>
            <a:graphicFrameLocks noGrp="1"/>
          </p:cNvGraphicFramePr>
          <p:nvPr>
            <p:ph idx="1"/>
            <p:extLst>
              <p:ext uri="{D42A27DB-BD31-4B8C-83A1-F6EECF244321}">
                <p14:modId xmlns:p14="http://schemas.microsoft.com/office/powerpoint/2010/main" val="154028299"/>
              </p:ext>
            </p:extLst>
          </p:nvPr>
        </p:nvGraphicFramePr>
        <p:xfrm>
          <a:off x="887061" y="1926443"/>
          <a:ext cx="10515600" cy="3810000"/>
        </p:xfrm>
        <a:graphic>
          <a:graphicData uri="http://schemas.openxmlformats.org/drawingml/2006/table">
            <a:tbl>
              <a:tblPr firstRow="1">
                <a:tableStyleId>{7E9639D4-E3E2-4D34-9284-5A2195B3D0D7}</a:tableStyleId>
              </a:tblPr>
              <a:tblGrid>
                <a:gridCol w="2103120">
                  <a:extLst>
                    <a:ext uri="{9D8B030D-6E8A-4147-A177-3AD203B41FA5}">
                      <a16:colId xmlns:a16="http://schemas.microsoft.com/office/drawing/2014/main" val="3695405874"/>
                    </a:ext>
                  </a:extLst>
                </a:gridCol>
                <a:gridCol w="2103120">
                  <a:extLst>
                    <a:ext uri="{9D8B030D-6E8A-4147-A177-3AD203B41FA5}">
                      <a16:colId xmlns:a16="http://schemas.microsoft.com/office/drawing/2014/main" val="3181189095"/>
                    </a:ext>
                  </a:extLst>
                </a:gridCol>
                <a:gridCol w="2103120">
                  <a:extLst>
                    <a:ext uri="{9D8B030D-6E8A-4147-A177-3AD203B41FA5}">
                      <a16:colId xmlns:a16="http://schemas.microsoft.com/office/drawing/2014/main" val="2411191722"/>
                    </a:ext>
                  </a:extLst>
                </a:gridCol>
                <a:gridCol w="2103120">
                  <a:extLst>
                    <a:ext uri="{9D8B030D-6E8A-4147-A177-3AD203B41FA5}">
                      <a16:colId xmlns:a16="http://schemas.microsoft.com/office/drawing/2014/main" val="2968092910"/>
                    </a:ext>
                  </a:extLst>
                </a:gridCol>
                <a:gridCol w="2103120">
                  <a:extLst>
                    <a:ext uri="{9D8B030D-6E8A-4147-A177-3AD203B41FA5}">
                      <a16:colId xmlns:a16="http://schemas.microsoft.com/office/drawing/2014/main" val="853238696"/>
                    </a:ext>
                  </a:extLst>
                </a:gridCol>
              </a:tblGrid>
              <a:tr h="0">
                <a:tc>
                  <a:txBody>
                    <a:bodyPr/>
                    <a:lstStyle/>
                    <a:p>
                      <a:pPr>
                        <a:buNone/>
                      </a:pPr>
                      <a:r>
                        <a:rPr lang="en-US" sz="2000" noProof="0" dirty="0"/>
                        <a:t>Framework</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US" sz="2000" noProof="0" dirty="0"/>
                        <a:t>Type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US" sz="2000" noProof="0" dirty="0"/>
                        <a:t>Best For</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US" sz="2000" noProof="0" dirty="0"/>
                        <a:t>Strengths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US" sz="2000" noProof="0" dirty="0"/>
                        <a:t>Limitations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770216451"/>
                  </a:ext>
                </a:extLst>
              </a:tr>
              <a:tr h="0">
                <a:tc>
                  <a:txBody>
                    <a:bodyPr/>
                    <a:lstStyle/>
                    <a:p>
                      <a:pPr>
                        <a:buNone/>
                      </a:pPr>
                      <a:r>
                        <a:rPr lang="en-US" sz="2000" noProof="0" dirty="0"/>
                        <a:t>Scikit-learn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US" sz="2000" noProof="0" dirty="0"/>
                        <a:t>Classical ML</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US" sz="2000" noProof="0" dirty="0"/>
                        <a:t>Regression, classification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US" sz="2000" noProof="0" dirty="0"/>
                        <a:t>Simple, fast, great for tabular data</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US" sz="2000" noProof="0" dirty="0"/>
                        <a:t>Not for deep learning</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74931164"/>
                  </a:ext>
                </a:extLst>
              </a:tr>
              <a:tr h="0">
                <a:tc>
                  <a:txBody>
                    <a:bodyPr/>
                    <a:lstStyle/>
                    <a:p>
                      <a:pPr>
                        <a:buNone/>
                      </a:pPr>
                      <a:r>
                        <a:rPr lang="en-US" sz="2000" noProof="0" dirty="0" err="1"/>
                        <a:t>PyTorch</a:t>
                      </a:r>
                      <a:endParaRPr lang="en-US" sz="2000" noProof="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US" sz="2000" noProof="0" dirty="0"/>
                        <a:t>Deep Learning</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US" sz="2000" noProof="0" dirty="0"/>
                        <a:t>Research, custom models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US" sz="2000" noProof="0" dirty="0"/>
                        <a:t>Flexible, dynamic graphs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US" sz="2000" noProof="0" dirty="0"/>
                        <a:t>Slightly less production-ready (earlier)</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12874158"/>
                  </a:ext>
                </a:extLst>
              </a:tr>
              <a:tr h="0">
                <a:tc>
                  <a:txBody>
                    <a:bodyPr/>
                    <a:lstStyle/>
                    <a:p>
                      <a:pPr>
                        <a:buNone/>
                      </a:pPr>
                      <a:r>
                        <a:rPr lang="en-US" sz="2000" noProof="0" dirty="0"/>
                        <a:t>TensorFlow</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US" sz="2000" noProof="0" dirty="0"/>
                        <a:t>Deep Learning</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US" sz="2000" noProof="0" dirty="0"/>
                        <a:t>Production ML systems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US" sz="2000" noProof="0" dirty="0"/>
                        <a:t>Scalable, strong ecosystem</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US" sz="2000" noProof="0" dirty="0"/>
                        <a:t>Steeper learning curve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415272211"/>
                  </a:ext>
                </a:extLst>
              </a:tr>
              <a:tr h="0">
                <a:tc>
                  <a:txBody>
                    <a:bodyPr/>
                    <a:lstStyle/>
                    <a:p>
                      <a:pPr>
                        <a:buNone/>
                      </a:pPr>
                      <a:r>
                        <a:rPr lang="en-US" sz="2000" noProof="0" dirty="0"/>
                        <a:t>Hugging Face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US" sz="2000" noProof="0" dirty="0"/>
                        <a:t>NLP/GenAI</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US" sz="2000" noProof="0" dirty="0"/>
                        <a:t>Transformers, LLMs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US" sz="2000" noProof="0" dirty="0"/>
                        <a:t>Pretrained models, easy APIs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US" sz="2000" noProof="0" dirty="0"/>
                        <a:t>Depends on </a:t>
                      </a:r>
                      <a:r>
                        <a:rPr lang="en-US" sz="2000" noProof="0" dirty="0" err="1"/>
                        <a:t>PyTorch</a:t>
                      </a:r>
                      <a:r>
                        <a:rPr lang="en-US" sz="2000" noProof="0" dirty="0"/>
                        <a:t>/TF backend</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501842572"/>
                  </a:ext>
                </a:extLst>
              </a:tr>
            </a:tbl>
          </a:graphicData>
        </a:graphic>
      </p:graphicFrame>
    </p:spTree>
    <p:extLst>
      <p:ext uri="{BB962C8B-B14F-4D97-AF65-F5344CB8AC3E}">
        <p14:creationId xmlns:p14="http://schemas.microsoft.com/office/powerpoint/2010/main" val="152462996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3B31136-43C7-4363-4922-CCFEFD3E42AB}"/>
              </a:ext>
            </a:extLst>
          </p:cNvPr>
          <p:cNvSpPr>
            <a:spLocks noGrp="1"/>
          </p:cNvSpPr>
          <p:nvPr>
            <p:ph type="title"/>
          </p:nvPr>
        </p:nvSpPr>
        <p:spPr/>
        <p:txBody>
          <a:bodyPr/>
          <a:lstStyle/>
          <a:p>
            <a:r>
              <a:rPr lang="en-US" noProof="0" dirty="0"/>
              <a:t>Traditional ML: Scikit-Learn</a:t>
            </a:r>
          </a:p>
        </p:txBody>
      </p:sp>
      <p:graphicFrame>
        <p:nvGraphicFramePr>
          <p:cNvPr id="4" name="Content Placeholder 3">
            <a:extLst>
              <a:ext uri="{FF2B5EF4-FFF2-40B4-BE49-F238E27FC236}">
                <a16:creationId xmlns:a16="http://schemas.microsoft.com/office/drawing/2014/main" id="{5CE6AA0F-E393-EE55-EC1E-72623C796BE7}"/>
              </a:ext>
            </a:extLst>
          </p:cNvPr>
          <p:cNvGraphicFramePr>
            <a:graphicFrameLocks noGrp="1"/>
          </p:cNvGraphicFramePr>
          <p:nvPr>
            <p:ph idx="1"/>
            <p:extLst>
              <p:ext uri="{D42A27DB-BD31-4B8C-83A1-F6EECF244321}">
                <p14:modId xmlns:p14="http://schemas.microsoft.com/office/powerpoint/2010/main" val="3086181604"/>
              </p:ext>
            </p:extLst>
          </p:nvPr>
        </p:nvGraphicFramePr>
        <p:xfrm>
          <a:off x="838200" y="1863971"/>
          <a:ext cx="10515600" cy="2377440"/>
        </p:xfrm>
        <a:graphic>
          <a:graphicData uri="http://schemas.openxmlformats.org/drawingml/2006/table">
            <a:tbl>
              <a:tblPr firstRow="1">
                <a:tableStyleId>{7E9639D4-E3E2-4D34-9284-5A2195B3D0D7}</a:tableStyleId>
              </a:tblPr>
              <a:tblGrid>
                <a:gridCol w="5257800">
                  <a:extLst>
                    <a:ext uri="{9D8B030D-6E8A-4147-A177-3AD203B41FA5}">
                      <a16:colId xmlns:a16="http://schemas.microsoft.com/office/drawing/2014/main" val="2845822565"/>
                    </a:ext>
                  </a:extLst>
                </a:gridCol>
                <a:gridCol w="5257800">
                  <a:extLst>
                    <a:ext uri="{9D8B030D-6E8A-4147-A177-3AD203B41FA5}">
                      <a16:colId xmlns:a16="http://schemas.microsoft.com/office/drawing/2014/main" val="1528746239"/>
                    </a:ext>
                  </a:extLst>
                </a:gridCol>
              </a:tblGrid>
              <a:tr h="0">
                <a:tc>
                  <a:txBody>
                    <a:bodyPr/>
                    <a:lstStyle/>
                    <a:p>
                      <a:pPr>
                        <a:buNone/>
                      </a:pPr>
                      <a:r>
                        <a:rPr lang="en-US" sz="2000" noProof="0" dirty="0"/>
                        <a:t>Aspect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US" sz="2000" noProof="0" dirty="0"/>
                        <a:t>Details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500655066"/>
                  </a:ext>
                </a:extLst>
              </a:tr>
              <a:tr h="0">
                <a:tc>
                  <a:txBody>
                    <a:bodyPr/>
                    <a:lstStyle/>
                    <a:p>
                      <a:pPr>
                        <a:buNone/>
                      </a:pPr>
                      <a:r>
                        <a:rPr lang="en-US" sz="2000" noProof="0" dirty="0"/>
                        <a:t>Algorithms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US" sz="2000" noProof="0" dirty="0"/>
                        <a:t>Linear Regression, SVM, Random Forest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868526223"/>
                  </a:ext>
                </a:extLst>
              </a:tr>
              <a:tr h="0">
                <a:tc>
                  <a:txBody>
                    <a:bodyPr/>
                    <a:lstStyle/>
                    <a:p>
                      <a:pPr>
                        <a:buNone/>
                      </a:pPr>
                      <a:r>
                        <a:rPr lang="en-US" sz="2000" noProof="0" dirty="0"/>
                        <a:t>Data Type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US" sz="2000" noProof="0" dirty="0"/>
                        <a:t>Structured / tabular</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533376472"/>
                  </a:ext>
                </a:extLst>
              </a:tr>
              <a:tr h="0">
                <a:tc>
                  <a:txBody>
                    <a:bodyPr/>
                    <a:lstStyle/>
                    <a:p>
                      <a:pPr>
                        <a:buNone/>
                      </a:pPr>
                      <a:r>
                        <a:rPr lang="en-US" sz="2000" noProof="0" dirty="0"/>
                        <a:t>Use Cases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US" sz="2000" noProof="0" dirty="0"/>
                        <a:t>Credit scoring, churn prediction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905231544"/>
                  </a:ext>
                </a:extLst>
              </a:tr>
              <a:tr h="0">
                <a:tc>
                  <a:txBody>
                    <a:bodyPr/>
                    <a:lstStyle/>
                    <a:p>
                      <a:pPr>
                        <a:buNone/>
                      </a:pPr>
                      <a:r>
                        <a:rPr lang="en-US" sz="2000" noProof="0" dirty="0"/>
                        <a:t>Strength</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US" sz="2000" noProof="0" dirty="0"/>
                        <a:t>Easy to learn and fast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854873334"/>
                  </a:ext>
                </a:extLst>
              </a:tr>
              <a:tr h="0">
                <a:tc>
                  <a:txBody>
                    <a:bodyPr/>
                    <a:lstStyle/>
                    <a:p>
                      <a:pPr>
                        <a:buNone/>
                      </a:pPr>
                      <a:r>
                        <a:rPr lang="en-US" sz="2000" noProof="0" dirty="0"/>
                        <a:t>Weakness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US" sz="2000" noProof="0" dirty="0"/>
                        <a:t>No deep learning support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615050072"/>
                  </a:ext>
                </a:extLst>
              </a:tr>
            </a:tbl>
          </a:graphicData>
        </a:graphic>
      </p:graphicFrame>
    </p:spTree>
    <p:extLst>
      <p:ext uri="{BB962C8B-B14F-4D97-AF65-F5344CB8AC3E}">
        <p14:creationId xmlns:p14="http://schemas.microsoft.com/office/powerpoint/2010/main" val="1301643421"/>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25DD110-8CB2-6D0C-E5E4-77991013C2E6}"/>
              </a:ext>
            </a:extLst>
          </p:cNvPr>
          <p:cNvSpPr>
            <a:spLocks noGrp="1"/>
          </p:cNvSpPr>
          <p:nvPr>
            <p:ph type="title"/>
          </p:nvPr>
        </p:nvSpPr>
        <p:spPr/>
        <p:txBody>
          <a:bodyPr/>
          <a:lstStyle/>
          <a:p>
            <a:r>
              <a:rPr lang="en-US" noProof="0" dirty="0" err="1"/>
              <a:t>PyTorch</a:t>
            </a:r>
            <a:endParaRPr lang="en-US" noProof="0" dirty="0"/>
          </a:p>
        </p:txBody>
      </p:sp>
      <p:graphicFrame>
        <p:nvGraphicFramePr>
          <p:cNvPr id="4" name="Content Placeholder 3">
            <a:extLst>
              <a:ext uri="{FF2B5EF4-FFF2-40B4-BE49-F238E27FC236}">
                <a16:creationId xmlns:a16="http://schemas.microsoft.com/office/drawing/2014/main" id="{196BE1C7-371E-7BDA-BABB-AFE54B68FA81}"/>
              </a:ext>
            </a:extLst>
          </p:cNvPr>
          <p:cNvGraphicFramePr>
            <a:graphicFrameLocks noGrp="1"/>
          </p:cNvGraphicFramePr>
          <p:nvPr>
            <p:ph idx="1"/>
            <p:extLst>
              <p:ext uri="{D42A27DB-BD31-4B8C-83A1-F6EECF244321}">
                <p14:modId xmlns:p14="http://schemas.microsoft.com/office/powerpoint/2010/main" val="3072082585"/>
              </p:ext>
            </p:extLst>
          </p:nvPr>
        </p:nvGraphicFramePr>
        <p:xfrm>
          <a:off x="838200" y="1905852"/>
          <a:ext cx="10515600" cy="2377440"/>
        </p:xfrm>
        <a:graphic>
          <a:graphicData uri="http://schemas.openxmlformats.org/drawingml/2006/table">
            <a:tbl>
              <a:tblPr firstRow="1">
                <a:tableStyleId>{7E9639D4-E3E2-4D34-9284-5A2195B3D0D7}</a:tableStyleId>
              </a:tblPr>
              <a:tblGrid>
                <a:gridCol w="5257800">
                  <a:extLst>
                    <a:ext uri="{9D8B030D-6E8A-4147-A177-3AD203B41FA5}">
                      <a16:colId xmlns:a16="http://schemas.microsoft.com/office/drawing/2014/main" val="3052308775"/>
                    </a:ext>
                  </a:extLst>
                </a:gridCol>
                <a:gridCol w="5257800">
                  <a:extLst>
                    <a:ext uri="{9D8B030D-6E8A-4147-A177-3AD203B41FA5}">
                      <a16:colId xmlns:a16="http://schemas.microsoft.com/office/drawing/2014/main" val="2694972137"/>
                    </a:ext>
                  </a:extLst>
                </a:gridCol>
              </a:tblGrid>
              <a:tr h="0">
                <a:tc>
                  <a:txBody>
                    <a:bodyPr/>
                    <a:lstStyle/>
                    <a:p>
                      <a:pPr>
                        <a:buNone/>
                      </a:pPr>
                      <a:r>
                        <a:rPr lang="en-US" sz="2000" noProof="0" dirty="0"/>
                        <a:t>Component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US" sz="2000" noProof="0" dirty="0"/>
                        <a:t>Purpose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005964803"/>
                  </a:ext>
                </a:extLst>
              </a:tr>
              <a:tr h="0">
                <a:tc>
                  <a:txBody>
                    <a:bodyPr/>
                    <a:lstStyle/>
                    <a:p>
                      <a:pPr>
                        <a:buNone/>
                      </a:pPr>
                      <a:r>
                        <a:rPr lang="en-US" sz="2000" noProof="0" dirty="0"/>
                        <a:t>torch</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US" sz="2000" noProof="0" dirty="0"/>
                        <a:t>Core tensor library</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532991510"/>
                  </a:ext>
                </a:extLst>
              </a:tr>
              <a:tr h="0">
                <a:tc>
                  <a:txBody>
                    <a:bodyPr/>
                    <a:lstStyle/>
                    <a:p>
                      <a:pPr>
                        <a:buNone/>
                      </a:pPr>
                      <a:r>
                        <a:rPr lang="en-US" sz="2000" noProof="0" dirty="0" err="1"/>
                        <a:t>torchvision</a:t>
                      </a:r>
                      <a:endParaRPr lang="en-US" sz="2000" noProof="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US" sz="2000" noProof="0" dirty="0"/>
                        <a:t>Image datasets and models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122283100"/>
                  </a:ext>
                </a:extLst>
              </a:tr>
              <a:tr h="0">
                <a:tc>
                  <a:txBody>
                    <a:bodyPr/>
                    <a:lstStyle/>
                    <a:p>
                      <a:pPr>
                        <a:buNone/>
                      </a:pPr>
                      <a:r>
                        <a:rPr lang="en-US" sz="2000" noProof="0" dirty="0" err="1"/>
                        <a:t>torchaudio</a:t>
                      </a:r>
                      <a:endParaRPr lang="en-US" sz="2000" noProof="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US" sz="2000" noProof="0" dirty="0"/>
                        <a:t>Audio processing</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698209532"/>
                  </a:ext>
                </a:extLst>
              </a:tr>
              <a:tr h="0">
                <a:tc>
                  <a:txBody>
                    <a:bodyPr/>
                    <a:lstStyle/>
                    <a:p>
                      <a:pPr>
                        <a:buNone/>
                      </a:pPr>
                      <a:r>
                        <a:rPr lang="en-US" sz="2000" noProof="0" dirty="0" err="1"/>
                        <a:t>PyTorch</a:t>
                      </a:r>
                      <a:r>
                        <a:rPr lang="en-US" sz="2000" noProof="0" dirty="0"/>
                        <a:t> Lightning</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US" sz="2000" noProof="0" dirty="0"/>
                        <a:t>Simplified training</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96868771"/>
                  </a:ext>
                </a:extLst>
              </a:tr>
              <a:tr h="0">
                <a:tc>
                  <a:txBody>
                    <a:bodyPr/>
                    <a:lstStyle/>
                    <a:p>
                      <a:pPr>
                        <a:buNone/>
                      </a:pPr>
                      <a:r>
                        <a:rPr lang="en-US" sz="2000" noProof="0" dirty="0" err="1"/>
                        <a:t>TorchServe</a:t>
                      </a:r>
                      <a:endParaRPr lang="en-US" sz="2000" noProof="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US" sz="2000" noProof="0" dirty="0"/>
                        <a:t>Model serving</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471609976"/>
                  </a:ext>
                </a:extLst>
              </a:tr>
            </a:tbl>
          </a:graphicData>
        </a:graphic>
      </p:graphicFrame>
    </p:spTree>
    <p:extLst>
      <p:ext uri="{BB962C8B-B14F-4D97-AF65-F5344CB8AC3E}">
        <p14:creationId xmlns:p14="http://schemas.microsoft.com/office/powerpoint/2010/main" val="127495169"/>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16E90F-6A9D-9D26-F0B2-86E2124A8B4A}"/>
              </a:ext>
            </a:extLst>
          </p:cNvPr>
          <p:cNvSpPr>
            <a:spLocks noGrp="1"/>
          </p:cNvSpPr>
          <p:nvPr>
            <p:ph type="title"/>
          </p:nvPr>
        </p:nvSpPr>
        <p:spPr/>
        <p:txBody>
          <a:bodyPr/>
          <a:lstStyle/>
          <a:p>
            <a:r>
              <a:rPr lang="en-US" noProof="0" dirty="0"/>
              <a:t>TensorFlow</a:t>
            </a:r>
          </a:p>
        </p:txBody>
      </p:sp>
      <p:graphicFrame>
        <p:nvGraphicFramePr>
          <p:cNvPr id="4" name="Content Placeholder 3">
            <a:extLst>
              <a:ext uri="{FF2B5EF4-FFF2-40B4-BE49-F238E27FC236}">
                <a16:creationId xmlns:a16="http://schemas.microsoft.com/office/drawing/2014/main" id="{A31234D2-8293-B98E-E59B-70B1C384D9A8}"/>
              </a:ext>
            </a:extLst>
          </p:cNvPr>
          <p:cNvGraphicFramePr>
            <a:graphicFrameLocks noGrp="1"/>
          </p:cNvGraphicFramePr>
          <p:nvPr>
            <p:ph idx="1"/>
            <p:extLst>
              <p:ext uri="{D42A27DB-BD31-4B8C-83A1-F6EECF244321}">
                <p14:modId xmlns:p14="http://schemas.microsoft.com/office/powerpoint/2010/main" val="14420752"/>
              </p:ext>
            </p:extLst>
          </p:nvPr>
        </p:nvGraphicFramePr>
        <p:xfrm>
          <a:off x="838200" y="1940753"/>
          <a:ext cx="10515600" cy="2377440"/>
        </p:xfrm>
        <a:graphic>
          <a:graphicData uri="http://schemas.openxmlformats.org/drawingml/2006/table">
            <a:tbl>
              <a:tblPr firstRow="1">
                <a:tableStyleId>{7E9639D4-E3E2-4D34-9284-5A2195B3D0D7}</a:tableStyleId>
              </a:tblPr>
              <a:tblGrid>
                <a:gridCol w="5257800">
                  <a:extLst>
                    <a:ext uri="{9D8B030D-6E8A-4147-A177-3AD203B41FA5}">
                      <a16:colId xmlns:a16="http://schemas.microsoft.com/office/drawing/2014/main" val="3903223708"/>
                    </a:ext>
                  </a:extLst>
                </a:gridCol>
                <a:gridCol w="5257800">
                  <a:extLst>
                    <a:ext uri="{9D8B030D-6E8A-4147-A177-3AD203B41FA5}">
                      <a16:colId xmlns:a16="http://schemas.microsoft.com/office/drawing/2014/main" val="2670284287"/>
                    </a:ext>
                  </a:extLst>
                </a:gridCol>
              </a:tblGrid>
              <a:tr h="0">
                <a:tc>
                  <a:txBody>
                    <a:bodyPr/>
                    <a:lstStyle/>
                    <a:p>
                      <a:pPr>
                        <a:buNone/>
                      </a:pPr>
                      <a:r>
                        <a:rPr lang="en-US" sz="2000" noProof="0" dirty="0"/>
                        <a:t>Component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US" sz="2000" noProof="0" dirty="0"/>
                        <a:t>Purpose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681101014"/>
                  </a:ext>
                </a:extLst>
              </a:tr>
              <a:tr h="0">
                <a:tc>
                  <a:txBody>
                    <a:bodyPr/>
                    <a:lstStyle/>
                    <a:p>
                      <a:pPr>
                        <a:buNone/>
                      </a:pPr>
                      <a:r>
                        <a:rPr lang="en-US" sz="2000" noProof="0" dirty="0"/>
                        <a:t>TensorFlow Core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US" sz="2000" noProof="0" dirty="0"/>
                        <a:t>Model building</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876092490"/>
                  </a:ext>
                </a:extLst>
              </a:tr>
              <a:tr h="0">
                <a:tc>
                  <a:txBody>
                    <a:bodyPr/>
                    <a:lstStyle/>
                    <a:p>
                      <a:pPr>
                        <a:buNone/>
                      </a:pPr>
                      <a:r>
                        <a:rPr lang="en-US" sz="2000" noProof="0" dirty="0" err="1"/>
                        <a:t>Keras</a:t>
                      </a:r>
                      <a:endParaRPr lang="en-US" sz="2000" noProof="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US" sz="2000" noProof="0" dirty="0"/>
                        <a:t>High-level API</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676505363"/>
                  </a:ext>
                </a:extLst>
              </a:tr>
              <a:tr h="0">
                <a:tc>
                  <a:txBody>
                    <a:bodyPr/>
                    <a:lstStyle/>
                    <a:p>
                      <a:pPr>
                        <a:buNone/>
                      </a:pPr>
                      <a:r>
                        <a:rPr lang="en-US" sz="2000" noProof="0" dirty="0"/>
                        <a:t>TensorFlow Lite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US" sz="2000" noProof="0" dirty="0"/>
                        <a:t>Mobile deployment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894876325"/>
                  </a:ext>
                </a:extLst>
              </a:tr>
              <a:tr h="0">
                <a:tc>
                  <a:txBody>
                    <a:bodyPr/>
                    <a:lstStyle/>
                    <a:p>
                      <a:pPr>
                        <a:buNone/>
                      </a:pPr>
                      <a:r>
                        <a:rPr lang="en-US" sz="2000" noProof="0" dirty="0"/>
                        <a:t>TensorFlow Serving</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US" sz="2000" noProof="0" dirty="0"/>
                        <a:t>Production serving</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236002660"/>
                  </a:ext>
                </a:extLst>
              </a:tr>
              <a:tr h="0">
                <a:tc>
                  <a:txBody>
                    <a:bodyPr/>
                    <a:lstStyle/>
                    <a:p>
                      <a:pPr>
                        <a:buNone/>
                      </a:pPr>
                      <a:r>
                        <a:rPr lang="en-US" sz="2000" noProof="0" dirty="0"/>
                        <a:t>TensorFlow Extended (TFX)</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US" sz="2000" noProof="0" dirty="0"/>
                        <a:t>End-to-end pipelines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353220933"/>
                  </a:ext>
                </a:extLst>
              </a:tr>
            </a:tbl>
          </a:graphicData>
        </a:graphic>
      </p:graphicFrame>
    </p:spTree>
    <p:extLst>
      <p:ext uri="{BB962C8B-B14F-4D97-AF65-F5344CB8AC3E}">
        <p14:creationId xmlns:p14="http://schemas.microsoft.com/office/powerpoint/2010/main" val="3143322697"/>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F4FAF5-CEDF-1DE7-3D93-04FE77D53AC3}"/>
              </a:ext>
            </a:extLst>
          </p:cNvPr>
          <p:cNvSpPr>
            <a:spLocks noGrp="1"/>
          </p:cNvSpPr>
          <p:nvPr>
            <p:ph type="title"/>
          </p:nvPr>
        </p:nvSpPr>
        <p:spPr/>
        <p:txBody>
          <a:bodyPr/>
          <a:lstStyle/>
          <a:p>
            <a:r>
              <a:rPr lang="en-US" noProof="0" dirty="0"/>
              <a:t>Hugging Face</a:t>
            </a:r>
          </a:p>
        </p:txBody>
      </p:sp>
      <p:graphicFrame>
        <p:nvGraphicFramePr>
          <p:cNvPr id="4" name="Content Placeholder 3">
            <a:extLst>
              <a:ext uri="{FF2B5EF4-FFF2-40B4-BE49-F238E27FC236}">
                <a16:creationId xmlns:a16="http://schemas.microsoft.com/office/drawing/2014/main" id="{27F886D5-B3E5-AADC-B9E8-9F1048424C6B}"/>
              </a:ext>
            </a:extLst>
          </p:cNvPr>
          <p:cNvGraphicFramePr>
            <a:graphicFrameLocks noGrp="1"/>
          </p:cNvGraphicFramePr>
          <p:nvPr>
            <p:ph idx="1"/>
            <p:extLst>
              <p:ext uri="{D42A27DB-BD31-4B8C-83A1-F6EECF244321}">
                <p14:modId xmlns:p14="http://schemas.microsoft.com/office/powerpoint/2010/main" val="1783988364"/>
              </p:ext>
            </p:extLst>
          </p:nvPr>
        </p:nvGraphicFramePr>
        <p:xfrm>
          <a:off x="838200" y="1989614"/>
          <a:ext cx="10515600" cy="2377440"/>
        </p:xfrm>
        <a:graphic>
          <a:graphicData uri="http://schemas.openxmlformats.org/drawingml/2006/table">
            <a:tbl>
              <a:tblPr firstRow="1">
                <a:tableStyleId>{7E9639D4-E3E2-4D34-9284-5A2195B3D0D7}</a:tableStyleId>
              </a:tblPr>
              <a:tblGrid>
                <a:gridCol w="5257800">
                  <a:extLst>
                    <a:ext uri="{9D8B030D-6E8A-4147-A177-3AD203B41FA5}">
                      <a16:colId xmlns:a16="http://schemas.microsoft.com/office/drawing/2014/main" val="2731519525"/>
                    </a:ext>
                  </a:extLst>
                </a:gridCol>
                <a:gridCol w="5257800">
                  <a:extLst>
                    <a:ext uri="{9D8B030D-6E8A-4147-A177-3AD203B41FA5}">
                      <a16:colId xmlns:a16="http://schemas.microsoft.com/office/drawing/2014/main" val="592401907"/>
                    </a:ext>
                  </a:extLst>
                </a:gridCol>
              </a:tblGrid>
              <a:tr h="0">
                <a:tc>
                  <a:txBody>
                    <a:bodyPr/>
                    <a:lstStyle/>
                    <a:p>
                      <a:pPr>
                        <a:buNone/>
                      </a:pPr>
                      <a:r>
                        <a:rPr lang="en-US" sz="2000" noProof="0" dirty="0"/>
                        <a:t>Component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US" sz="2000" noProof="0" dirty="0"/>
                        <a:t>Purpose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763843985"/>
                  </a:ext>
                </a:extLst>
              </a:tr>
              <a:tr h="0">
                <a:tc>
                  <a:txBody>
                    <a:bodyPr/>
                    <a:lstStyle/>
                    <a:p>
                      <a:pPr>
                        <a:buNone/>
                      </a:pPr>
                      <a:r>
                        <a:rPr lang="en-US" sz="2000" noProof="0" dirty="0"/>
                        <a:t>Transformers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US" sz="2000" noProof="0" dirty="0"/>
                        <a:t>Pretrained NLP/LLM models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243250655"/>
                  </a:ext>
                </a:extLst>
              </a:tr>
              <a:tr h="0">
                <a:tc>
                  <a:txBody>
                    <a:bodyPr/>
                    <a:lstStyle/>
                    <a:p>
                      <a:pPr>
                        <a:buNone/>
                      </a:pPr>
                      <a:r>
                        <a:rPr lang="en-US" sz="2000" noProof="0" dirty="0"/>
                        <a:t>Datasets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US" sz="2000" noProof="0" dirty="0"/>
                        <a:t>Ready-to-use datasets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925460419"/>
                  </a:ext>
                </a:extLst>
              </a:tr>
              <a:tr h="0">
                <a:tc>
                  <a:txBody>
                    <a:bodyPr/>
                    <a:lstStyle/>
                    <a:p>
                      <a:pPr>
                        <a:buNone/>
                      </a:pPr>
                      <a:r>
                        <a:rPr lang="en-US" sz="2000" noProof="0" dirty="0"/>
                        <a:t>Tokenizers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US" sz="2000" noProof="0" dirty="0"/>
                        <a:t>Fast preprocessing</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229273865"/>
                  </a:ext>
                </a:extLst>
              </a:tr>
              <a:tr h="0">
                <a:tc>
                  <a:txBody>
                    <a:bodyPr/>
                    <a:lstStyle/>
                    <a:p>
                      <a:pPr>
                        <a:buNone/>
                      </a:pPr>
                      <a:r>
                        <a:rPr lang="en-US" sz="2000" noProof="0" dirty="0"/>
                        <a:t>Accelerate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US" sz="2000" noProof="0" dirty="0"/>
                        <a:t>Multi-GPU training</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423625223"/>
                  </a:ext>
                </a:extLst>
              </a:tr>
              <a:tr h="0">
                <a:tc>
                  <a:txBody>
                    <a:bodyPr/>
                    <a:lstStyle/>
                    <a:p>
                      <a:pPr>
                        <a:buNone/>
                      </a:pPr>
                      <a:r>
                        <a:rPr lang="en-US" sz="2000" noProof="0" dirty="0"/>
                        <a:t>Hub</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US" sz="2000" noProof="0" dirty="0"/>
                        <a:t>Model sharing</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680144137"/>
                  </a:ext>
                </a:extLst>
              </a:tr>
            </a:tbl>
          </a:graphicData>
        </a:graphic>
      </p:graphicFrame>
    </p:spTree>
    <p:extLst>
      <p:ext uri="{BB962C8B-B14F-4D97-AF65-F5344CB8AC3E}">
        <p14:creationId xmlns:p14="http://schemas.microsoft.com/office/powerpoint/2010/main" val="1171620905"/>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14FC3C-042F-CB43-B137-479E2877BD1A}"/>
              </a:ext>
            </a:extLst>
          </p:cNvPr>
          <p:cNvSpPr>
            <a:spLocks noGrp="1"/>
          </p:cNvSpPr>
          <p:nvPr>
            <p:ph type="title"/>
          </p:nvPr>
        </p:nvSpPr>
        <p:spPr/>
        <p:txBody>
          <a:bodyPr/>
          <a:lstStyle/>
          <a:p>
            <a:r>
              <a:rPr lang="en-US" noProof="0" dirty="0"/>
              <a:t>Inference Platforms (Model Serving)</a:t>
            </a:r>
          </a:p>
        </p:txBody>
      </p:sp>
      <p:graphicFrame>
        <p:nvGraphicFramePr>
          <p:cNvPr id="4" name="Content Placeholder 3">
            <a:extLst>
              <a:ext uri="{FF2B5EF4-FFF2-40B4-BE49-F238E27FC236}">
                <a16:creationId xmlns:a16="http://schemas.microsoft.com/office/drawing/2014/main" id="{519E5EAC-D138-A11A-1596-2EF136D90435}"/>
              </a:ext>
            </a:extLst>
          </p:cNvPr>
          <p:cNvGraphicFramePr>
            <a:graphicFrameLocks noGrp="1"/>
          </p:cNvGraphicFramePr>
          <p:nvPr>
            <p:ph idx="1"/>
            <p:extLst>
              <p:ext uri="{D42A27DB-BD31-4B8C-83A1-F6EECF244321}">
                <p14:modId xmlns:p14="http://schemas.microsoft.com/office/powerpoint/2010/main" val="3750556182"/>
              </p:ext>
            </p:extLst>
          </p:nvPr>
        </p:nvGraphicFramePr>
        <p:xfrm>
          <a:off x="838200" y="1880808"/>
          <a:ext cx="10515600" cy="2682240"/>
        </p:xfrm>
        <a:graphic>
          <a:graphicData uri="http://schemas.openxmlformats.org/drawingml/2006/table">
            <a:tbl>
              <a:tblPr firstRow="1">
                <a:tableStyleId>{7E9639D4-E3E2-4D34-9284-5A2195B3D0D7}</a:tableStyleId>
              </a:tblPr>
              <a:tblGrid>
                <a:gridCol w="2628900">
                  <a:extLst>
                    <a:ext uri="{9D8B030D-6E8A-4147-A177-3AD203B41FA5}">
                      <a16:colId xmlns:a16="http://schemas.microsoft.com/office/drawing/2014/main" val="1497939193"/>
                    </a:ext>
                  </a:extLst>
                </a:gridCol>
                <a:gridCol w="2628900">
                  <a:extLst>
                    <a:ext uri="{9D8B030D-6E8A-4147-A177-3AD203B41FA5}">
                      <a16:colId xmlns:a16="http://schemas.microsoft.com/office/drawing/2014/main" val="4114204702"/>
                    </a:ext>
                  </a:extLst>
                </a:gridCol>
                <a:gridCol w="2367516">
                  <a:extLst>
                    <a:ext uri="{9D8B030D-6E8A-4147-A177-3AD203B41FA5}">
                      <a16:colId xmlns:a16="http://schemas.microsoft.com/office/drawing/2014/main" val="1090608599"/>
                    </a:ext>
                  </a:extLst>
                </a:gridCol>
                <a:gridCol w="2890284">
                  <a:extLst>
                    <a:ext uri="{9D8B030D-6E8A-4147-A177-3AD203B41FA5}">
                      <a16:colId xmlns:a16="http://schemas.microsoft.com/office/drawing/2014/main" val="3032636271"/>
                    </a:ext>
                  </a:extLst>
                </a:gridCol>
              </a:tblGrid>
              <a:tr h="0">
                <a:tc>
                  <a:txBody>
                    <a:bodyPr/>
                    <a:lstStyle/>
                    <a:p>
                      <a:pPr>
                        <a:buNone/>
                      </a:pPr>
                      <a:r>
                        <a:rPr lang="en-US" sz="2000" noProof="0" dirty="0"/>
                        <a:t>Platform</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US" sz="2000" noProof="0" dirty="0"/>
                        <a:t>Type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US" sz="2000" noProof="0" dirty="0"/>
                        <a:t>Use Case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US" sz="2000" noProof="0" dirty="0"/>
                        <a:t>Strength</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021639352"/>
                  </a:ext>
                </a:extLst>
              </a:tr>
              <a:tr h="0">
                <a:tc>
                  <a:txBody>
                    <a:bodyPr/>
                    <a:lstStyle/>
                    <a:p>
                      <a:pPr>
                        <a:buNone/>
                      </a:pPr>
                      <a:r>
                        <a:rPr lang="en-US" sz="2000" noProof="0" dirty="0" err="1"/>
                        <a:t>TorchServe</a:t>
                      </a:r>
                      <a:endParaRPr lang="en-US" sz="2000" noProof="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US" sz="2000" noProof="0" dirty="0" err="1"/>
                        <a:t>PyTorch</a:t>
                      </a:r>
                      <a:r>
                        <a:rPr lang="en-US" sz="2000" noProof="0" dirty="0"/>
                        <a:t> serving</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US" sz="2000" noProof="0" dirty="0"/>
                        <a:t>DL models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US" sz="2000" noProof="0" dirty="0"/>
                        <a:t>Easy </a:t>
                      </a:r>
                      <a:r>
                        <a:rPr lang="en-US" sz="2000" noProof="0" dirty="0" err="1"/>
                        <a:t>PyTorch</a:t>
                      </a:r>
                      <a:r>
                        <a:rPr lang="en-US" sz="2000" noProof="0" dirty="0"/>
                        <a:t> deployment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15000248"/>
                  </a:ext>
                </a:extLst>
              </a:tr>
              <a:tr h="0">
                <a:tc>
                  <a:txBody>
                    <a:bodyPr/>
                    <a:lstStyle/>
                    <a:p>
                      <a:pPr>
                        <a:buNone/>
                      </a:pPr>
                      <a:r>
                        <a:rPr lang="en-US" sz="2000" noProof="0" dirty="0"/>
                        <a:t>TensorFlow Serving</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US" sz="2000" noProof="0" dirty="0"/>
                        <a:t>TF serving</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US" sz="2000" noProof="0" dirty="0"/>
                        <a:t>Production APIs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US" sz="2000" noProof="0" dirty="0"/>
                        <a:t>High performance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865448743"/>
                  </a:ext>
                </a:extLst>
              </a:tr>
              <a:tr h="0">
                <a:tc>
                  <a:txBody>
                    <a:bodyPr/>
                    <a:lstStyle/>
                    <a:p>
                      <a:pPr>
                        <a:buNone/>
                      </a:pPr>
                      <a:r>
                        <a:rPr lang="en-US" sz="2000" noProof="0" dirty="0" err="1"/>
                        <a:t>FastAPI</a:t>
                      </a:r>
                      <a:endParaRPr lang="en-US" sz="2000" noProof="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US" sz="2000" noProof="0" dirty="0"/>
                        <a:t>Custom API</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US" sz="2000" noProof="0" dirty="0"/>
                        <a:t>Lightweight serving</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US" sz="2000" noProof="0" dirty="0"/>
                        <a:t>Flexible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700269379"/>
                  </a:ext>
                </a:extLst>
              </a:tr>
              <a:tr h="0">
                <a:tc>
                  <a:txBody>
                    <a:bodyPr/>
                    <a:lstStyle/>
                    <a:p>
                      <a:pPr>
                        <a:buNone/>
                      </a:pPr>
                      <a:r>
                        <a:rPr lang="en-US" sz="2000" noProof="0" dirty="0" err="1"/>
                        <a:t>BentoML</a:t>
                      </a:r>
                      <a:endParaRPr lang="en-US" sz="2000" noProof="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US" sz="2000" noProof="0" dirty="0"/>
                        <a:t>ML serving</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US" sz="2000" noProof="0" dirty="0"/>
                        <a:t>Unified deployment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US" sz="2000" noProof="0" dirty="0"/>
                        <a:t>Multi-framework support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927010506"/>
                  </a:ext>
                </a:extLst>
              </a:tr>
              <a:tr h="0">
                <a:tc>
                  <a:txBody>
                    <a:bodyPr/>
                    <a:lstStyle/>
                    <a:p>
                      <a:pPr>
                        <a:buNone/>
                      </a:pPr>
                      <a:r>
                        <a:rPr lang="en-US" sz="2000" noProof="0" dirty="0"/>
                        <a:t>NVIDIA Triton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US" sz="2000" noProof="0" dirty="0"/>
                        <a:t>High-performance inference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US" sz="2000" noProof="0" dirty="0"/>
                        <a:t>GPU serving</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US" sz="2000" noProof="0" dirty="0"/>
                        <a:t>Scalable, multi-model</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782522188"/>
                  </a:ext>
                </a:extLst>
              </a:tr>
            </a:tbl>
          </a:graphicData>
        </a:graphic>
      </p:graphicFrame>
    </p:spTree>
    <p:extLst>
      <p:ext uri="{BB962C8B-B14F-4D97-AF65-F5344CB8AC3E}">
        <p14:creationId xmlns:p14="http://schemas.microsoft.com/office/powerpoint/2010/main" val="2023060591"/>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84DEB7-4366-5473-1611-AA39278AA6BF}"/>
              </a:ext>
            </a:extLst>
          </p:cNvPr>
          <p:cNvSpPr>
            <a:spLocks noGrp="1"/>
          </p:cNvSpPr>
          <p:nvPr>
            <p:ph type="title"/>
          </p:nvPr>
        </p:nvSpPr>
        <p:spPr/>
        <p:txBody>
          <a:bodyPr/>
          <a:lstStyle/>
          <a:p>
            <a:r>
              <a:rPr lang="en-US" noProof="0" dirty="0"/>
              <a:t>Open Source Models and Model Hubs</a:t>
            </a:r>
          </a:p>
        </p:txBody>
      </p:sp>
      <p:graphicFrame>
        <p:nvGraphicFramePr>
          <p:cNvPr id="4" name="Content Placeholder 3">
            <a:extLst>
              <a:ext uri="{FF2B5EF4-FFF2-40B4-BE49-F238E27FC236}">
                <a16:creationId xmlns:a16="http://schemas.microsoft.com/office/drawing/2014/main" id="{3DF39135-196A-5A8A-6062-2992707D8DA9}"/>
              </a:ext>
            </a:extLst>
          </p:cNvPr>
          <p:cNvGraphicFramePr>
            <a:graphicFrameLocks noGrp="1"/>
          </p:cNvGraphicFramePr>
          <p:nvPr>
            <p:ph idx="1"/>
            <p:extLst>
              <p:ext uri="{D42A27DB-BD31-4B8C-83A1-F6EECF244321}">
                <p14:modId xmlns:p14="http://schemas.microsoft.com/office/powerpoint/2010/main" val="3243565917"/>
              </p:ext>
            </p:extLst>
          </p:nvPr>
        </p:nvGraphicFramePr>
        <p:xfrm>
          <a:off x="724786" y="1690688"/>
          <a:ext cx="10515600" cy="1981200"/>
        </p:xfrm>
        <a:graphic>
          <a:graphicData uri="http://schemas.openxmlformats.org/drawingml/2006/table">
            <a:tbl>
              <a:tblPr firstRow="1">
                <a:tableStyleId>{69012ECD-51FC-41F1-AA8D-1B2483CD663E}</a:tableStyleId>
              </a:tblPr>
              <a:tblGrid>
                <a:gridCol w="5257800">
                  <a:extLst>
                    <a:ext uri="{9D8B030D-6E8A-4147-A177-3AD203B41FA5}">
                      <a16:colId xmlns:a16="http://schemas.microsoft.com/office/drawing/2014/main" val="1831083570"/>
                    </a:ext>
                  </a:extLst>
                </a:gridCol>
                <a:gridCol w="5257800">
                  <a:extLst>
                    <a:ext uri="{9D8B030D-6E8A-4147-A177-3AD203B41FA5}">
                      <a16:colId xmlns:a16="http://schemas.microsoft.com/office/drawing/2014/main" val="2548415076"/>
                    </a:ext>
                  </a:extLst>
                </a:gridCol>
              </a:tblGrid>
              <a:tr h="0">
                <a:tc>
                  <a:txBody>
                    <a:bodyPr/>
                    <a:lstStyle/>
                    <a:p>
                      <a:pPr>
                        <a:buNone/>
                      </a:pPr>
                      <a:r>
                        <a:rPr lang="en-US" sz="2000" noProof="0" dirty="0"/>
                        <a:t>Aspect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US" sz="2000" noProof="0" dirty="0"/>
                        <a:t>Description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73590989"/>
                  </a:ext>
                </a:extLst>
              </a:tr>
              <a:tr h="0">
                <a:tc>
                  <a:txBody>
                    <a:bodyPr/>
                    <a:lstStyle/>
                    <a:p>
                      <a:pPr>
                        <a:buNone/>
                      </a:pPr>
                      <a:r>
                        <a:rPr lang="en-US" sz="2000" noProof="0" dirty="0"/>
                        <a:t>Definition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US" sz="2000" noProof="0" dirty="0"/>
                        <a:t>Pretrained ML/AI models available publicly</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422332636"/>
                  </a:ext>
                </a:extLst>
              </a:tr>
              <a:tr h="0">
                <a:tc>
                  <a:txBody>
                    <a:bodyPr/>
                    <a:lstStyle/>
                    <a:p>
                      <a:pPr>
                        <a:buNone/>
                      </a:pPr>
                      <a:r>
                        <a:rPr lang="en-US" sz="2000" noProof="0" dirty="0"/>
                        <a:t>Examples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US" sz="2000" noProof="0" dirty="0"/>
                        <a:t>LLMs, vision models, speech models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666797996"/>
                  </a:ext>
                </a:extLst>
              </a:tr>
              <a:tr h="0">
                <a:tc>
                  <a:txBody>
                    <a:bodyPr/>
                    <a:lstStyle/>
                    <a:p>
                      <a:pPr>
                        <a:buNone/>
                      </a:pPr>
                      <a:r>
                        <a:rPr lang="en-US" sz="2000" noProof="0" dirty="0"/>
                        <a:t>Advantage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US" sz="2000" noProof="0" dirty="0"/>
                        <a:t>No need to train from scratch</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525391176"/>
                  </a:ext>
                </a:extLst>
              </a:tr>
              <a:tr h="0">
                <a:tc>
                  <a:txBody>
                    <a:bodyPr/>
                    <a:lstStyle/>
                    <a:p>
                      <a:pPr>
                        <a:buNone/>
                      </a:pPr>
                      <a:r>
                        <a:rPr lang="en-US" sz="2000" noProof="0" dirty="0"/>
                        <a:t>Use Case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US" sz="2000" noProof="0" dirty="0"/>
                        <a:t>Chatbots, classification, translation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868827119"/>
                  </a:ext>
                </a:extLst>
              </a:tr>
            </a:tbl>
          </a:graphicData>
        </a:graphic>
      </p:graphicFrame>
      <p:graphicFrame>
        <p:nvGraphicFramePr>
          <p:cNvPr id="5" name="Table 4">
            <a:extLst>
              <a:ext uri="{FF2B5EF4-FFF2-40B4-BE49-F238E27FC236}">
                <a16:creationId xmlns:a16="http://schemas.microsoft.com/office/drawing/2014/main" id="{FE7160EF-2485-3B8C-E745-ED0DDC544FDB}"/>
              </a:ext>
            </a:extLst>
          </p:cNvPr>
          <p:cNvGraphicFramePr>
            <a:graphicFrameLocks noGrp="1"/>
          </p:cNvGraphicFramePr>
          <p:nvPr>
            <p:extLst>
              <p:ext uri="{D42A27DB-BD31-4B8C-83A1-F6EECF244321}">
                <p14:modId xmlns:p14="http://schemas.microsoft.com/office/powerpoint/2010/main" val="2176514418"/>
              </p:ext>
            </p:extLst>
          </p:nvPr>
        </p:nvGraphicFramePr>
        <p:xfrm>
          <a:off x="668079" y="4132670"/>
          <a:ext cx="10515600" cy="1828800"/>
        </p:xfrm>
        <a:graphic>
          <a:graphicData uri="http://schemas.openxmlformats.org/drawingml/2006/table">
            <a:tbl>
              <a:tblPr firstRow="1">
                <a:tableStyleId>{72833802-FEF1-4C79-8D5D-14CF1EAF98D9}</a:tableStyleId>
              </a:tblPr>
              <a:tblGrid>
                <a:gridCol w="3505200">
                  <a:extLst>
                    <a:ext uri="{9D8B030D-6E8A-4147-A177-3AD203B41FA5}">
                      <a16:colId xmlns:a16="http://schemas.microsoft.com/office/drawing/2014/main" val="3906274220"/>
                    </a:ext>
                  </a:extLst>
                </a:gridCol>
                <a:gridCol w="3505200">
                  <a:extLst>
                    <a:ext uri="{9D8B030D-6E8A-4147-A177-3AD203B41FA5}">
                      <a16:colId xmlns:a16="http://schemas.microsoft.com/office/drawing/2014/main" val="3885667705"/>
                    </a:ext>
                  </a:extLst>
                </a:gridCol>
                <a:gridCol w="3505200">
                  <a:extLst>
                    <a:ext uri="{9D8B030D-6E8A-4147-A177-3AD203B41FA5}">
                      <a16:colId xmlns:a16="http://schemas.microsoft.com/office/drawing/2014/main" val="2995708003"/>
                    </a:ext>
                  </a:extLst>
                </a:gridCol>
              </a:tblGrid>
              <a:tr h="0">
                <a:tc>
                  <a:txBody>
                    <a:bodyPr/>
                    <a:lstStyle/>
                    <a:p>
                      <a:pPr>
                        <a:buNone/>
                      </a:pPr>
                      <a:r>
                        <a:rPr lang="en-US" noProof="0" dirty="0"/>
                        <a:t>Platform</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US" noProof="0" dirty="0"/>
                        <a:t>Purpose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US" noProof="0" dirty="0"/>
                        <a:t>Key Features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14284993"/>
                  </a:ext>
                </a:extLst>
              </a:tr>
              <a:tr h="0">
                <a:tc>
                  <a:txBody>
                    <a:bodyPr/>
                    <a:lstStyle/>
                    <a:p>
                      <a:pPr>
                        <a:buNone/>
                      </a:pPr>
                      <a:r>
                        <a:rPr lang="en-US" noProof="0" dirty="0"/>
                        <a:t>Hugging Face Hub</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US" noProof="0" dirty="0"/>
                        <a:t>Central model repository</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US" noProof="0" dirty="0"/>
                        <a:t>Easy download, APIs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683046187"/>
                  </a:ext>
                </a:extLst>
              </a:tr>
              <a:tr h="0">
                <a:tc>
                  <a:txBody>
                    <a:bodyPr/>
                    <a:lstStyle/>
                    <a:p>
                      <a:pPr>
                        <a:buNone/>
                      </a:pPr>
                      <a:r>
                        <a:rPr lang="en-US" noProof="0" dirty="0"/>
                        <a:t>TensorFlow Hub</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US" noProof="0" dirty="0"/>
                        <a:t>TF models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US" noProof="0" dirty="0"/>
                        <a:t>Production-ready</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584703768"/>
                  </a:ext>
                </a:extLst>
              </a:tr>
              <a:tr h="0">
                <a:tc>
                  <a:txBody>
                    <a:bodyPr/>
                    <a:lstStyle/>
                    <a:p>
                      <a:pPr>
                        <a:buNone/>
                      </a:pPr>
                      <a:r>
                        <a:rPr lang="en-US" noProof="0" dirty="0" err="1"/>
                        <a:t>PyTorch</a:t>
                      </a:r>
                      <a:r>
                        <a:rPr lang="en-US" noProof="0" dirty="0"/>
                        <a:t> Hub</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US" noProof="0" dirty="0" err="1"/>
                        <a:t>PyTorch</a:t>
                      </a:r>
                      <a:r>
                        <a:rPr lang="en-US" noProof="0" dirty="0"/>
                        <a:t> models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US" noProof="0" dirty="0"/>
                        <a:t>Research-focused</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608519956"/>
                  </a:ext>
                </a:extLst>
              </a:tr>
              <a:tr h="0">
                <a:tc>
                  <a:txBody>
                    <a:bodyPr/>
                    <a:lstStyle/>
                    <a:p>
                      <a:pPr>
                        <a:buNone/>
                      </a:pPr>
                      <a:r>
                        <a:rPr lang="en-US" noProof="0" dirty="0"/>
                        <a:t>Kaggle Models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US" noProof="0" dirty="0"/>
                        <a:t>Community sharing</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US" noProof="0" dirty="0"/>
                        <a:t>Datasets + models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709560341"/>
                  </a:ext>
                </a:extLst>
              </a:tr>
            </a:tbl>
          </a:graphicData>
        </a:graphic>
      </p:graphicFrame>
      <p:sp>
        <p:nvSpPr>
          <p:cNvPr id="6" name="TextBox 5">
            <a:extLst>
              <a:ext uri="{FF2B5EF4-FFF2-40B4-BE49-F238E27FC236}">
                <a16:creationId xmlns:a16="http://schemas.microsoft.com/office/drawing/2014/main" id="{FC9F7450-3ABA-D752-ECC1-65EA73843B12}"/>
              </a:ext>
            </a:extLst>
          </p:cNvPr>
          <p:cNvSpPr txBox="1"/>
          <p:nvPr/>
        </p:nvSpPr>
        <p:spPr>
          <a:xfrm>
            <a:off x="2509284" y="6251944"/>
            <a:ext cx="4536558" cy="369332"/>
          </a:xfrm>
          <a:prstGeom prst="rect">
            <a:avLst/>
          </a:prstGeom>
          <a:noFill/>
        </p:spPr>
        <p:txBody>
          <a:bodyPr wrap="square" rtlCol="0">
            <a:spAutoFit/>
          </a:bodyPr>
          <a:lstStyle/>
          <a:p>
            <a:r>
              <a:rPr lang="en-US" noProof="0" dirty="0"/>
              <a:t>Code: 8_hf_sentiment.py, 9_pytorch_image.py</a:t>
            </a:r>
          </a:p>
        </p:txBody>
      </p:sp>
    </p:spTree>
    <p:extLst>
      <p:ext uri="{BB962C8B-B14F-4D97-AF65-F5344CB8AC3E}">
        <p14:creationId xmlns:p14="http://schemas.microsoft.com/office/powerpoint/2010/main" val="3572082025"/>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8F7DC8-1891-1AC0-94C1-B08F7BBDF73E}"/>
              </a:ext>
            </a:extLst>
          </p:cNvPr>
          <p:cNvSpPr>
            <a:spLocks noGrp="1"/>
          </p:cNvSpPr>
          <p:nvPr>
            <p:ph type="title"/>
          </p:nvPr>
        </p:nvSpPr>
        <p:spPr/>
        <p:txBody>
          <a:bodyPr/>
          <a:lstStyle/>
          <a:p>
            <a:r>
              <a:rPr lang="en-US" noProof="0" dirty="0"/>
              <a:t>Model Cards</a:t>
            </a:r>
          </a:p>
        </p:txBody>
      </p:sp>
      <p:graphicFrame>
        <p:nvGraphicFramePr>
          <p:cNvPr id="4" name="Content Placeholder 3">
            <a:extLst>
              <a:ext uri="{FF2B5EF4-FFF2-40B4-BE49-F238E27FC236}">
                <a16:creationId xmlns:a16="http://schemas.microsoft.com/office/drawing/2014/main" id="{A8961E04-1910-51EF-1797-E615B0DEB6B9}"/>
              </a:ext>
            </a:extLst>
          </p:cNvPr>
          <p:cNvGraphicFramePr>
            <a:graphicFrameLocks noGrp="1"/>
          </p:cNvGraphicFramePr>
          <p:nvPr>
            <p:ph idx="1"/>
            <p:extLst>
              <p:ext uri="{D42A27DB-BD31-4B8C-83A1-F6EECF244321}">
                <p14:modId xmlns:p14="http://schemas.microsoft.com/office/powerpoint/2010/main" val="3007734676"/>
              </p:ext>
            </p:extLst>
          </p:nvPr>
        </p:nvGraphicFramePr>
        <p:xfrm>
          <a:off x="838200" y="1806734"/>
          <a:ext cx="10515600" cy="2773680"/>
        </p:xfrm>
        <a:graphic>
          <a:graphicData uri="http://schemas.openxmlformats.org/drawingml/2006/table">
            <a:tbl>
              <a:tblPr firstRow="1">
                <a:tableStyleId>{7E9639D4-E3E2-4D34-9284-5A2195B3D0D7}</a:tableStyleId>
              </a:tblPr>
              <a:tblGrid>
                <a:gridCol w="5257800">
                  <a:extLst>
                    <a:ext uri="{9D8B030D-6E8A-4147-A177-3AD203B41FA5}">
                      <a16:colId xmlns:a16="http://schemas.microsoft.com/office/drawing/2014/main" val="2718560354"/>
                    </a:ext>
                  </a:extLst>
                </a:gridCol>
                <a:gridCol w="5257800">
                  <a:extLst>
                    <a:ext uri="{9D8B030D-6E8A-4147-A177-3AD203B41FA5}">
                      <a16:colId xmlns:a16="http://schemas.microsoft.com/office/drawing/2014/main" val="2086558731"/>
                    </a:ext>
                  </a:extLst>
                </a:gridCol>
              </a:tblGrid>
              <a:tr h="0">
                <a:tc>
                  <a:txBody>
                    <a:bodyPr/>
                    <a:lstStyle/>
                    <a:p>
                      <a:pPr>
                        <a:buNone/>
                      </a:pPr>
                      <a:r>
                        <a:rPr lang="en-US" sz="2000" noProof="0" dirty="0"/>
                        <a:t>Field</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US" sz="2000" noProof="0" dirty="0"/>
                        <a:t>Description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231543352"/>
                  </a:ext>
                </a:extLst>
              </a:tr>
              <a:tr h="0">
                <a:tc>
                  <a:txBody>
                    <a:bodyPr/>
                    <a:lstStyle/>
                    <a:p>
                      <a:pPr>
                        <a:buNone/>
                      </a:pPr>
                      <a:r>
                        <a:rPr lang="en-US" sz="2000" noProof="0" dirty="0"/>
                        <a:t>Model Name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US" sz="2000" noProof="0" dirty="0"/>
                        <a:t>Identifier</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87901552"/>
                  </a:ext>
                </a:extLst>
              </a:tr>
              <a:tr h="0">
                <a:tc>
                  <a:txBody>
                    <a:bodyPr/>
                    <a:lstStyle/>
                    <a:p>
                      <a:pPr>
                        <a:buNone/>
                      </a:pPr>
                      <a:r>
                        <a:rPr lang="en-US" sz="2000" noProof="0" dirty="0"/>
                        <a:t>Description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US" sz="2000" noProof="0" dirty="0"/>
                        <a:t>What the model does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80460799"/>
                  </a:ext>
                </a:extLst>
              </a:tr>
              <a:tr h="0">
                <a:tc>
                  <a:txBody>
                    <a:bodyPr/>
                    <a:lstStyle/>
                    <a:p>
                      <a:pPr>
                        <a:buNone/>
                      </a:pPr>
                      <a:r>
                        <a:rPr lang="en-US" sz="2000" noProof="0" dirty="0"/>
                        <a:t>Training Data</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US" sz="2000" noProof="0" dirty="0"/>
                        <a:t>Dataset used</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859177208"/>
                  </a:ext>
                </a:extLst>
              </a:tr>
              <a:tr h="0">
                <a:tc>
                  <a:txBody>
                    <a:bodyPr/>
                    <a:lstStyle/>
                    <a:p>
                      <a:pPr>
                        <a:buNone/>
                      </a:pPr>
                      <a:r>
                        <a:rPr lang="en-US" sz="2000" noProof="0" dirty="0"/>
                        <a:t>Metrics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US" sz="2000" noProof="0" dirty="0"/>
                        <a:t>Accuracy, F1, etc.</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298850192"/>
                  </a:ext>
                </a:extLst>
              </a:tr>
              <a:tr h="0">
                <a:tc>
                  <a:txBody>
                    <a:bodyPr/>
                    <a:lstStyle/>
                    <a:p>
                      <a:pPr>
                        <a:buNone/>
                      </a:pPr>
                      <a:r>
                        <a:rPr lang="en-US" sz="2000" noProof="0" dirty="0"/>
                        <a:t>Bias and Limitations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US" sz="2000" noProof="0" dirty="0"/>
                        <a:t>Ethical considerations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113826077"/>
                  </a:ext>
                </a:extLst>
              </a:tr>
              <a:tr h="0">
                <a:tc>
                  <a:txBody>
                    <a:bodyPr/>
                    <a:lstStyle/>
                    <a:p>
                      <a:pPr>
                        <a:buNone/>
                      </a:pPr>
                      <a:r>
                        <a:rPr lang="en-US" sz="2000" noProof="0" dirty="0"/>
                        <a:t>Intended Use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US" sz="2000" noProof="0" dirty="0"/>
                        <a:t>Where it should be used</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51552389"/>
                  </a:ext>
                </a:extLst>
              </a:tr>
            </a:tbl>
          </a:graphicData>
        </a:graphic>
      </p:graphicFrame>
    </p:spTree>
    <p:extLst>
      <p:ext uri="{BB962C8B-B14F-4D97-AF65-F5344CB8AC3E}">
        <p14:creationId xmlns:p14="http://schemas.microsoft.com/office/powerpoint/2010/main" val="2285069299"/>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D8C355-82BE-80FB-0330-5249FFDB4C51}"/>
              </a:ext>
            </a:extLst>
          </p:cNvPr>
          <p:cNvSpPr>
            <a:spLocks noGrp="1"/>
          </p:cNvSpPr>
          <p:nvPr>
            <p:ph type="title"/>
          </p:nvPr>
        </p:nvSpPr>
        <p:spPr/>
        <p:txBody>
          <a:bodyPr/>
          <a:lstStyle/>
          <a:p>
            <a:r>
              <a:rPr lang="en-US" noProof="0" dirty="0"/>
              <a:t>Checkpoints</a:t>
            </a:r>
          </a:p>
        </p:txBody>
      </p:sp>
      <p:graphicFrame>
        <p:nvGraphicFramePr>
          <p:cNvPr id="4" name="Content Placeholder 3">
            <a:extLst>
              <a:ext uri="{FF2B5EF4-FFF2-40B4-BE49-F238E27FC236}">
                <a16:creationId xmlns:a16="http://schemas.microsoft.com/office/drawing/2014/main" id="{9C76B0E5-1A1A-B1DB-7AFA-85815BBE66E4}"/>
              </a:ext>
            </a:extLst>
          </p:cNvPr>
          <p:cNvGraphicFramePr>
            <a:graphicFrameLocks noGrp="1"/>
          </p:cNvGraphicFramePr>
          <p:nvPr>
            <p:ph idx="1"/>
            <p:extLst>
              <p:ext uri="{D42A27DB-BD31-4B8C-83A1-F6EECF244321}">
                <p14:modId xmlns:p14="http://schemas.microsoft.com/office/powerpoint/2010/main" val="2050206235"/>
              </p:ext>
            </p:extLst>
          </p:nvPr>
        </p:nvGraphicFramePr>
        <p:xfrm>
          <a:off x="760227" y="1690688"/>
          <a:ext cx="10515600" cy="1981200"/>
        </p:xfrm>
        <a:graphic>
          <a:graphicData uri="http://schemas.openxmlformats.org/drawingml/2006/table">
            <a:tbl>
              <a:tblPr firstRow="1">
                <a:tableStyleId>{7E9639D4-E3E2-4D34-9284-5A2195B3D0D7}</a:tableStyleId>
              </a:tblPr>
              <a:tblGrid>
                <a:gridCol w="5257800">
                  <a:extLst>
                    <a:ext uri="{9D8B030D-6E8A-4147-A177-3AD203B41FA5}">
                      <a16:colId xmlns:a16="http://schemas.microsoft.com/office/drawing/2014/main" val="3798563217"/>
                    </a:ext>
                  </a:extLst>
                </a:gridCol>
                <a:gridCol w="5257800">
                  <a:extLst>
                    <a:ext uri="{9D8B030D-6E8A-4147-A177-3AD203B41FA5}">
                      <a16:colId xmlns:a16="http://schemas.microsoft.com/office/drawing/2014/main" val="1836539619"/>
                    </a:ext>
                  </a:extLst>
                </a:gridCol>
              </a:tblGrid>
              <a:tr h="0">
                <a:tc>
                  <a:txBody>
                    <a:bodyPr/>
                    <a:lstStyle/>
                    <a:p>
                      <a:pPr>
                        <a:buNone/>
                      </a:pPr>
                      <a:r>
                        <a:rPr lang="en-US" sz="2000" noProof="0" dirty="0"/>
                        <a:t>Concept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US" sz="2000" noProof="0" dirty="0"/>
                        <a:t>Explanation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6278122"/>
                  </a:ext>
                </a:extLst>
              </a:tr>
              <a:tr h="0">
                <a:tc>
                  <a:txBody>
                    <a:bodyPr/>
                    <a:lstStyle/>
                    <a:p>
                      <a:pPr>
                        <a:buNone/>
                      </a:pPr>
                      <a:r>
                        <a:rPr lang="en-US" sz="2000" noProof="0" dirty="0"/>
                        <a:t>Definition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US" sz="2000" noProof="0" dirty="0"/>
                        <a:t>Saved state of a model during/after training</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23213592"/>
                  </a:ext>
                </a:extLst>
              </a:tr>
              <a:tr h="0">
                <a:tc>
                  <a:txBody>
                    <a:bodyPr/>
                    <a:lstStyle/>
                    <a:p>
                      <a:pPr>
                        <a:buNone/>
                      </a:pPr>
                      <a:r>
                        <a:rPr lang="en-US" sz="2000" noProof="0" dirty="0"/>
                        <a:t>Contents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US" sz="2000" noProof="0" dirty="0"/>
                        <a:t>Weights, biases, optimizer state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177507742"/>
                  </a:ext>
                </a:extLst>
              </a:tr>
              <a:tr h="0">
                <a:tc>
                  <a:txBody>
                    <a:bodyPr/>
                    <a:lstStyle/>
                    <a:p>
                      <a:pPr>
                        <a:buNone/>
                      </a:pPr>
                      <a:r>
                        <a:rPr lang="en-US" sz="2000" noProof="0" dirty="0"/>
                        <a:t>Format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US" sz="2000" noProof="0" dirty="0"/>
                        <a:t>.pt, .</a:t>
                      </a:r>
                      <a:r>
                        <a:rPr lang="en-US" sz="2000" noProof="0" dirty="0" err="1"/>
                        <a:t>pth</a:t>
                      </a:r>
                      <a:r>
                        <a:rPr lang="en-US" sz="2000" noProof="0" dirty="0"/>
                        <a:t>, .</a:t>
                      </a:r>
                      <a:r>
                        <a:rPr lang="en-US" sz="2000" noProof="0" dirty="0" err="1"/>
                        <a:t>ckpt</a:t>
                      </a:r>
                      <a:r>
                        <a:rPr lang="en-US" sz="2000" noProof="0" dirty="0"/>
                        <a:t>, .bin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96594308"/>
                  </a:ext>
                </a:extLst>
              </a:tr>
              <a:tr h="0">
                <a:tc>
                  <a:txBody>
                    <a:bodyPr/>
                    <a:lstStyle/>
                    <a:p>
                      <a:pPr>
                        <a:buNone/>
                      </a:pPr>
                      <a:r>
                        <a:rPr lang="en-US" sz="2000" noProof="0" dirty="0"/>
                        <a:t>Purpose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US" sz="2000" noProof="0" dirty="0"/>
                        <a:t>Resume training or reuse model</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78406948"/>
                  </a:ext>
                </a:extLst>
              </a:tr>
            </a:tbl>
          </a:graphicData>
        </a:graphic>
      </p:graphicFrame>
    </p:spTree>
    <p:extLst>
      <p:ext uri="{BB962C8B-B14F-4D97-AF65-F5344CB8AC3E}">
        <p14:creationId xmlns:p14="http://schemas.microsoft.com/office/powerpoint/2010/main" val="1975883444"/>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83A1CF5-D0F1-9E75-A11B-774E6A5EC83D}"/>
              </a:ext>
            </a:extLst>
          </p:cNvPr>
          <p:cNvSpPr>
            <a:spLocks noGrp="1"/>
          </p:cNvSpPr>
          <p:nvPr>
            <p:ph type="title"/>
          </p:nvPr>
        </p:nvSpPr>
        <p:spPr/>
        <p:txBody>
          <a:bodyPr/>
          <a:lstStyle/>
          <a:p>
            <a:r>
              <a:rPr lang="en-US" noProof="0" dirty="0"/>
              <a:t>Tokenizer Basics</a:t>
            </a:r>
          </a:p>
        </p:txBody>
      </p:sp>
      <p:graphicFrame>
        <p:nvGraphicFramePr>
          <p:cNvPr id="4" name="Content Placeholder 3">
            <a:extLst>
              <a:ext uri="{FF2B5EF4-FFF2-40B4-BE49-F238E27FC236}">
                <a16:creationId xmlns:a16="http://schemas.microsoft.com/office/drawing/2014/main" id="{88642083-E6B7-6920-10AE-DA0BF3BAF029}"/>
              </a:ext>
            </a:extLst>
          </p:cNvPr>
          <p:cNvGraphicFramePr>
            <a:graphicFrameLocks noGrp="1"/>
          </p:cNvGraphicFramePr>
          <p:nvPr>
            <p:ph idx="1"/>
            <p:extLst>
              <p:ext uri="{D42A27DB-BD31-4B8C-83A1-F6EECF244321}">
                <p14:modId xmlns:p14="http://schemas.microsoft.com/office/powerpoint/2010/main" val="2928135900"/>
              </p:ext>
            </p:extLst>
          </p:nvPr>
        </p:nvGraphicFramePr>
        <p:xfrm>
          <a:off x="738963" y="1433886"/>
          <a:ext cx="10515600" cy="1463040"/>
        </p:xfrm>
        <a:graphic>
          <a:graphicData uri="http://schemas.openxmlformats.org/drawingml/2006/table">
            <a:tbl>
              <a:tblPr firstRow="1">
                <a:tableStyleId>{69012ECD-51FC-41F1-AA8D-1B2483CD663E}</a:tableStyleId>
              </a:tblPr>
              <a:tblGrid>
                <a:gridCol w="5257800">
                  <a:extLst>
                    <a:ext uri="{9D8B030D-6E8A-4147-A177-3AD203B41FA5}">
                      <a16:colId xmlns:a16="http://schemas.microsoft.com/office/drawing/2014/main" val="1090146878"/>
                    </a:ext>
                  </a:extLst>
                </a:gridCol>
                <a:gridCol w="5257800">
                  <a:extLst>
                    <a:ext uri="{9D8B030D-6E8A-4147-A177-3AD203B41FA5}">
                      <a16:colId xmlns:a16="http://schemas.microsoft.com/office/drawing/2014/main" val="3241050777"/>
                    </a:ext>
                  </a:extLst>
                </a:gridCol>
              </a:tblGrid>
              <a:tr h="0">
                <a:tc>
                  <a:txBody>
                    <a:bodyPr/>
                    <a:lstStyle/>
                    <a:p>
                      <a:pPr>
                        <a:buNone/>
                      </a:pPr>
                      <a:r>
                        <a:rPr lang="en-US" noProof="0" dirty="0"/>
                        <a:t>Aspect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US" noProof="0" dirty="0"/>
                        <a:t>Description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852916028"/>
                  </a:ext>
                </a:extLst>
              </a:tr>
              <a:tr h="0">
                <a:tc>
                  <a:txBody>
                    <a:bodyPr/>
                    <a:lstStyle/>
                    <a:p>
                      <a:pPr>
                        <a:buNone/>
                      </a:pPr>
                      <a:r>
                        <a:rPr lang="en-US" noProof="0" dirty="0"/>
                        <a:t>Definition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US" noProof="0" dirty="0"/>
                        <a:t>Converts text → numbers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29778573"/>
                  </a:ext>
                </a:extLst>
              </a:tr>
              <a:tr h="0">
                <a:tc>
                  <a:txBody>
                    <a:bodyPr/>
                    <a:lstStyle/>
                    <a:p>
                      <a:pPr>
                        <a:buNone/>
                      </a:pPr>
                      <a:r>
                        <a:rPr lang="en-US" noProof="0" dirty="0"/>
                        <a:t>Role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US" noProof="0" dirty="0"/>
                        <a:t>Input preprocessing for NLP models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834333607"/>
                  </a:ext>
                </a:extLst>
              </a:tr>
              <a:tr h="0">
                <a:tc>
                  <a:txBody>
                    <a:bodyPr/>
                    <a:lstStyle/>
                    <a:p>
                      <a:pPr>
                        <a:buNone/>
                      </a:pPr>
                      <a:r>
                        <a:rPr lang="en-US" noProof="0" dirty="0"/>
                        <a:t>Output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US" noProof="0" dirty="0"/>
                        <a:t>Tokens (IDs)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339448541"/>
                  </a:ext>
                </a:extLst>
              </a:tr>
            </a:tbl>
          </a:graphicData>
        </a:graphic>
      </p:graphicFrame>
      <p:graphicFrame>
        <p:nvGraphicFramePr>
          <p:cNvPr id="5" name="Table 4">
            <a:extLst>
              <a:ext uri="{FF2B5EF4-FFF2-40B4-BE49-F238E27FC236}">
                <a16:creationId xmlns:a16="http://schemas.microsoft.com/office/drawing/2014/main" id="{F8C7CC02-FEBF-6446-5AF3-3F230D54CDB6}"/>
              </a:ext>
            </a:extLst>
          </p:cNvPr>
          <p:cNvGraphicFramePr>
            <a:graphicFrameLocks noGrp="1"/>
          </p:cNvGraphicFramePr>
          <p:nvPr>
            <p:extLst>
              <p:ext uri="{D42A27DB-BD31-4B8C-83A1-F6EECF244321}">
                <p14:modId xmlns:p14="http://schemas.microsoft.com/office/powerpoint/2010/main" val="2503442196"/>
              </p:ext>
            </p:extLst>
          </p:nvPr>
        </p:nvGraphicFramePr>
        <p:xfrm>
          <a:off x="738963" y="3063240"/>
          <a:ext cx="10515600" cy="731520"/>
        </p:xfrm>
        <a:graphic>
          <a:graphicData uri="http://schemas.openxmlformats.org/drawingml/2006/table">
            <a:tbl>
              <a:tblPr firstRow="1">
                <a:tableStyleId>{69012ECD-51FC-41F1-AA8D-1B2483CD663E}</a:tableStyleId>
              </a:tblPr>
              <a:tblGrid>
                <a:gridCol w="5257800">
                  <a:extLst>
                    <a:ext uri="{9D8B030D-6E8A-4147-A177-3AD203B41FA5}">
                      <a16:colId xmlns:a16="http://schemas.microsoft.com/office/drawing/2014/main" val="1354119466"/>
                    </a:ext>
                  </a:extLst>
                </a:gridCol>
                <a:gridCol w="5257800">
                  <a:extLst>
                    <a:ext uri="{9D8B030D-6E8A-4147-A177-3AD203B41FA5}">
                      <a16:colId xmlns:a16="http://schemas.microsoft.com/office/drawing/2014/main" val="3323554859"/>
                    </a:ext>
                  </a:extLst>
                </a:gridCol>
              </a:tblGrid>
              <a:tr h="0">
                <a:tc>
                  <a:txBody>
                    <a:bodyPr/>
                    <a:lstStyle/>
                    <a:p>
                      <a:pPr>
                        <a:buNone/>
                      </a:pPr>
                      <a:r>
                        <a:rPr lang="en-US" noProof="0" dirty="0"/>
                        <a:t>Input Text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US" noProof="0" dirty="0"/>
                        <a:t>Tokens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09713266"/>
                  </a:ext>
                </a:extLst>
              </a:tr>
              <a:tr h="0">
                <a:tc>
                  <a:txBody>
                    <a:bodyPr/>
                    <a:lstStyle/>
                    <a:p>
                      <a:pPr>
                        <a:buNone/>
                      </a:pPr>
                      <a:r>
                        <a:rPr lang="en-US" noProof="0" dirty="0"/>
                        <a:t>"I love AI"</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US" noProof="0" dirty="0"/>
                        <a:t>[101, 2003, 2293, 9932]</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606989041"/>
                  </a:ext>
                </a:extLst>
              </a:tr>
            </a:tbl>
          </a:graphicData>
        </a:graphic>
      </p:graphicFrame>
      <p:graphicFrame>
        <p:nvGraphicFramePr>
          <p:cNvPr id="6" name="Table 5">
            <a:extLst>
              <a:ext uri="{FF2B5EF4-FFF2-40B4-BE49-F238E27FC236}">
                <a16:creationId xmlns:a16="http://schemas.microsoft.com/office/drawing/2014/main" id="{22206999-FCAA-05A7-BBD8-FDF9F3ED35A4}"/>
              </a:ext>
            </a:extLst>
          </p:cNvPr>
          <p:cNvGraphicFramePr>
            <a:graphicFrameLocks noGrp="1"/>
          </p:cNvGraphicFramePr>
          <p:nvPr>
            <p:extLst>
              <p:ext uri="{D42A27DB-BD31-4B8C-83A1-F6EECF244321}">
                <p14:modId xmlns:p14="http://schemas.microsoft.com/office/powerpoint/2010/main" val="152494791"/>
              </p:ext>
            </p:extLst>
          </p:nvPr>
        </p:nvGraphicFramePr>
        <p:xfrm>
          <a:off x="717698" y="3994203"/>
          <a:ext cx="10515600" cy="1828800"/>
        </p:xfrm>
        <a:graphic>
          <a:graphicData uri="http://schemas.openxmlformats.org/drawingml/2006/table">
            <a:tbl>
              <a:tblPr firstRow="1">
                <a:tableStyleId>{72833802-FEF1-4C79-8D5D-14CF1EAF98D9}</a:tableStyleId>
              </a:tblPr>
              <a:tblGrid>
                <a:gridCol w="3505200">
                  <a:extLst>
                    <a:ext uri="{9D8B030D-6E8A-4147-A177-3AD203B41FA5}">
                      <a16:colId xmlns:a16="http://schemas.microsoft.com/office/drawing/2014/main" val="3536229733"/>
                    </a:ext>
                  </a:extLst>
                </a:gridCol>
                <a:gridCol w="3505200">
                  <a:extLst>
                    <a:ext uri="{9D8B030D-6E8A-4147-A177-3AD203B41FA5}">
                      <a16:colId xmlns:a16="http://schemas.microsoft.com/office/drawing/2014/main" val="1252420557"/>
                    </a:ext>
                  </a:extLst>
                </a:gridCol>
                <a:gridCol w="3505200">
                  <a:extLst>
                    <a:ext uri="{9D8B030D-6E8A-4147-A177-3AD203B41FA5}">
                      <a16:colId xmlns:a16="http://schemas.microsoft.com/office/drawing/2014/main" val="2151620072"/>
                    </a:ext>
                  </a:extLst>
                </a:gridCol>
              </a:tblGrid>
              <a:tr h="0">
                <a:tc>
                  <a:txBody>
                    <a:bodyPr/>
                    <a:lstStyle/>
                    <a:p>
                      <a:pPr>
                        <a:buNone/>
                      </a:pPr>
                      <a:r>
                        <a:rPr lang="en-US" noProof="0" dirty="0"/>
                        <a:t>Type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US" noProof="0" dirty="0"/>
                        <a:t>Description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US" noProof="0" dirty="0"/>
                        <a:t>Example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900777049"/>
                  </a:ext>
                </a:extLst>
              </a:tr>
              <a:tr h="0">
                <a:tc>
                  <a:txBody>
                    <a:bodyPr/>
                    <a:lstStyle/>
                    <a:p>
                      <a:pPr>
                        <a:buNone/>
                      </a:pPr>
                      <a:r>
                        <a:rPr lang="en-US" noProof="0" dirty="0"/>
                        <a:t>Word-based</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US" noProof="0" dirty="0"/>
                        <a:t>Split by words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US" noProof="0" dirty="0"/>
                        <a:t>"I love AI"</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668753034"/>
                  </a:ext>
                </a:extLst>
              </a:tr>
              <a:tr h="0">
                <a:tc>
                  <a:txBody>
                    <a:bodyPr/>
                    <a:lstStyle/>
                    <a:p>
                      <a:pPr>
                        <a:buNone/>
                      </a:pPr>
                      <a:r>
                        <a:rPr lang="en-US" noProof="0" dirty="0" err="1"/>
                        <a:t>Subword</a:t>
                      </a:r>
                      <a:endParaRPr lang="en-US" noProof="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US" noProof="0" dirty="0"/>
                        <a:t>Break into parts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US" noProof="0" dirty="0"/>
                        <a:t>"play" → "pl", "ay"</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016608449"/>
                  </a:ext>
                </a:extLst>
              </a:tr>
              <a:tr h="0">
                <a:tc>
                  <a:txBody>
                    <a:bodyPr/>
                    <a:lstStyle/>
                    <a:p>
                      <a:pPr>
                        <a:buNone/>
                      </a:pPr>
                      <a:r>
                        <a:rPr lang="en-US" noProof="0" dirty="0"/>
                        <a:t>Character</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US" noProof="0" dirty="0"/>
                        <a:t>Each char</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US" noProof="0" dirty="0"/>
                        <a:t>"A", "I"</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217067166"/>
                  </a:ext>
                </a:extLst>
              </a:tr>
              <a:tr h="0">
                <a:tc>
                  <a:txBody>
                    <a:bodyPr/>
                    <a:lstStyle/>
                    <a:p>
                      <a:pPr>
                        <a:buNone/>
                      </a:pPr>
                      <a:r>
                        <a:rPr lang="en-US" noProof="0" dirty="0"/>
                        <a:t>Byte Pair Encoding (BPE)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US" noProof="0" dirty="0"/>
                        <a:t>Most common in LLMs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US" noProof="0" dirty="0"/>
                        <a:t>GPT models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99086400"/>
                  </a:ext>
                </a:extLst>
              </a:tr>
            </a:tbl>
          </a:graphicData>
        </a:graphic>
      </p:graphicFrame>
      <p:sp>
        <p:nvSpPr>
          <p:cNvPr id="7" name="TextBox 6">
            <a:extLst>
              <a:ext uri="{FF2B5EF4-FFF2-40B4-BE49-F238E27FC236}">
                <a16:creationId xmlns:a16="http://schemas.microsoft.com/office/drawing/2014/main" id="{7EDFBEA2-714B-3FD3-CD3B-48352BFE08CF}"/>
              </a:ext>
            </a:extLst>
          </p:cNvPr>
          <p:cNvSpPr txBox="1"/>
          <p:nvPr/>
        </p:nvSpPr>
        <p:spPr>
          <a:xfrm>
            <a:off x="738963" y="6010940"/>
            <a:ext cx="10453577" cy="369332"/>
          </a:xfrm>
          <a:prstGeom prst="rect">
            <a:avLst/>
          </a:prstGeom>
          <a:noFill/>
        </p:spPr>
        <p:txBody>
          <a:bodyPr wrap="square" rtlCol="0">
            <a:spAutoFit/>
          </a:bodyPr>
          <a:lstStyle/>
          <a:p>
            <a:r>
              <a:rPr lang="en-US" noProof="0" dirty="0"/>
              <a:t>Text → Tokenizer → Token IDs → Model → Output             			 Code: 10_tokenizing.py</a:t>
            </a:r>
          </a:p>
        </p:txBody>
      </p:sp>
    </p:spTree>
    <p:extLst>
      <p:ext uri="{BB962C8B-B14F-4D97-AF65-F5344CB8AC3E}">
        <p14:creationId xmlns:p14="http://schemas.microsoft.com/office/powerpoint/2010/main" val="3335304869"/>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002E38-5D20-05C7-8177-D1B0C566DA80}"/>
              </a:ext>
            </a:extLst>
          </p:cNvPr>
          <p:cNvSpPr>
            <a:spLocks noGrp="1"/>
          </p:cNvSpPr>
          <p:nvPr>
            <p:ph type="title"/>
          </p:nvPr>
        </p:nvSpPr>
        <p:spPr/>
        <p:txBody>
          <a:bodyPr/>
          <a:lstStyle/>
          <a:p>
            <a:r>
              <a:rPr lang="en-US" noProof="0" dirty="0"/>
              <a:t>Data Ethics</a:t>
            </a:r>
          </a:p>
        </p:txBody>
      </p:sp>
      <p:graphicFrame>
        <p:nvGraphicFramePr>
          <p:cNvPr id="4" name="Content Placeholder 3">
            <a:extLst>
              <a:ext uri="{FF2B5EF4-FFF2-40B4-BE49-F238E27FC236}">
                <a16:creationId xmlns:a16="http://schemas.microsoft.com/office/drawing/2014/main" id="{5F9004D8-DA60-BD2F-AB2D-BA7984C26430}"/>
              </a:ext>
            </a:extLst>
          </p:cNvPr>
          <p:cNvGraphicFramePr>
            <a:graphicFrameLocks noGrp="1"/>
          </p:cNvGraphicFramePr>
          <p:nvPr>
            <p:ph idx="1"/>
            <p:extLst>
              <p:ext uri="{D42A27DB-BD31-4B8C-83A1-F6EECF244321}">
                <p14:modId xmlns:p14="http://schemas.microsoft.com/office/powerpoint/2010/main" val="1070944919"/>
              </p:ext>
            </p:extLst>
          </p:nvPr>
        </p:nvGraphicFramePr>
        <p:xfrm>
          <a:off x="838200" y="1601526"/>
          <a:ext cx="10515600" cy="1463040"/>
        </p:xfrm>
        <a:graphic>
          <a:graphicData uri="http://schemas.openxmlformats.org/drawingml/2006/table">
            <a:tbl>
              <a:tblPr firstRow="1">
                <a:tableStyleId>{7E9639D4-E3E2-4D34-9284-5A2195B3D0D7}</a:tableStyleId>
              </a:tblPr>
              <a:tblGrid>
                <a:gridCol w="4102395">
                  <a:extLst>
                    <a:ext uri="{9D8B030D-6E8A-4147-A177-3AD203B41FA5}">
                      <a16:colId xmlns:a16="http://schemas.microsoft.com/office/drawing/2014/main" val="2001956068"/>
                    </a:ext>
                  </a:extLst>
                </a:gridCol>
                <a:gridCol w="6413205">
                  <a:extLst>
                    <a:ext uri="{9D8B030D-6E8A-4147-A177-3AD203B41FA5}">
                      <a16:colId xmlns:a16="http://schemas.microsoft.com/office/drawing/2014/main" val="1326592610"/>
                    </a:ext>
                  </a:extLst>
                </a:gridCol>
              </a:tblGrid>
              <a:tr h="0">
                <a:tc>
                  <a:txBody>
                    <a:bodyPr/>
                    <a:lstStyle/>
                    <a:p>
                      <a:pPr>
                        <a:buNone/>
                      </a:pPr>
                      <a:r>
                        <a:rPr lang="en-US" noProof="0" dirty="0"/>
                        <a:t>Aspect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US" noProof="0" dirty="0"/>
                        <a:t>Description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576450072"/>
                  </a:ext>
                </a:extLst>
              </a:tr>
              <a:tr h="0">
                <a:tc>
                  <a:txBody>
                    <a:bodyPr/>
                    <a:lstStyle/>
                    <a:p>
                      <a:pPr>
                        <a:buNone/>
                      </a:pPr>
                      <a:r>
                        <a:rPr lang="en-US" noProof="0" dirty="0"/>
                        <a:t>Definition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US" noProof="0" dirty="0"/>
                        <a:t>Moral principles guiding data collection, use, and sharing</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455919662"/>
                  </a:ext>
                </a:extLst>
              </a:tr>
              <a:tr h="0">
                <a:tc>
                  <a:txBody>
                    <a:bodyPr/>
                    <a:lstStyle/>
                    <a:p>
                      <a:pPr>
                        <a:buNone/>
                      </a:pPr>
                      <a:r>
                        <a:rPr lang="en-US" noProof="0" dirty="0"/>
                        <a:t>Focus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US" noProof="0" dirty="0"/>
                        <a:t>Fairness, privacy, accountability</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897013684"/>
                  </a:ext>
                </a:extLst>
              </a:tr>
              <a:tr h="0">
                <a:tc>
                  <a:txBody>
                    <a:bodyPr/>
                    <a:lstStyle/>
                    <a:p>
                      <a:pPr>
                        <a:buNone/>
                      </a:pPr>
                      <a:r>
                        <a:rPr lang="en-US" noProof="0" dirty="0"/>
                        <a:t>Scope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US" noProof="0" dirty="0"/>
                        <a:t>Data lifecycle (collection → usage → storage)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150560651"/>
                  </a:ext>
                </a:extLst>
              </a:tr>
            </a:tbl>
          </a:graphicData>
        </a:graphic>
      </p:graphicFrame>
      <p:graphicFrame>
        <p:nvGraphicFramePr>
          <p:cNvPr id="5" name="Table 4">
            <a:extLst>
              <a:ext uri="{FF2B5EF4-FFF2-40B4-BE49-F238E27FC236}">
                <a16:creationId xmlns:a16="http://schemas.microsoft.com/office/drawing/2014/main" id="{2BC43783-3E81-8708-B22A-F8BE68AAF3D6}"/>
              </a:ext>
            </a:extLst>
          </p:cNvPr>
          <p:cNvGraphicFramePr>
            <a:graphicFrameLocks noGrp="1"/>
          </p:cNvGraphicFramePr>
          <p:nvPr>
            <p:extLst>
              <p:ext uri="{D42A27DB-BD31-4B8C-83A1-F6EECF244321}">
                <p14:modId xmlns:p14="http://schemas.microsoft.com/office/powerpoint/2010/main" val="3651299420"/>
              </p:ext>
            </p:extLst>
          </p:nvPr>
        </p:nvGraphicFramePr>
        <p:xfrm>
          <a:off x="838200" y="3279697"/>
          <a:ext cx="10515600" cy="2194560"/>
        </p:xfrm>
        <a:graphic>
          <a:graphicData uri="http://schemas.openxmlformats.org/drawingml/2006/table">
            <a:tbl>
              <a:tblPr firstRow="1">
                <a:tableStyleId>{7E9639D4-E3E2-4D34-9284-5A2195B3D0D7}</a:tableStyleId>
              </a:tblPr>
              <a:tblGrid>
                <a:gridCol w="4116572">
                  <a:extLst>
                    <a:ext uri="{9D8B030D-6E8A-4147-A177-3AD203B41FA5}">
                      <a16:colId xmlns:a16="http://schemas.microsoft.com/office/drawing/2014/main" val="2496794674"/>
                    </a:ext>
                  </a:extLst>
                </a:gridCol>
                <a:gridCol w="6399028">
                  <a:extLst>
                    <a:ext uri="{9D8B030D-6E8A-4147-A177-3AD203B41FA5}">
                      <a16:colId xmlns:a16="http://schemas.microsoft.com/office/drawing/2014/main" val="1483799900"/>
                    </a:ext>
                  </a:extLst>
                </a:gridCol>
              </a:tblGrid>
              <a:tr h="0">
                <a:tc>
                  <a:txBody>
                    <a:bodyPr/>
                    <a:lstStyle/>
                    <a:p>
                      <a:pPr>
                        <a:buNone/>
                      </a:pPr>
                      <a:r>
                        <a:rPr lang="en-US" noProof="0" dirty="0"/>
                        <a:t>Principle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US" noProof="0" dirty="0"/>
                        <a:t>Meaning</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859741482"/>
                  </a:ext>
                </a:extLst>
              </a:tr>
              <a:tr h="0">
                <a:tc>
                  <a:txBody>
                    <a:bodyPr/>
                    <a:lstStyle/>
                    <a:p>
                      <a:pPr>
                        <a:buNone/>
                      </a:pPr>
                      <a:r>
                        <a:rPr lang="en-US" noProof="0" dirty="0"/>
                        <a:t>Privacy</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US" noProof="0" dirty="0"/>
                        <a:t>Protect personal data</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85894454"/>
                  </a:ext>
                </a:extLst>
              </a:tr>
              <a:tr h="0">
                <a:tc>
                  <a:txBody>
                    <a:bodyPr/>
                    <a:lstStyle/>
                    <a:p>
                      <a:pPr>
                        <a:buNone/>
                      </a:pPr>
                      <a:r>
                        <a:rPr lang="en-US" noProof="0" dirty="0"/>
                        <a:t>Consent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US" noProof="0" dirty="0"/>
                        <a:t>Users agree to data usage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73080290"/>
                  </a:ext>
                </a:extLst>
              </a:tr>
              <a:tr h="0">
                <a:tc>
                  <a:txBody>
                    <a:bodyPr/>
                    <a:lstStyle/>
                    <a:p>
                      <a:pPr>
                        <a:buNone/>
                      </a:pPr>
                      <a:r>
                        <a:rPr lang="en-US" noProof="0" dirty="0"/>
                        <a:t>Transparency</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US" noProof="0" dirty="0"/>
                        <a:t>Clear data usage policies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497546612"/>
                  </a:ext>
                </a:extLst>
              </a:tr>
              <a:tr h="0">
                <a:tc>
                  <a:txBody>
                    <a:bodyPr/>
                    <a:lstStyle/>
                    <a:p>
                      <a:pPr>
                        <a:buNone/>
                      </a:pPr>
                      <a:r>
                        <a:rPr lang="en-US" noProof="0" dirty="0"/>
                        <a:t>Fairness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US" noProof="0" dirty="0"/>
                        <a:t>No discrimination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814290604"/>
                  </a:ext>
                </a:extLst>
              </a:tr>
              <a:tr h="0">
                <a:tc>
                  <a:txBody>
                    <a:bodyPr/>
                    <a:lstStyle/>
                    <a:p>
                      <a:pPr>
                        <a:buNone/>
                      </a:pPr>
                      <a:r>
                        <a:rPr lang="en-US" noProof="0" dirty="0"/>
                        <a:t>Accountability</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US" noProof="0" dirty="0"/>
                        <a:t>Responsibility for misuse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186146519"/>
                  </a:ext>
                </a:extLst>
              </a:tr>
            </a:tbl>
          </a:graphicData>
        </a:graphic>
      </p:graphicFrame>
    </p:spTree>
    <p:extLst>
      <p:ext uri="{BB962C8B-B14F-4D97-AF65-F5344CB8AC3E}">
        <p14:creationId xmlns:p14="http://schemas.microsoft.com/office/powerpoint/2010/main" val="3190106980"/>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4D0D4F1-F718-5D71-33A1-38A3118448AD}"/>
              </a:ext>
            </a:extLst>
          </p:cNvPr>
          <p:cNvSpPr>
            <a:spLocks noGrp="1"/>
          </p:cNvSpPr>
          <p:nvPr>
            <p:ph type="title"/>
          </p:nvPr>
        </p:nvSpPr>
        <p:spPr/>
        <p:txBody>
          <a:bodyPr/>
          <a:lstStyle/>
          <a:p>
            <a:r>
              <a:rPr lang="en-US" noProof="0" dirty="0"/>
              <a:t>AI Bias</a:t>
            </a:r>
          </a:p>
        </p:txBody>
      </p:sp>
      <p:graphicFrame>
        <p:nvGraphicFramePr>
          <p:cNvPr id="4" name="Content Placeholder 3">
            <a:extLst>
              <a:ext uri="{FF2B5EF4-FFF2-40B4-BE49-F238E27FC236}">
                <a16:creationId xmlns:a16="http://schemas.microsoft.com/office/drawing/2014/main" id="{0EC488EE-355F-08E8-BC11-84F79B44A287}"/>
              </a:ext>
            </a:extLst>
          </p:cNvPr>
          <p:cNvGraphicFramePr>
            <a:graphicFrameLocks noGrp="1"/>
          </p:cNvGraphicFramePr>
          <p:nvPr>
            <p:ph idx="1"/>
            <p:extLst>
              <p:ext uri="{D42A27DB-BD31-4B8C-83A1-F6EECF244321}">
                <p14:modId xmlns:p14="http://schemas.microsoft.com/office/powerpoint/2010/main" val="440748844"/>
              </p:ext>
            </p:extLst>
          </p:nvPr>
        </p:nvGraphicFramePr>
        <p:xfrm>
          <a:off x="767317" y="1306299"/>
          <a:ext cx="10515600" cy="1584960"/>
        </p:xfrm>
        <a:graphic>
          <a:graphicData uri="http://schemas.openxmlformats.org/drawingml/2006/table">
            <a:tbl>
              <a:tblPr firstRow="1">
                <a:tableStyleId>{7E9639D4-E3E2-4D34-9284-5A2195B3D0D7}</a:tableStyleId>
              </a:tblPr>
              <a:tblGrid>
                <a:gridCol w="5257800">
                  <a:extLst>
                    <a:ext uri="{9D8B030D-6E8A-4147-A177-3AD203B41FA5}">
                      <a16:colId xmlns:a16="http://schemas.microsoft.com/office/drawing/2014/main" val="1550181665"/>
                    </a:ext>
                  </a:extLst>
                </a:gridCol>
                <a:gridCol w="5257800">
                  <a:extLst>
                    <a:ext uri="{9D8B030D-6E8A-4147-A177-3AD203B41FA5}">
                      <a16:colId xmlns:a16="http://schemas.microsoft.com/office/drawing/2014/main" val="1564399492"/>
                    </a:ext>
                  </a:extLst>
                </a:gridCol>
              </a:tblGrid>
              <a:tr h="0">
                <a:tc>
                  <a:txBody>
                    <a:bodyPr/>
                    <a:lstStyle/>
                    <a:p>
                      <a:pPr>
                        <a:buNone/>
                      </a:pPr>
                      <a:r>
                        <a:rPr lang="en-US" sz="2000" noProof="0" dirty="0"/>
                        <a:t>Aspect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US" sz="2000" noProof="0" dirty="0"/>
                        <a:t>Description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067237145"/>
                  </a:ext>
                </a:extLst>
              </a:tr>
              <a:tr h="0">
                <a:tc>
                  <a:txBody>
                    <a:bodyPr/>
                    <a:lstStyle/>
                    <a:p>
                      <a:pPr>
                        <a:buNone/>
                      </a:pPr>
                      <a:r>
                        <a:rPr lang="en-US" sz="2000" noProof="0" dirty="0"/>
                        <a:t>Definition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US" sz="2000" noProof="0" dirty="0"/>
                        <a:t>Systematic unfairness in model outcomes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126521984"/>
                  </a:ext>
                </a:extLst>
              </a:tr>
              <a:tr h="0">
                <a:tc>
                  <a:txBody>
                    <a:bodyPr/>
                    <a:lstStyle/>
                    <a:p>
                      <a:pPr>
                        <a:buNone/>
                      </a:pPr>
                      <a:r>
                        <a:rPr lang="en-US" sz="2000" noProof="0" dirty="0"/>
                        <a:t>Cause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US" sz="2000" noProof="0" dirty="0"/>
                        <a:t>Skewed data or flawed assumptions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549931319"/>
                  </a:ext>
                </a:extLst>
              </a:tr>
              <a:tr h="0">
                <a:tc>
                  <a:txBody>
                    <a:bodyPr/>
                    <a:lstStyle/>
                    <a:p>
                      <a:pPr>
                        <a:buNone/>
                      </a:pPr>
                      <a:r>
                        <a:rPr lang="en-US" sz="2000" noProof="0" dirty="0"/>
                        <a:t>Impact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US" sz="2000" noProof="0" dirty="0"/>
                        <a:t>Discrimination, inaccurate predictions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730664312"/>
                  </a:ext>
                </a:extLst>
              </a:tr>
            </a:tbl>
          </a:graphicData>
        </a:graphic>
      </p:graphicFrame>
      <p:graphicFrame>
        <p:nvGraphicFramePr>
          <p:cNvPr id="5" name="Table 4">
            <a:extLst>
              <a:ext uri="{FF2B5EF4-FFF2-40B4-BE49-F238E27FC236}">
                <a16:creationId xmlns:a16="http://schemas.microsoft.com/office/drawing/2014/main" id="{ABD6E43A-9F81-C5D2-E544-04968E98A0F4}"/>
              </a:ext>
            </a:extLst>
          </p:cNvPr>
          <p:cNvGraphicFramePr>
            <a:graphicFrameLocks noGrp="1"/>
          </p:cNvGraphicFramePr>
          <p:nvPr>
            <p:extLst>
              <p:ext uri="{D42A27DB-BD31-4B8C-83A1-F6EECF244321}">
                <p14:modId xmlns:p14="http://schemas.microsoft.com/office/powerpoint/2010/main" val="556910189"/>
              </p:ext>
            </p:extLst>
          </p:nvPr>
        </p:nvGraphicFramePr>
        <p:xfrm>
          <a:off x="767317" y="2959305"/>
          <a:ext cx="10515600" cy="1828800"/>
        </p:xfrm>
        <a:graphic>
          <a:graphicData uri="http://schemas.openxmlformats.org/drawingml/2006/table">
            <a:tbl>
              <a:tblPr firstRow="1">
                <a:tableStyleId>{69012ECD-51FC-41F1-AA8D-1B2483CD663E}</a:tableStyleId>
              </a:tblPr>
              <a:tblGrid>
                <a:gridCol w="5257800">
                  <a:extLst>
                    <a:ext uri="{9D8B030D-6E8A-4147-A177-3AD203B41FA5}">
                      <a16:colId xmlns:a16="http://schemas.microsoft.com/office/drawing/2014/main" val="2713457837"/>
                    </a:ext>
                  </a:extLst>
                </a:gridCol>
                <a:gridCol w="5257800">
                  <a:extLst>
                    <a:ext uri="{9D8B030D-6E8A-4147-A177-3AD203B41FA5}">
                      <a16:colId xmlns:a16="http://schemas.microsoft.com/office/drawing/2014/main" val="252937591"/>
                    </a:ext>
                  </a:extLst>
                </a:gridCol>
              </a:tblGrid>
              <a:tr h="0">
                <a:tc>
                  <a:txBody>
                    <a:bodyPr/>
                    <a:lstStyle/>
                    <a:p>
                      <a:pPr>
                        <a:buNone/>
                      </a:pPr>
                      <a:r>
                        <a:rPr lang="en-US" noProof="0" dirty="0"/>
                        <a:t>Type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US" noProof="0" dirty="0"/>
                        <a:t>Example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702232722"/>
                  </a:ext>
                </a:extLst>
              </a:tr>
              <a:tr h="0">
                <a:tc>
                  <a:txBody>
                    <a:bodyPr/>
                    <a:lstStyle/>
                    <a:p>
                      <a:pPr>
                        <a:buNone/>
                      </a:pPr>
                      <a:r>
                        <a:rPr lang="en-US" noProof="0" dirty="0"/>
                        <a:t>Data Bias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US" noProof="0" dirty="0"/>
                        <a:t>Training data not representative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96825704"/>
                  </a:ext>
                </a:extLst>
              </a:tr>
              <a:tr h="0">
                <a:tc>
                  <a:txBody>
                    <a:bodyPr/>
                    <a:lstStyle/>
                    <a:p>
                      <a:pPr>
                        <a:buNone/>
                      </a:pPr>
                      <a:r>
                        <a:rPr lang="en-US" noProof="0" dirty="0"/>
                        <a:t>Sampling Bias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US" noProof="0" dirty="0"/>
                        <a:t>Over/under-representation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253598639"/>
                  </a:ext>
                </a:extLst>
              </a:tr>
              <a:tr h="0">
                <a:tc>
                  <a:txBody>
                    <a:bodyPr/>
                    <a:lstStyle/>
                    <a:p>
                      <a:pPr>
                        <a:buNone/>
                      </a:pPr>
                      <a:r>
                        <a:rPr lang="en-US" noProof="0" dirty="0"/>
                        <a:t>Algorithmic Bias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US" noProof="0" dirty="0"/>
                        <a:t>Model favors certain groups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834206270"/>
                  </a:ext>
                </a:extLst>
              </a:tr>
              <a:tr h="0">
                <a:tc>
                  <a:txBody>
                    <a:bodyPr/>
                    <a:lstStyle/>
                    <a:p>
                      <a:pPr>
                        <a:buNone/>
                      </a:pPr>
                      <a:r>
                        <a:rPr lang="en-US" noProof="0" dirty="0"/>
                        <a:t>Confirmation Bias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US" noProof="0" dirty="0"/>
                        <a:t>Reinforcing existing patterns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780938039"/>
                  </a:ext>
                </a:extLst>
              </a:tr>
            </a:tbl>
          </a:graphicData>
        </a:graphic>
      </p:graphicFrame>
      <p:graphicFrame>
        <p:nvGraphicFramePr>
          <p:cNvPr id="6" name="Table 5">
            <a:extLst>
              <a:ext uri="{FF2B5EF4-FFF2-40B4-BE49-F238E27FC236}">
                <a16:creationId xmlns:a16="http://schemas.microsoft.com/office/drawing/2014/main" id="{6B5FADD2-C90A-FFAD-CE56-27EA2E592954}"/>
              </a:ext>
            </a:extLst>
          </p:cNvPr>
          <p:cNvGraphicFramePr>
            <a:graphicFrameLocks noGrp="1"/>
          </p:cNvGraphicFramePr>
          <p:nvPr>
            <p:extLst>
              <p:ext uri="{D42A27DB-BD31-4B8C-83A1-F6EECF244321}">
                <p14:modId xmlns:p14="http://schemas.microsoft.com/office/powerpoint/2010/main" val="1389514769"/>
              </p:ext>
            </p:extLst>
          </p:nvPr>
        </p:nvGraphicFramePr>
        <p:xfrm>
          <a:off x="767317" y="4873169"/>
          <a:ext cx="10515600" cy="1828800"/>
        </p:xfrm>
        <a:graphic>
          <a:graphicData uri="http://schemas.openxmlformats.org/drawingml/2006/table">
            <a:tbl>
              <a:tblPr firstRow="1">
                <a:tableStyleId>{72833802-FEF1-4C79-8D5D-14CF1EAF98D9}</a:tableStyleId>
              </a:tblPr>
              <a:tblGrid>
                <a:gridCol w="5257800">
                  <a:extLst>
                    <a:ext uri="{9D8B030D-6E8A-4147-A177-3AD203B41FA5}">
                      <a16:colId xmlns:a16="http://schemas.microsoft.com/office/drawing/2014/main" val="2830098917"/>
                    </a:ext>
                  </a:extLst>
                </a:gridCol>
                <a:gridCol w="5257800">
                  <a:extLst>
                    <a:ext uri="{9D8B030D-6E8A-4147-A177-3AD203B41FA5}">
                      <a16:colId xmlns:a16="http://schemas.microsoft.com/office/drawing/2014/main" val="4069053566"/>
                    </a:ext>
                  </a:extLst>
                </a:gridCol>
              </a:tblGrid>
              <a:tr h="0">
                <a:tc>
                  <a:txBody>
                    <a:bodyPr/>
                    <a:lstStyle/>
                    <a:p>
                      <a:pPr>
                        <a:buNone/>
                      </a:pPr>
                      <a:r>
                        <a:rPr lang="en-US" noProof="0" dirty="0"/>
                        <a:t>Solution Method</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US" noProof="0" dirty="0"/>
                        <a:t>Description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179565024"/>
                  </a:ext>
                </a:extLst>
              </a:tr>
              <a:tr h="0">
                <a:tc>
                  <a:txBody>
                    <a:bodyPr/>
                    <a:lstStyle/>
                    <a:p>
                      <a:pPr>
                        <a:buNone/>
                      </a:pPr>
                      <a:r>
                        <a:rPr lang="en-US" noProof="0" dirty="0"/>
                        <a:t>Diverse Data</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US" noProof="0" dirty="0"/>
                        <a:t>Include varied samples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618192757"/>
                  </a:ext>
                </a:extLst>
              </a:tr>
              <a:tr h="0">
                <a:tc>
                  <a:txBody>
                    <a:bodyPr/>
                    <a:lstStyle/>
                    <a:p>
                      <a:pPr>
                        <a:buNone/>
                      </a:pPr>
                      <a:r>
                        <a:rPr lang="en-US" noProof="0" dirty="0"/>
                        <a:t>Reweighting</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US" noProof="0" dirty="0"/>
                        <a:t>Balance datasets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595104722"/>
                  </a:ext>
                </a:extLst>
              </a:tr>
              <a:tr h="0">
                <a:tc>
                  <a:txBody>
                    <a:bodyPr/>
                    <a:lstStyle/>
                    <a:p>
                      <a:pPr>
                        <a:buNone/>
                      </a:pPr>
                      <a:r>
                        <a:rPr lang="en-US" noProof="0" dirty="0"/>
                        <a:t>Fairness Metrics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US" noProof="0" dirty="0"/>
                        <a:t>Measure bias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478302751"/>
                  </a:ext>
                </a:extLst>
              </a:tr>
              <a:tr h="0">
                <a:tc>
                  <a:txBody>
                    <a:bodyPr/>
                    <a:lstStyle/>
                    <a:p>
                      <a:pPr>
                        <a:buNone/>
                      </a:pPr>
                      <a:r>
                        <a:rPr lang="en-US" noProof="0" dirty="0"/>
                        <a:t>Human Review</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US" noProof="0" dirty="0"/>
                        <a:t>Add oversight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252849863"/>
                  </a:ext>
                </a:extLst>
              </a:tr>
            </a:tbl>
          </a:graphicData>
        </a:graphic>
      </p:graphicFrame>
    </p:spTree>
    <p:extLst>
      <p:ext uri="{BB962C8B-B14F-4D97-AF65-F5344CB8AC3E}">
        <p14:creationId xmlns:p14="http://schemas.microsoft.com/office/powerpoint/2010/main" val="977670910"/>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4D92E7-BA90-BD7F-3024-C7CC91B88F2C}"/>
              </a:ext>
            </a:extLst>
          </p:cNvPr>
          <p:cNvSpPr>
            <a:spLocks noGrp="1"/>
          </p:cNvSpPr>
          <p:nvPr>
            <p:ph type="title"/>
          </p:nvPr>
        </p:nvSpPr>
        <p:spPr/>
        <p:txBody>
          <a:bodyPr/>
          <a:lstStyle/>
          <a:p>
            <a:r>
              <a:rPr lang="en-US" noProof="0" dirty="0"/>
              <a:t>Hallucinations</a:t>
            </a:r>
          </a:p>
        </p:txBody>
      </p:sp>
      <p:graphicFrame>
        <p:nvGraphicFramePr>
          <p:cNvPr id="4" name="Content Placeholder 3">
            <a:extLst>
              <a:ext uri="{FF2B5EF4-FFF2-40B4-BE49-F238E27FC236}">
                <a16:creationId xmlns:a16="http://schemas.microsoft.com/office/drawing/2014/main" id="{D7080A0F-B63C-76F5-E2E4-0DC42BD4F99D}"/>
              </a:ext>
            </a:extLst>
          </p:cNvPr>
          <p:cNvGraphicFramePr>
            <a:graphicFrameLocks noGrp="1"/>
          </p:cNvGraphicFramePr>
          <p:nvPr>
            <p:ph idx="1"/>
            <p:extLst>
              <p:ext uri="{D42A27DB-BD31-4B8C-83A1-F6EECF244321}">
                <p14:modId xmlns:p14="http://schemas.microsoft.com/office/powerpoint/2010/main" val="2358934199"/>
              </p:ext>
            </p:extLst>
          </p:nvPr>
        </p:nvGraphicFramePr>
        <p:xfrm>
          <a:off x="668079" y="1440974"/>
          <a:ext cx="10515600" cy="1463040"/>
        </p:xfrm>
        <a:graphic>
          <a:graphicData uri="http://schemas.openxmlformats.org/drawingml/2006/table">
            <a:tbl>
              <a:tblPr firstRow="1">
                <a:tableStyleId>{7E9639D4-E3E2-4D34-9284-5A2195B3D0D7}</a:tableStyleId>
              </a:tblPr>
              <a:tblGrid>
                <a:gridCol w="5257800">
                  <a:extLst>
                    <a:ext uri="{9D8B030D-6E8A-4147-A177-3AD203B41FA5}">
                      <a16:colId xmlns:a16="http://schemas.microsoft.com/office/drawing/2014/main" val="1220164547"/>
                    </a:ext>
                  </a:extLst>
                </a:gridCol>
                <a:gridCol w="5257800">
                  <a:extLst>
                    <a:ext uri="{9D8B030D-6E8A-4147-A177-3AD203B41FA5}">
                      <a16:colId xmlns:a16="http://schemas.microsoft.com/office/drawing/2014/main" val="3425984593"/>
                    </a:ext>
                  </a:extLst>
                </a:gridCol>
              </a:tblGrid>
              <a:tr h="0">
                <a:tc>
                  <a:txBody>
                    <a:bodyPr/>
                    <a:lstStyle/>
                    <a:p>
                      <a:pPr>
                        <a:buNone/>
                      </a:pPr>
                      <a:r>
                        <a:rPr lang="en-US" noProof="0" dirty="0"/>
                        <a:t>Aspect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US" noProof="0" dirty="0"/>
                        <a:t>Description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020473106"/>
                  </a:ext>
                </a:extLst>
              </a:tr>
              <a:tr h="0">
                <a:tc>
                  <a:txBody>
                    <a:bodyPr/>
                    <a:lstStyle/>
                    <a:p>
                      <a:pPr>
                        <a:buNone/>
                      </a:pPr>
                      <a:r>
                        <a:rPr lang="en-US" noProof="0" dirty="0"/>
                        <a:t>Definition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US" noProof="0" dirty="0"/>
                        <a:t>Model generates incorrect but confident output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590879838"/>
                  </a:ext>
                </a:extLst>
              </a:tr>
              <a:tr h="0">
                <a:tc>
                  <a:txBody>
                    <a:bodyPr/>
                    <a:lstStyle/>
                    <a:p>
                      <a:pPr>
                        <a:buNone/>
                      </a:pPr>
                      <a:r>
                        <a:rPr lang="en-US" noProof="0" dirty="0"/>
                        <a:t>Common In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US" noProof="0" dirty="0"/>
                        <a:t>Large Language Models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016495173"/>
                  </a:ext>
                </a:extLst>
              </a:tr>
              <a:tr h="0">
                <a:tc>
                  <a:txBody>
                    <a:bodyPr/>
                    <a:lstStyle/>
                    <a:p>
                      <a:pPr>
                        <a:buNone/>
                      </a:pPr>
                      <a:r>
                        <a:rPr lang="en-US" noProof="0" dirty="0"/>
                        <a:t>Risk</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US" noProof="0" dirty="0"/>
                        <a:t>Misinformation, trust issues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692285093"/>
                  </a:ext>
                </a:extLst>
              </a:tr>
            </a:tbl>
          </a:graphicData>
        </a:graphic>
      </p:graphicFrame>
      <p:graphicFrame>
        <p:nvGraphicFramePr>
          <p:cNvPr id="5" name="Table 4">
            <a:extLst>
              <a:ext uri="{FF2B5EF4-FFF2-40B4-BE49-F238E27FC236}">
                <a16:creationId xmlns:a16="http://schemas.microsoft.com/office/drawing/2014/main" id="{BFF27662-6155-4B98-1729-6A9575F19756}"/>
              </a:ext>
            </a:extLst>
          </p:cNvPr>
          <p:cNvGraphicFramePr>
            <a:graphicFrameLocks noGrp="1"/>
          </p:cNvGraphicFramePr>
          <p:nvPr>
            <p:extLst>
              <p:ext uri="{D42A27DB-BD31-4B8C-83A1-F6EECF244321}">
                <p14:modId xmlns:p14="http://schemas.microsoft.com/office/powerpoint/2010/main" val="234740479"/>
              </p:ext>
            </p:extLst>
          </p:nvPr>
        </p:nvGraphicFramePr>
        <p:xfrm>
          <a:off x="668079" y="3021681"/>
          <a:ext cx="10515600" cy="1463040"/>
        </p:xfrm>
        <a:graphic>
          <a:graphicData uri="http://schemas.openxmlformats.org/drawingml/2006/table">
            <a:tbl>
              <a:tblPr firstRow="1">
                <a:tableStyleId>{69012ECD-51FC-41F1-AA8D-1B2483CD663E}</a:tableStyleId>
              </a:tblPr>
              <a:tblGrid>
                <a:gridCol w="5257800">
                  <a:extLst>
                    <a:ext uri="{9D8B030D-6E8A-4147-A177-3AD203B41FA5}">
                      <a16:colId xmlns:a16="http://schemas.microsoft.com/office/drawing/2014/main" val="130329892"/>
                    </a:ext>
                  </a:extLst>
                </a:gridCol>
                <a:gridCol w="5257800">
                  <a:extLst>
                    <a:ext uri="{9D8B030D-6E8A-4147-A177-3AD203B41FA5}">
                      <a16:colId xmlns:a16="http://schemas.microsoft.com/office/drawing/2014/main" val="3161510368"/>
                    </a:ext>
                  </a:extLst>
                </a:gridCol>
              </a:tblGrid>
              <a:tr h="0">
                <a:tc>
                  <a:txBody>
                    <a:bodyPr/>
                    <a:lstStyle/>
                    <a:p>
                      <a:pPr>
                        <a:buNone/>
                      </a:pPr>
                      <a:r>
                        <a:rPr lang="en-US" noProof="0" dirty="0"/>
                        <a:t>Scenario</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US" noProof="0" dirty="0"/>
                        <a:t>Issue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931009425"/>
                  </a:ext>
                </a:extLst>
              </a:tr>
              <a:tr h="0">
                <a:tc>
                  <a:txBody>
                    <a:bodyPr/>
                    <a:lstStyle/>
                    <a:p>
                      <a:pPr>
                        <a:buNone/>
                      </a:pPr>
                      <a:r>
                        <a:rPr lang="en-US" noProof="0" dirty="0"/>
                        <a:t>Fake citations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US" noProof="0" dirty="0"/>
                        <a:t>Non-existent references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19821742"/>
                  </a:ext>
                </a:extLst>
              </a:tr>
              <a:tr h="0">
                <a:tc>
                  <a:txBody>
                    <a:bodyPr/>
                    <a:lstStyle/>
                    <a:p>
                      <a:pPr>
                        <a:buNone/>
                      </a:pPr>
                      <a:r>
                        <a:rPr lang="en-US" noProof="0" dirty="0"/>
                        <a:t>Wrong facts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US" noProof="0" dirty="0"/>
                        <a:t>Incorrect data</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968629894"/>
                  </a:ext>
                </a:extLst>
              </a:tr>
              <a:tr h="0">
                <a:tc>
                  <a:txBody>
                    <a:bodyPr/>
                    <a:lstStyle/>
                    <a:p>
                      <a:pPr>
                        <a:buNone/>
                      </a:pPr>
                      <a:r>
                        <a:rPr lang="en-US" noProof="0" dirty="0"/>
                        <a:t>Fabricated answers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US" noProof="0" dirty="0"/>
                        <a:t>Made-up explanations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03001428"/>
                  </a:ext>
                </a:extLst>
              </a:tr>
            </a:tbl>
          </a:graphicData>
        </a:graphic>
      </p:graphicFrame>
      <p:graphicFrame>
        <p:nvGraphicFramePr>
          <p:cNvPr id="6" name="Table 5">
            <a:extLst>
              <a:ext uri="{FF2B5EF4-FFF2-40B4-BE49-F238E27FC236}">
                <a16:creationId xmlns:a16="http://schemas.microsoft.com/office/drawing/2014/main" id="{E422E589-D003-7C73-5F01-AE8DBF5F364F}"/>
              </a:ext>
            </a:extLst>
          </p:cNvPr>
          <p:cNvGraphicFramePr>
            <a:graphicFrameLocks noGrp="1"/>
          </p:cNvGraphicFramePr>
          <p:nvPr>
            <p:extLst>
              <p:ext uri="{D42A27DB-BD31-4B8C-83A1-F6EECF244321}">
                <p14:modId xmlns:p14="http://schemas.microsoft.com/office/powerpoint/2010/main" val="3809220222"/>
              </p:ext>
            </p:extLst>
          </p:nvPr>
        </p:nvGraphicFramePr>
        <p:xfrm>
          <a:off x="668079" y="4602388"/>
          <a:ext cx="10515600" cy="1828800"/>
        </p:xfrm>
        <a:graphic>
          <a:graphicData uri="http://schemas.openxmlformats.org/drawingml/2006/table">
            <a:tbl>
              <a:tblPr firstRow="1">
                <a:tableStyleId>{72833802-FEF1-4C79-8D5D-14CF1EAF98D9}</a:tableStyleId>
              </a:tblPr>
              <a:tblGrid>
                <a:gridCol w="5257800">
                  <a:extLst>
                    <a:ext uri="{9D8B030D-6E8A-4147-A177-3AD203B41FA5}">
                      <a16:colId xmlns:a16="http://schemas.microsoft.com/office/drawing/2014/main" val="3160028726"/>
                    </a:ext>
                  </a:extLst>
                </a:gridCol>
                <a:gridCol w="5257800">
                  <a:extLst>
                    <a:ext uri="{9D8B030D-6E8A-4147-A177-3AD203B41FA5}">
                      <a16:colId xmlns:a16="http://schemas.microsoft.com/office/drawing/2014/main" val="2179820417"/>
                    </a:ext>
                  </a:extLst>
                </a:gridCol>
              </a:tblGrid>
              <a:tr h="0">
                <a:tc>
                  <a:txBody>
                    <a:bodyPr/>
                    <a:lstStyle/>
                    <a:p>
                      <a:pPr>
                        <a:buNone/>
                      </a:pPr>
                      <a:r>
                        <a:rPr lang="en-US" noProof="0" dirty="0"/>
                        <a:t>Solution Method</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US" noProof="0" dirty="0"/>
                        <a:t>Description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22811277"/>
                  </a:ext>
                </a:extLst>
              </a:tr>
              <a:tr h="0">
                <a:tc>
                  <a:txBody>
                    <a:bodyPr/>
                    <a:lstStyle/>
                    <a:p>
                      <a:pPr>
                        <a:buNone/>
                      </a:pPr>
                      <a:r>
                        <a:rPr lang="en-US" noProof="0" dirty="0"/>
                        <a:t>Retrieval-Augmented Generation (RAG)</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US" noProof="0" dirty="0"/>
                        <a:t>Use real data sources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22022361"/>
                  </a:ext>
                </a:extLst>
              </a:tr>
              <a:tr h="0">
                <a:tc>
                  <a:txBody>
                    <a:bodyPr/>
                    <a:lstStyle/>
                    <a:p>
                      <a:pPr>
                        <a:buNone/>
                      </a:pPr>
                      <a:r>
                        <a:rPr lang="en-US" noProof="0" dirty="0"/>
                        <a:t>Grounding</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US" noProof="0" dirty="0"/>
                        <a:t>Restrict to known facts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274834012"/>
                  </a:ext>
                </a:extLst>
              </a:tr>
              <a:tr h="0">
                <a:tc>
                  <a:txBody>
                    <a:bodyPr/>
                    <a:lstStyle/>
                    <a:p>
                      <a:pPr>
                        <a:buNone/>
                      </a:pPr>
                      <a:r>
                        <a:rPr lang="en-US" noProof="0" dirty="0"/>
                        <a:t>Prompt Engineering</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US" noProof="0" dirty="0"/>
                        <a:t>Clear instructions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378404755"/>
                  </a:ext>
                </a:extLst>
              </a:tr>
              <a:tr h="0">
                <a:tc>
                  <a:txBody>
                    <a:bodyPr/>
                    <a:lstStyle/>
                    <a:p>
                      <a:pPr>
                        <a:buNone/>
                      </a:pPr>
                      <a:r>
                        <a:rPr lang="en-US" noProof="0" dirty="0"/>
                        <a:t>Human Validation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US" noProof="0" dirty="0"/>
                        <a:t>Review outputs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876600533"/>
                  </a:ext>
                </a:extLst>
              </a:tr>
            </a:tbl>
          </a:graphicData>
        </a:graphic>
      </p:graphicFrame>
    </p:spTree>
    <p:extLst>
      <p:ext uri="{BB962C8B-B14F-4D97-AF65-F5344CB8AC3E}">
        <p14:creationId xmlns:p14="http://schemas.microsoft.com/office/powerpoint/2010/main" val="3073967228"/>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4C5DA10-68E0-8893-419B-D839649496CF}"/>
              </a:ext>
            </a:extLst>
          </p:cNvPr>
          <p:cNvSpPr>
            <a:spLocks noGrp="1"/>
          </p:cNvSpPr>
          <p:nvPr>
            <p:ph type="title"/>
          </p:nvPr>
        </p:nvSpPr>
        <p:spPr/>
        <p:txBody>
          <a:bodyPr/>
          <a:lstStyle/>
          <a:p>
            <a:r>
              <a:rPr lang="en-US" noProof="0" dirty="0"/>
              <a:t>Responsible AI</a:t>
            </a:r>
          </a:p>
        </p:txBody>
      </p:sp>
      <p:graphicFrame>
        <p:nvGraphicFramePr>
          <p:cNvPr id="4" name="Content Placeholder 3">
            <a:extLst>
              <a:ext uri="{FF2B5EF4-FFF2-40B4-BE49-F238E27FC236}">
                <a16:creationId xmlns:a16="http://schemas.microsoft.com/office/drawing/2014/main" id="{999484BB-2639-B821-761B-0CD04D338992}"/>
              </a:ext>
            </a:extLst>
          </p:cNvPr>
          <p:cNvGraphicFramePr>
            <a:graphicFrameLocks noGrp="1"/>
          </p:cNvGraphicFramePr>
          <p:nvPr>
            <p:ph idx="1"/>
            <p:extLst>
              <p:ext uri="{D42A27DB-BD31-4B8C-83A1-F6EECF244321}">
                <p14:modId xmlns:p14="http://schemas.microsoft.com/office/powerpoint/2010/main" val="2373281899"/>
              </p:ext>
            </p:extLst>
          </p:nvPr>
        </p:nvGraphicFramePr>
        <p:xfrm>
          <a:off x="838200" y="1524617"/>
          <a:ext cx="10515600" cy="1097280"/>
        </p:xfrm>
        <a:graphic>
          <a:graphicData uri="http://schemas.openxmlformats.org/drawingml/2006/table">
            <a:tbl>
              <a:tblPr firstRow="1">
                <a:tableStyleId>{7E9639D4-E3E2-4D34-9284-5A2195B3D0D7}</a:tableStyleId>
              </a:tblPr>
              <a:tblGrid>
                <a:gridCol w="5257800">
                  <a:extLst>
                    <a:ext uri="{9D8B030D-6E8A-4147-A177-3AD203B41FA5}">
                      <a16:colId xmlns:a16="http://schemas.microsoft.com/office/drawing/2014/main" val="3921174831"/>
                    </a:ext>
                  </a:extLst>
                </a:gridCol>
                <a:gridCol w="5257800">
                  <a:extLst>
                    <a:ext uri="{9D8B030D-6E8A-4147-A177-3AD203B41FA5}">
                      <a16:colId xmlns:a16="http://schemas.microsoft.com/office/drawing/2014/main" val="2129965683"/>
                    </a:ext>
                  </a:extLst>
                </a:gridCol>
              </a:tblGrid>
              <a:tr h="0">
                <a:tc>
                  <a:txBody>
                    <a:bodyPr/>
                    <a:lstStyle/>
                    <a:p>
                      <a:pPr>
                        <a:buNone/>
                      </a:pPr>
                      <a:r>
                        <a:rPr lang="en-US" noProof="0" dirty="0"/>
                        <a:t>Aspect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US" noProof="0" dirty="0"/>
                        <a:t>Description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368401348"/>
                  </a:ext>
                </a:extLst>
              </a:tr>
              <a:tr h="0">
                <a:tc>
                  <a:txBody>
                    <a:bodyPr/>
                    <a:lstStyle/>
                    <a:p>
                      <a:pPr>
                        <a:buNone/>
                      </a:pPr>
                      <a:r>
                        <a:rPr lang="en-US" noProof="0" dirty="0"/>
                        <a:t>Goal</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US" noProof="0" dirty="0"/>
                        <a:t>Build AI that is safe, fair, and trustworthy</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952270142"/>
                  </a:ext>
                </a:extLst>
              </a:tr>
              <a:tr h="0">
                <a:tc>
                  <a:txBody>
                    <a:bodyPr/>
                    <a:lstStyle/>
                    <a:p>
                      <a:pPr>
                        <a:buNone/>
                      </a:pPr>
                      <a:r>
                        <a:rPr lang="en-US" noProof="0" dirty="0"/>
                        <a:t>Scope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US" noProof="0" dirty="0"/>
                        <a:t>Design → development → deployment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792947429"/>
                  </a:ext>
                </a:extLst>
              </a:tr>
            </a:tbl>
          </a:graphicData>
        </a:graphic>
      </p:graphicFrame>
    </p:spTree>
    <p:extLst>
      <p:ext uri="{BB962C8B-B14F-4D97-AF65-F5344CB8AC3E}">
        <p14:creationId xmlns:p14="http://schemas.microsoft.com/office/powerpoint/2010/main" val="60343511"/>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573EF37C-93D6-C56F-1B30-C3233BFF2EE4}"/>
              </a:ext>
            </a:extLst>
          </p:cNvPr>
          <p:cNvSpPr>
            <a:spLocks noGrp="1"/>
          </p:cNvSpPr>
          <p:nvPr>
            <p:ph type="title"/>
          </p:nvPr>
        </p:nvSpPr>
        <p:spPr/>
        <p:txBody>
          <a:bodyPr/>
          <a:lstStyle/>
          <a:p>
            <a:r>
              <a:rPr lang="en-US" noProof="0" dirty="0"/>
              <a:t>Correlation</a:t>
            </a:r>
          </a:p>
        </p:txBody>
      </p:sp>
      <mc:AlternateContent xmlns:mc="http://schemas.openxmlformats.org/markup-compatibility/2006">
        <mc:Choice xmlns:a14="http://schemas.microsoft.com/office/drawing/2010/main" Requires="a14">
          <p:sp>
            <p:nvSpPr>
              <p:cNvPr id="5" name="Content Placeholder 4">
                <a:extLst>
                  <a:ext uri="{FF2B5EF4-FFF2-40B4-BE49-F238E27FC236}">
                    <a16:creationId xmlns:a16="http://schemas.microsoft.com/office/drawing/2014/main" id="{97F6427D-C8FF-550A-8039-DBA83099C15B}"/>
                  </a:ext>
                </a:extLst>
              </p:cNvPr>
              <p:cNvSpPr>
                <a:spLocks noGrp="1"/>
              </p:cNvSpPr>
              <p:nvPr>
                <p:ph idx="1"/>
              </p:nvPr>
            </p:nvSpPr>
            <p:spPr/>
            <p:txBody>
              <a:bodyPr>
                <a:normAutofit fontScale="92500" lnSpcReduction="20000"/>
              </a:bodyPr>
              <a:lstStyle/>
              <a:p>
                <a:r>
                  <a:rPr lang="en-US" b="1" noProof="0" dirty="0"/>
                  <a:t>Correlation</a:t>
                </a:r>
                <a:r>
                  <a:rPr lang="en-US" noProof="0" dirty="0"/>
                  <a:t>: Are two </a:t>
                </a:r>
                <a:r>
                  <a:rPr lang="en-US" u="sng" noProof="0" dirty="0"/>
                  <a:t>numeric</a:t>
                </a:r>
                <a:r>
                  <a:rPr lang="en-US" noProof="0" dirty="0"/>
                  <a:t> variables related?</a:t>
                </a:r>
              </a:p>
              <a:p>
                <a:r>
                  <a:rPr lang="en-US" noProof="0" dirty="0"/>
                  <a:t>Examples: Exercise and Health, Study and Marks, Experience and Salary</a:t>
                </a:r>
              </a:p>
              <a:p>
                <a:r>
                  <a:rPr lang="en-US" noProof="0" dirty="0"/>
                  <a:t>Correlation (</a:t>
                </a:r>
                <a:r>
                  <a:rPr lang="en-US" noProof="0" dirty="0" err="1"/>
                  <a:t>x,y</a:t>
                </a:r>
                <a:r>
                  <a:rPr lang="en-US" noProof="0" dirty="0"/>
                  <a:t>) = </a:t>
                </a:r>
                <a14:m>
                  <m:oMath xmlns:m="http://schemas.openxmlformats.org/officeDocument/2006/math">
                    <m:f>
                      <m:fPr>
                        <m:ctrlPr>
                          <a:rPr lang="en-US" i="1" noProof="0" smtClean="0">
                            <a:latin typeface="Cambria Math" panose="02040503050406030204" pitchFamily="18" charset="0"/>
                          </a:rPr>
                        </m:ctrlPr>
                      </m:fPr>
                      <m:num>
                        <m:r>
                          <a:rPr lang="en-US" b="0" i="1" noProof="0" smtClean="0">
                            <a:latin typeface="Cambria Math" panose="02040503050406030204" pitchFamily="18" charset="0"/>
                          </a:rPr>
                          <m:t>𝐶𝑜𝑣</m:t>
                        </m:r>
                        <m:r>
                          <a:rPr lang="en-US" b="0" i="1" noProof="0" smtClean="0">
                            <a:latin typeface="Cambria Math" panose="02040503050406030204" pitchFamily="18" charset="0"/>
                          </a:rPr>
                          <m:t> (</m:t>
                        </m:r>
                        <m:r>
                          <a:rPr lang="en-US" b="0" i="1" noProof="0" smtClean="0">
                            <a:latin typeface="Cambria Math" panose="02040503050406030204" pitchFamily="18" charset="0"/>
                          </a:rPr>
                          <m:t>𝑥</m:t>
                        </m:r>
                        <m:r>
                          <a:rPr lang="en-US" b="0" i="1" noProof="0" smtClean="0">
                            <a:latin typeface="Cambria Math" panose="02040503050406030204" pitchFamily="18" charset="0"/>
                          </a:rPr>
                          <m:t>, </m:t>
                        </m:r>
                        <m:r>
                          <a:rPr lang="en-US" b="0" i="1" noProof="0" smtClean="0">
                            <a:latin typeface="Cambria Math" panose="02040503050406030204" pitchFamily="18" charset="0"/>
                          </a:rPr>
                          <m:t>𝑦</m:t>
                        </m:r>
                        <m:r>
                          <a:rPr lang="en-US" b="0" i="1" noProof="0" smtClean="0">
                            <a:latin typeface="Cambria Math" panose="02040503050406030204" pitchFamily="18" charset="0"/>
                          </a:rPr>
                          <m:t>)</m:t>
                        </m:r>
                      </m:num>
                      <m:den>
                        <m:r>
                          <m:rPr>
                            <m:sty m:val="p"/>
                          </m:rPr>
                          <a:rPr lang="en-US" i="1" noProof="0" smtClean="0">
                            <a:latin typeface="Cambria Math" panose="02040503050406030204" pitchFamily="18" charset="0"/>
                          </a:rPr>
                          <m:t>σ</m:t>
                        </m:r>
                        <m:r>
                          <a:rPr lang="en-US" b="0" i="1" baseline="-25000" noProof="0" smtClean="0">
                            <a:latin typeface="Cambria Math" panose="02040503050406030204" pitchFamily="18" charset="0"/>
                          </a:rPr>
                          <m:t>𝑥</m:t>
                        </m:r>
                        <m:r>
                          <m:rPr>
                            <m:sty m:val="p"/>
                          </m:rPr>
                          <a:rPr lang="en-US" i="1" noProof="0" smtClean="0">
                            <a:latin typeface="Cambria Math" panose="02040503050406030204" pitchFamily="18" charset="0"/>
                          </a:rPr>
                          <m:t>σ</m:t>
                        </m:r>
                        <m:r>
                          <a:rPr lang="en-US" b="0" i="1" baseline="-25000" noProof="0" smtClean="0">
                            <a:latin typeface="Cambria Math" panose="02040503050406030204" pitchFamily="18" charset="0"/>
                          </a:rPr>
                          <m:t>𝑦</m:t>
                        </m:r>
                      </m:den>
                    </m:f>
                  </m:oMath>
                </a14:m>
                <a:endParaRPr lang="en-US" b="1" noProof="0" dirty="0"/>
              </a:p>
              <a:p>
                <a:r>
                  <a:rPr lang="en-US" noProof="0" dirty="0"/>
                  <a:t>Measured using </a:t>
                </a:r>
                <a:r>
                  <a:rPr lang="en-US" b="1" noProof="0" dirty="0"/>
                  <a:t>correlation coefficient (r)</a:t>
                </a:r>
              </a:p>
              <a:p>
                <a:r>
                  <a:rPr lang="en-US" noProof="0" dirty="0"/>
                  <a:t>Range: -1 to +1</a:t>
                </a:r>
              </a:p>
              <a:p>
                <a:r>
                  <a:rPr lang="en-US" noProof="0" dirty="0"/>
                  <a:t>Positive correlation: Variables move up together</a:t>
                </a:r>
              </a:p>
              <a:p>
                <a:pPr lvl="1"/>
                <a:r>
                  <a:rPr lang="en-US" noProof="0" dirty="0"/>
                  <a:t>Example: Correlation of 0.80 between Hours spent studying and test scores</a:t>
                </a:r>
              </a:p>
              <a:p>
                <a:r>
                  <a:rPr lang="en-US" noProof="0" dirty="0"/>
                  <a:t>Negative correlation: As one variable moves up, the other moves down</a:t>
                </a:r>
              </a:p>
              <a:p>
                <a:pPr lvl="1"/>
                <a:r>
                  <a:rPr lang="en-US" noProof="0" dirty="0"/>
                  <a:t>Example: Correlation of -0.70 between Hours spent watching TV and physical fitness</a:t>
                </a:r>
              </a:p>
              <a:p>
                <a:r>
                  <a:rPr lang="en-US" noProof="0" dirty="0"/>
                  <a:t>Zero correlation: Variables are unrelated</a:t>
                </a:r>
              </a:p>
              <a:p>
                <a:pPr lvl="1"/>
                <a:r>
                  <a:rPr lang="en-US" noProof="0" dirty="0"/>
                  <a:t>Example: Correlation of 0.02 between Shoe size and IQ score</a:t>
                </a:r>
              </a:p>
            </p:txBody>
          </p:sp>
        </mc:Choice>
        <mc:Fallback>
          <p:sp>
            <p:nvSpPr>
              <p:cNvPr id="5" name="Content Placeholder 4">
                <a:extLst>
                  <a:ext uri="{FF2B5EF4-FFF2-40B4-BE49-F238E27FC236}">
                    <a16:creationId xmlns:a16="http://schemas.microsoft.com/office/drawing/2014/main" id="{97F6427D-C8FF-550A-8039-DBA83099C15B}"/>
                  </a:ext>
                </a:extLst>
              </p:cNvPr>
              <p:cNvSpPr>
                <a:spLocks noGrp="1" noRot="1" noChangeAspect="1" noMove="1" noResize="1" noEditPoints="1" noAdjustHandles="1" noChangeArrowheads="1" noChangeShapeType="1" noTextEdit="1"/>
              </p:cNvSpPr>
              <p:nvPr>
                <p:ph idx="1"/>
              </p:nvPr>
            </p:nvSpPr>
            <p:spPr>
              <a:blipFill>
                <a:blip r:embed="rId2"/>
                <a:stretch>
                  <a:fillRect l="-928" t="-3501" b="-700"/>
                </a:stretch>
              </a:blipFill>
            </p:spPr>
            <p:txBody>
              <a:bodyPr/>
              <a:lstStyle/>
              <a:p>
                <a:r>
                  <a:rPr lang="en-GB">
                    <a:noFill/>
                  </a:rPr>
                  <a:t> </a:t>
                </a:r>
              </a:p>
            </p:txBody>
          </p:sp>
        </mc:Fallback>
      </mc:AlternateContent>
    </p:spTree>
    <p:extLst>
      <p:ext uri="{BB962C8B-B14F-4D97-AF65-F5344CB8AC3E}">
        <p14:creationId xmlns:p14="http://schemas.microsoft.com/office/powerpoint/2010/main" val="1395806043"/>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CF7C80C-1172-B754-588E-6B9066449C6A}"/>
              </a:ext>
            </a:extLst>
          </p:cNvPr>
          <p:cNvSpPr>
            <a:spLocks noGrp="1"/>
          </p:cNvSpPr>
          <p:nvPr>
            <p:ph type="title"/>
          </p:nvPr>
        </p:nvSpPr>
        <p:spPr/>
        <p:txBody>
          <a:bodyPr/>
          <a:lstStyle/>
          <a:p>
            <a:r>
              <a:rPr lang="en-US" noProof="0" dirty="0"/>
              <a:t>Positive, Negative, No Correlation</a:t>
            </a:r>
          </a:p>
        </p:txBody>
      </p:sp>
      <p:sp>
        <p:nvSpPr>
          <p:cNvPr id="3" name="Content Placeholder 2">
            <a:extLst>
              <a:ext uri="{FF2B5EF4-FFF2-40B4-BE49-F238E27FC236}">
                <a16:creationId xmlns:a16="http://schemas.microsoft.com/office/drawing/2014/main" id="{2B38D242-1619-4190-98A3-90FF360489DC}"/>
              </a:ext>
            </a:extLst>
          </p:cNvPr>
          <p:cNvSpPr>
            <a:spLocks noGrp="1"/>
          </p:cNvSpPr>
          <p:nvPr>
            <p:ph idx="1"/>
          </p:nvPr>
        </p:nvSpPr>
        <p:spPr/>
        <p:txBody>
          <a:bodyPr/>
          <a:lstStyle/>
          <a:p>
            <a:endParaRPr lang="en-US" noProof="0" dirty="0"/>
          </a:p>
        </p:txBody>
      </p:sp>
      <p:pic>
        <p:nvPicPr>
          <p:cNvPr id="5" name="Picture 4">
            <a:extLst>
              <a:ext uri="{FF2B5EF4-FFF2-40B4-BE49-F238E27FC236}">
                <a16:creationId xmlns:a16="http://schemas.microsoft.com/office/drawing/2014/main" id="{825E315F-B3A1-E330-C2BF-74E0D56808F8}"/>
              </a:ext>
            </a:extLst>
          </p:cNvPr>
          <p:cNvPicPr>
            <a:picLocks noChangeAspect="1"/>
          </p:cNvPicPr>
          <p:nvPr/>
        </p:nvPicPr>
        <p:blipFill>
          <a:blip r:embed="rId2"/>
          <a:stretch>
            <a:fillRect/>
          </a:stretch>
        </p:blipFill>
        <p:spPr>
          <a:xfrm>
            <a:off x="1372407" y="1939641"/>
            <a:ext cx="8860653" cy="3953499"/>
          </a:xfrm>
          <a:prstGeom prst="rect">
            <a:avLst/>
          </a:prstGeom>
        </p:spPr>
      </p:pic>
    </p:spTree>
    <p:extLst>
      <p:ext uri="{BB962C8B-B14F-4D97-AF65-F5344CB8AC3E}">
        <p14:creationId xmlns:p14="http://schemas.microsoft.com/office/powerpoint/2010/main" val="1272108783"/>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3986C4-113A-64AD-7581-8EEE4F3250A7}"/>
              </a:ext>
            </a:extLst>
          </p:cNvPr>
          <p:cNvSpPr>
            <a:spLocks noGrp="1"/>
          </p:cNvSpPr>
          <p:nvPr>
            <p:ph type="title"/>
          </p:nvPr>
        </p:nvSpPr>
        <p:spPr/>
        <p:txBody>
          <a:bodyPr/>
          <a:lstStyle/>
          <a:p>
            <a:r>
              <a:rPr lang="en-US" noProof="0" dirty="0"/>
              <a:t>Predictive Analytics</a:t>
            </a:r>
          </a:p>
        </p:txBody>
      </p:sp>
      <p:sp>
        <p:nvSpPr>
          <p:cNvPr id="3" name="Content Placeholder 2">
            <a:extLst>
              <a:ext uri="{FF2B5EF4-FFF2-40B4-BE49-F238E27FC236}">
                <a16:creationId xmlns:a16="http://schemas.microsoft.com/office/drawing/2014/main" id="{21DC53B0-52A7-0F1A-F438-D25E198AF4F5}"/>
              </a:ext>
            </a:extLst>
          </p:cNvPr>
          <p:cNvSpPr>
            <a:spLocks noGrp="1"/>
          </p:cNvSpPr>
          <p:nvPr>
            <p:ph idx="1"/>
          </p:nvPr>
        </p:nvSpPr>
        <p:spPr/>
        <p:txBody>
          <a:bodyPr/>
          <a:lstStyle/>
          <a:p>
            <a:endParaRPr lang="en-US" noProof="0" dirty="0"/>
          </a:p>
        </p:txBody>
      </p:sp>
      <p:sp>
        <p:nvSpPr>
          <p:cNvPr id="4" name="TextBox 3">
            <a:extLst>
              <a:ext uri="{FF2B5EF4-FFF2-40B4-BE49-F238E27FC236}">
                <a16:creationId xmlns:a16="http://schemas.microsoft.com/office/drawing/2014/main" id="{EDD5E93E-600B-2F84-6F7A-2B936492A1DF}"/>
              </a:ext>
            </a:extLst>
          </p:cNvPr>
          <p:cNvSpPr txBox="1"/>
          <p:nvPr/>
        </p:nvSpPr>
        <p:spPr>
          <a:xfrm>
            <a:off x="4334175" y="1944303"/>
            <a:ext cx="3195587" cy="400110"/>
          </a:xfrm>
          <a:prstGeom prst="rect">
            <a:avLst/>
          </a:prstGeom>
          <a:solidFill>
            <a:schemeClr val="accent4">
              <a:lumMod val="40000"/>
              <a:lumOff val="60000"/>
            </a:schemeClr>
          </a:solidFill>
        </p:spPr>
        <p:txBody>
          <a:bodyPr wrap="square" rtlCol="0">
            <a:spAutoFit/>
          </a:bodyPr>
          <a:lstStyle/>
          <a:p>
            <a:pPr algn="ctr"/>
            <a:r>
              <a:rPr lang="en-US" sz="2000" b="1" noProof="0" dirty="0"/>
              <a:t>Predictive Analytics</a:t>
            </a:r>
            <a:endParaRPr lang="en-US" b="1" noProof="0" dirty="0"/>
          </a:p>
        </p:txBody>
      </p:sp>
      <p:sp>
        <p:nvSpPr>
          <p:cNvPr id="5" name="TextBox 4">
            <a:extLst>
              <a:ext uri="{FF2B5EF4-FFF2-40B4-BE49-F238E27FC236}">
                <a16:creationId xmlns:a16="http://schemas.microsoft.com/office/drawing/2014/main" id="{0E470AB6-D033-1F33-128B-AA2D7206BD06}"/>
              </a:ext>
            </a:extLst>
          </p:cNvPr>
          <p:cNvSpPr txBox="1"/>
          <p:nvPr/>
        </p:nvSpPr>
        <p:spPr>
          <a:xfrm>
            <a:off x="1589370" y="3225735"/>
            <a:ext cx="3195587" cy="400110"/>
          </a:xfrm>
          <a:prstGeom prst="rect">
            <a:avLst/>
          </a:prstGeom>
          <a:solidFill>
            <a:schemeClr val="accent4">
              <a:lumMod val="40000"/>
              <a:lumOff val="60000"/>
            </a:schemeClr>
          </a:solidFill>
        </p:spPr>
        <p:txBody>
          <a:bodyPr wrap="square" rtlCol="0">
            <a:spAutoFit/>
          </a:bodyPr>
          <a:lstStyle/>
          <a:p>
            <a:pPr algn="ctr"/>
            <a:r>
              <a:rPr lang="en-US" sz="2000" b="1" noProof="0" dirty="0"/>
              <a:t>Regression</a:t>
            </a:r>
            <a:endParaRPr lang="en-US" b="1" noProof="0" dirty="0"/>
          </a:p>
        </p:txBody>
      </p:sp>
      <p:sp>
        <p:nvSpPr>
          <p:cNvPr id="6" name="TextBox 5">
            <a:extLst>
              <a:ext uri="{FF2B5EF4-FFF2-40B4-BE49-F238E27FC236}">
                <a16:creationId xmlns:a16="http://schemas.microsoft.com/office/drawing/2014/main" id="{2D87E534-04A0-F55D-7052-43697B2CEEA3}"/>
              </a:ext>
            </a:extLst>
          </p:cNvPr>
          <p:cNvSpPr txBox="1"/>
          <p:nvPr/>
        </p:nvSpPr>
        <p:spPr>
          <a:xfrm>
            <a:off x="7031657" y="3247827"/>
            <a:ext cx="3195587" cy="400110"/>
          </a:xfrm>
          <a:prstGeom prst="rect">
            <a:avLst/>
          </a:prstGeom>
          <a:solidFill>
            <a:schemeClr val="accent4">
              <a:lumMod val="40000"/>
              <a:lumOff val="60000"/>
            </a:schemeClr>
          </a:solidFill>
        </p:spPr>
        <p:txBody>
          <a:bodyPr wrap="square" rtlCol="0">
            <a:spAutoFit/>
          </a:bodyPr>
          <a:lstStyle/>
          <a:p>
            <a:pPr algn="ctr"/>
            <a:r>
              <a:rPr lang="en-US" sz="2000" b="1" noProof="0" dirty="0"/>
              <a:t>Classification</a:t>
            </a:r>
            <a:endParaRPr lang="en-US" b="1" noProof="0" dirty="0"/>
          </a:p>
        </p:txBody>
      </p:sp>
      <p:sp>
        <p:nvSpPr>
          <p:cNvPr id="7" name="TextBox 6">
            <a:extLst>
              <a:ext uri="{FF2B5EF4-FFF2-40B4-BE49-F238E27FC236}">
                <a16:creationId xmlns:a16="http://schemas.microsoft.com/office/drawing/2014/main" id="{432C94DA-4D9B-E87B-2955-35B5D6CDFD59}"/>
              </a:ext>
            </a:extLst>
          </p:cNvPr>
          <p:cNvSpPr txBox="1"/>
          <p:nvPr/>
        </p:nvSpPr>
        <p:spPr>
          <a:xfrm>
            <a:off x="1553676" y="4447049"/>
            <a:ext cx="3195587" cy="400110"/>
          </a:xfrm>
          <a:prstGeom prst="rect">
            <a:avLst/>
          </a:prstGeom>
          <a:solidFill>
            <a:schemeClr val="accent4">
              <a:lumMod val="40000"/>
              <a:lumOff val="60000"/>
            </a:schemeClr>
          </a:solidFill>
        </p:spPr>
        <p:txBody>
          <a:bodyPr wrap="square" rtlCol="0">
            <a:spAutoFit/>
          </a:bodyPr>
          <a:lstStyle/>
          <a:p>
            <a:pPr algn="ctr"/>
            <a:r>
              <a:rPr lang="en-US" sz="2000" b="1" noProof="0" dirty="0"/>
              <a:t>Linear Regression</a:t>
            </a:r>
            <a:endParaRPr lang="en-US" b="1" noProof="0" dirty="0"/>
          </a:p>
        </p:txBody>
      </p:sp>
      <p:sp>
        <p:nvSpPr>
          <p:cNvPr id="8" name="TextBox 7">
            <a:extLst>
              <a:ext uri="{FF2B5EF4-FFF2-40B4-BE49-F238E27FC236}">
                <a16:creationId xmlns:a16="http://schemas.microsoft.com/office/drawing/2014/main" id="{81E32F9E-2809-7BF8-1860-10A3292A0B53}"/>
              </a:ext>
            </a:extLst>
          </p:cNvPr>
          <p:cNvSpPr txBox="1"/>
          <p:nvPr/>
        </p:nvSpPr>
        <p:spPr>
          <a:xfrm>
            <a:off x="5850554" y="4410028"/>
            <a:ext cx="2218624" cy="399192"/>
          </a:xfrm>
          <a:prstGeom prst="rect">
            <a:avLst/>
          </a:prstGeom>
          <a:solidFill>
            <a:schemeClr val="accent4">
              <a:lumMod val="40000"/>
              <a:lumOff val="60000"/>
            </a:schemeClr>
          </a:solidFill>
        </p:spPr>
        <p:txBody>
          <a:bodyPr wrap="square" rtlCol="0">
            <a:spAutoFit/>
          </a:bodyPr>
          <a:lstStyle/>
          <a:p>
            <a:pPr algn="ctr"/>
            <a:r>
              <a:rPr lang="en-US" sz="2000" b="1" noProof="0" dirty="0">
                <a:solidFill>
                  <a:srgbClr val="C00000"/>
                </a:solidFill>
              </a:rPr>
              <a:t>Logistic Regression</a:t>
            </a:r>
            <a:endParaRPr lang="en-US" b="1" noProof="0" dirty="0">
              <a:solidFill>
                <a:srgbClr val="C00000"/>
              </a:solidFill>
            </a:endParaRPr>
          </a:p>
        </p:txBody>
      </p:sp>
      <p:sp>
        <p:nvSpPr>
          <p:cNvPr id="9" name="TextBox 8">
            <a:extLst>
              <a:ext uri="{FF2B5EF4-FFF2-40B4-BE49-F238E27FC236}">
                <a16:creationId xmlns:a16="http://schemas.microsoft.com/office/drawing/2014/main" id="{DC998210-2FF5-6949-E662-5436A696783E}"/>
              </a:ext>
            </a:extLst>
          </p:cNvPr>
          <p:cNvSpPr txBox="1"/>
          <p:nvPr/>
        </p:nvSpPr>
        <p:spPr>
          <a:xfrm>
            <a:off x="7200497" y="5161422"/>
            <a:ext cx="3195587" cy="400110"/>
          </a:xfrm>
          <a:prstGeom prst="rect">
            <a:avLst/>
          </a:prstGeom>
          <a:solidFill>
            <a:schemeClr val="accent4">
              <a:lumMod val="40000"/>
              <a:lumOff val="60000"/>
            </a:schemeClr>
          </a:solidFill>
        </p:spPr>
        <p:txBody>
          <a:bodyPr wrap="square" rtlCol="0">
            <a:spAutoFit/>
          </a:bodyPr>
          <a:lstStyle/>
          <a:p>
            <a:pPr algn="ctr"/>
            <a:r>
              <a:rPr lang="en-US" sz="2000" b="1" noProof="0" dirty="0"/>
              <a:t>Naïve Bayes’ Classifier</a:t>
            </a:r>
            <a:endParaRPr lang="en-US" b="1" noProof="0" dirty="0"/>
          </a:p>
        </p:txBody>
      </p:sp>
      <p:sp>
        <p:nvSpPr>
          <p:cNvPr id="10" name="TextBox 9">
            <a:extLst>
              <a:ext uri="{FF2B5EF4-FFF2-40B4-BE49-F238E27FC236}">
                <a16:creationId xmlns:a16="http://schemas.microsoft.com/office/drawing/2014/main" id="{70F674D4-3037-D56C-954C-51FAEA9CE752}"/>
              </a:ext>
            </a:extLst>
          </p:cNvPr>
          <p:cNvSpPr txBox="1"/>
          <p:nvPr/>
        </p:nvSpPr>
        <p:spPr>
          <a:xfrm>
            <a:off x="8937057" y="4407826"/>
            <a:ext cx="2218624" cy="399192"/>
          </a:xfrm>
          <a:prstGeom prst="rect">
            <a:avLst/>
          </a:prstGeom>
          <a:solidFill>
            <a:schemeClr val="accent4">
              <a:lumMod val="40000"/>
              <a:lumOff val="60000"/>
            </a:schemeClr>
          </a:solidFill>
        </p:spPr>
        <p:txBody>
          <a:bodyPr wrap="square" rtlCol="0">
            <a:spAutoFit/>
          </a:bodyPr>
          <a:lstStyle/>
          <a:p>
            <a:pPr algn="ctr"/>
            <a:r>
              <a:rPr lang="en-US" sz="2000" b="1" noProof="0" dirty="0"/>
              <a:t>Decision Trees</a:t>
            </a:r>
            <a:endParaRPr lang="en-US" b="1" noProof="0" dirty="0"/>
          </a:p>
        </p:txBody>
      </p:sp>
      <p:cxnSp>
        <p:nvCxnSpPr>
          <p:cNvPr id="12" name="Straight Connector 11">
            <a:extLst>
              <a:ext uri="{FF2B5EF4-FFF2-40B4-BE49-F238E27FC236}">
                <a16:creationId xmlns:a16="http://schemas.microsoft.com/office/drawing/2014/main" id="{000CA74E-9A85-C750-E6B4-B6AA9699B448}"/>
              </a:ext>
            </a:extLst>
          </p:cNvPr>
          <p:cNvCxnSpPr/>
          <p:nvPr/>
        </p:nvCxnSpPr>
        <p:spPr>
          <a:xfrm>
            <a:off x="2993457" y="3647937"/>
            <a:ext cx="0" cy="799112"/>
          </a:xfrm>
          <a:prstGeom prst="line">
            <a:avLst/>
          </a:prstGeom>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D8D17B1B-AE24-57C1-1D86-3614BAE10B98}"/>
              </a:ext>
            </a:extLst>
          </p:cNvPr>
          <p:cNvCxnSpPr>
            <a:cxnSpLocks/>
          </p:cNvCxnSpPr>
          <p:nvPr/>
        </p:nvCxnSpPr>
        <p:spPr>
          <a:xfrm>
            <a:off x="8618221" y="3625845"/>
            <a:ext cx="11229" cy="1535577"/>
          </a:xfrm>
          <a:prstGeom prst="line">
            <a:avLst/>
          </a:prstGeom>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A697865D-5BD8-A397-D1BF-C60B211E0D9E}"/>
              </a:ext>
            </a:extLst>
          </p:cNvPr>
          <p:cNvCxnSpPr>
            <a:cxnSpLocks/>
          </p:cNvCxnSpPr>
          <p:nvPr/>
        </p:nvCxnSpPr>
        <p:spPr>
          <a:xfrm>
            <a:off x="6959866" y="4047493"/>
            <a:ext cx="3086503"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67DD083E-B22A-FA5F-5B66-9236714C0564}"/>
              </a:ext>
            </a:extLst>
          </p:cNvPr>
          <p:cNvCxnSpPr>
            <a:stCxn id="8" idx="0"/>
          </p:cNvCxnSpPr>
          <p:nvPr/>
        </p:nvCxnSpPr>
        <p:spPr>
          <a:xfrm flipV="1">
            <a:off x="6959866" y="4047493"/>
            <a:ext cx="0" cy="362535"/>
          </a:xfrm>
          <a:prstGeom prst="line">
            <a:avLst/>
          </a:prstGeom>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55D606A2-0582-DD47-C978-16B8DB06ADF0}"/>
              </a:ext>
            </a:extLst>
          </p:cNvPr>
          <p:cNvCxnSpPr>
            <a:cxnSpLocks/>
          </p:cNvCxnSpPr>
          <p:nvPr/>
        </p:nvCxnSpPr>
        <p:spPr>
          <a:xfrm flipV="1">
            <a:off x="10027119" y="4037868"/>
            <a:ext cx="0" cy="385895"/>
          </a:xfrm>
          <a:prstGeom prst="line">
            <a:avLst/>
          </a:prstGeom>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43E4959D-3712-AC84-A898-CF97EFB0BF20}"/>
              </a:ext>
            </a:extLst>
          </p:cNvPr>
          <p:cNvCxnSpPr>
            <a:stCxn id="4" idx="2"/>
          </p:cNvCxnSpPr>
          <p:nvPr/>
        </p:nvCxnSpPr>
        <p:spPr>
          <a:xfrm flipH="1">
            <a:off x="5931968" y="2344413"/>
            <a:ext cx="1" cy="369911"/>
          </a:xfrm>
          <a:prstGeom prst="line">
            <a:avLst/>
          </a:prstGeom>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06335510-181F-AF4F-7CF2-CA6152F76576}"/>
              </a:ext>
            </a:extLst>
          </p:cNvPr>
          <p:cNvCxnSpPr>
            <a:cxnSpLocks/>
          </p:cNvCxnSpPr>
          <p:nvPr/>
        </p:nvCxnSpPr>
        <p:spPr>
          <a:xfrm flipV="1">
            <a:off x="2974204" y="2706947"/>
            <a:ext cx="5645621" cy="7377"/>
          </a:xfrm>
          <a:prstGeom prst="line">
            <a:avLst/>
          </a:prstGeom>
        </p:spPr>
        <p:style>
          <a:lnRef idx="1">
            <a:schemeClr val="accent1"/>
          </a:lnRef>
          <a:fillRef idx="0">
            <a:schemeClr val="accent1"/>
          </a:fillRef>
          <a:effectRef idx="0">
            <a:schemeClr val="accent1"/>
          </a:effectRef>
          <a:fontRef idx="minor">
            <a:schemeClr val="tx1"/>
          </a:fontRef>
        </p:style>
      </p:cxnSp>
      <p:cxnSp>
        <p:nvCxnSpPr>
          <p:cNvPr id="28" name="Straight Connector 27">
            <a:extLst>
              <a:ext uri="{FF2B5EF4-FFF2-40B4-BE49-F238E27FC236}">
                <a16:creationId xmlns:a16="http://schemas.microsoft.com/office/drawing/2014/main" id="{21269F84-4A9A-78F5-36D6-62818720C3FE}"/>
              </a:ext>
            </a:extLst>
          </p:cNvPr>
          <p:cNvCxnSpPr>
            <a:cxnSpLocks/>
          </p:cNvCxnSpPr>
          <p:nvPr/>
        </p:nvCxnSpPr>
        <p:spPr>
          <a:xfrm flipV="1">
            <a:off x="2974204" y="2706947"/>
            <a:ext cx="0" cy="518788"/>
          </a:xfrm>
          <a:prstGeom prst="line">
            <a:avLst/>
          </a:prstGeom>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E504F75C-3E45-F303-0D0D-718F8B0E835F}"/>
              </a:ext>
            </a:extLst>
          </p:cNvPr>
          <p:cNvCxnSpPr>
            <a:cxnSpLocks/>
          </p:cNvCxnSpPr>
          <p:nvPr/>
        </p:nvCxnSpPr>
        <p:spPr>
          <a:xfrm flipV="1">
            <a:off x="8606989" y="2706947"/>
            <a:ext cx="0" cy="518788"/>
          </a:xfrm>
          <a:prstGeom prst="line">
            <a:avLst/>
          </a:prstGeom>
        </p:spPr>
        <p:style>
          <a:lnRef idx="1">
            <a:schemeClr val="accent1"/>
          </a:lnRef>
          <a:fillRef idx="0">
            <a:schemeClr val="accent1"/>
          </a:fillRef>
          <a:effectRef idx="0">
            <a:schemeClr val="accent1"/>
          </a:effectRef>
          <a:fontRef idx="minor">
            <a:schemeClr val="tx1"/>
          </a:fontRef>
        </p:style>
      </p:cxnSp>
      <p:sp>
        <p:nvSpPr>
          <p:cNvPr id="32" name="Oval 31">
            <a:extLst>
              <a:ext uri="{FF2B5EF4-FFF2-40B4-BE49-F238E27FC236}">
                <a16:creationId xmlns:a16="http://schemas.microsoft.com/office/drawing/2014/main" id="{3D340981-189D-4F72-4FEE-C419E24933E7}"/>
              </a:ext>
            </a:extLst>
          </p:cNvPr>
          <p:cNvSpPr/>
          <p:nvPr/>
        </p:nvSpPr>
        <p:spPr>
          <a:xfrm>
            <a:off x="1039528" y="2344413"/>
            <a:ext cx="1578536" cy="731631"/>
          </a:xfrm>
          <a:prstGeom prst="ellipse">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noProof="0" dirty="0"/>
              <a:t>Numeric</a:t>
            </a:r>
          </a:p>
        </p:txBody>
      </p:sp>
      <p:sp>
        <p:nvSpPr>
          <p:cNvPr id="33" name="Oval 32">
            <a:extLst>
              <a:ext uri="{FF2B5EF4-FFF2-40B4-BE49-F238E27FC236}">
                <a16:creationId xmlns:a16="http://schemas.microsoft.com/office/drawing/2014/main" id="{64E56E7F-FE84-8E6A-7D2D-96A16AD282AA}"/>
              </a:ext>
            </a:extLst>
          </p:cNvPr>
          <p:cNvSpPr/>
          <p:nvPr/>
        </p:nvSpPr>
        <p:spPr>
          <a:xfrm>
            <a:off x="9053365" y="2342805"/>
            <a:ext cx="1790297" cy="731631"/>
          </a:xfrm>
          <a:prstGeom prst="ellipse">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noProof="0" dirty="0"/>
              <a:t>Categorical</a:t>
            </a:r>
          </a:p>
        </p:txBody>
      </p:sp>
    </p:spTree>
    <p:extLst>
      <p:ext uri="{BB962C8B-B14F-4D97-AF65-F5344CB8AC3E}">
        <p14:creationId xmlns:p14="http://schemas.microsoft.com/office/powerpoint/2010/main" val="3125029505"/>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D64E67F0-2D58-7243-3A9B-8DC44B152E75}"/>
              </a:ext>
            </a:extLst>
          </p:cNvPr>
          <p:cNvSpPr>
            <a:spLocks noGrp="1"/>
          </p:cNvSpPr>
          <p:nvPr>
            <p:ph type="title"/>
          </p:nvPr>
        </p:nvSpPr>
        <p:spPr/>
        <p:txBody>
          <a:bodyPr/>
          <a:lstStyle/>
          <a:p>
            <a:r>
              <a:rPr lang="en-US" noProof="0" dirty="0"/>
              <a:t>Linear Regression</a:t>
            </a:r>
          </a:p>
        </p:txBody>
      </p:sp>
      <p:sp>
        <p:nvSpPr>
          <p:cNvPr id="5" name="Content Placeholder 4">
            <a:extLst>
              <a:ext uri="{FF2B5EF4-FFF2-40B4-BE49-F238E27FC236}">
                <a16:creationId xmlns:a16="http://schemas.microsoft.com/office/drawing/2014/main" id="{CFDC1872-A3DF-9E2D-67F6-FA3AA0C93594}"/>
              </a:ext>
            </a:extLst>
          </p:cNvPr>
          <p:cNvSpPr>
            <a:spLocks noGrp="1"/>
          </p:cNvSpPr>
          <p:nvPr>
            <p:ph idx="1"/>
          </p:nvPr>
        </p:nvSpPr>
        <p:spPr/>
        <p:txBody>
          <a:bodyPr>
            <a:normAutofit fontScale="92500" lnSpcReduction="20000"/>
          </a:bodyPr>
          <a:lstStyle/>
          <a:p>
            <a:r>
              <a:rPr lang="en-US" b="1" noProof="0" dirty="0"/>
              <a:t>Linear Regression</a:t>
            </a:r>
            <a:r>
              <a:rPr lang="en-US" noProof="0" dirty="0"/>
              <a:t>: Find the best straight line that predicts one variable (Y) using another (X)</a:t>
            </a:r>
          </a:p>
          <a:p>
            <a:r>
              <a:rPr lang="en-US" noProof="0" dirty="0"/>
              <a:t>Equation: Y = a + </a:t>
            </a:r>
            <a:r>
              <a:rPr lang="en-US" noProof="0" dirty="0" err="1"/>
              <a:t>bX</a:t>
            </a:r>
            <a:endParaRPr lang="en-US" noProof="0" dirty="0"/>
          </a:p>
          <a:p>
            <a:pPr lvl="1"/>
            <a:r>
              <a:rPr lang="en-US" noProof="0" dirty="0"/>
              <a:t>a = Intercept (Value of Y when X = 0)</a:t>
            </a:r>
          </a:p>
          <a:p>
            <a:pPr lvl="1"/>
            <a:r>
              <a:rPr lang="en-US" noProof="0" dirty="0"/>
              <a:t>b = Slope (How much Y changes for 1 unit change in X)</a:t>
            </a:r>
          </a:p>
          <a:p>
            <a:r>
              <a:rPr lang="en-US" noProof="0" dirty="0"/>
              <a:t>Understanding</a:t>
            </a:r>
          </a:p>
          <a:p>
            <a:pPr lvl="1"/>
            <a:r>
              <a:rPr lang="en-US" noProof="0" dirty="0"/>
              <a:t>Imagine plotting our data points (X, Y) on a graph</a:t>
            </a:r>
          </a:p>
          <a:p>
            <a:pPr lvl="1"/>
            <a:r>
              <a:rPr lang="en-US" noProof="0" dirty="0"/>
              <a:t>Draw a line that fits the points as closely as possible</a:t>
            </a:r>
          </a:p>
          <a:p>
            <a:pPr lvl="1"/>
            <a:r>
              <a:rPr lang="en-US" noProof="0" dirty="0"/>
              <a:t>This </a:t>
            </a:r>
            <a:r>
              <a:rPr lang="en-US" b="1" noProof="0" dirty="0"/>
              <a:t>best fit</a:t>
            </a:r>
            <a:r>
              <a:rPr lang="en-US" noProof="0" dirty="0"/>
              <a:t> line shows the trend or relationship between X and Y</a:t>
            </a:r>
          </a:p>
          <a:p>
            <a:r>
              <a:rPr lang="en-US" noProof="0" dirty="0"/>
              <a:t>Error and Best fit</a:t>
            </a:r>
          </a:p>
          <a:p>
            <a:pPr lvl="1"/>
            <a:r>
              <a:rPr lang="en-US" noProof="0" dirty="0"/>
              <a:t>Each point does not lie exactly on the line</a:t>
            </a:r>
          </a:p>
          <a:p>
            <a:pPr lvl="1"/>
            <a:r>
              <a:rPr lang="en-US" b="1" noProof="0" dirty="0"/>
              <a:t>Error</a:t>
            </a:r>
            <a:r>
              <a:rPr lang="en-US" noProof="0" dirty="0"/>
              <a:t>/</a:t>
            </a:r>
            <a:r>
              <a:rPr lang="en-US" b="1" noProof="0" dirty="0"/>
              <a:t>Residual</a:t>
            </a:r>
            <a:r>
              <a:rPr lang="en-US" noProof="0" dirty="0"/>
              <a:t>: Vertical distance between a point and the line</a:t>
            </a:r>
          </a:p>
          <a:p>
            <a:pPr lvl="1"/>
            <a:r>
              <a:rPr lang="en-US" b="1" noProof="0" dirty="0"/>
              <a:t>Least Squared Error</a:t>
            </a:r>
            <a:r>
              <a:rPr lang="en-US" noProof="0" dirty="0"/>
              <a:t> method: Try to minimize the total squared error</a:t>
            </a:r>
          </a:p>
        </p:txBody>
      </p:sp>
      <p:pic>
        <p:nvPicPr>
          <p:cNvPr id="6" name="Picture 5">
            <a:extLst>
              <a:ext uri="{FF2B5EF4-FFF2-40B4-BE49-F238E27FC236}">
                <a16:creationId xmlns:a16="http://schemas.microsoft.com/office/drawing/2014/main" id="{F285F875-49DE-3627-F5DE-62B66C553077}"/>
              </a:ext>
            </a:extLst>
          </p:cNvPr>
          <p:cNvPicPr>
            <a:picLocks noChangeAspect="1"/>
          </p:cNvPicPr>
          <p:nvPr/>
        </p:nvPicPr>
        <p:blipFill>
          <a:blip r:embed="rId2"/>
          <a:stretch>
            <a:fillRect/>
          </a:stretch>
        </p:blipFill>
        <p:spPr>
          <a:xfrm>
            <a:off x="9064423" y="2538719"/>
            <a:ext cx="3029496" cy="2035583"/>
          </a:xfrm>
          <a:prstGeom prst="rect">
            <a:avLst/>
          </a:prstGeom>
        </p:spPr>
      </p:pic>
    </p:spTree>
    <p:extLst>
      <p:ext uri="{BB962C8B-B14F-4D97-AF65-F5344CB8AC3E}">
        <p14:creationId xmlns:p14="http://schemas.microsoft.com/office/powerpoint/2010/main" val="1671656477"/>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6FBE533-719F-E06B-A736-914993AC83C5}"/>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4EC19D6E-27E9-F7DC-CAA6-1FD62B84F7AF}"/>
              </a:ext>
            </a:extLst>
          </p:cNvPr>
          <p:cNvSpPr>
            <a:spLocks noGrp="1"/>
          </p:cNvSpPr>
          <p:nvPr>
            <p:ph type="title"/>
          </p:nvPr>
        </p:nvSpPr>
        <p:spPr/>
        <p:txBody>
          <a:bodyPr/>
          <a:lstStyle/>
          <a:p>
            <a:r>
              <a:rPr lang="en-US" noProof="0" dirty="0"/>
              <a:t>Linear Regression Interpretation and Example</a:t>
            </a:r>
          </a:p>
        </p:txBody>
      </p:sp>
      <p:sp>
        <p:nvSpPr>
          <p:cNvPr id="5" name="Content Placeholder 4">
            <a:extLst>
              <a:ext uri="{FF2B5EF4-FFF2-40B4-BE49-F238E27FC236}">
                <a16:creationId xmlns:a16="http://schemas.microsoft.com/office/drawing/2014/main" id="{1EBC0DE7-16F3-76EC-828D-77348663B723}"/>
              </a:ext>
            </a:extLst>
          </p:cNvPr>
          <p:cNvSpPr>
            <a:spLocks noGrp="1"/>
          </p:cNvSpPr>
          <p:nvPr>
            <p:ph idx="1"/>
          </p:nvPr>
        </p:nvSpPr>
        <p:spPr/>
        <p:txBody>
          <a:bodyPr>
            <a:normAutofit fontScale="92500"/>
          </a:bodyPr>
          <a:lstStyle/>
          <a:p>
            <a:r>
              <a:rPr lang="en-US" noProof="0" dirty="0"/>
              <a:t>If slope b &gt; 0, Y increases as X increases</a:t>
            </a:r>
          </a:p>
          <a:p>
            <a:r>
              <a:rPr lang="en-US" noProof="0" dirty="0"/>
              <a:t>If slope b &lt; 0, Y decreases as X increases</a:t>
            </a:r>
          </a:p>
          <a:p>
            <a:r>
              <a:rPr lang="en-US" noProof="0" dirty="0"/>
              <a:t>Suppose we study Hours of study (X) and Marks (Y)</a:t>
            </a:r>
          </a:p>
          <a:p>
            <a:r>
              <a:rPr lang="en-US" noProof="0" dirty="0"/>
              <a:t>Regression finds the line that best predicts marks for any given study hours</a:t>
            </a:r>
          </a:p>
          <a:p>
            <a:r>
              <a:rPr lang="en-US" noProof="0" dirty="0"/>
              <a:t>Slope tells us how much marks are expected to increase/decrease as per extra study hours</a:t>
            </a:r>
          </a:p>
          <a:p>
            <a:r>
              <a:rPr lang="en-US" b="1" noProof="0" dirty="0"/>
              <a:t>R</a:t>
            </a:r>
            <a:r>
              <a:rPr lang="en-US" b="1" baseline="30000" noProof="0" dirty="0"/>
              <a:t>2</a:t>
            </a:r>
            <a:r>
              <a:rPr lang="en-US" noProof="0" dirty="0"/>
              <a:t> </a:t>
            </a:r>
            <a:r>
              <a:rPr lang="en-US" b="1" noProof="0" dirty="0"/>
              <a:t>(R-Squared)</a:t>
            </a:r>
            <a:r>
              <a:rPr lang="en-US" noProof="0" dirty="0"/>
              <a:t> = Measures proportion of variance in Y explained by X</a:t>
            </a:r>
          </a:p>
          <a:p>
            <a:pPr lvl="1"/>
            <a:r>
              <a:rPr lang="en-US" noProof="0" dirty="0"/>
              <a:t>R = Correlation between X and Y, Range: -1 to +1</a:t>
            </a:r>
          </a:p>
          <a:p>
            <a:pPr lvl="1"/>
            <a:r>
              <a:rPr lang="en-US" noProof="0" dirty="0"/>
              <a:t>R</a:t>
            </a:r>
            <a:r>
              <a:rPr lang="en-US" baseline="30000" noProof="0" dirty="0"/>
              <a:t>2</a:t>
            </a:r>
            <a:r>
              <a:rPr lang="en-US" noProof="0" dirty="0"/>
              <a:t> = (Correlation between X and Y)</a:t>
            </a:r>
            <a:r>
              <a:rPr lang="en-US" baseline="30000" noProof="0" dirty="0"/>
              <a:t>2</a:t>
            </a:r>
            <a:r>
              <a:rPr lang="en-US" noProof="0" dirty="0"/>
              <a:t> -&gt; Squaring R removes its sign, Range: 0 to 1</a:t>
            </a:r>
          </a:p>
          <a:p>
            <a:pPr lvl="1"/>
            <a:r>
              <a:rPr lang="en-US" noProof="0" dirty="0"/>
              <a:t>Example: R = -0.70, R</a:t>
            </a:r>
            <a:r>
              <a:rPr lang="en-US" baseline="30000" noProof="0" dirty="0"/>
              <a:t>2</a:t>
            </a:r>
            <a:r>
              <a:rPr lang="en-US" noProof="0" dirty="0"/>
              <a:t> = 0.49 -&gt; 49% of variance in Y is explained by X</a:t>
            </a:r>
          </a:p>
        </p:txBody>
      </p:sp>
    </p:spTree>
    <p:extLst>
      <p:ext uri="{BB962C8B-B14F-4D97-AF65-F5344CB8AC3E}">
        <p14:creationId xmlns:p14="http://schemas.microsoft.com/office/powerpoint/2010/main" val="1297815400"/>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19F1EF-A0F7-30C3-A876-16FF24799AC3}"/>
              </a:ext>
            </a:extLst>
          </p:cNvPr>
          <p:cNvSpPr>
            <a:spLocks noGrp="1"/>
          </p:cNvSpPr>
          <p:nvPr>
            <p:ph type="title"/>
          </p:nvPr>
        </p:nvSpPr>
        <p:spPr/>
        <p:txBody>
          <a:bodyPr/>
          <a:lstStyle/>
          <a:p>
            <a:r>
              <a:rPr lang="en-US" noProof="0" dirty="0"/>
              <a:t>Least Squared Error</a:t>
            </a:r>
          </a:p>
        </p:txBody>
      </p:sp>
      <p:graphicFrame>
        <p:nvGraphicFramePr>
          <p:cNvPr id="6" name="Content Placeholder 5">
            <a:extLst>
              <a:ext uri="{FF2B5EF4-FFF2-40B4-BE49-F238E27FC236}">
                <a16:creationId xmlns:a16="http://schemas.microsoft.com/office/drawing/2014/main" id="{BE5B4AE7-E9B5-A1C8-114C-52890DE9FB63}"/>
              </a:ext>
            </a:extLst>
          </p:cNvPr>
          <p:cNvGraphicFramePr>
            <a:graphicFrameLocks noGrp="1"/>
          </p:cNvGraphicFramePr>
          <p:nvPr>
            <p:ph idx="1"/>
            <p:extLst>
              <p:ext uri="{D42A27DB-BD31-4B8C-83A1-F6EECF244321}">
                <p14:modId xmlns:p14="http://schemas.microsoft.com/office/powerpoint/2010/main" val="853625333"/>
              </p:ext>
            </p:extLst>
          </p:nvPr>
        </p:nvGraphicFramePr>
        <p:xfrm>
          <a:off x="5061097" y="1281474"/>
          <a:ext cx="6388395" cy="4663440"/>
        </p:xfrm>
        <a:graphic>
          <a:graphicData uri="http://schemas.openxmlformats.org/drawingml/2006/table">
            <a:tbl>
              <a:tblPr firstRow="1" bandRow="1">
                <a:tableStyleId>{5C22544A-7EE6-4342-B048-85BDC9FD1C3A}</a:tableStyleId>
              </a:tblPr>
              <a:tblGrid>
                <a:gridCol w="1277679">
                  <a:extLst>
                    <a:ext uri="{9D8B030D-6E8A-4147-A177-3AD203B41FA5}">
                      <a16:colId xmlns:a16="http://schemas.microsoft.com/office/drawing/2014/main" val="2629057590"/>
                    </a:ext>
                  </a:extLst>
                </a:gridCol>
                <a:gridCol w="1277679">
                  <a:extLst>
                    <a:ext uri="{9D8B030D-6E8A-4147-A177-3AD203B41FA5}">
                      <a16:colId xmlns:a16="http://schemas.microsoft.com/office/drawing/2014/main" val="998697563"/>
                    </a:ext>
                  </a:extLst>
                </a:gridCol>
                <a:gridCol w="1277679">
                  <a:extLst>
                    <a:ext uri="{9D8B030D-6E8A-4147-A177-3AD203B41FA5}">
                      <a16:colId xmlns:a16="http://schemas.microsoft.com/office/drawing/2014/main" val="3137247662"/>
                    </a:ext>
                  </a:extLst>
                </a:gridCol>
                <a:gridCol w="1277679">
                  <a:extLst>
                    <a:ext uri="{9D8B030D-6E8A-4147-A177-3AD203B41FA5}">
                      <a16:colId xmlns:a16="http://schemas.microsoft.com/office/drawing/2014/main" val="2096754394"/>
                    </a:ext>
                  </a:extLst>
                </a:gridCol>
                <a:gridCol w="1277679">
                  <a:extLst>
                    <a:ext uri="{9D8B030D-6E8A-4147-A177-3AD203B41FA5}">
                      <a16:colId xmlns:a16="http://schemas.microsoft.com/office/drawing/2014/main" val="501750082"/>
                    </a:ext>
                  </a:extLst>
                </a:gridCol>
              </a:tblGrid>
              <a:tr h="258801">
                <a:tc>
                  <a:txBody>
                    <a:bodyPr/>
                    <a:lstStyle/>
                    <a:p>
                      <a:pPr algn="ctr"/>
                      <a:r>
                        <a:rPr lang="en-US" noProof="0" dirty="0"/>
                        <a:t>x</a:t>
                      </a:r>
                    </a:p>
                  </a:txBody>
                  <a:tcPr/>
                </a:tc>
                <a:tc>
                  <a:txBody>
                    <a:bodyPr/>
                    <a:lstStyle/>
                    <a:p>
                      <a:pPr algn="ctr"/>
                      <a:r>
                        <a:rPr lang="en-US" noProof="0" dirty="0"/>
                        <a:t>y (Actual)</a:t>
                      </a:r>
                    </a:p>
                  </a:txBody>
                  <a:tcPr/>
                </a:tc>
                <a:tc>
                  <a:txBody>
                    <a:bodyPr/>
                    <a:lstStyle/>
                    <a:p>
                      <a:pPr algn="ctr"/>
                      <a:r>
                        <a:rPr lang="en-US" noProof="0" dirty="0"/>
                        <a:t>y (Line)</a:t>
                      </a:r>
                    </a:p>
                  </a:txBody>
                  <a:tcPr/>
                </a:tc>
                <a:tc>
                  <a:txBody>
                    <a:bodyPr/>
                    <a:lstStyle/>
                    <a:p>
                      <a:pPr algn="ctr"/>
                      <a:r>
                        <a:rPr lang="en-US" noProof="0" dirty="0"/>
                        <a:t>Error</a:t>
                      </a:r>
                    </a:p>
                  </a:txBody>
                  <a:tcPr/>
                </a:tc>
                <a:tc>
                  <a:txBody>
                    <a:bodyPr/>
                    <a:lstStyle/>
                    <a:p>
                      <a:pPr algn="ctr"/>
                      <a:r>
                        <a:rPr lang="en-US" noProof="0" dirty="0"/>
                        <a:t>Squared Error</a:t>
                      </a:r>
                    </a:p>
                  </a:txBody>
                  <a:tcPr/>
                </a:tc>
                <a:extLst>
                  <a:ext uri="{0D108BD9-81ED-4DB2-BD59-A6C34878D82A}">
                    <a16:rowId xmlns:a16="http://schemas.microsoft.com/office/drawing/2014/main" val="1878735623"/>
                  </a:ext>
                </a:extLst>
              </a:tr>
              <a:tr h="258801">
                <a:tc>
                  <a:txBody>
                    <a:bodyPr/>
                    <a:lstStyle/>
                    <a:p>
                      <a:pPr algn="ctr"/>
                      <a:r>
                        <a:rPr lang="en-US" noProof="0" dirty="0"/>
                        <a:t>10</a:t>
                      </a:r>
                    </a:p>
                  </a:txBody>
                  <a:tcPr/>
                </a:tc>
                <a:tc>
                  <a:txBody>
                    <a:bodyPr/>
                    <a:lstStyle/>
                    <a:p>
                      <a:pPr algn="ctr"/>
                      <a:r>
                        <a:rPr lang="en-US" noProof="0" dirty="0"/>
                        <a:t>10</a:t>
                      </a:r>
                    </a:p>
                  </a:txBody>
                  <a:tcPr/>
                </a:tc>
                <a:tc>
                  <a:txBody>
                    <a:bodyPr/>
                    <a:lstStyle/>
                    <a:p>
                      <a:pPr algn="ctr"/>
                      <a:r>
                        <a:rPr lang="en-US" noProof="0" dirty="0"/>
                        <a:t>15</a:t>
                      </a:r>
                    </a:p>
                  </a:txBody>
                  <a:tcPr/>
                </a:tc>
                <a:tc>
                  <a:txBody>
                    <a:bodyPr/>
                    <a:lstStyle/>
                    <a:p>
                      <a:pPr algn="ctr"/>
                      <a:r>
                        <a:rPr lang="en-US" noProof="0" dirty="0"/>
                        <a:t>5</a:t>
                      </a:r>
                    </a:p>
                  </a:txBody>
                  <a:tcPr/>
                </a:tc>
                <a:tc>
                  <a:txBody>
                    <a:bodyPr/>
                    <a:lstStyle/>
                    <a:p>
                      <a:pPr algn="ctr"/>
                      <a:r>
                        <a:rPr lang="en-US" noProof="0" dirty="0"/>
                        <a:t>25</a:t>
                      </a:r>
                    </a:p>
                  </a:txBody>
                  <a:tcPr/>
                </a:tc>
                <a:extLst>
                  <a:ext uri="{0D108BD9-81ED-4DB2-BD59-A6C34878D82A}">
                    <a16:rowId xmlns:a16="http://schemas.microsoft.com/office/drawing/2014/main" val="3630615603"/>
                  </a:ext>
                </a:extLst>
              </a:tr>
              <a:tr h="258801">
                <a:tc>
                  <a:txBody>
                    <a:bodyPr/>
                    <a:lstStyle/>
                    <a:p>
                      <a:pPr algn="ctr"/>
                      <a:r>
                        <a:rPr lang="en-US" noProof="0" dirty="0"/>
                        <a:t>20</a:t>
                      </a:r>
                    </a:p>
                  </a:txBody>
                  <a:tcPr/>
                </a:tc>
                <a:tc>
                  <a:txBody>
                    <a:bodyPr/>
                    <a:lstStyle/>
                    <a:p>
                      <a:pPr algn="ctr"/>
                      <a:r>
                        <a:rPr lang="en-US" noProof="0" dirty="0"/>
                        <a:t>25</a:t>
                      </a:r>
                    </a:p>
                  </a:txBody>
                  <a:tcPr/>
                </a:tc>
                <a:tc>
                  <a:txBody>
                    <a:bodyPr/>
                    <a:lstStyle/>
                    <a:p>
                      <a:pPr algn="ctr"/>
                      <a:r>
                        <a:rPr lang="en-US" noProof="0" dirty="0"/>
                        <a:t>20</a:t>
                      </a:r>
                    </a:p>
                  </a:txBody>
                  <a:tcPr/>
                </a:tc>
                <a:tc>
                  <a:txBody>
                    <a:bodyPr/>
                    <a:lstStyle/>
                    <a:p>
                      <a:pPr algn="ctr"/>
                      <a:r>
                        <a:rPr lang="en-US" noProof="0" dirty="0"/>
                        <a:t>-5</a:t>
                      </a:r>
                    </a:p>
                  </a:txBody>
                  <a:tcPr/>
                </a:tc>
                <a:tc>
                  <a:txBody>
                    <a:bodyPr/>
                    <a:lstStyle/>
                    <a:p>
                      <a:pPr algn="ctr"/>
                      <a:r>
                        <a:rPr lang="en-US" noProof="0" dirty="0"/>
                        <a:t>25</a:t>
                      </a:r>
                    </a:p>
                  </a:txBody>
                  <a:tcPr/>
                </a:tc>
                <a:extLst>
                  <a:ext uri="{0D108BD9-81ED-4DB2-BD59-A6C34878D82A}">
                    <a16:rowId xmlns:a16="http://schemas.microsoft.com/office/drawing/2014/main" val="317923192"/>
                  </a:ext>
                </a:extLst>
              </a:tr>
              <a:tr h="258801">
                <a:tc>
                  <a:txBody>
                    <a:bodyPr/>
                    <a:lstStyle/>
                    <a:p>
                      <a:pPr algn="ctr"/>
                      <a:r>
                        <a:rPr lang="en-US" noProof="0" dirty="0"/>
                        <a:t>30</a:t>
                      </a:r>
                    </a:p>
                  </a:txBody>
                  <a:tcPr/>
                </a:tc>
                <a:tc>
                  <a:txBody>
                    <a:bodyPr/>
                    <a:lstStyle/>
                    <a:p>
                      <a:pPr algn="ctr"/>
                      <a:r>
                        <a:rPr lang="en-US" noProof="0" dirty="0"/>
                        <a:t>20</a:t>
                      </a:r>
                    </a:p>
                  </a:txBody>
                  <a:tcPr/>
                </a:tc>
                <a:tc>
                  <a:txBody>
                    <a:bodyPr/>
                    <a:lstStyle/>
                    <a:p>
                      <a:pPr algn="ctr"/>
                      <a:r>
                        <a:rPr lang="en-US" noProof="0" dirty="0"/>
                        <a:t>25</a:t>
                      </a:r>
                    </a:p>
                  </a:txBody>
                  <a:tcPr/>
                </a:tc>
                <a:tc>
                  <a:txBody>
                    <a:bodyPr/>
                    <a:lstStyle/>
                    <a:p>
                      <a:pPr algn="ctr"/>
                      <a:r>
                        <a:rPr lang="en-US" noProof="0" dirty="0"/>
                        <a:t>5</a:t>
                      </a:r>
                    </a:p>
                  </a:txBody>
                  <a:tcPr/>
                </a:tc>
                <a:tc>
                  <a:txBody>
                    <a:bodyPr/>
                    <a:lstStyle/>
                    <a:p>
                      <a:pPr algn="ctr"/>
                      <a:r>
                        <a:rPr lang="en-US" noProof="0" dirty="0"/>
                        <a:t>25</a:t>
                      </a:r>
                    </a:p>
                  </a:txBody>
                  <a:tcPr/>
                </a:tc>
                <a:extLst>
                  <a:ext uri="{0D108BD9-81ED-4DB2-BD59-A6C34878D82A}">
                    <a16:rowId xmlns:a16="http://schemas.microsoft.com/office/drawing/2014/main" val="1816946652"/>
                  </a:ext>
                </a:extLst>
              </a:tr>
              <a:tr h="258801">
                <a:tc>
                  <a:txBody>
                    <a:bodyPr/>
                    <a:lstStyle/>
                    <a:p>
                      <a:pPr algn="ctr"/>
                      <a:r>
                        <a:rPr lang="en-US" noProof="0" dirty="0"/>
                        <a:t>35</a:t>
                      </a:r>
                    </a:p>
                  </a:txBody>
                  <a:tcPr/>
                </a:tc>
                <a:tc>
                  <a:txBody>
                    <a:bodyPr/>
                    <a:lstStyle/>
                    <a:p>
                      <a:pPr algn="ctr"/>
                      <a:r>
                        <a:rPr lang="en-US" noProof="0" dirty="0"/>
                        <a:t>30</a:t>
                      </a:r>
                    </a:p>
                  </a:txBody>
                  <a:tcPr/>
                </a:tc>
                <a:tc>
                  <a:txBody>
                    <a:bodyPr/>
                    <a:lstStyle/>
                    <a:p>
                      <a:pPr algn="ctr"/>
                      <a:r>
                        <a:rPr lang="en-US" noProof="0" dirty="0"/>
                        <a:t>27.5</a:t>
                      </a:r>
                    </a:p>
                  </a:txBody>
                  <a:tcPr/>
                </a:tc>
                <a:tc>
                  <a:txBody>
                    <a:bodyPr/>
                    <a:lstStyle/>
                    <a:p>
                      <a:pPr algn="ctr"/>
                      <a:r>
                        <a:rPr lang="en-US" noProof="0" dirty="0"/>
                        <a:t>-2.5</a:t>
                      </a:r>
                    </a:p>
                  </a:txBody>
                  <a:tcPr/>
                </a:tc>
                <a:tc>
                  <a:txBody>
                    <a:bodyPr/>
                    <a:lstStyle/>
                    <a:p>
                      <a:pPr algn="ctr"/>
                      <a:r>
                        <a:rPr lang="en-US" noProof="0" dirty="0"/>
                        <a:t>6.25</a:t>
                      </a:r>
                    </a:p>
                  </a:txBody>
                  <a:tcPr/>
                </a:tc>
                <a:extLst>
                  <a:ext uri="{0D108BD9-81ED-4DB2-BD59-A6C34878D82A}">
                    <a16:rowId xmlns:a16="http://schemas.microsoft.com/office/drawing/2014/main" val="468627986"/>
                  </a:ext>
                </a:extLst>
              </a:tr>
              <a:tr h="258801">
                <a:tc>
                  <a:txBody>
                    <a:bodyPr/>
                    <a:lstStyle/>
                    <a:p>
                      <a:pPr algn="ctr"/>
                      <a:r>
                        <a:rPr lang="en-US" noProof="0" dirty="0"/>
                        <a:t>40</a:t>
                      </a:r>
                    </a:p>
                  </a:txBody>
                  <a:tcPr/>
                </a:tc>
                <a:tc>
                  <a:txBody>
                    <a:bodyPr/>
                    <a:lstStyle/>
                    <a:p>
                      <a:pPr algn="ctr"/>
                      <a:r>
                        <a:rPr lang="en-US" noProof="0" dirty="0"/>
                        <a:t>40</a:t>
                      </a:r>
                    </a:p>
                  </a:txBody>
                  <a:tcPr/>
                </a:tc>
                <a:tc>
                  <a:txBody>
                    <a:bodyPr/>
                    <a:lstStyle/>
                    <a:p>
                      <a:pPr algn="ctr"/>
                      <a:r>
                        <a:rPr lang="en-US" noProof="0" dirty="0"/>
                        <a:t>30</a:t>
                      </a:r>
                    </a:p>
                  </a:txBody>
                  <a:tcPr/>
                </a:tc>
                <a:tc>
                  <a:txBody>
                    <a:bodyPr/>
                    <a:lstStyle/>
                    <a:p>
                      <a:pPr algn="ctr"/>
                      <a:r>
                        <a:rPr lang="en-US" noProof="0" dirty="0"/>
                        <a:t>-10</a:t>
                      </a:r>
                    </a:p>
                  </a:txBody>
                  <a:tcPr/>
                </a:tc>
                <a:tc>
                  <a:txBody>
                    <a:bodyPr/>
                    <a:lstStyle/>
                    <a:p>
                      <a:pPr algn="ctr"/>
                      <a:r>
                        <a:rPr lang="en-US" noProof="0" dirty="0"/>
                        <a:t>100</a:t>
                      </a:r>
                    </a:p>
                  </a:txBody>
                  <a:tcPr/>
                </a:tc>
                <a:extLst>
                  <a:ext uri="{0D108BD9-81ED-4DB2-BD59-A6C34878D82A}">
                    <a16:rowId xmlns:a16="http://schemas.microsoft.com/office/drawing/2014/main" val="853162520"/>
                  </a:ext>
                </a:extLst>
              </a:tr>
              <a:tr h="258801">
                <a:tc>
                  <a:txBody>
                    <a:bodyPr/>
                    <a:lstStyle/>
                    <a:p>
                      <a:pPr algn="ctr"/>
                      <a:r>
                        <a:rPr lang="en-US" noProof="0" dirty="0"/>
                        <a:t>50</a:t>
                      </a:r>
                    </a:p>
                  </a:txBody>
                  <a:tcPr/>
                </a:tc>
                <a:tc>
                  <a:txBody>
                    <a:bodyPr/>
                    <a:lstStyle/>
                    <a:p>
                      <a:pPr algn="ctr"/>
                      <a:r>
                        <a:rPr lang="en-US" noProof="0" dirty="0"/>
                        <a:t>15</a:t>
                      </a:r>
                    </a:p>
                  </a:txBody>
                  <a:tcPr/>
                </a:tc>
                <a:tc>
                  <a:txBody>
                    <a:bodyPr/>
                    <a:lstStyle/>
                    <a:p>
                      <a:pPr algn="ctr"/>
                      <a:r>
                        <a:rPr lang="en-US" noProof="0" dirty="0"/>
                        <a:t>35</a:t>
                      </a:r>
                    </a:p>
                  </a:txBody>
                  <a:tcPr/>
                </a:tc>
                <a:tc>
                  <a:txBody>
                    <a:bodyPr/>
                    <a:lstStyle/>
                    <a:p>
                      <a:pPr algn="ctr"/>
                      <a:r>
                        <a:rPr lang="en-US" noProof="0" dirty="0"/>
                        <a:t>20</a:t>
                      </a:r>
                    </a:p>
                  </a:txBody>
                  <a:tcPr/>
                </a:tc>
                <a:tc>
                  <a:txBody>
                    <a:bodyPr/>
                    <a:lstStyle/>
                    <a:p>
                      <a:pPr algn="ctr"/>
                      <a:r>
                        <a:rPr lang="en-US" noProof="0" dirty="0"/>
                        <a:t>400</a:t>
                      </a:r>
                    </a:p>
                  </a:txBody>
                  <a:tcPr/>
                </a:tc>
                <a:extLst>
                  <a:ext uri="{0D108BD9-81ED-4DB2-BD59-A6C34878D82A}">
                    <a16:rowId xmlns:a16="http://schemas.microsoft.com/office/drawing/2014/main" val="3091413063"/>
                  </a:ext>
                </a:extLst>
              </a:tr>
              <a:tr h="258801">
                <a:tc>
                  <a:txBody>
                    <a:bodyPr/>
                    <a:lstStyle/>
                    <a:p>
                      <a:pPr algn="ctr"/>
                      <a:r>
                        <a:rPr lang="en-US" noProof="0" dirty="0"/>
                        <a:t>60</a:t>
                      </a:r>
                    </a:p>
                  </a:txBody>
                  <a:tcPr/>
                </a:tc>
                <a:tc>
                  <a:txBody>
                    <a:bodyPr/>
                    <a:lstStyle/>
                    <a:p>
                      <a:pPr algn="ctr"/>
                      <a:r>
                        <a:rPr lang="en-US" noProof="0" dirty="0"/>
                        <a:t>40</a:t>
                      </a:r>
                    </a:p>
                  </a:txBody>
                  <a:tcPr/>
                </a:tc>
                <a:tc>
                  <a:txBody>
                    <a:bodyPr/>
                    <a:lstStyle/>
                    <a:p>
                      <a:pPr algn="ctr"/>
                      <a:r>
                        <a:rPr lang="en-US" noProof="0" dirty="0"/>
                        <a:t>40</a:t>
                      </a:r>
                    </a:p>
                  </a:txBody>
                  <a:tcPr/>
                </a:tc>
                <a:tc>
                  <a:txBody>
                    <a:bodyPr/>
                    <a:lstStyle/>
                    <a:p>
                      <a:pPr algn="ctr"/>
                      <a:r>
                        <a:rPr lang="en-US" noProof="0" dirty="0"/>
                        <a:t>0</a:t>
                      </a:r>
                    </a:p>
                  </a:txBody>
                  <a:tcPr/>
                </a:tc>
                <a:tc>
                  <a:txBody>
                    <a:bodyPr/>
                    <a:lstStyle/>
                    <a:p>
                      <a:pPr algn="ctr"/>
                      <a:r>
                        <a:rPr lang="en-US" noProof="0" dirty="0"/>
                        <a:t>0</a:t>
                      </a:r>
                    </a:p>
                  </a:txBody>
                  <a:tcPr/>
                </a:tc>
                <a:extLst>
                  <a:ext uri="{0D108BD9-81ED-4DB2-BD59-A6C34878D82A}">
                    <a16:rowId xmlns:a16="http://schemas.microsoft.com/office/drawing/2014/main" val="2903429972"/>
                  </a:ext>
                </a:extLst>
              </a:tr>
              <a:tr h="258801">
                <a:tc>
                  <a:txBody>
                    <a:bodyPr/>
                    <a:lstStyle/>
                    <a:p>
                      <a:pPr algn="ctr"/>
                      <a:r>
                        <a:rPr lang="en-US" noProof="0" dirty="0"/>
                        <a:t>65</a:t>
                      </a:r>
                    </a:p>
                  </a:txBody>
                  <a:tcPr/>
                </a:tc>
                <a:tc>
                  <a:txBody>
                    <a:bodyPr/>
                    <a:lstStyle/>
                    <a:p>
                      <a:pPr algn="ctr"/>
                      <a:r>
                        <a:rPr lang="en-US" noProof="0" dirty="0"/>
                        <a:t>30</a:t>
                      </a:r>
                    </a:p>
                  </a:txBody>
                  <a:tcPr/>
                </a:tc>
                <a:tc>
                  <a:txBody>
                    <a:bodyPr/>
                    <a:lstStyle/>
                    <a:p>
                      <a:pPr algn="ctr"/>
                      <a:r>
                        <a:rPr lang="en-US" noProof="0" dirty="0"/>
                        <a:t>42.5</a:t>
                      </a:r>
                    </a:p>
                  </a:txBody>
                  <a:tcPr/>
                </a:tc>
                <a:tc>
                  <a:txBody>
                    <a:bodyPr/>
                    <a:lstStyle/>
                    <a:p>
                      <a:pPr algn="ctr"/>
                      <a:r>
                        <a:rPr lang="en-US" noProof="0" dirty="0"/>
                        <a:t>12.5</a:t>
                      </a:r>
                    </a:p>
                  </a:txBody>
                  <a:tcPr/>
                </a:tc>
                <a:tc>
                  <a:txBody>
                    <a:bodyPr/>
                    <a:lstStyle/>
                    <a:p>
                      <a:pPr algn="ctr"/>
                      <a:r>
                        <a:rPr lang="en-US" noProof="0" dirty="0"/>
                        <a:t>156.25</a:t>
                      </a:r>
                    </a:p>
                  </a:txBody>
                  <a:tcPr/>
                </a:tc>
                <a:extLst>
                  <a:ext uri="{0D108BD9-81ED-4DB2-BD59-A6C34878D82A}">
                    <a16:rowId xmlns:a16="http://schemas.microsoft.com/office/drawing/2014/main" val="3103837523"/>
                  </a:ext>
                </a:extLst>
              </a:tr>
              <a:tr h="258801">
                <a:tc>
                  <a:txBody>
                    <a:bodyPr/>
                    <a:lstStyle/>
                    <a:p>
                      <a:pPr algn="ctr"/>
                      <a:r>
                        <a:rPr lang="en-US" noProof="0" dirty="0"/>
                        <a:t>70</a:t>
                      </a:r>
                    </a:p>
                  </a:txBody>
                  <a:tcPr/>
                </a:tc>
                <a:tc>
                  <a:txBody>
                    <a:bodyPr/>
                    <a:lstStyle/>
                    <a:p>
                      <a:pPr algn="ctr"/>
                      <a:r>
                        <a:rPr lang="en-US" noProof="0" dirty="0"/>
                        <a:t>50</a:t>
                      </a:r>
                    </a:p>
                  </a:txBody>
                  <a:tcPr/>
                </a:tc>
                <a:tc>
                  <a:txBody>
                    <a:bodyPr/>
                    <a:lstStyle/>
                    <a:p>
                      <a:pPr algn="ctr"/>
                      <a:r>
                        <a:rPr lang="en-US" noProof="0" dirty="0"/>
                        <a:t>45</a:t>
                      </a:r>
                    </a:p>
                  </a:txBody>
                  <a:tcPr/>
                </a:tc>
                <a:tc>
                  <a:txBody>
                    <a:bodyPr/>
                    <a:lstStyle/>
                    <a:p>
                      <a:pPr algn="ctr"/>
                      <a:r>
                        <a:rPr lang="en-US" noProof="0" dirty="0"/>
                        <a:t>-5</a:t>
                      </a:r>
                    </a:p>
                  </a:txBody>
                  <a:tcPr/>
                </a:tc>
                <a:tc>
                  <a:txBody>
                    <a:bodyPr/>
                    <a:lstStyle/>
                    <a:p>
                      <a:pPr algn="ctr"/>
                      <a:r>
                        <a:rPr lang="en-US" noProof="0" dirty="0"/>
                        <a:t>25</a:t>
                      </a:r>
                    </a:p>
                  </a:txBody>
                  <a:tcPr/>
                </a:tc>
                <a:extLst>
                  <a:ext uri="{0D108BD9-81ED-4DB2-BD59-A6C34878D82A}">
                    <a16:rowId xmlns:a16="http://schemas.microsoft.com/office/drawing/2014/main" val="3264854259"/>
                  </a:ext>
                </a:extLst>
              </a:tr>
              <a:tr h="258801">
                <a:tc>
                  <a:txBody>
                    <a:bodyPr/>
                    <a:lstStyle/>
                    <a:p>
                      <a:pPr algn="ctr"/>
                      <a:r>
                        <a:rPr lang="en-US" noProof="0" dirty="0"/>
                        <a:t>80</a:t>
                      </a:r>
                    </a:p>
                  </a:txBody>
                  <a:tcPr/>
                </a:tc>
                <a:tc>
                  <a:txBody>
                    <a:bodyPr/>
                    <a:lstStyle/>
                    <a:p>
                      <a:pPr algn="ctr"/>
                      <a:r>
                        <a:rPr lang="en-US" noProof="0" dirty="0"/>
                        <a:t>40</a:t>
                      </a:r>
                    </a:p>
                  </a:txBody>
                  <a:tcPr/>
                </a:tc>
                <a:tc>
                  <a:txBody>
                    <a:bodyPr/>
                    <a:lstStyle/>
                    <a:p>
                      <a:pPr algn="ctr"/>
                      <a:r>
                        <a:rPr lang="en-US" noProof="0" dirty="0"/>
                        <a:t>50</a:t>
                      </a:r>
                    </a:p>
                  </a:txBody>
                  <a:tcPr/>
                </a:tc>
                <a:tc>
                  <a:txBody>
                    <a:bodyPr/>
                    <a:lstStyle/>
                    <a:p>
                      <a:pPr algn="ctr"/>
                      <a:r>
                        <a:rPr lang="en-US" noProof="0" dirty="0"/>
                        <a:t>10</a:t>
                      </a:r>
                    </a:p>
                  </a:txBody>
                  <a:tcPr/>
                </a:tc>
                <a:tc>
                  <a:txBody>
                    <a:bodyPr/>
                    <a:lstStyle/>
                    <a:p>
                      <a:pPr algn="ctr"/>
                      <a:r>
                        <a:rPr lang="en-US" noProof="0" dirty="0"/>
                        <a:t>100</a:t>
                      </a:r>
                    </a:p>
                  </a:txBody>
                  <a:tcPr/>
                </a:tc>
                <a:extLst>
                  <a:ext uri="{0D108BD9-81ED-4DB2-BD59-A6C34878D82A}">
                    <a16:rowId xmlns:a16="http://schemas.microsoft.com/office/drawing/2014/main" val="1607578203"/>
                  </a:ext>
                </a:extLst>
              </a:tr>
              <a:tr h="258801">
                <a:tc gridSpan="4">
                  <a:txBody>
                    <a:bodyPr/>
                    <a:lstStyle/>
                    <a:p>
                      <a:pPr algn="ctr"/>
                      <a:r>
                        <a:rPr lang="en-US" b="1" noProof="0" dirty="0"/>
                        <a:t>Sum of Squared Error (SSE)</a:t>
                      </a:r>
                    </a:p>
                  </a:txBody>
                  <a:tcPr/>
                </a:tc>
                <a:tc hMerge="1">
                  <a:txBody>
                    <a:bodyPr/>
                    <a:lstStyle/>
                    <a:p>
                      <a:pPr algn="ctr"/>
                      <a:endParaRPr lang="en-IN" dirty="0"/>
                    </a:p>
                  </a:txBody>
                  <a:tcPr/>
                </a:tc>
                <a:tc hMerge="1">
                  <a:txBody>
                    <a:bodyPr/>
                    <a:lstStyle/>
                    <a:p>
                      <a:pPr algn="ctr"/>
                      <a:endParaRPr lang="en-IN" dirty="0"/>
                    </a:p>
                  </a:txBody>
                  <a:tcPr/>
                </a:tc>
                <a:tc hMerge="1">
                  <a:txBody>
                    <a:bodyPr/>
                    <a:lstStyle/>
                    <a:p>
                      <a:pPr algn="ctr"/>
                      <a:endParaRPr lang="en-IN" dirty="0"/>
                    </a:p>
                  </a:txBody>
                  <a:tcPr/>
                </a:tc>
                <a:tc>
                  <a:txBody>
                    <a:bodyPr/>
                    <a:lstStyle/>
                    <a:p>
                      <a:pPr algn="ctr"/>
                      <a:r>
                        <a:rPr lang="en-US" noProof="0" dirty="0"/>
                        <a:t>862.5</a:t>
                      </a:r>
                    </a:p>
                  </a:txBody>
                  <a:tcPr/>
                </a:tc>
                <a:extLst>
                  <a:ext uri="{0D108BD9-81ED-4DB2-BD59-A6C34878D82A}">
                    <a16:rowId xmlns:a16="http://schemas.microsoft.com/office/drawing/2014/main" val="2883904428"/>
                  </a:ext>
                </a:extLst>
              </a:tr>
            </a:tbl>
          </a:graphicData>
        </a:graphic>
      </p:graphicFrame>
      <p:pic>
        <p:nvPicPr>
          <p:cNvPr id="5" name="Picture 4">
            <a:extLst>
              <a:ext uri="{FF2B5EF4-FFF2-40B4-BE49-F238E27FC236}">
                <a16:creationId xmlns:a16="http://schemas.microsoft.com/office/drawing/2014/main" id="{4B1C162C-FD2C-5873-D9AC-37817D23E474}"/>
              </a:ext>
            </a:extLst>
          </p:cNvPr>
          <p:cNvPicPr>
            <a:picLocks noChangeAspect="1"/>
          </p:cNvPicPr>
          <p:nvPr/>
        </p:nvPicPr>
        <p:blipFill>
          <a:blip r:embed="rId2"/>
          <a:stretch>
            <a:fillRect/>
          </a:stretch>
        </p:blipFill>
        <p:spPr>
          <a:xfrm>
            <a:off x="1041991" y="1389692"/>
            <a:ext cx="3519376" cy="2230638"/>
          </a:xfrm>
          <a:prstGeom prst="rect">
            <a:avLst/>
          </a:prstGeom>
        </p:spPr>
      </p:pic>
      <p:pic>
        <p:nvPicPr>
          <p:cNvPr id="8" name="Picture 7">
            <a:extLst>
              <a:ext uri="{FF2B5EF4-FFF2-40B4-BE49-F238E27FC236}">
                <a16:creationId xmlns:a16="http://schemas.microsoft.com/office/drawing/2014/main" id="{A41E0FD2-A3EE-CA65-AE16-2AA38B585A57}"/>
              </a:ext>
            </a:extLst>
          </p:cNvPr>
          <p:cNvPicPr>
            <a:picLocks noChangeAspect="1"/>
          </p:cNvPicPr>
          <p:nvPr/>
        </p:nvPicPr>
        <p:blipFill>
          <a:blip r:embed="rId3"/>
          <a:stretch>
            <a:fillRect/>
          </a:stretch>
        </p:blipFill>
        <p:spPr>
          <a:xfrm>
            <a:off x="1041991" y="3726480"/>
            <a:ext cx="3616842" cy="2430233"/>
          </a:xfrm>
          <a:prstGeom prst="rect">
            <a:avLst/>
          </a:prstGeom>
        </p:spPr>
      </p:pic>
      <p:sp>
        <p:nvSpPr>
          <p:cNvPr id="9" name="TextBox 8">
            <a:extLst>
              <a:ext uri="{FF2B5EF4-FFF2-40B4-BE49-F238E27FC236}">
                <a16:creationId xmlns:a16="http://schemas.microsoft.com/office/drawing/2014/main" id="{8FC94152-7A42-B5F1-6219-D456F94D9FF1}"/>
              </a:ext>
            </a:extLst>
          </p:cNvPr>
          <p:cNvSpPr txBox="1"/>
          <p:nvPr/>
        </p:nvSpPr>
        <p:spPr>
          <a:xfrm>
            <a:off x="6096000" y="176967"/>
            <a:ext cx="5142614" cy="369332"/>
          </a:xfrm>
          <a:prstGeom prst="rect">
            <a:avLst/>
          </a:prstGeom>
          <a:solidFill>
            <a:schemeClr val="accent4">
              <a:lumMod val="20000"/>
              <a:lumOff val="80000"/>
            </a:schemeClr>
          </a:solidFill>
        </p:spPr>
        <p:txBody>
          <a:bodyPr wrap="square" rtlCol="0">
            <a:spAutoFit/>
          </a:bodyPr>
          <a:lstStyle/>
          <a:p>
            <a:pPr algn="ctr"/>
            <a:r>
              <a:rPr lang="en-US" noProof="0" dirty="0"/>
              <a:t>Suppose our line satisfies the equation</a:t>
            </a:r>
            <a:r>
              <a:rPr lang="en-US" b="1" noProof="0" dirty="0"/>
              <a:t> y = 10 + 0.5x</a:t>
            </a:r>
          </a:p>
        </p:txBody>
      </p:sp>
    </p:spTree>
    <p:extLst>
      <p:ext uri="{BB962C8B-B14F-4D97-AF65-F5344CB8AC3E}">
        <p14:creationId xmlns:p14="http://schemas.microsoft.com/office/powerpoint/2010/main" val="2883228096"/>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294A9E-1AF8-7CBC-625F-8B6DD4BDBD12}"/>
              </a:ext>
            </a:extLst>
          </p:cNvPr>
          <p:cNvSpPr>
            <a:spLocks noGrp="1"/>
          </p:cNvSpPr>
          <p:nvPr>
            <p:ph type="title"/>
          </p:nvPr>
        </p:nvSpPr>
        <p:spPr/>
        <p:txBody>
          <a:bodyPr/>
          <a:lstStyle/>
          <a:p>
            <a:r>
              <a:rPr lang="en-US" noProof="0" dirty="0"/>
              <a:t>Sum of Squared Error (SSE)</a:t>
            </a:r>
          </a:p>
        </p:txBody>
      </p:sp>
      <mc:AlternateContent xmlns:mc="http://schemas.openxmlformats.org/markup-compatibility/2006">
        <mc:Choice xmlns:a14="http://schemas.microsoft.com/office/drawing/2010/main" Requires="a14">
          <p:sp>
            <p:nvSpPr>
              <p:cNvPr id="3" name="Content Placeholder 2">
                <a:extLst>
                  <a:ext uri="{FF2B5EF4-FFF2-40B4-BE49-F238E27FC236}">
                    <a16:creationId xmlns:a16="http://schemas.microsoft.com/office/drawing/2014/main" id="{2ACA1791-557D-29C4-2ABF-EC472079E4BE}"/>
                  </a:ext>
                </a:extLst>
              </p:cNvPr>
              <p:cNvSpPr>
                <a:spLocks noGrp="1"/>
              </p:cNvSpPr>
              <p:nvPr>
                <p:ph idx="1"/>
              </p:nvPr>
            </p:nvSpPr>
            <p:spPr/>
            <p:txBody>
              <a:bodyPr/>
              <a:lstStyle/>
              <a:p>
                <a:r>
                  <a:rPr lang="en-US" b="1" noProof="0" dirty="0"/>
                  <a:t>Sum of Squared Error (SSE)</a:t>
                </a:r>
                <a:r>
                  <a:rPr lang="en-US" noProof="0" dirty="0"/>
                  <a:t>: A metric used to measure how well a line or curve models certain data points</a:t>
                </a:r>
                <a:endParaRPr lang="en-US" b="1" noProof="0" dirty="0"/>
              </a:p>
              <a:p>
                <a:r>
                  <a:rPr lang="en-US" b="1" noProof="0" dirty="0"/>
                  <a:t>Error/Residual</a:t>
                </a:r>
                <a:r>
                  <a:rPr lang="en-US" noProof="0" dirty="0"/>
                  <a:t>: Vertical distance between the actual data point and point on the </a:t>
                </a:r>
                <a:r>
                  <a:rPr lang="en-US" i="1" noProof="0" dirty="0"/>
                  <a:t>line of best fit</a:t>
                </a:r>
                <a:r>
                  <a:rPr lang="en-US" noProof="0" dirty="0"/>
                  <a:t>, i.e. </a:t>
                </a:r>
                <a:r>
                  <a:rPr lang="en-US" noProof="0" dirty="0" err="1"/>
                  <a:t>y</a:t>
                </a:r>
                <a:r>
                  <a:rPr lang="en-US" baseline="-25000" noProof="0" dirty="0" err="1"/>
                  <a:t>i</a:t>
                </a:r>
                <a:r>
                  <a:rPr lang="en-US" noProof="0" dirty="0"/>
                  <a:t> - </a:t>
                </a:r>
                <a14:m>
                  <m:oMath xmlns:m="http://schemas.openxmlformats.org/officeDocument/2006/math">
                    <m:acc>
                      <m:accPr>
                        <m:chr m:val="̂"/>
                        <m:ctrlPr>
                          <a:rPr lang="en-US" i="1" noProof="0" smtClean="0">
                            <a:latin typeface="Cambria Math" panose="02040503050406030204" pitchFamily="18" charset="0"/>
                          </a:rPr>
                        </m:ctrlPr>
                      </m:accPr>
                      <m:e>
                        <m:r>
                          <a:rPr lang="en-US" i="1" noProof="0" smtClean="0">
                            <a:latin typeface="Cambria Math" panose="02040503050406030204" pitchFamily="18" charset="0"/>
                          </a:rPr>
                          <m:t>𝑦</m:t>
                        </m:r>
                      </m:e>
                    </m:acc>
                    <m:r>
                      <m:rPr>
                        <m:nor/>
                      </m:rPr>
                      <a:rPr lang="en-US" baseline="-25000" noProof="0" smtClean="0"/>
                      <m:t>i</m:t>
                    </m:r>
                  </m:oMath>
                </a14:m>
                <a:endParaRPr lang="en-US" noProof="0" dirty="0"/>
              </a:p>
              <a:p>
                <a:r>
                  <a:rPr lang="en-US" b="1" noProof="0" dirty="0"/>
                  <a:t>Squared Error</a:t>
                </a:r>
                <a:r>
                  <a:rPr lang="en-US" noProof="0" dirty="0"/>
                  <a:t>: The error is squared, i.e. (</a:t>
                </a:r>
                <a:r>
                  <a:rPr lang="en-US" noProof="0" dirty="0" err="1"/>
                  <a:t>y</a:t>
                </a:r>
                <a:r>
                  <a:rPr lang="en-US" baseline="-25000" noProof="0" dirty="0" err="1"/>
                  <a:t>i</a:t>
                </a:r>
                <a:r>
                  <a:rPr lang="en-US" noProof="0" dirty="0"/>
                  <a:t> - </a:t>
                </a:r>
                <a14:m>
                  <m:oMath xmlns:m="http://schemas.openxmlformats.org/officeDocument/2006/math">
                    <m:acc>
                      <m:accPr>
                        <m:chr m:val="̂"/>
                        <m:ctrlPr>
                          <a:rPr lang="en-US" i="1" noProof="0" smtClean="0">
                            <a:latin typeface="Cambria Math" panose="02040503050406030204" pitchFamily="18" charset="0"/>
                          </a:rPr>
                        </m:ctrlPr>
                      </m:accPr>
                      <m:e>
                        <m:r>
                          <a:rPr lang="en-US" i="1" noProof="0" smtClean="0">
                            <a:latin typeface="Cambria Math" panose="02040503050406030204" pitchFamily="18" charset="0"/>
                          </a:rPr>
                          <m:t>𝑦</m:t>
                        </m:r>
                      </m:e>
                    </m:acc>
                    <m:r>
                      <m:rPr>
                        <m:nor/>
                      </m:rPr>
                      <a:rPr lang="en-US" baseline="-25000" noProof="0" smtClean="0"/>
                      <m:t>i</m:t>
                    </m:r>
                  </m:oMath>
                </a14:m>
                <a:r>
                  <a:rPr lang="en-US" noProof="0" dirty="0"/>
                  <a:t>)</a:t>
                </a:r>
                <a:r>
                  <a:rPr lang="en-US" baseline="30000" noProof="0" dirty="0"/>
                  <a:t>2</a:t>
                </a:r>
              </a:p>
              <a:p>
                <a:pPr lvl="1"/>
                <a:r>
                  <a:rPr lang="en-US" noProof="0" dirty="0"/>
                  <a:t>Eliminate negative values</a:t>
                </a:r>
              </a:p>
              <a:p>
                <a:pPr lvl="1"/>
                <a:r>
                  <a:rPr lang="en-US" noProof="0" dirty="0"/>
                  <a:t>Penalize larger errors/outliers</a:t>
                </a:r>
              </a:p>
              <a:p>
                <a:r>
                  <a:rPr lang="en-US" b="1" noProof="0" dirty="0"/>
                  <a:t>Sum of Squared Error (SSE)</a:t>
                </a:r>
                <a:r>
                  <a:rPr lang="en-US" noProof="0" dirty="0"/>
                  <a:t>: </a:t>
                </a:r>
                <a14:m>
                  <m:oMath xmlns:m="http://schemas.openxmlformats.org/officeDocument/2006/math">
                    <m:nary>
                      <m:naryPr>
                        <m:chr m:val="∑"/>
                        <m:ctrlPr>
                          <a:rPr lang="en-US" i="1" noProof="0" smtClean="0">
                            <a:latin typeface="Cambria Math" panose="02040503050406030204" pitchFamily="18" charset="0"/>
                          </a:rPr>
                        </m:ctrlPr>
                      </m:naryPr>
                      <m:sub>
                        <m:r>
                          <m:rPr>
                            <m:brk m:alnAt="23"/>
                          </m:rPr>
                          <a:rPr lang="en-US" b="0" i="1" noProof="0" smtClean="0">
                            <a:latin typeface="Cambria Math" panose="02040503050406030204" pitchFamily="18" charset="0"/>
                          </a:rPr>
                          <m:t>𝑖</m:t>
                        </m:r>
                        <m:r>
                          <a:rPr lang="en-US" b="0" i="1" noProof="0" smtClean="0">
                            <a:latin typeface="Cambria Math" panose="02040503050406030204" pitchFamily="18" charset="0"/>
                          </a:rPr>
                          <m:t>=</m:t>
                        </m:r>
                        <m:r>
                          <m:rPr>
                            <m:brk m:alnAt="23"/>
                          </m:rPr>
                          <a:rPr lang="en-US" b="0" i="1" noProof="0" smtClean="0">
                            <a:latin typeface="Cambria Math" panose="02040503050406030204" pitchFamily="18" charset="0"/>
                          </a:rPr>
                          <m:t>1</m:t>
                        </m:r>
                      </m:sub>
                      <m:sup>
                        <m:r>
                          <a:rPr lang="en-US" b="0" i="1" noProof="0" smtClean="0">
                            <a:latin typeface="Cambria Math" panose="02040503050406030204" pitchFamily="18" charset="0"/>
                          </a:rPr>
                          <m:t>𝑛</m:t>
                        </m:r>
                      </m:sup>
                      <m:e>
                        <m:r>
                          <m:rPr>
                            <m:nor/>
                          </m:rPr>
                          <a:rPr lang="en-US" noProof="0" smtClean="0"/>
                          <m:t>(</m:t>
                        </m:r>
                        <m:r>
                          <m:rPr>
                            <m:nor/>
                          </m:rPr>
                          <a:rPr lang="en-US" noProof="0" smtClean="0"/>
                          <m:t>yi</m:t>
                        </m:r>
                        <m:r>
                          <m:rPr>
                            <m:nor/>
                          </m:rPr>
                          <a:rPr lang="en-US" noProof="0" smtClean="0"/>
                          <m:t> − </m:t>
                        </m:r>
                        <m:acc>
                          <m:accPr>
                            <m:chr m:val="̂"/>
                            <m:ctrlPr>
                              <a:rPr lang="en-US" i="1" noProof="0" smtClean="0">
                                <a:latin typeface="Cambria Math" panose="02040503050406030204" pitchFamily="18" charset="0"/>
                              </a:rPr>
                            </m:ctrlPr>
                          </m:accPr>
                          <m:e>
                            <m:r>
                              <a:rPr lang="en-US" i="1" noProof="0" smtClean="0">
                                <a:latin typeface="Cambria Math" panose="02040503050406030204" pitchFamily="18" charset="0"/>
                              </a:rPr>
                              <m:t>𝑦</m:t>
                            </m:r>
                          </m:e>
                        </m:acc>
                        <m:r>
                          <m:rPr>
                            <m:nor/>
                          </m:rPr>
                          <a:rPr lang="en-US" baseline="-25000" noProof="0" smtClean="0"/>
                          <m:t>i</m:t>
                        </m:r>
                        <m:r>
                          <m:rPr>
                            <m:nor/>
                          </m:rPr>
                          <a:rPr lang="en-US" noProof="0" smtClean="0"/>
                          <m:t>)</m:t>
                        </m:r>
                        <m:r>
                          <m:rPr>
                            <m:nor/>
                          </m:rPr>
                          <a:rPr lang="en-US" baseline="30000" noProof="0" smtClean="0"/>
                          <m:t>2</m:t>
                        </m:r>
                      </m:e>
                    </m:nary>
                  </m:oMath>
                </a14:m>
                <a:endParaRPr lang="en-US" noProof="0" dirty="0"/>
              </a:p>
              <a:p>
                <a:r>
                  <a:rPr lang="en-US" b="1" noProof="0" dirty="0"/>
                  <a:t>Line of best fit</a:t>
                </a:r>
                <a:r>
                  <a:rPr lang="en-US" noProof="0" dirty="0"/>
                  <a:t>: Gives the minimum possible SSE</a:t>
                </a:r>
              </a:p>
            </p:txBody>
          </p:sp>
        </mc:Choice>
        <mc:Fallback>
          <p:sp>
            <p:nvSpPr>
              <p:cNvPr id="3" name="Content Placeholder 2">
                <a:extLst>
                  <a:ext uri="{FF2B5EF4-FFF2-40B4-BE49-F238E27FC236}">
                    <a16:creationId xmlns:a16="http://schemas.microsoft.com/office/drawing/2014/main" id="{2ACA1791-557D-29C4-2ABF-EC472079E4BE}"/>
                  </a:ext>
                </a:extLst>
              </p:cNvPr>
              <p:cNvSpPr>
                <a:spLocks noGrp="1" noRot="1" noChangeAspect="1" noMove="1" noResize="1" noEditPoints="1" noAdjustHandles="1" noChangeArrowheads="1" noChangeShapeType="1" noTextEdit="1"/>
              </p:cNvSpPr>
              <p:nvPr>
                <p:ph idx="1"/>
              </p:nvPr>
            </p:nvSpPr>
            <p:spPr>
              <a:blipFill>
                <a:blip r:embed="rId2"/>
                <a:stretch>
                  <a:fillRect l="-1043" t="-2241" r="-1797"/>
                </a:stretch>
              </a:blipFill>
            </p:spPr>
            <p:txBody>
              <a:bodyPr/>
              <a:lstStyle/>
              <a:p>
                <a:r>
                  <a:rPr lang="en-GB">
                    <a:noFill/>
                  </a:rPr>
                  <a:t> </a:t>
                </a:r>
              </a:p>
            </p:txBody>
          </p:sp>
        </mc:Fallback>
      </mc:AlternateContent>
    </p:spTree>
    <p:extLst>
      <p:ext uri="{BB962C8B-B14F-4D97-AF65-F5344CB8AC3E}">
        <p14:creationId xmlns:p14="http://schemas.microsoft.com/office/powerpoint/2010/main" val="3415311208"/>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E92CCD-3737-4B64-5597-18F3C63FECDC}"/>
              </a:ext>
            </a:extLst>
          </p:cNvPr>
          <p:cNvSpPr>
            <a:spLocks noGrp="1"/>
          </p:cNvSpPr>
          <p:nvPr>
            <p:ph type="title"/>
          </p:nvPr>
        </p:nvSpPr>
        <p:spPr>
          <a:xfrm>
            <a:off x="838200" y="172620"/>
            <a:ext cx="10515600" cy="703279"/>
          </a:xfrm>
        </p:spPr>
        <p:txBody>
          <a:bodyPr>
            <a:normAutofit fontScale="90000"/>
          </a:bodyPr>
          <a:lstStyle/>
          <a:p>
            <a:r>
              <a:rPr lang="en-US" noProof="0" dirty="0"/>
              <a:t>Linear Regression </a:t>
            </a:r>
            <a:br>
              <a:rPr lang="en-US" noProof="0" dirty="0"/>
            </a:br>
            <a:endParaRPr lang="en-US" noProof="0" dirty="0"/>
          </a:p>
        </p:txBody>
      </p:sp>
      <p:sp>
        <p:nvSpPr>
          <p:cNvPr id="3" name="Content Placeholder 2">
            <a:extLst>
              <a:ext uri="{FF2B5EF4-FFF2-40B4-BE49-F238E27FC236}">
                <a16:creationId xmlns:a16="http://schemas.microsoft.com/office/drawing/2014/main" id="{9AF6A331-5958-BE44-DD48-AECD3E20142B}"/>
              </a:ext>
            </a:extLst>
          </p:cNvPr>
          <p:cNvSpPr>
            <a:spLocks noGrp="1"/>
          </p:cNvSpPr>
          <p:nvPr>
            <p:ph idx="1"/>
          </p:nvPr>
        </p:nvSpPr>
        <p:spPr/>
        <p:txBody>
          <a:bodyPr/>
          <a:lstStyle/>
          <a:p>
            <a:endParaRPr lang="en-US" noProof="0" dirty="0"/>
          </a:p>
          <a:p>
            <a:endParaRPr lang="en-US" noProof="0" dirty="0"/>
          </a:p>
          <a:p>
            <a:endParaRPr lang="en-US" noProof="0" dirty="0"/>
          </a:p>
          <a:p>
            <a:endParaRPr lang="en-US" noProof="0" dirty="0"/>
          </a:p>
          <a:p>
            <a:endParaRPr lang="en-US" noProof="0" dirty="0"/>
          </a:p>
          <a:p>
            <a:endParaRPr lang="en-US" noProof="0" dirty="0"/>
          </a:p>
          <a:p>
            <a:endParaRPr lang="en-US" noProof="0" dirty="0"/>
          </a:p>
          <a:p>
            <a:endParaRPr lang="en-US" noProof="0" dirty="0"/>
          </a:p>
          <a:p>
            <a:endParaRPr lang="en-US" noProof="0" dirty="0"/>
          </a:p>
          <a:p>
            <a:pPr lvl="8"/>
            <a:endParaRPr lang="en-US" noProof="0" dirty="0"/>
          </a:p>
          <a:p>
            <a:endParaRPr lang="en-US" noProof="0" dirty="0"/>
          </a:p>
          <a:p>
            <a:endParaRPr lang="en-US" noProof="0" dirty="0"/>
          </a:p>
          <a:p>
            <a:endParaRPr lang="en-US" noProof="0" dirty="0"/>
          </a:p>
        </p:txBody>
      </p:sp>
      <mc:AlternateContent xmlns:mc="http://schemas.openxmlformats.org/markup-compatibility/2006">
        <mc:Choice xmlns:a14="http://schemas.microsoft.com/office/drawing/2010/main" Requires="a14">
          <p:sp>
            <p:nvSpPr>
              <p:cNvPr id="5" name="TextBox 4">
                <a:extLst>
                  <a:ext uri="{FF2B5EF4-FFF2-40B4-BE49-F238E27FC236}">
                    <a16:creationId xmlns:a16="http://schemas.microsoft.com/office/drawing/2014/main" id="{8114DA32-3D41-47C9-784B-B92DA13CDDB4}"/>
                  </a:ext>
                </a:extLst>
              </p:cNvPr>
              <p:cNvSpPr txBox="1"/>
              <p:nvPr/>
            </p:nvSpPr>
            <p:spPr>
              <a:xfrm>
                <a:off x="179671" y="5315644"/>
                <a:ext cx="5871410" cy="1508105"/>
              </a:xfrm>
              <a:prstGeom prst="rect">
                <a:avLst/>
              </a:prstGeom>
              <a:solidFill>
                <a:schemeClr val="accent2">
                  <a:lumMod val="20000"/>
                  <a:lumOff val="80000"/>
                </a:schemeClr>
              </a:solidFill>
            </p:spPr>
            <p:txBody>
              <a:bodyPr wrap="square" rtlCol="0">
                <a:spAutoFit/>
              </a:bodyPr>
              <a:lstStyle/>
              <a:p>
                <a:pPr/>
                <a14:m>
                  <m:oMathPara xmlns:m="http://schemas.openxmlformats.org/officeDocument/2006/math">
                    <m:oMathParaPr>
                      <m:jc m:val="centerGroup"/>
                    </m:oMathParaPr>
                    <m:oMath xmlns:m="http://schemas.openxmlformats.org/officeDocument/2006/math">
                      <m:acc>
                        <m:accPr>
                          <m:chr m:val="̂"/>
                          <m:ctrlPr>
                            <a:rPr lang="en-US" sz="3200" i="1" noProof="0" smtClean="0">
                              <a:solidFill>
                                <a:srgbClr val="FF0000"/>
                              </a:solidFill>
                              <a:latin typeface="Cambria Math" panose="02040503050406030204" pitchFamily="18" charset="0"/>
                            </a:rPr>
                          </m:ctrlPr>
                        </m:accPr>
                        <m:e>
                          <m:r>
                            <a:rPr lang="en-US" sz="3200" i="1" noProof="0" smtClean="0">
                              <a:solidFill>
                                <a:srgbClr val="FF0000"/>
                              </a:solidFill>
                              <a:latin typeface="Cambria Math" panose="02040503050406030204" pitchFamily="18" charset="0"/>
                            </a:rPr>
                            <m:t>𝑦</m:t>
                          </m:r>
                        </m:e>
                      </m:acc>
                      <m:r>
                        <a:rPr lang="en-US" sz="3200" i="0" noProof="0" smtClean="0">
                          <a:solidFill>
                            <a:srgbClr val="FF0000"/>
                          </a:solidFill>
                          <a:latin typeface="Cambria Math" panose="02040503050406030204" pitchFamily="18" charset="0"/>
                        </a:rPr>
                        <m:t>=</m:t>
                      </m:r>
                      <m:sSub>
                        <m:sSubPr>
                          <m:ctrlPr>
                            <a:rPr lang="en-US" sz="3200" i="1" noProof="0" smtClean="0">
                              <a:solidFill>
                                <a:srgbClr val="FF0000"/>
                              </a:solidFill>
                              <a:latin typeface="Cambria Math" panose="02040503050406030204" pitchFamily="18" charset="0"/>
                            </a:rPr>
                          </m:ctrlPr>
                        </m:sSubPr>
                        <m:e>
                          <m:r>
                            <a:rPr lang="en-US" sz="3200" i="1" noProof="0" smtClean="0">
                              <a:solidFill>
                                <a:srgbClr val="FF0000"/>
                              </a:solidFill>
                              <a:latin typeface="Cambria Math" panose="02040503050406030204" pitchFamily="18" charset="0"/>
                            </a:rPr>
                            <m:t>𝑏</m:t>
                          </m:r>
                        </m:e>
                        <m:sub>
                          <m:r>
                            <a:rPr lang="en-US" sz="3200" i="0" noProof="0" smtClean="0">
                              <a:solidFill>
                                <a:srgbClr val="FF0000"/>
                              </a:solidFill>
                              <a:latin typeface="Cambria Math" panose="02040503050406030204" pitchFamily="18" charset="0"/>
                            </a:rPr>
                            <m:t>0</m:t>
                          </m:r>
                        </m:sub>
                      </m:sSub>
                      <m:r>
                        <a:rPr lang="en-US" sz="3200" i="0" noProof="0" smtClean="0">
                          <a:solidFill>
                            <a:srgbClr val="FF0000"/>
                          </a:solidFill>
                          <a:latin typeface="Cambria Math" panose="02040503050406030204" pitchFamily="18" charset="0"/>
                        </a:rPr>
                        <m:t>+</m:t>
                      </m:r>
                      <m:sSub>
                        <m:sSubPr>
                          <m:ctrlPr>
                            <a:rPr lang="en-US" sz="3200" i="1" noProof="0" smtClean="0">
                              <a:solidFill>
                                <a:srgbClr val="FF0000"/>
                              </a:solidFill>
                              <a:latin typeface="Cambria Math" panose="02040503050406030204" pitchFamily="18" charset="0"/>
                            </a:rPr>
                          </m:ctrlPr>
                        </m:sSubPr>
                        <m:e>
                          <m:r>
                            <a:rPr lang="en-US" sz="3200" i="1" noProof="0" smtClean="0">
                              <a:solidFill>
                                <a:srgbClr val="FF0000"/>
                              </a:solidFill>
                              <a:latin typeface="Cambria Math" panose="02040503050406030204" pitchFamily="18" charset="0"/>
                            </a:rPr>
                            <m:t>𝑏</m:t>
                          </m:r>
                        </m:e>
                        <m:sub>
                          <m:r>
                            <a:rPr lang="en-US" sz="3200" i="0" noProof="0" smtClean="0">
                              <a:solidFill>
                                <a:srgbClr val="FF0000"/>
                              </a:solidFill>
                              <a:latin typeface="Cambria Math" panose="02040503050406030204" pitchFamily="18" charset="0"/>
                            </a:rPr>
                            <m:t>1</m:t>
                          </m:r>
                        </m:sub>
                      </m:sSub>
                      <m:r>
                        <a:rPr lang="en-US" sz="3200" i="1" noProof="0" smtClean="0">
                          <a:solidFill>
                            <a:srgbClr val="FF0000"/>
                          </a:solidFill>
                          <a:latin typeface="Cambria Math" panose="02040503050406030204" pitchFamily="18" charset="0"/>
                        </a:rPr>
                        <m:t>𝑥</m:t>
                      </m:r>
                    </m:oMath>
                  </m:oMathPara>
                </a14:m>
                <a:endParaRPr lang="en-US" sz="2000" b="1" noProof="0" dirty="0"/>
              </a:p>
              <a:p>
                <a:endParaRPr lang="en-US" sz="2000" b="1" noProof="0" dirty="0"/>
              </a:p>
              <a:p>
                <a:r>
                  <a:rPr lang="en-US" sz="2000" b="1" noProof="0" dirty="0"/>
                  <a:t>b</a:t>
                </a:r>
                <a:r>
                  <a:rPr lang="en-US" sz="2000" b="1" baseline="-25000" noProof="0" dirty="0"/>
                  <a:t>0</a:t>
                </a:r>
                <a:r>
                  <a:rPr lang="en-US" sz="2000" b="1" noProof="0" dirty="0"/>
                  <a:t> = y-intercept (Value of y when x = 0)</a:t>
                </a:r>
              </a:p>
              <a:p>
                <a:r>
                  <a:rPr lang="en-US" sz="2000" b="1" noProof="0" dirty="0"/>
                  <a:t>b</a:t>
                </a:r>
                <a:r>
                  <a:rPr lang="en-US" sz="2000" b="1" baseline="-25000" noProof="0" dirty="0"/>
                  <a:t>1</a:t>
                </a:r>
                <a:r>
                  <a:rPr lang="en-US" sz="2000" b="1" noProof="0" dirty="0"/>
                  <a:t> = slope (How much y changes per unit change in x)</a:t>
                </a:r>
              </a:p>
            </p:txBody>
          </p:sp>
        </mc:Choice>
        <mc:Fallback>
          <p:sp>
            <p:nvSpPr>
              <p:cNvPr id="5" name="TextBox 4">
                <a:extLst>
                  <a:ext uri="{FF2B5EF4-FFF2-40B4-BE49-F238E27FC236}">
                    <a16:creationId xmlns:a16="http://schemas.microsoft.com/office/drawing/2014/main" id="{8114DA32-3D41-47C9-784B-B92DA13CDDB4}"/>
                  </a:ext>
                </a:extLst>
              </p:cNvPr>
              <p:cNvSpPr txBox="1">
                <a:spLocks noRot="1" noChangeAspect="1" noMove="1" noResize="1" noEditPoints="1" noAdjustHandles="1" noChangeArrowheads="1" noChangeShapeType="1" noTextEdit="1"/>
              </p:cNvSpPr>
              <p:nvPr/>
            </p:nvSpPr>
            <p:spPr>
              <a:xfrm>
                <a:off x="179671" y="5315644"/>
                <a:ext cx="5871410" cy="1508105"/>
              </a:xfrm>
              <a:prstGeom prst="rect">
                <a:avLst/>
              </a:prstGeom>
              <a:blipFill>
                <a:blip r:embed="rId2"/>
                <a:stretch>
                  <a:fillRect l="-1037" b="-6478"/>
                </a:stretch>
              </a:blipFill>
            </p:spPr>
            <p:txBody>
              <a:bodyPr/>
              <a:lstStyle/>
              <a:p>
                <a:r>
                  <a:rPr lang="en-GB">
                    <a:noFill/>
                  </a:rPr>
                  <a:t> </a:t>
                </a:r>
              </a:p>
            </p:txBody>
          </p:sp>
        </mc:Fallback>
      </mc:AlternateContent>
      <p:sp>
        <p:nvSpPr>
          <p:cNvPr id="7" name="TextBox 6">
            <a:extLst>
              <a:ext uri="{FF2B5EF4-FFF2-40B4-BE49-F238E27FC236}">
                <a16:creationId xmlns:a16="http://schemas.microsoft.com/office/drawing/2014/main" id="{E5C4CF2F-5B5A-E907-70DB-E330C8D71C6E}"/>
              </a:ext>
            </a:extLst>
          </p:cNvPr>
          <p:cNvSpPr txBox="1"/>
          <p:nvPr/>
        </p:nvSpPr>
        <p:spPr>
          <a:xfrm>
            <a:off x="6914631" y="272072"/>
            <a:ext cx="4160036" cy="1754326"/>
          </a:xfrm>
          <a:prstGeom prst="rect">
            <a:avLst/>
          </a:prstGeom>
          <a:solidFill>
            <a:schemeClr val="accent4">
              <a:lumMod val="40000"/>
              <a:lumOff val="60000"/>
            </a:schemeClr>
          </a:solidFill>
        </p:spPr>
        <p:txBody>
          <a:bodyPr wrap="square" rtlCol="0">
            <a:spAutoFit/>
          </a:bodyPr>
          <a:lstStyle/>
          <a:p>
            <a:r>
              <a:rPr lang="en-US" b="1" noProof="0" dirty="0"/>
              <a:t>Example:</a:t>
            </a:r>
          </a:p>
          <a:p>
            <a:endParaRPr lang="en-US" b="1" noProof="0" dirty="0"/>
          </a:p>
          <a:p>
            <a:r>
              <a:rPr lang="en-US" b="1" noProof="0" dirty="0"/>
              <a:t>Salary (y) = 3,00,000 + 1,00,000x</a:t>
            </a:r>
          </a:p>
          <a:p>
            <a:endParaRPr lang="en-US" b="1" noProof="0" dirty="0"/>
          </a:p>
          <a:p>
            <a:r>
              <a:rPr lang="en-US" b="1" noProof="0" dirty="0"/>
              <a:t>Here, </a:t>
            </a:r>
            <a:r>
              <a:rPr lang="en-US" sz="1800" b="1" noProof="0" dirty="0"/>
              <a:t>b</a:t>
            </a:r>
            <a:r>
              <a:rPr lang="en-US" sz="1800" b="1" baseline="-25000" noProof="0" dirty="0"/>
              <a:t>0</a:t>
            </a:r>
            <a:r>
              <a:rPr lang="en-US" b="1" noProof="0" dirty="0"/>
              <a:t> = 3,00,000 and </a:t>
            </a:r>
            <a:r>
              <a:rPr lang="en-US" sz="1800" b="1" noProof="0" dirty="0"/>
              <a:t>b</a:t>
            </a:r>
            <a:r>
              <a:rPr lang="en-US" b="1" baseline="-25000" noProof="0" dirty="0"/>
              <a:t>1</a:t>
            </a:r>
            <a:r>
              <a:rPr lang="en-US" b="1" noProof="0" dirty="0"/>
              <a:t> = 1,00,000</a:t>
            </a:r>
          </a:p>
          <a:p>
            <a:endParaRPr lang="en-US" b="1" noProof="0" dirty="0"/>
          </a:p>
        </p:txBody>
      </p:sp>
      <p:pic>
        <p:nvPicPr>
          <p:cNvPr id="10" name="Picture 9">
            <a:extLst>
              <a:ext uri="{FF2B5EF4-FFF2-40B4-BE49-F238E27FC236}">
                <a16:creationId xmlns:a16="http://schemas.microsoft.com/office/drawing/2014/main" id="{366C5CDF-D84E-9A17-E44B-1128DA63D05F}"/>
              </a:ext>
            </a:extLst>
          </p:cNvPr>
          <p:cNvPicPr>
            <a:picLocks noChangeAspect="1"/>
          </p:cNvPicPr>
          <p:nvPr/>
        </p:nvPicPr>
        <p:blipFill>
          <a:blip r:embed="rId3"/>
          <a:stretch>
            <a:fillRect/>
          </a:stretch>
        </p:blipFill>
        <p:spPr>
          <a:xfrm>
            <a:off x="134753" y="999356"/>
            <a:ext cx="5961247" cy="4397960"/>
          </a:xfrm>
          <a:prstGeom prst="rect">
            <a:avLst/>
          </a:prstGeom>
        </p:spPr>
      </p:pic>
      <p:graphicFrame>
        <p:nvGraphicFramePr>
          <p:cNvPr id="4" name="Table 3">
            <a:extLst>
              <a:ext uri="{FF2B5EF4-FFF2-40B4-BE49-F238E27FC236}">
                <a16:creationId xmlns:a16="http://schemas.microsoft.com/office/drawing/2014/main" id="{28E215ED-E29B-4C50-5CD7-83A6F7FC53EE}"/>
              </a:ext>
            </a:extLst>
          </p:cNvPr>
          <p:cNvGraphicFramePr>
            <a:graphicFrameLocks noGrp="1"/>
          </p:cNvGraphicFramePr>
          <p:nvPr>
            <p:extLst>
              <p:ext uri="{D42A27DB-BD31-4B8C-83A1-F6EECF244321}">
                <p14:modId xmlns:p14="http://schemas.microsoft.com/office/powerpoint/2010/main" val="3116343771"/>
              </p:ext>
            </p:extLst>
          </p:nvPr>
        </p:nvGraphicFramePr>
        <p:xfrm>
          <a:off x="6391175" y="2397136"/>
          <a:ext cx="5062888" cy="4389120"/>
        </p:xfrm>
        <a:graphic>
          <a:graphicData uri="http://schemas.openxmlformats.org/drawingml/2006/table">
            <a:tbl>
              <a:tblPr firstRow="1" bandRow="1">
                <a:tableStyleId>{5C22544A-7EE6-4342-B048-85BDC9FD1C3A}</a:tableStyleId>
              </a:tblPr>
              <a:tblGrid>
                <a:gridCol w="2531444">
                  <a:extLst>
                    <a:ext uri="{9D8B030D-6E8A-4147-A177-3AD203B41FA5}">
                      <a16:colId xmlns:a16="http://schemas.microsoft.com/office/drawing/2014/main" val="2279502503"/>
                    </a:ext>
                  </a:extLst>
                </a:gridCol>
                <a:gridCol w="2531444">
                  <a:extLst>
                    <a:ext uri="{9D8B030D-6E8A-4147-A177-3AD203B41FA5}">
                      <a16:colId xmlns:a16="http://schemas.microsoft.com/office/drawing/2014/main" val="481810748"/>
                    </a:ext>
                  </a:extLst>
                </a:gridCol>
              </a:tblGrid>
              <a:tr h="264881">
                <a:tc>
                  <a:txBody>
                    <a:bodyPr/>
                    <a:lstStyle/>
                    <a:p>
                      <a:r>
                        <a:rPr lang="en-US" noProof="0" dirty="0"/>
                        <a:t>Experience (Years)</a:t>
                      </a:r>
                    </a:p>
                  </a:txBody>
                  <a:tcPr/>
                </a:tc>
                <a:tc>
                  <a:txBody>
                    <a:bodyPr/>
                    <a:lstStyle/>
                    <a:p>
                      <a:r>
                        <a:rPr lang="en-US" noProof="0" dirty="0"/>
                        <a:t>Salary (Rupees in Lakhs)</a:t>
                      </a:r>
                    </a:p>
                  </a:txBody>
                  <a:tcPr/>
                </a:tc>
                <a:extLst>
                  <a:ext uri="{0D108BD9-81ED-4DB2-BD59-A6C34878D82A}">
                    <a16:rowId xmlns:a16="http://schemas.microsoft.com/office/drawing/2014/main" val="3903576966"/>
                  </a:ext>
                </a:extLst>
              </a:tr>
              <a:tr h="264881">
                <a:tc>
                  <a:txBody>
                    <a:bodyPr/>
                    <a:lstStyle/>
                    <a:p>
                      <a:r>
                        <a:rPr lang="en-US" noProof="0" dirty="0"/>
                        <a:t>0</a:t>
                      </a:r>
                    </a:p>
                  </a:txBody>
                  <a:tcPr/>
                </a:tc>
                <a:tc>
                  <a:txBody>
                    <a:bodyPr/>
                    <a:lstStyle/>
                    <a:p>
                      <a:r>
                        <a:rPr lang="en-US" noProof="0" dirty="0"/>
                        <a:t>3</a:t>
                      </a:r>
                    </a:p>
                  </a:txBody>
                  <a:tcPr/>
                </a:tc>
                <a:extLst>
                  <a:ext uri="{0D108BD9-81ED-4DB2-BD59-A6C34878D82A}">
                    <a16:rowId xmlns:a16="http://schemas.microsoft.com/office/drawing/2014/main" val="72745720"/>
                  </a:ext>
                </a:extLst>
              </a:tr>
              <a:tr h="264881">
                <a:tc>
                  <a:txBody>
                    <a:bodyPr/>
                    <a:lstStyle/>
                    <a:p>
                      <a:r>
                        <a:rPr lang="en-US" noProof="0" dirty="0"/>
                        <a:t>1</a:t>
                      </a:r>
                    </a:p>
                  </a:txBody>
                  <a:tcPr/>
                </a:tc>
                <a:tc>
                  <a:txBody>
                    <a:bodyPr/>
                    <a:lstStyle/>
                    <a:p>
                      <a:r>
                        <a:rPr lang="en-US" noProof="0" dirty="0"/>
                        <a:t>4</a:t>
                      </a:r>
                    </a:p>
                  </a:txBody>
                  <a:tcPr/>
                </a:tc>
                <a:extLst>
                  <a:ext uri="{0D108BD9-81ED-4DB2-BD59-A6C34878D82A}">
                    <a16:rowId xmlns:a16="http://schemas.microsoft.com/office/drawing/2014/main" val="3709935227"/>
                  </a:ext>
                </a:extLst>
              </a:tr>
              <a:tr h="264881">
                <a:tc>
                  <a:txBody>
                    <a:bodyPr/>
                    <a:lstStyle/>
                    <a:p>
                      <a:r>
                        <a:rPr lang="en-US" noProof="0" dirty="0"/>
                        <a:t>2</a:t>
                      </a:r>
                    </a:p>
                  </a:txBody>
                  <a:tcPr/>
                </a:tc>
                <a:tc>
                  <a:txBody>
                    <a:bodyPr/>
                    <a:lstStyle/>
                    <a:p>
                      <a:r>
                        <a:rPr lang="en-US" noProof="0" dirty="0"/>
                        <a:t>5</a:t>
                      </a:r>
                    </a:p>
                  </a:txBody>
                  <a:tcPr/>
                </a:tc>
                <a:extLst>
                  <a:ext uri="{0D108BD9-81ED-4DB2-BD59-A6C34878D82A}">
                    <a16:rowId xmlns:a16="http://schemas.microsoft.com/office/drawing/2014/main" val="1218015429"/>
                  </a:ext>
                </a:extLst>
              </a:tr>
              <a:tr h="264881">
                <a:tc>
                  <a:txBody>
                    <a:bodyPr/>
                    <a:lstStyle/>
                    <a:p>
                      <a:r>
                        <a:rPr lang="en-US" noProof="0" dirty="0"/>
                        <a:t>3</a:t>
                      </a:r>
                    </a:p>
                  </a:txBody>
                  <a:tcPr/>
                </a:tc>
                <a:tc>
                  <a:txBody>
                    <a:bodyPr/>
                    <a:lstStyle/>
                    <a:p>
                      <a:r>
                        <a:rPr lang="en-US" noProof="0" dirty="0"/>
                        <a:t>6</a:t>
                      </a:r>
                    </a:p>
                  </a:txBody>
                  <a:tcPr/>
                </a:tc>
                <a:extLst>
                  <a:ext uri="{0D108BD9-81ED-4DB2-BD59-A6C34878D82A}">
                    <a16:rowId xmlns:a16="http://schemas.microsoft.com/office/drawing/2014/main" val="1678804184"/>
                  </a:ext>
                </a:extLst>
              </a:tr>
              <a:tr h="264881">
                <a:tc>
                  <a:txBody>
                    <a:bodyPr/>
                    <a:lstStyle/>
                    <a:p>
                      <a:r>
                        <a:rPr lang="en-US" noProof="0" dirty="0"/>
                        <a:t>4</a:t>
                      </a:r>
                    </a:p>
                  </a:txBody>
                  <a:tcPr/>
                </a:tc>
                <a:tc>
                  <a:txBody>
                    <a:bodyPr/>
                    <a:lstStyle/>
                    <a:p>
                      <a:r>
                        <a:rPr lang="en-US" noProof="0" dirty="0"/>
                        <a:t>7</a:t>
                      </a:r>
                    </a:p>
                  </a:txBody>
                  <a:tcPr/>
                </a:tc>
                <a:extLst>
                  <a:ext uri="{0D108BD9-81ED-4DB2-BD59-A6C34878D82A}">
                    <a16:rowId xmlns:a16="http://schemas.microsoft.com/office/drawing/2014/main" val="2054093264"/>
                  </a:ext>
                </a:extLst>
              </a:tr>
              <a:tr h="264881">
                <a:tc>
                  <a:txBody>
                    <a:bodyPr/>
                    <a:lstStyle/>
                    <a:p>
                      <a:r>
                        <a:rPr lang="en-US" noProof="0" dirty="0"/>
                        <a:t>5</a:t>
                      </a:r>
                    </a:p>
                  </a:txBody>
                  <a:tcPr/>
                </a:tc>
                <a:tc>
                  <a:txBody>
                    <a:bodyPr/>
                    <a:lstStyle/>
                    <a:p>
                      <a:r>
                        <a:rPr lang="en-US" noProof="0" dirty="0"/>
                        <a:t>8</a:t>
                      </a:r>
                    </a:p>
                  </a:txBody>
                  <a:tcPr/>
                </a:tc>
                <a:extLst>
                  <a:ext uri="{0D108BD9-81ED-4DB2-BD59-A6C34878D82A}">
                    <a16:rowId xmlns:a16="http://schemas.microsoft.com/office/drawing/2014/main" val="2573158150"/>
                  </a:ext>
                </a:extLst>
              </a:tr>
              <a:tr h="264881">
                <a:tc>
                  <a:txBody>
                    <a:bodyPr/>
                    <a:lstStyle/>
                    <a:p>
                      <a:r>
                        <a:rPr lang="en-US" noProof="0" dirty="0"/>
                        <a:t>6</a:t>
                      </a:r>
                    </a:p>
                  </a:txBody>
                  <a:tcPr/>
                </a:tc>
                <a:tc>
                  <a:txBody>
                    <a:bodyPr/>
                    <a:lstStyle/>
                    <a:p>
                      <a:r>
                        <a:rPr lang="en-US" noProof="0" dirty="0"/>
                        <a:t>9</a:t>
                      </a:r>
                    </a:p>
                  </a:txBody>
                  <a:tcPr/>
                </a:tc>
                <a:extLst>
                  <a:ext uri="{0D108BD9-81ED-4DB2-BD59-A6C34878D82A}">
                    <a16:rowId xmlns:a16="http://schemas.microsoft.com/office/drawing/2014/main" val="1507287111"/>
                  </a:ext>
                </a:extLst>
              </a:tr>
              <a:tr h="264881">
                <a:tc>
                  <a:txBody>
                    <a:bodyPr/>
                    <a:lstStyle/>
                    <a:p>
                      <a:r>
                        <a:rPr lang="en-US" noProof="0" dirty="0"/>
                        <a:t>7</a:t>
                      </a:r>
                    </a:p>
                  </a:txBody>
                  <a:tcPr/>
                </a:tc>
                <a:tc>
                  <a:txBody>
                    <a:bodyPr/>
                    <a:lstStyle/>
                    <a:p>
                      <a:r>
                        <a:rPr lang="en-US" noProof="0" dirty="0"/>
                        <a:t>10</a:t>
                      </a:r>
                    </a:p>
                  </a:txBody>
                  <a:tcPr/>
                </a:tc>
                <a:extLst>
                  <a:ext uri="{0D108BD9-81ED-4DB2-BD59-A6C34878D82A}">
                    <a16:rowId xmlns:a16="http://schemas.microsoft.com/office/drawing/2014/main" val="3758714248"/>
                  </a:ext>
                </a:extLst>
              </a:tr>
              <a:tr h="264881">
                <a:tc>
                  <a:txBody>
                    <a:bodyPr/>
                    <a:lstStyle/>
                    <a:p>
                      <a:r>
                        <a:rPr lang="en-US" noProof="0" dirty="0"/>
                        <a:t>8</a:t>
                      </a:r>
                    </a:p>
                  </a:txBody>
                  <a:tcPr/>
                </a:tc>
                <a:tc>
                  <a:txBody>
                    <a:bodyPr/>
                    <a:lstStyle/>
                    <a:p>
                      <a:r>
                        <a:rPr lang="en-US" noProof="0" dirty="0"/>
                        <a:t>11</a:t>
                      </a:r>
                    </a:p>
                  </a:txBody>
                  <a:tcPr/>
                </a:tc>
                <a:extLst>
                  <a:ext uri="{0D108BD9-81ED-4DB2-BD59-A6C34878D82A}">
                    <a16:rowId xmlns:a16="http://schemas.microsoft.com/office/drawing/2014/main" val="3990282483"/>
                  </a:ext>
                </a:extLst>
              </a:tr>
              <a:tr h="264881">
                <a:tc>
                  <a:txBody>
                    <a:bodyPr/>
                    <a:lstStyle/>
                    <a:p>
                      <a:r>
                        <a:rPr lang="en-US" noProof="0" dirty="0"/>
                        <a:t>9</a:t>
                      </a:r>
                    </a:p>
                  </a:txBody>
                  <a:tcPr/>
                </a:tc>
                <a:tc>
                  <a:txBody>
                    <a:bodyPr/>
                    <a:lstStyle/>
                    <a:p>
                      <a:r>
                        <a:rPr lang="en-US" noProof="0" dirty="0"/>
                        <a:t>12</a:t>
                      </a:r>
                    </a:p>
                  </a:txBody>
                  <a:tcPr/>
                </a:tc>
                <a:extLst>
                  <a:ext uri="{0D108BD9-81ED-4DB2-BD59-A6C34878D82A}">
                    <a16:rowId xmlns:a16="http://schemas.microsoft.com/office/drawing/2014/main" val="1748852930"/>
                  </a:ext>
                </a:extLst>
              </a:tr>
              <a:tr h="264881">
                <a:tc>
                  <a:txBody>
                    <a:bodyPr/>
                    <a:lstStyle/>
                    <a:p>
                      <a:r>
                        <a:rPr lang="en-US" noProof="0" dirty="0"/>
                        <a:t>10</a:t>
                      </a:r>
                    </a:p>
                  </a:txBody>
                  <a:tcPr/>
                </a:tc>
                <a:tc>
                  <a:txBody>
                    <a:bodyPr/>
                    <a:lstStyle/>
                    <a:p>
                      <a:r>
                        <a:rPr lang="en-US" noProof="0" dirty="0"/>
                        <a:t>13</a:t>
                      </a:r>
                    </a:p>
                  </a:txBody>
                  <a:tcPr/>
                </a:tc>
                <a:extLst>
                  <a:ext uri="{0D108BD9-81ED-4DB2-BD59-A6C34878D82A}">
                    <a16:rowId xmlns:a16="http://schemas.microsoft.com/office/drawing/2014/main" val="1345536630"/>
                  </a:ext>
                </a:extLst>
              </a:tr>
            </a:tbl>
          </a:graphicData>
        </a:graphic>
      </p:graphicFrame>
    </p:spTree>
    <p:extLst>
      <p:ext uri="{BB962C8B-B14F-4D97-AF65-F5344CB8AC3E}">
        <p14:creationId xmlns:p14="http://schemas.microsoft.com/office/powerpoint/2010/main" val="2779088019"/>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7A5DBB-97C4-F117-3142-F4BBE8A1FF06}"/>
              </a:ext>
            </a:extLst>
          </p:cNvPr>
          <p:cNvSpPr>
            <a:spLocks noGrp="1"/>
          </p:cNvSpPr>
          <p:nvPr>
            <p:ph type="title"/>
          </p:nvPr>
        </p:nvSpPr>
        <p:spPr>
          <a:xfrm>
            <a:off x="838200" y="95694"/>
            <a:ext cx="10515600" cy="616688"/>
          </a:xfrm>
        </p:spPr>
        <p:txBody>
          <a:bodyPr>
            <a:normAutofit fontScale="90000"/>
          </a:bodyPr>
          <a:lstStyle/>
          <a:p>
            <a:r>
              <a:rPr lang="en-US" noProof="0" dirty="0"/>
              <a:t>Regression Metrics Evaluation</a:t>
            </a:r>
          </a:p>
        </p:txBody>
      </p:sp>
      <mc:AlternateContent xmlns:mc="http://schemas.openxmlformats.org/markup-compatibility/2006">
        <mc:Choice xmlns:a14="http://schemas.microsoft.com/office/drawing/2010/main" Requires="a14">
          <p:graphicFrame>
            <p:nvGraphicFramePr>
              <p:cNvPr id="4" name="Content Placeholder 3">
                <a:extLst>
                  <a:ext uri="{FF2B5EF4-FFF2-40B4-BE49-F238E27FC236}">
                    <a16:creationId xmlns:a16="http://schemas.microsoft.com/office/drawing/2014/main" id="{C2CC25F8-6752-E6E6-17A1-B7F8B00E71F5}"/>
                  </a:ext>
                </a:extLst>
              </p:cNvPr>
              <p:cNvGraphicFramePr>
                <a:graphicFrameLocks noGrp="1"/>
              </p:cNvGraphicFramePr>
              <p:nvPr>
                <p:ph idx="1"/>
                <p:extLst>
                  <p:ext uri="{D42A27DB-BD31-4B8C-83A1-F6EECF244321}">
                    <p14:modId xmlns:p14="http://schemas.microsoft.com/office/powerpoint/2010/main" val="443675273"/>
                  </p:ext>
                </p:extLst>
              </p:nvPr>
            </p:nvGraphicFramePr>
            <p:xfrm>
              <a:off x="393405" y="850606"/>
              <a:ext cx="11344939" cy="5974411"/>
            </p:xfrm>
            <a:graphic>
              <a:graphicData uri="http://schemas.openxmlformats.org/drawingml/2006/table">
                <a:tbl>
                  <a:tblPr>
                    <a:tableStyleId>{E8B1032C-EA38-4F05-BA0D-38AFFFC7BED3}</a:tableStyleId>
                  </a:tblPr>
                  <a:tblGrid>
                    <a:gridCol w="1022842">
                      <a:extLst>
                        <a:ext uri="{9D8B030D-6E8A-4147-A177-3AD203B41FA5}">
                          <a16:colId xmlns:a16="http://schemas.microsoft.com/office/drawing/2014/main" val="3571068989"/>
                        </a:ext>
                      </a:extLst>
                    </a:gridCol>
                    <a:gridCol w="2305695">
                      <a:extLst>
                        <a:ext uri="{9D8B030D-6E8A-4147-A177-3AD203B41FA5}">
                          <a16:colId xmlns:a16="http://schemas.microsoft.com/office/drawing/2014/main" val="2841260163"/>
                        </a:ext>
                      </a:extLst>
                    </a:gridCol>
                    <a:gridCol w="3120145">
                      <a:extLst>
                        <a:ext uri="{9D8B030D-6E8A-4147-A177-3AD203B41FA5}">
                          <a16:colId xmlns:a16="http://schemas.microsoft.com/office/drawing/2014/main" val="4066360817"/>
                        </a:ext>
                      </a:extLst>
                    </a:gridCol>
                    <a:gridCol w="2145100">
                      <a:extLst>
                        <a:ext uri="{9D8B030D-6E8A-4147-A177-3AD203B41FA5}">
                          <a16:colId xmlns:a16="http://schemas.microsoft.com/office/drawing/2014/main" val="121328166"/>
                        </a:ext>
                      </a:extLst>
                    </a:gridCol>
                    <a:gridCol w="2751157">
                      <a:extLst>
                        <a:ext uri="{9D8B030D-6E8A-4147-A177-3AD203B41FA5}">
                          <a16:colId xmlns:a16="http://schemas.microsoft.com/office/drawing/2014/main" val="1813311693"/>
                        </a:ext>
                      </a:extLst>
                    </a:gridCol>
                  </a:tblGrid>
                  <a:tr h="719673">
                    <a:tc>
                      <a:txBody>
                        <a:bodyPr/>
                        <a:lstStyle/>
                        <a:p>
                          <a:pPr>
                            <a:buNone/>
                          </a:pPr>
                          <a:r>
                            <a:rPr lang="en-US" sz="2000" b="1" noProof="0" dirty="0"/>
                            <a:t>Metric</a:t>
                          </a:r>
                          <a:endParaRPr lang="en-US" sz="2000" noProof="0" dirty="0"/>
                        </a:p>
                      </a:txBody>
                      <a:tcPr anchor="ctr"/>
                    </a:tc>
                    <a:tc>
                      <a:txBody>
                        <a:bodyPr/>
                        <a:lstStyle/>
                        <a:p>
                          <a:pPr>
                            <a:buNone/>
                          </a:pPr>
                          <a:r>
                            <a:rPr lang="en-US" sz="2000" b="1" noProof="0" dirty="0"/>
                            <a:t>Full Form</a:t>
                          </a:r>
                          <a:endParaRPr lang="en-US" sz="2000" noProof="0" dirty="0"/>
                        </a:p>
                      </a:txBody>
                      <a:tcPr anchor="ctr"/>
                    </a:tc>
                    <a:tc>
                      <a:txBody>
                        <a:bodyPr/>
                        <a:lstStyle/>
                        <a:p>
                          <a:pPr>
                            <a:buNone/>
                          </a:pPr>
                          <a:r>
                            <a:rPr lang="en-US" sz="2000" b="1" noProof="0" dirty="0"/>
                            <a:t>Formula</a:t>
                          </a:r>
                          <a:endParaRPr lang="en-US" sz="2000" noProof="0" dirty="0"/>
                        </a:p>
                      </a:txBody>
                      <a:tcPr anchor="ctr"/>
                    </a:tc>
                    <a:tc>
                      <a:txBody>
                        <a:bodyPr/>
                        <a:lstStyle/>
                        <a:p>
                          <a:pPr>
                            <a:buNone/>
                          </a:pPr>
                          <a:r>
                            <a:rPr lang="en-US" sz="2000" b="1" noProof="0" dirty="0"/>
                            <a:t>Range / Ideal Value</a:t>
                          </a:r>
                          <a:endParaRPr lang="en-US" sz="2000" noProof="0" dirty="0"/>
                        </a:p>
                      </a:txBody>
                      <a:tcPr anchor="ctr"/>
                    </a:tc>
                    <a:tc>
                      <a:txBody>
                        <a:bodyPr/>
                        <a:lstStyle/>
                        <a:p>
                          <a:pPr>
                            <a:buNone/>
                          </a:pPr>
                          <a:r>
                            <a:rPr lang="en-US" sz="2000" b="1" noProof="0" dirty="0"/>
                            <a:t>Intuition (Meaning)</a:t>
                          </a:r>
                          <a:endParaRPr lang="en-US" sz="2000" noProof="0" dirty="0"/>
                        </a:p>
                      </a:txBody>
                      <a:tcPr anchor="ctr"/>
                    </a:tc>
                    <a:extLst>
                      <a:ext uri="{0D108BD9-81ED-4DB2-BD59-A6C34878D82A}">
                        <a16:rowId xmlns:a16="http://schemas.microsoft.com/office/drawing/2014/main" val="580338717"/>
                      </a:ext>
                    </a:extLst>
                  </a:tr>
                  <a:tr h="1359383">
                    <a:tc>
                      <a:txBody>
                        <a:bodyPr/>
                        <a:lstStyle/>
                        <a:p>
                          <a:pPr>
                            <a:buNone/>
                          </a:pPr>
                          <a:r>
                            <a:rPr lang="en-US" sz="2000" b="1" noProof="0" dirty="0"/>
                            <a:t>R²</a:t>
                          </a:r>
                          <a:endParaRPr lang="en-US" sz="2000" noProof="0" dirty="0"/>
                        </a:p>
                      </a:txBody>
                      <a:tcPr anchor="ctr"/>
                    </a:tc>
                    <a:tc>
                      <a:txBody>
                        <a:bodyPr/>
                        <a:lstStyle/>
                        <a:p>
                          <a:pPr>
                            <a:buNone/>
                          </a:pPr>
                          <a:r>
                            <a:rPr lang="en-US" sz="2000" noProof="0" dirty="0"/>
                            <a:t>Coefficient of Determination</a:t>
                          </a:r>
                        </a:p>
                      </a:txBody>
                      <a:tcPr anchor="ctr"/>
                    </a:tc>
                    <a:tc>
                      <a:txBody>
                        <a:bodyPr/>
                        <a:lstStyle/>
                        <a:p>
                          <a:pPr>
                            <a:buNone/>
                          </a:pPr>
                          <a14:m>
                            <m:oMathPara xmlns:m="http://schemas.openxmlformats.org/officeDocument/2006/math">
                              <m:oMathParaPr>
                                <m:jc m:val="centerGroup"/>
                              </m:oMathParaPr>
                              <m:oMath xmlns:m="http://schemas.openxmlformats.org/officeDocument/2006/math">
                                <m:r>
                                  <a:rPr lang="en-US" sz="2000" b="0" noProof="0" smtClean="0">
                                    <a:latin typeface="Cambria Math" panose="02040503050406030204" pitchFamily="18" charset="0"/>
                                  </a:rPr>
                                  <m:t>1 − </m:t>
                                </m:r>
                                <m:f>
                                  <m:fPr>
                                    <m:ctrlPr>
                                      <a:rPr lang="en-US" sz="2000" b="0" i="1" noProof="0" smtClean="0">
                                        <a:latin typeface="Cambria Math" panose="02040503050406030204" pitchFamily="18" charset="0"/>
                                      </a:rPr>
                                    </m:ctrlPr>
                                  </m:fPr>
                                  <m:num>
                                    <m:r>
                                      <a:rPr lang="en-US" sz="2000" b="0" noProof="0" smtClean="0">
                                        <a:latin typeface="Cambria Math" panose="02040503050406030204" pitchFamily="18" charset="0"/>
                                      </a:rPr>
                                      <m:t>𝑆𝑆𝐸</m:t>
                                    </m:r>
                                  </m:num>
                                  <m:den>
                                    <m:r>
                                      <a:rPr lang="en-US" sz="2000" b="0" noProof="0" smtClean="0">
                                        <a:latin typeface="Cambria Math" panose="02040503050406030204" pitchFamily="18" charset="0"/>
                                      </a:rPr>
                                      <m:t>𝑇𝑆𝑆</m:t>
                                    </m:r>
                                  </m:den>
                                </m:f>
                                <m:r>
                                  <a:rPr lang="en-US" sz="2000" b="0" noProof="0" smtClean="0">
                                    <a:latin typeface="Cambria Math" panose="02040503050406030204" pitchFamily="18" charset="0"/>
                                  </a:rPr>
                                  <m:t> </m:t>
                                </m:r>
                              </m:oMath>
                            </m:oMathPara>
                          </a14:m>
                          <a:endParaRPr lang="en-US" sz="2000" noProof="0" dirty="0"/>
                        </a:p>
                      </a:txBody>
                      <a:tcPr anchor="ctr"/>
                    </a:tc>
                    <a:tc>
                      <a:txBody>
                        <a:bodyPr/>
                        <a:lstStyle/>
                        <a:p>
                          <a:pPr>
                            <a:buNone/>
                          </a:pPr>
                          <a:r>
                            <a:rPr lang="en-US" sz="2000" noProof="0" dirty="0"/>
                            <a:t>0 to 1 </a:t>
                          </a:r>
                        </a:p>
                        <a:p>
                          <a:pPr>
                            <a:buNone/>
                          </a:pPr>
                          <a:r>
                            <a:rPr lang="en-US" sz="2000" noProof="0" dirty="0"/>
                            <a:t>(higher = better)</a:t>
                          </a:r>
                        </a:p>
                      </a:txBody>
                      <a:tcPr anchor="ctr"/>
                    </a:tc>
                    <a:tc>
                      <a:txBody>
                        <a:bodyPr/>
                        <a:lstStyle/>
                        <a:p>
                          <a:pPr>
                            <a:buNone/>
                          </a:pPr>
                          <a:r>
                            <a:rPr lang="en-US" sz="2000" noProof="0" dirty="0"/>
                            <a:t>How well the model explains variation in Y, 1 = perfect prediction</a:t>
                          </a:r>
                        </a:p>
                      </a:txBody>
                      <a:tcPr anchor="ctr"/>
                    </a:tc>
                    <a:extLst>
                      <a:ext uri="{0D108BD9-81ED-4DB2-BD59-A6C34878D82A}">
                        <a16:rowId xmlns:a16="http://schemas.microsoft.com/office/drawing/2014/main" val="3721828721"/>
                      </a:ext>
                    </a:extLst>
                  </a:tr>
                  <a:tr h="971948">
                    <a:tc>
                      <a:txBody>
                        <a:bodyPr/>
                        <a:lstStyle/>
                        <a:p>
                          <a:pPr>
                            <a:buNone/>
                          </a:pPr>
                          <a:r>
                            <a:rPr lang="en-US" sz="2000" b="1" noProof="0" dirty="0"/>
                            <a:t>MAE</a:t>
                          </a:r>
                          <a:endParaRPr lang="en-US" sz="2000" noProof="0" dirty="0"/>
                        </a:p>
                      </a:txBody>
                      <a:tcPr anchor="ctr"/>
                    </a:tc>
                    <a:tc>
                      <a:txBody>
                        <a:bodyPr/>
                        <a:lstStyle/>
                        <a:p>
                          <a:pPr>
                            <a:buNone/>
                          </a:pPr>
                          <a:r>
                            <a:rPr lang="en-US" sz="2000" noProof="0" dirty="0"/>
                            <a:t>Mean Absolute Error</a:t>
                          </a:r>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f>
                                  <m:fPr>
                                    <m:ctrlPr>
                                      <a:rPr lang="en-US" sz="2000" b="0" i="1" noProof="0" smtClean="0">
                                        <a:latin typeface="Cambria Math" panose="02040503050406030204" pitchFamily="18" charset="0"/>
                                      </a:rPr>
                                    </m:ctrlPr>
                                  </m:fPr>
                                  <m:num>
                                    <m:r>
                                      <m:rPr>
                                        <m:nor/>
                                      </m:rPr>
                                      <a:rPr lang="en-US" sz="2000" noProof="0" smtClean="0"/>
                                      <m:t>Sum</m:t>
                                    </m:r>
                                    <m:r>
                                      <m:rPr>
                                        <m:nor/>
                                      </m:rPr>
                                      <a:rPr lang="en-US" sz="2000" b="0" i="0" noProof="0" smtClean="0"/>
                                      <m:t> |</m:t>
                                    </m:r>
                                    <m:sSub>
                                      <m:sSubPr>
                                        <m:ctrlPr>
                                          <a:rPr lang="en-US" sz="2000" i="1" noProof="0" smtClean="0">
                                            <a:solidFill>
                                              <a:srgbClr val="836967"/>
                                            </a:solidFill>
                                            <a:latin typeface="Cambria Math" panose="02040503050406030204" pitchFamily="18" charset="0"/>
                                          </a:rPr>
                                        </m:ctrlPr>
                                      </m:sSubPr>
                                      <m:e>
                                        <m:r>
                                          <a:rPr lang="en-US" sz="2000" noProof="0" smtClean="0">
                                            <a:latin typeface="Cambria Math" panose="02040503050406030204" pitchFamily="18" charset="0"/>
                                          </a:rPr>
                                          <m:t>𝑦</m:t>
                                        </m:r>
                                      </m:e>
                                      <m:sub>
                                        <m:r>
                                          <a:rPr lang="en-US" sz="2000" noProof="0" smtClean="0">
                                            <a:latin typeface="Cambria Math" panose="02040503050406030204" pitchFamily="18" charset="0"/>
                                          </a:rPr>
                                          <m:t>𝑖</m:t>
                                        </m:r>
                                      </m:sub>
                                    </m:sSub>
                                    <m:r>
                                      <a:rPr lang="en-US" sz="2000" noProof="0" smtClean="0">
                                        <a:latin typeface="Cambria Math" panose="02040503050406030204" pitchFamily="18" charset="0"/>
                                      </a:rPr>
                                      <m:t>−</m:t>
                                    </m:r>
                                    <m:sSub>
                                      <m:sSubPr>
                                        <m:ctrlPr>
                                          <a:rPr lang="en-US" sz="2000" i="1" noProof="0" smtClean="0">
                                            <a:solidFill>
                                              <a:srgbClr val="836967"/>
                                            </a:solidFill>
                                            <a:latin typeface="Cambria Math" panose="02040503050406030204" pitchFamily="18" charset="0"/>
                                          </a:rPr>
                                        </m:ctrlPr>
                                      </m:sSubPr>
                                      <m:e>
                                        <m:acc>
                                          <m:accPr>
                                            <m:chr m:val="̂"/>
                                            <m:ctrlPr>
                                              <a:rPr lang="en-US" sz="2000" i="1" noProof="0" smtClean="0">
                                                <a:solidFill>
                                                  <a:srgbClr val="836967"/>
                                                </a:solidFill>
                                                <a:latin typeface="Cambria Math" panose="02040503050406030204" pitchFamily="18" charset="0"/>
                                              </a:rPr>
                                            </m:ctrlPr>
                                          </m:accPr>
                                          <m:e>
                                            <m:r>
                                              <a:rPr lang="en-US" sz="2000" noProof="0" smtClean="0">
                                                <a:latin typeface="Cambria Math" panose="02040503050406030204" pitchFamily="18" charset="0"/>
                                              </a:rPr>
                                              <m:t>𝑦</m:t>
                                            </m:r>
                                          </m:e>
                                        </m:acc>
                                      </m:e>
                                      <m:sub>
                                        <m:r>
                                          <a:rPr lang="en-US" sz="2000" noProof="0" smtClean="0">
                                            <a:latin typeface="Cambria Math" panose="02040503050406030204" pitchFamily="18" charset="0"/>
                                          </a:rPr>
                                          <m:t>𝑖</m:t>
                                        </m:r>
                                      </m:sub>
                                    </m:sSub>
                                    <m:r>
                                      <m:rPr>
                                        <m:nor/>
                                      </m:rPr>
                                      <a:rPr lang="en-US" sz="2000" b="0" i="0" noProof="0" smtClean="0">
                                        <a:latin typeface="Cambria Math" panose="02040503050406030204" pitchFamily="18" charset="0"/>
                                      </a:rPr>
                                      <m:t>|</m:t>
                                    </m:r>
                                  </m:num>
                                  <m:den>
                                    <m:r>
                                      <m:rPr>
                                        <m:sty m:val="p"/>
                                      </m:rPr>
                                      <a:rPr lang="en-US" sz="2000" b="0" i="0" noProof="0" smtClean="0">
                                        <a:latin typeface="Cambria Math" panose="02040503050406030204" pitchFamily="18" charset="0"/>
                                      </a:rPr>
                                      <m:t>n</m:t>
                                    </m:r>
                                  </m:den>
                                </m:f>
                                <m:r>
                                  <a:rPr lang="en-US" sz="2000" b="0" noProof="0" smtClean="0">
                                    <a:latin typeface="Cambria Math" panose="02040503050406030204" pitchFamily="18" charset="0"/>
                                  </a:rPr>
                                  <m:t> </m:t>
                                </m:r>
                              </m:oMath>
                            </m:oMathPara>
                          </a14:m>
                          <a:endParaRPr lang="en-US" sz="2000" noProof="0"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2000" noProof="0" dirty="0"/>
                        </a:p>
                        <a:p>
                          <a:pPr>
                            <a:buNone/>
                          </a:pPr>
                          <a:endParaRPr lang="en-US" sz="2000" noProof="0" dirty="0"/>
                        </a:p>
                      </a:txBody>
                      <a:tcPr anchor="ctr"/>
                    </a:tc>
                    <a:tc>
                      <a:txBody>
                        <a:bodyPr/>
                        <a:lstStyle/>
                        <a:p>
                          <a:pPr>
                            <a:buNone/>
                          </a:pPr>
                          <a14:m>
                            <m:oMathPara xmlns:m="http://schemas.openxmlformats.org/officeDocument/2006/math">
                              <m:oMathParaPr>
                                <m:jc m:val="centerGroup"/>
                              </m:oMathParaPr>
                              <m:oMath xmlns:m="http://schemas.openxmlformats.org/officeDocument/2006/math">
                                <m:sSub>
                                  <m:sSubPr>
                                    <m:ctrlPr>
                                      <a:rPr lang="en-US" sz="2000" i="1" noProof="0" smtClean="0">
                                        <a:solidFill>
                                          <a:srgbClr val="836967"/>
                                        </a:solidFill>
                                        <a:latin typeface="Cambria Math" panose="02040503050406030204" pitchFamily="18" charset="0"/>
                                      </a:rPr>
                                    </m:ctrlPr>
                                  </m:sSubPr>
                                  <m:e>
                                    <m:r>
                                      <a:rPr lang="en-US" sz="2000" noProof="0" smtClean="0">
                                        <a:latin typeface="Cambria Math" panose="02040503050406030204" pitchFamily="18" charset="0"/>
                                      </a:rPr>
                                      <m:t>𝑦</m:t>
                                    </m:r>
                                  </m:e>
                                  <m:sub>
                                    <m:r>
                                      <a:rPr lang="en-US" sz="2000" noProof="0" smtClean="0">
                                        <a:latin typeface="Cambria Math" panose="02040503050406030204" pitchFamily="18" charset="0"/>
                                      </a:rPr>
                                      <m:t>𝑖</m:t>
                                    </m:r>
                                  </m:sub>
                                </m:sSub>
                                <m:r>
                                  <a:rPr lang="en-US" sz="2000" noProof="0" smtClean="0">
                                    <a:latin typeface="Cambria Math" panose="02040503050406030204" pitchFamily="18" charset="0"/>
                                  </a:rPr>
                                  <m:t>−</m:t>
                                </m:r>
                                <m:sSub>
                                  <m:sSubPr>
                                    <m:ctrlPr>
                                      <a:rPr lang="en-US" sz="2000" i="1" noProof="0" smtClean="0">
                                        <a:solidFill>
                                          <a:srgbClr val="836967"/>
                                        </a:solidFill>
                                        <a:latin typeface="Cambria Math" panose="02040503050406030204" pitchFamily="18" charset="0"/>
                                      </a:rPr>
                                    </m:ctrlPr>
                                  </m:sSubPr>
                                  <m:e>
                                    <m:acc>
                                      <m:accPr>
                                        <m:chr m:val="̂"/>
                                        <m:ctrlPr>
                                          <a:rPr lang="en-US" sz="2000" i="1" noProof="0" smtClean="0">
                                            <a:solidFill>
                                              <a:srgbClr val="836967"/>
                                            </a:solidFill>
                                            <a:latin typeface="Cambria Math" panose="02040503050406030204" pitchFamily="18" charset="0"/>
                                          </a:rPr>
                                        </m:ctrlPr>
                                      </m:accPr>
                                      <m:e>
                                        <m:r>
                                          <a:rPr lang="en-US" sz="2000" noProof="0" smtClean="0">
                                            <a:latin typeface="Cambria Math" panose="02040503050406030204" pitchFamily="18" charset="0"/>
                                          </a:rPr>
                                          <m:t>𝑦</m:t>
                                        </m:r>
                                      </m:e>
                                    </m:acc>
                                  </m:e>
                                  <m:sub>
                                    <m:r>
                                      <a:rPr lang="en-US" sz="2000" noProof="0" smtClean="0">
                                        <a:latin typeface="Cambria Math" panose="02040503050406030204" pitchFamily="18" charset="0"/>
                                      </a:rPr>
                                      <m:t>𝑖</m:t>
                                    </m:r>
                                  </m:sub>
                                </m:sSub>
                              </m:oMath>
                            </m:oMathPara>
                          </a14:m>
                          <a:endParaRPr lang="en-US" sz="2000" noProof="0" dirty="0"/>
                        </a:p>
                      </a:txBody>
                      <a:tcPr anchor="ctr"/>
                    </a:tc>
                    <a:tc>
                      <a:txBody>
                        <a:bodyPr/>
                        <a:lstStyle/>
                        <a:p>
                          <a:pPr>
                            <a:buNone/>
                          </a:pPr>
                          <a:r>
                            <a:rPr lang="en-US" sz="2000" noProof="0" dirty="0"/>
                            <a:t>Average error in predictions</a:t>
                          </a:r>
                        </a:p>
                      </a:txBody>
                      <a:tcPr anchor="ctr"/>
                    </a:tc>
                    <a:extLst>
                      <a:ext uri="{0D108BD9-81ED-4DB2-BD59-A6C34878D82A}">
                        <a16:rowId xmlns:a16="http://schemas.microsoft.com/office/drawing/2014/main" val="4026728376"/>
                      </a:ext>
                    </a:extLst>
                  </a:tr>
                  <a:tr h="1291803">
                    <a:tc>
                      <a:txBody>
                        <a:bodyPr/>
                        <a:lstStyle/>
                        <a:p>
                          <a:pPr>
                            <a:buNone/>
                          </a:pPr>
                          <a:r>
                            <a:rPr lang="en-US" sz="2000" b="1" noProof="0" dirty="0"/>
                            <a:t>MSE</a:t>
                          </a:r>
                          <a:endParaRPr lang="en-US" sz="2000" noProof="0" dirty="0"/>
                        </a:p>
                      </a:txBody>
                      <a:tcPr anchor="ctr"/>
                    </a:tc>
                    <a:tc>
                      <a:txBody>
                        <a:bodyPr/>
                        <a:lstStyle/>
                        <a:p>
                          <a:pPr>
                            <a:buNone/>
                          </a:pPr>
                          <a:r>
                            <a:rPr lang="en-US" sz="2000" noProof="0" dirty="0"/>
                            <a:t>Mean Squared Error</a:t>
                          </a:r>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f>
                                  <m:fPr>
                                    <m:ctrlPr>
                                      <a:rPr lang="en-US" sz="2000" b="0" i="1" noProof="0" smtClean="0">
                                        <a:latin typeface="Cambria Math" panose="02040503050406030204" pitchFamily="18" charset="0"/>
                                      </a:rPr>
                                    </m:ctrlPr>
                                  </m:fPr>
                                  <m:num>
                                    <m:r>
                                      <a:rPr lang="en-US" sz="2000" b="0" noProof="0" smtClean="0">
                                        <a:latin typeface="Cambria Math" panose="02040503050406030204" pitchFamily="18" charset="0"/>
                                      </a:rPr>
                                      <m:t>𝑆𝑆𝐸</m:t>
                                    </m:r>
                                  </m:num>
                                  <m:den>
                                    <m:r>
                                      <m:rPr>
                                        <m:sty m:val="p"/>
                                      </m:rPr>
                                      <a:rPr lang="en-US" sz="2000" b="0" i="0" noProof="0" smtClean="0">
                                        <a:latin typeface="Cambria Math" panose="02040503050406030204" pitchFamily="18" charset="0"/>
                                      </a:rPr>
                                      <m:t>n</m:t>
                                    </m:r>
                                  </m:den>
                                </m:f>
                              </m:oMath>
                            </m:oMathPara>
                          </a14:m>
                          <a:endParaRPr lang="en-US" sz="2000" noProof="0" dirty="0"/>
                        </a:p>
                      </a:txBody>
                      <a:tcPr anchor="ctr"/>
                    </a:tc>
                    <a:tc>
                      <a:txBody>
                        <a:bodyPr/>
                        <a:lstStyle/>
                        <a:p>
                          <a:pPr>
                            <a:buNone/>
                          </a:pPr>
                          <a:r>
                            <a:rPr lang="en-US" sz="2000" noProof="0" dirty="0"/>
                            <a:t>≥ 0</a:t>
                          </a:r>
                        </a:p>
                        <a:p>
                          <a:pPr>
                            <a:buNone/>
                          </a:pPr>
                          <a:r>
                            <a:rPr lang="en-US" sz="2000" noProof="0" dirty="0"/>
                            <a:t> (lower = better)</a:t>
                          </a:r>
                        </a:p>
                      </a:txBody>
                      <a:tcPr anchor="ctr"/>
                    </a:tc>
                    <a:tc>
                      <a:txBody>
                        <a:bodyPr/>
                        <a:lstStyle/>
                        <a:p>
                          <a:pPr>
                            <a:buNone/>
                          </a:pPr>
                          <a:r>
                            <a:rPr lang="en-US" sz="2000" noProof="0" dirty="0"/>
                            <a:t>Penalizes large errors more (since errors are squared)</a:t>
                          </a:r>
                        </a:p>
                      </a:txBody>
                      <a:tcPr anchor="ctr"/>
                    </a:tc>
                    <a:extLst>
                      <a:ext uri="{0D108BD9-81ED-4DB2-BD59-A6C34878D82A}">
                        <a16:rowId xmlns:a16="http://schemas.microsoft.com/office/drawing/2014/main" val="684812497"/>
                      </a:ext>
                    </a:extLst>
                  </a:tr>
                  <a:tr h="1324344">
                    <a:tc>
                      <a:txBody>
                        <a:bodyPr/>
                        <a:lstStyle/>
                        <a:p>
                          <a:pPr>
                            <a:buNone/>
                          </a:pPr>
                          <a:r>
                            <a:rPr lang="en-US" sz="2000" b="1" noProof="0" dirty="0"/>
                            <a:t>RMSE</a:t>
                          </a:r>
                          <a:endParaRPr lang="en-US" sz="2000" noProof="0" dirty="0"/>
                        </a:p>
                      </a:txBody>
                      <a:tcPr anchor="ctr"/>
                    </a:tc>
                    <a:tc>
                      <a:txBody>
                        <a:bodyPr/>
                        <a:lstStyle/>
                        <a:p>
                          <a:pPr>
                            <a:buNone/>
                          </a:pPr>
                          <a:r>
                            <a:rPr lang="en-US" sz="2000" noProof="0" dirty="0"/>
                            <a:t>Root Mean Squared Error</a:t>
                          </a:r>
                        </a:p>
                      </a:txBody>
                      <a:tcPr anchor="ctr"/>
                    </a:tc>
                    <a:tc>
                      <a:txBody>
                        <a:bodyPr/>
                        <a:lstStyle/>
                        <a:p>
                          <a:pPr>
                            <a:buNone/>
                          </a:pPr>
                          <a14:m>
                            <m:oMathPara xmlns:m="http://schemas.openxmlformats.org/officeDocument/2006/math">
                              <m:oMathParaPr>
                                <m:jc m:val="centerGroup"/>
                              </m:oMathParaPr>
                              <m:oMath xmlns:m="http://schemas.openxmlformats.org/officeDocument/2006/math">
                                <m:rad>
                                  <m:radPr>
                                    <m:degHide m:val="on"/>
                                    <m:ctrlPr>
                                      <a:rPr lang="en-US" sz="2000" i="1" noProof="0" smtClean="0">
                                        <a:latin typeface="Cambria Math" panose="02040503050406030204" pitchFamily="18" charset="0"/>
                                      </a:rPr>
                                    </m:ctrlPr>
                                  </m:radPr>
                                  <m:deg/>
                                  <m:e>
                                    <m:r>
                                      <a:rPr lang="en-US" sz="2000" i="1" noProof="0" smtClean="0">
                                        <a:latin typeface="Cambria Math" panose="02040503050406030204" pitchFamily="18" charset="0"/>
                                      </a:rPr>
                                      <m:t>𝑀𝑆𝐸</m:t>
                                    </m:r>
                                  </m:e>
                                </m:rad>
                              </m:oMath>
                            </m:oMathPara>
                          </a14:m>
                          <a:endParaRPr lang="en-US" sz="2000" noProof="0" dirty="0"/>
                        </a:p>
                      </a:txBody>
                      <a:tcPr anchor="ctr"/>
                    </a:tc>
                    <a:tc>
                      <a:txBody>
                        <a:bodyPr/>
                        <a:lstStyle/>
                        <a:p>
                          <a:pPr>
                            <a:buNone/>
                          </a:pPr>
                          <a:r>
                            <a:rPr lang="en-US" sz="2000" noProof="0" dirty="0"/>
                            <a:t>≥ 0 </a:t>
                          </a:r>
                        </a:p>
                        <a:p>
                          <a:pPr>
                            <a:buNone/>
                          </a:pPr>
                          <a:r>
                            <a:rPr lang="en-US" sz="2000" noProof="0" dirty="0"/>
                            <a:t>(lower = better)</a:t>
                          </a:r>
                        </a:p>
                      </a:txBody>
                      <a:tcPr anchor="ctr"/>
                    </a:tc>
                    <a:tc>
                      <a:txBody>
                        <a:bodyPr/>
                        <a:lstStyle/>
                        <a:p>
                          <a:pPr>
                            <a:buNone/>
                          </a:pPr>
                          <a:r>
                            <a:rPr lang="en-US" sz="2000" noProof="0" dirty="0"/>
                            <a:t>Same as MSE but in original units of Y — easier to interpret</a:t>
                          </a:r>
                        </a:p>
                      </a:txBody>
                      <a:tcPr anchor="ctr"/>
                    </a:tc>
                    <a:extLst>
                      <a:ext uri="{0D108BD9-81ED-4DB2-BD59-A6C34878D82A}">
                        <a16:rowId xmlns:a16="http://schemas.microsoft.com/office/drawing/2014/main" val="1445459520"/>
                      </a:ext>
                    </a:extLst>
                  </a:tr>
                </a:tbl>
              </a:graphicData>
            </a:graphic>
          </p:graphicFrame>
        </mc:Choice>
        <mc:Fallback>
          <p:graphicFrame>
            <p:nvGraphicFramePr>
              <p:cNvPr id="4" name="Content Placeholder 3">
                <a:extLst>
                  <a:ext uri="{FF2B5EF4-FFF2-40B4-BE49-F238E27FC236}">
                    <a16:creationId xmlns:a16="http://schemas.microsoft.com/office/drawing/2014/main" id="{C2CC25F8-6752-E6E6-17A1-B7F8B00E71F5}"/>
                  </a:ext>
                </a:extLst>
              </p:cNvPr>
              <p:cNvGraphicFramePr>
                <a:graphicFrameLocks noGrp="1"/>
              </p:cNvGraphicFramePr>
              <p:nvPr>
                <p:ph idx="1"/>
                <p:extLst>
                  <p:ext uri="{D42A27DB-BD31-4B8C-83A1-F6EECF244321}">
                    <p14:modId xmlns:p14="http://schemas.microsoft.com/office/powerpoint/2010/main" val="443675273"/>
                  </p:ext>
                </p:extLst>
              </p:nvPr>
            </p:nvGraphicFramePr>
            <p:xfrm>
              <a:off x="393405" y="850606"/>
              <a:ext cx="11344939" cy="5974411"/>
            </p:xfrm>
            <a:graphic>
              <a:graphicData uri="http://schemas.openxmlformats.org/drawingml/2006/table">
                <a:tbl>
                  <a:tblPr>
                    <a:tableStyleId>{E8B1032C-EA38-4F05-BA0D-38AFFFC7BED3}</a:tableStyleId>
                  </a:tblPr>
                  <a:tblGrid>
                    <a:gridCol w="1022842">
                      <a:extLst>
                        <a:ext uri="{9D8B030D-6E8A-4147-A177-3AD203B41FA5}">
                          <a16:colId xmlns:a16="http://schemas.microsoft.com/office/drawing/2014/main" val="3571068989"/>
                        </a:ext>
                      </a:extLst>
                    </a:gridCol>
                    <a:gridCol w="2305695">
                      <a:extLst>
                        <a:ext uri="{9D8B030D-6E8A-4147-A177-3AD203B41FA5}">
                          <a16:colId xmlns:a16="http://schemas.microsoft.com/office/drawing/2014/main" val="2841260163"/>
                        </a:ext>
                      </a:extLst>
                    </a:gridCol>
                    <a:gridCol w="3120145">
                      <a:extLst>
                        <a:ext uri="{9D8B030D-6E8A-4147-A177-3AD203B41FA5}">
                          <a16:colId xmlns:a16="http://schemas.microsoft.com/office/drawing/2014/main" val="4066360817"/>
                        </a:ext>
                      </a:extLst>
                    </a:gridCol>
                    <a:gridCol w="2145100">
                      <a:extLst>
                        <a:ext uri="{9D8B030D-6E8A-4147-A177-3AD203B41FA5}">
                          <a16:colId xmlns:a16="http://schemas.microsoft.com/office/drawing/2014/main" val="121328166"/>
                        </a:ext>
                      </a:extLst>
                    </a:gridCol>
                    <a:gridCol w="2751157">
                      <a:extLst>
                        <a:ext uri="{9D8B030D-6E8A-4147-A177-3AD203B41FA5}">
                          <a16:colId xmlns:a16="http://schemas.microsoft.com/office/drawing/2014/main" val="1813311693"/>
                        </a:ext>
                      </a:extLst>
                    </a:gridCol>
                  </a:tblGrid>
                  <a:tr h="719673">
                    <a:tc>
                      <a:txBody>
                        <a:bodyPr/>
                        <a:lstStyle/>
                        <a:p>
                          <a:pPr>
                            <a:buNone/>
                          </a:pPr>
                          <a:r>
                            <a:rPr lang="en-US" sz="2000" b="1" noProof="0" dirty="0"/>
                            <a:t>Metric</a:t>
                          </a:r>
                          <a:endParaRPr lang="en-US" sz="2000" noProof="0" dirty="0"/>
                        </a:p>
                      </a:txBody>
                      <a:tcPr anchor="ctr"/>
                    </a:tc>
                    <a:tc>
                      <a:txBody>
                        <a:bodyPr/>
                        <a:lstStyle/>
                        <a:p>
                          <a:pPr>
                            <a:buNone/>
                          </a:pPr>
                          <a:r>
                            <a:rPr lang="en-US" sz="2000" b="1" noProof="0" dirty="0"/>
                            <a:t>Full Form</a:t>
                          </a:r>
                          <a:endParaRPr lang="en-US" sz="2000" noProof="0" dirty="0"/>
                        </a:p>
                      </a:txBody>
                      <a:tcPr anchor="ctr"/>
                    </a:tc>
                    <a:tc>
                      <a:txBody>
                        <a:bodyPr/>
                        <a:lstStyle/>
                        <a:p>
                          <a:pPr>
                            <a:buNone/>
                          </a:pPr>
                          <a:r>
                            <a:rPr lang="en-US" sz="2000" b="1" noProof="0" dirty="0"/>
                            <a:t>Formula</a:t>
                          </a:r>
                          <a:endParaRPr lang="en-US" sz="2000" noProof="0" dirty="0"/>
                        </a:p>
                      </a:txBody>
                      <a:tcPr anchor="ctr"/>
                    </a:tc>
                    <a:tc>
                      <a:txBody>
                        <a:bodyPr/>
                        <a:lstStyle/>
                        <a:p>
                          <a:pPr>
                            <a:buNone/>
                          </a:pPr>
                          <a:r>
                            <a:rPr lang="en-US" sz="2000" b="1" noProof="0" dirty="0"/>
                            <a:t>Range / Ideal Value</a:t>
                          </a:r>
                          <a:endParaRPr lang="en-US" sz="2000" noProof="0" dirty="0"/>
                        </a:p>
                      </a:txBody>
                      <a:tcPr anchor="ctr"/>
                    </a:tc>
                    <a:tc>
                      <a:txBody>
                        <a:bodyPr/>
                        <a:lstStyle/>
                        <a:p>
                          <a:pPr>
                            <a:buNone/>
                          </a:pPr>
                          <a:r>
                            <a:rPr lang="en-US" sz="2000" b="1" noProof="0" dirty="0"/>
                            <a:t>Intuition (Meaning)</a:t>
                          </a:r>
                          <a:endParaRPr lang="en-US" sz="2000" noProof="0" dirty="0"/>
                        </a:p>
                      </a:txBody>
                      <a:tcPr anchor="ctr"/>
                    </a:tc>
                    <a:extLst>
                      <a:ext uri="{0D108BD9-81ED-4DB2-BD59-A6C34878D82A}">
                        <a16:rowId xmlns:a16="http://schemas.microsoft.com/office/drawing/2014/main" val="580338717"/>
                      </a:ext>
                    </a:extLst>
                  </a:tr>
                  <a:tr h="1359383">
                    <a:tc>
                      <a:txBody>
                        <a:bodyPr/>
                        <a:lstStyle/>
                        <a:p>
                          <a:pPr>
                            <a:buNone/>
                          </a:pPr>
                          <a:r>
                            <a:rPr lang="en-US" sz="2000" b="1" noProof="0" dirty="0"/>
                            <a:t>R²</a:t>
                          </a:r>
                          <a:endParaRPr lang="en-US" sz="2000" noProof="0" dirty="0"/>
                        </a:p>
                      </a:txBody>
                      <a:tcPr anchor="ctr"/>
                    </a:tc>
                    <a:tc>
                      <a:txBody>
                        <a:bodyPr/>
                        <a:lstStyle/>
                        <a:p>
                          <a:pPr>
                            <a:buNone/>
                          </a:pPr>
                          <a:r>
                            <a:rPr lang="en-US" sz="2000" noProof="0" dirty="0"/>
                            <a:t>Coefficient of Determination</a:t>
                          </a:r>
                        </a:p>
                      </a:txBody>
                      <a:tcPr anchor="ctr"/>
                    </a:tc>
                    <a:tc>
                      <a:txBody>
                        <a:bodyPr/>
                        <a:lstStyle/>
                        <a:p>
                          <a:endParaRPr lang="en-US"/>
                        </a:p>
                      </a:txBody>
                      <a:tcPr anchor="ctr">
                        <a:blipFill>
                          <a:blip r:embed="rId2"/>
                          <a:stretch>
                            <a:fillRect l="-106836" t="-54260" r="-157422" b="-287892"/>
                          </a:stretch>
                        </a:blipFill>
                      </a:tcPr>
                    </a:tc>
                    <a:tc>
                      <a:txBody>
                        <a:bodyPr/>
                        <a:lstStyle/>
                        <a:p>
                          <a:pPr>
                            <a:buNone/>
                          </a:pPr>
                          <a:r>
                            <a:rPr lang="en-US" sz="2000" noProof="0" dirty="0"/>
                            <a:t>0 to 1 </a:t>
                          </a:r>
                        </a:p>
                        <a:p>
                          <a:pPr>
                            <a:buNone/>
                          </a:pPr>
                          <a:r>
                            <a:rPr lang="en-US" sz="2000" noProof="0" dirty="0"/>
                            <a:t>(higher = better)</a:t>
                          </a:r>
                        </a:p>
                      </a:txBody>
                      <a:tcPr anchor="ctr"/>
                    </a:tc>
                    <a:tc>
                      <a:txBody>
                        <a:bodyPr/>
                        <a:lstStyle/>
                        <a:p>
                          <a:pPr>
                            <a:buNone/>
                          </a:pPr>
                          <a:r>
                            <a:rPr lang="en-US" sz="2000" noProof="0" dirty="0"/>
                            <a:t>How well the model explains variation in Y, 1 = perfect prediction</a:t>
                          </a:r>
                        </a:p>
                      </a:txBody>
                      <a:tcPr anchor="ctr"/>
                    </a:tc>
                    <a:extLst>
                      <a:ext uri="{0D108BD9-81ED-4DB2-BD59-A6C34878D82A}">
                        <a16:rowId xmlns:a16="http://schemas.microsoft.com/office/drawing/2014/main" val="3721828721"/>
                      </a:ext>
                    </a:extLst>
                  </a:tr>
                  <a:tr h="1279208">
                    <a:tc>
                      <a:txBody>
                        <a:bodyPr/>
                        <a:lstStyle/>
                        <a:p>
                          <a:pPr>
                            <a:buNone/>
                          </a:pPr>
                          <a:r>
                            <a:rPr lang="en-US" sz="2000" b="1" noProof="0" dirty="0"/>
                            <a:t>MAE</a:t>
                          </a:r>
                          <a:endParaRPr lang="en-US" sz="2000" noProof="0" dirty="0"/>
                        </a:p>
                      </a:txBody>
                      <a:tcPr anchor="ctr"/>
                    </a:tc>
                    <a:tc>
                      <a:txBody>
                        <a:bodyPr/>
                        <a:lstStyle/>
                        <a:p>
                          <a:pPr>
                            <a:buNone/>
                          </a:pPr>
                          <a:r>
                            <a:rPr lang="en-US" sz="2000" noProof="0" dirty="0"/>
                            <a:t>Mean Absolute Error</a:t>
                          </a:r>
                        </a:p>
                      </a:txBody>
                      <a:tcPr anchor="ctr"/>
                    </a:tc>
                    <a:tc>
                      <a:txBody>
                        <a:bodyPr/>
                        <a:lstStyle/>
                        <a:p>
                          <a:endParaRPr lang="en-US"/>
                        </a:p>
                      </a:txBody>
                      <a:tcPr anchor="ctr">
                        <a:blipFill>
                          <a:blip r:embed="rId2"/>
                          <a:stretch>
                            <a:fillRect l="-106836" t="-163810" r="-157422" b="-205714"/>
                          </a:stretch>
                        </a:blipFill>
                      </a:tcPr>
                    </a:tc>
                    <a:tc>
                      <a:txBody>
                        <a:bodyPr/>
                        <a:lstStyle/>
                        <a:p>
                          <a:endParaRPr lang="en-US"/>
                        </a:p>
                      </a:txBody>
                      <a:tcPr anchor="ctr">
                        <a:blipFill>
                          <a:blip r:embed="rId2"/>
                          <a:stretch>
                            <a:fillRect l="-300852" t="-163810" r="-128977" b="-205714"/>
                          </a:stretch>
                        </a:blipFill>
                      </a:tcPr>
                    </a:tc>
                    <a:tc>
                      <a:txBody>
                        <a:bodyPr/>
                        <a:lstStyle/>
                        <a:p>
                          <a:pPr>
                            <a:buNone/>
                          </a:pPr>
                          <a:r>
                            <a:rPr lang="en-US" sz="2000" noProof="0" dirty="0"/>
                            <a:t>Average error in predictions</a:t>
                          </a:r>
                        </a:p>
                      </a:txBody>
                      <a:tcPr anchor="ctr"/>
                    </a:tc>
                    <a:extLst>
                      <a:ext uri="{0D108BD9-81ED-4DB2-BD59-A6C34878D82A}">
                        <a16:rowId xmlns:a16="http://schemas.microsoft.com/office/drawing/2014/main" val="4026728376"/>
                      </a:ext>
                    </a:extLst>
                  </a:tr>
                  <a:tr h="1291803">
                    <a:tc>
                      <a:txBody>
                        <a:bodyPr/>
                        <a:lstStyle/>
                        <a:p>
                          <a:pPr>
                            <a:buNone/>
                          </a:pPr>
                          <a:r>
                            <a:rPr lang="en-US" sz="2000" b="1" noProof="0" dirty="0"/>
                            <a:t>MSE</a:t>
                          </a:r>
                          <a:endParaRPr lang="en-US" sz="2000" noProof="0" dirty="0"/>
                        </a:p>
                      </a:txBody>
                      <a:tcPr anchor="ctr"/>
                    </a:tc>
                    <a:tc>
                      <a:txBody>
                        <a:bodyPr/>
                        <a:lstStyle/>
                        <a:p>
                          <a:pPr>
                            <a:buNone/>
                          </a:pPr>
                          <a:r>
                            <a:rPr lang="en-US" sz="2000" noProof="0" dirty="0"/>
                            <a:t>Mean Squared Error</a:t>
                          </a:r>
                        </a:p>
                      </a:txBody>
                      <a:tcPr anchor="ctr"/>
                    </a:tc>
                    <a:tc>
                      <a:txBody>
                        <a:bodyPr/>
                        <a:lstStyle/>
                        <a:p>
                          <a:endParaRPr lang="en-US"/>
                        </a:p>
                      </a:txBody>
                      <a:tcPr anchor="ctr">
                        <a:blipFill>
                          <a:blip r:embed="rId2"/>
                          <a:stretch>
                            <a:fillRect l="-106836" t="-260094" r="-157422" b="-102817"/>
                          </a:stretch>
                        </a:blipFill>
                      </a:tcPr>
                    </a:tc>
                    <a:tc>
                      <a:txBody>
                        <a:bodyPr/>
                        <a:lstStyle/>
                        <a:p>
                          <a:pPr>
                            <a:buNone/>
                          </a:pPr>
                          <a:r>
                            <a:rPr lang="en-US" sz="2000" noProof="0" dirty="0"/>
                            <a:t>≥ 0</a:t>
                          </a:r>
                        </a:p>
                        <a:p>
                          <a:pPr>
                            <a:buNone/>
                          </a:pPr>
                          <a:r>
                            <a:rPr lang="en-US" sz="2000" noProof="0" dirty="0"/>
                            <a:t> (lower = better)</a:t>
                          </a:r>
                        </a:p>
                      </a:txBody>
                      <a:tcPr anchor="ctr"/>
                    </a:tc>
                    <a:tc>
                      <a:txBody>
                        <a:bodyPr/>
                        <a:lstStyle/>
                        <a:p>
                          <a:pPr>
                            <a:buNone/>
                          </a:pPr>
                          <a:r>
                            <a:rPr lang="en-US" sz="2000" noProof="0" dirty="0"/>
                            <a:t>Penalizes large errors more (since errors are squared)</a:t>
                          </a:r>
                        </a:p>
                      </a:txBody>
                      <a:tcPr anchor="ctr"/>
                    </a:tc>
                    <a:extLst>
                      <a:ext uri="{0D108BD9-81ED-4DB2-BD59-A6C34878D82A}">
                        <a16:rowId xmlns:a16="http://schemas.microsoft.com/office/drawing/2014/main" val="684812497"/>
                      </a:ext>
                    </a:extLst>
                  </a:tr>
                  <a:tr h="1324344">
                    <a:tc>
                      <a:txBody>
                        <a:bodyPr/>
                        <a:lstStyle/>
                        <a:p>
                          <a:pPr>
                            <a:buNone/>
                          </a:pPr>
                          <a:r>
                            <a:rPr lang="en-US" sz="2000" b="1" noProof="0" dirty="0"/>
                            <a:t>RMSE</a:t>
                          </a:r>
                          <a:endParaRPr lang="en-US" sz="2000" noProof="0" dirty="0"/>
                        </a:p>
                      </a:txBody>
                      <a:tcPr anchor="ctr"/>
                    </a:tc>
                    <a:tc>
                      <a:txBody>
                        <a:bodyPr/>
                        <a:lstStyle/>
                        <a:p>
                          <a:pPr>
                            <a:buNone/>
                          </a:pPr>
                          <a:r>
                            <a:rPr lang="en-US" sz="2000" noProof="0" dirty="0"/>
                            <a:t>Root Mean Squared Error</a:t>
                          </a:r>
                        </a:p>
                      </a:txBody>
                      <a:tcPr anchor="ctr"/>
                    </a:tc>
                    <a:tc>
                      <a:txBody>
                        <a:bodyPr/>
                        <a:lstStyle/>
                        <a:p>
                          <a:endParaRPr lang="en-US"/>
                        </a:p>
                      </a:txBody>
                      <a:tcPr anchor="ctr">
                        <a:blipFill>
                          <a:blip r:embed="rId2"/>
                          <a:stretch>
                            <a:fillRect l="-106836" t="-353456" r="-157422" b="-922"/>
                          </a:stretch>
                        </a:blipFill>
                      </a:tcPr>
                    </a:tc>
                    <a:tc>
                      <a:txBody>
                        <a:bodyPr/>
                        <a:lstStyle/>
                        <a:p>
                          <a:pPr>
                            <a:buNone/>
                          </a:pPr>
                          <a:r>
                            <a:rPr lang="en-US" sz="2000" noProof="0" dirty="0"/>
                            <a:t>≥ 0 </a:t>
                          </a:r>
                        </a:p>
                        <a:p>
                          <a:pPr>
                            <a:buNone/>
                          </a:pPr>
                          <a:r>
                            <a:rPr lang="en-US" sz="2000" noProof="0" dirty="0"/>
                            <a:t>(lower = better)</a:t>
                          </a:r>
                        </a:p>
                      </a:txBody>
                      <a:tcPr anchor="ctr"/>
                    </a:tc>
                    <a:tc>
                      <a:txBody>
                        <a:bodyPr/>
                        <a:lstStyle/>
                        <a:p>
                          <a:pPr>
                            <a:buNone/>
                          </a:pPr>
                          <a:r>
                            <a:rPr lang="en-US" sz="2000" noProof="0" dirty="0"/>
                            <a:t>Same as MSE but in original units of Y — easier to interpret</a:t>
                          </a:r>
                        </a:p>
                      </a:txBody>
                      <a:tcPr anchor="ctr"/>
                    </a:tc>
                    <a:extLst>
                      <a:ext uri="{0D108BD9-81ED-4DB2-BD59-A6C34878D82A}">
                        <a16:rowId xmlns:a16="http://schemas.microsoft.com/office/drawing/2014/main" val="1445459520"/>
                      </a:ext>
                    </a:extLst>
                  </a:tr>
                </a:tbl>
              </a:graphicData>
            </a:graphic>
          </p:graphicFrame>
        </mc:Fallback>
      </mc:AlternateContent>
    </p:spTree>
    <p:extLst>
      <p:ext uri="{BB962C8B-B14F-4D97-AF65-F5344CB8AC3E}">
        <p14:creationId xmlns:p14="http://schemas.microsoft.com/office/powerpoint/2010/main" val="3764689461"/>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785D5AC-0F57-C3CC-9558-E2D2F14F69E3}"/>
              </a:ext>
            </a:extLst>
          </p:cNvPr>
          <p:cNvSpPr>
            <a:spLocks noGrp="1"/>
          </p:cNvSpPr>
          <p:nvPr>
            <p:ph type="title"/>
          </p:nvPr>
        </p:nvSpPr>
        <p:spPr/>
        <p:txBody>
          <a:bodyPr/>
          <a:lstStyle/>
          <a:p>
            <a:r>
              <a:rPr lang="en-US" noProof="0" dirty="0"/>
              <a:t>Example</a:t>
            </a:r>
          </a:p>
        </p:txBody>
      </p:sp>
      <mc:AlternateContent xmlns:mc="http://schemas.openxmlformats.org/markup-compatibility/2006">
        <mc:Choice xmlns:a14="http://schemas.microsoft.com/office/drawing/2010/main" Requires="a14">
          <p:sp>
            <p:nvSpPr>
              <p:cNvPr id="3" name="Content Placeholder 2">
                <a:extLst>
                  <a:ext uri="{FF2B5EF4-FFF2-40B4-BE49-F238E27FC236}">
                    <a16:creationId xmlns:a16="http://schemas.microsoft.com/office/drawing/2014/main" id="{07E7A4CE-2A86-BB70-0F15-0BC19C6D756D}"/>
                  </a:ext>
                </a:extLst>
              </p:cNvPr>
              <p:cNvSpPr>
                <a:spLocks noGrp="1"/>
              </p:cNvSpPr>
              <p:nvPr>
                <p:ph idx="1"/>
              </p:nvPr>
            </p:nvSpPr>
            <p:spPr/>
            <p:txBody>
              <a:bodyPr>
                <a:normAutofit fontScale="85000" lnSpcReduction="20000"/>
              </a:bodyPr>
              <a:lstStyle/>
              <a:p>
                <a:r>
                  <a:rPr lang="en-US" noProof="0" dirty="0"/>
                  <a:t>R</a:t>
                </a:r>
                <a:r>
                  <a:rPr lang="en-US" baseline="30000" noProof="0" dirty="0"/>
                  <a:t>2</a:t>
                </a:r>
                <a:r>
                  <a:rPr lang="en-US" noProof="0" dirty="0"/>
                  <a:t> = </a:t>
                </a:r>
                <a14:m>
                  <m:oMath xmlns:m="http://schemas.openxmlformats.org/officeDocument/2006/math">
                    <m:r>
                      <a:rPr lang="en-US" i="1" noProof="0" smtClean="0">
                        <a:latin typeface="Cambria Math" panose="02040503050406030204" pitchFamily="18" charset="0"/>
                      </a:rPr>
                      <m:t>1 − </m:t>
                    </m:r>
                    <m:f>
                      <m:fPr>
                        <m:ctrlPr>
                          <a:rPr lang="en-US" i="1" noProof="0" smtClean="0">
                            <a:latin typeface="Cambria Math" panose="02040503050406030204" pitchFamily="18" charset="0"/>
                          </a:rPr>
                        </m:ctrlPr>
                      </m:fPr>
                      <m:num>
                        <m:r>
                          <a:rPr lang="en-US" i="1" noProof="0" smtClean="0">
                            <a:latin typeface="Cambria Math" panose="02040503050406030204" pitchFamily="18" charset="0"/>
                          </a:rPr>
                          <m:t>𝑆𝑆𝐸</m:t>
                        </m:r>
                      </m:num>
                      <m:den>
                        <m:r>
                          <a:rPr lang="en-US" i="1" noProof="0" smtClean="0">
                            <a:latin typeface="Cambria Math" panose="02040503050406030204" pitchFamily="18" charset="0"/>
                          </a:rPr>
                          <m:t>𝑇𝑆𝑆</m:t>
                        </m:r>
                        <m:r>
                          <a:rPr lang="en-US" b="0" i="1" noProof="0" smtClean="0">
                            <a:latin typeface="Cambria Math" panose="02040503050406030204" pitchFamily="18" charset="0"/>
                          </a:rPr>
                          <m:t>∗</m:t>
                        </m:r>
                      </m:den>
                    </m:f>
                  </m:oMath>
                </a14:m>
                <a:endParaRPr lang="en-US" noProof="0" dirty="0"/>
              </a:p>
              <a:p>
                <a:endParaRPr lang="en-US" noProof="0" dirty="0"/>
              </a:p>
              <a:p>
                <a14:m>
                  <m:oMath xmlns:m="http://schemas.openxmlformats.org/officeDocument/2006/math">
                    <m:r>
                      <m:rPr>
                        <m:nor/>
                      </m:rPr>
                      <a:rPr lang="en-US" noProof="0" smtClean="0"/>
                      <m:t>R</m:t>
                    </m:r>
                    <m:r>
                      <m:rPr>
                        <m:nor/>
                      </m:rPr>
                      <a:rPr lang="en-US" baseline="30000" noProof="0" smtClean="0"/>
                      <m:t>2</m:t>
                    </m:r>
                    <m:r>
                      <m:rPr>
                        <m:nor/>
                      </m:rPr>
                      <a:rPr lang="en-US" noProof="0" smtClean="0"/>
                      <m:t> =</m:t>
                    </m:r>
                    <m:r>
                      <m:rPr>
                        <m:nor/>
                      </m:rPr>
                      <a:rPr lang="en-US" b="0" i="0" noProof="0" smtClean="0"/>
                      <m:t> </m:t>
                    </m:r>
                    <m:r>
                      <a:rPr lang="en-US" i="1" noProof="0" smtClean="0">
                        <a:latin typeface="Cambria Math" panose="02040503050406030204" pitchFamily="18" charset="0"/>
                      </a:rPr>
                      <m:t>1 − </m:t>
                    </m:r>
                    <m:f>
                      <m:fPr>
                        <m:ctrlPr>
                          <a:rPr lang="en-US" i="1" noProof="0" smtClean="0">
                            <a:latin typeface="Cambria Math" panose="02040503050406030204" pitchFamily="18" charset="0"/>
                          </a:rPr>
                        </m:ctrlPr>
                      </m:fPr>
                      <m:num>
                        <m:r>
                          <a:rPr lang="en-US" i="1" noProof="0" smtClean="0">
                            <a:latin typeface="Cambria Math" panose="02040503050406030204" pitchFamily="18" charset="0"/>
                          </a:rPr>
                          <m:t>722</m:t>
                        </m:r>
                      </m:num>
                      <m:den>
                        <m:r>
                          <a:rPr lang="en-US" i="1" noProof="0" smtClean="0">
                            <a:latin typeface="Cambria Math" panose="02040503050406030204" pitchFamily="18" charset="0"/>
                          </a:rPr>
                          <m:t>1450</m:t>
                        </m:r>
                      </m:den>
                    </m:f>
                    <m:r>
                      <a:rPr lang="en-US" i="1" noProof="0" smtClean="0">
                        <a:latin typeface="Cambria Math" panose="02040503050406030204" pitchFamily="18" charset="0"/>
                      </a:rPr>
                      <m:t> </m:t>
                    </m:r>
                  </m:oMath>
                </a14:m>
                <a:r>
                  <a:rPr lang="en-US" noProof="0" dirty="0"/>
                  <a:t> = 0.502</a:t>
                </a:r>
              </a:p>
              <a:p>
                <a:endParaRPr lang="en-US" noProof="0" dirty="0"/>
              </a:p>
              <a:p>
                <a:r>
                  <a:rPr lang="en-US" noProof="0" dirty="0"/>
                  <a:t>MSE =</a:t>
                </a:r>
                <a14:m>
                  <m:oMath xmlns:m="http://schemas.openxmlformats.org/officeDocument/2006/math">
                    <m:r>
                      <a:rPr lang="en-US" b="0" i="0" noProof="0" smtClean="0">
                        <a:latin typeface="Cambria Math" panose="02040503050406030204" pitchFamily="18" charset="0"/>
                      </a:rPr>
                      <m:t> </m:t>
                    </m:r>
                    <m:f>
                      <m:fPr>
                        <m:ctrlPr>
                          <a:rPr lang="en-US" i="1" noProof="0" smtClean="0">
                            <a:latin typeface="Cambria Math" panose="02040503050406030204" pitchFamily="18" charset="0"/>
                          </a:rPr>
                        </m:ctrlPr>
                      </m:fPr>
                      <m:num>
                        <m:r>
                          <a:rPr lang="en-US" i="1" noProof="0" smtClean="0">
                            <a:latin typeface="Cambria Math" panose="02040503050406030204" pitchFamily="18" charset="0"/>
                          </a:rPr>
                          <m:t>𝑆𝑆𝐸</m:t>
                        </m:r>
                      </m:num>
                      <m:den>
                        <m:r>
                          <a:rPr lang="en-US" b="0" i="1" noProof="0" smtClean="0">
                            <a:latin typeface="Cambria Math" panose="02040503050406030204" pitchFamily="18" charset="0"/>
                          </a:rPr>
                          <m:t>𝑛</m:t>
                        </m:r>
                      </m:den>
                    </m:f>
                  </m:oMath>
                </a14:m>
                <a:r>
                  <a:rPr lang="en-US" noProof="0" dirty="0"/>
                  <a:t> = </a:t>
                </a:r>
                <a14:m>
                  <m:oMath xmlns:m="http://schemas.openxmlformats.org/officeDocument/2006/math">
                    <m:f>
                      <m:fPr>
                        <m:ctrlPr>
                          <a:rPr lang="en-US" i="1" noProof="0" smtClean="0">
                            <a:latin typeface="Cambria Math" panose="02040503050406030204" pitchFamily="18" charset="0"/>
                          </a:rPr>
                        </m:ctrlPr>
                      </m:fPr>
                      <m:num>
                        <m:r>
                          <a:rPr lang="en-US" b="0" i="1" noProof="0" smtClean="0">
                            <a:latin typeface="Cambria Math" panose="02040503050406030204" pitchFamily="18" charset="0"/>
                          </a:rPr>
                          <m:t>722</m:t>
                        </m:r>
                      </m:num>
                      <m:den>
                        <m:r>
                          <a:rPr lang="en-US" b="0" i="1" noProof="0" smtClean="0">
                            <a:latin typeface="Cambria Math" panose="02040503050406030204" pitchFamily="18" charset="0"/>
                          </a:rPr>
                          <m:t>10</m:t>
                        </m:r>
                      </m:den>
                    </m:f>
                  </m:oMath>
                </a14:m>
                <a:r>
                  <a:rPr lang="en-US" noProof="0" dirty="0"/>
                  <a:t> = 72.2</a:t>
                </a:r>
              </a:p>
              <a:p>
                <a:endParaRPr lang="en-US" noProof="0" dirty="0"/>
              </a:p>
              <a:p>
                <a:endParaRPr lang="en-US" noProof="0" dirty="0"/>
              </a:p>
              <a:p>
                <a:r>
                  <a:rPr lang="en-US" noProof="0" dirty="0"/>
                  <a:t>RMSE = </a:t>
                </a:r>
                <a14:m>
                  <m:oMath xmlns:m="http://schemas.openxmlformats.org/officeDocument/2006/math">
                    <m:rad>
                      <m:radPr>
                        <m:degHide m:val="on"/>
                        <m:ctrlPr>
                          <a:rPr lang="en-US" i="1" noProof="0" smtClean="0">
                            <a:latin typeface="Cambria Math" panose="02040503050406030204" pitchFamily="18" charset="0"/>
                          </a:rPr>
                        </m:ctrlPr>
                      </m:radPr>
                      <m:deg/>
                      <m:e>
                        <m:r>
                          <a:rPr lang="en-US" i="1" noProof="0" smtClean="0">
                            <a:latin typeface="Cambria Math" panose="02040503050406030204" pitchFamily="18" charset="0"/>
                          </a:rPr>
                          <m:t>𝑀𝑆𝐸</m:t>
                        </m:r>
                      </m:e>
                    </m:rad>
                  </m:oMath>
                </a14:m>
                <a:r>
                  <a:rPr lang="en-US" noProof="0" dirty="0"/>
                  <a:t> = </a:t>
                </a:r>
                <a14:m>
                  <m:oMath xmlns:m="http://schemas.openxmlformats.org/officeDocument/2006/math">
                    <m:rad>
                      <m:radPr>
                        <m:degHide m:val="on"/>
                        <m:ctrlPr>
                          <a:rPr lang="en-US" i="1" noProof="0" smtClean="0">
                            <a:latin typeface="Cambria Math" panose="02040503050406030204" pitchFamily="18" charset="0"/>
                          </a:rPr>
                        </m:ctrlPr>
                      </m:radPr>
                      <m:deg/>
                      <m:e>
                        <m:r>
                          <a:rPr lang="en-US" b="0" i="1" noProof="0" smtClean="0">
                            <a:latin typeface="Cambria Math" panose="02040503050406030204" pitchFamily="18" charset="0"/>
                          </a:rPr>
                          <m:t>72.2</m:t>
                        </m:r>
                      </m:e>
                    </m:rad>
                  </m:oMath>
                </a14:m>
                <a:r>
                  <a:rPr lang="en-US" noProof="0" dirty="0"/>
                  <a:t> = 8.49</a:t>
                </a:r>
              </a:p>
              <a:p>
                <a:endParaRPr lang="en-US" noProof="0" dirty="0"/>
              </a:p>
              <a:p>
                <a:r>
                  <a:rPr lang="en-US" noProof="0" dirty="0"/>
                  <a:t>MAE = </a:t>
                </a:r>
                <a14:m>
                  <m:oMath xmlns:m="http://schemas.openxmlformats.org/officeDocument/2006/math">
                    <m:f>
                      <m:fPr>
                        <m:ctrlPr>
                          <a:rPr lang="en-US" i="1" noProof="0" smtClean="0">
                            <a:latin typeface="Cambria Math" panose="02040503050406030204" pitchFamily="18" charset="0"/>
                          </a:rPr>
                        </m:ctrlPr>
                      </m:fPr>
                      <m:num>
                        <m:r>
                          <m:rPr>
                            <m:nor/>
                          </m:rPr>
                          <a:rPr lang="en-US" noProof="0" smtClean="0"/>
                          <m:t>Sum</m:t>
                        </m:r>
                        <m:r>
                          <m:rPr>
                            <m:nor/>
                          </m:rPr>
                          <a:rPr lang="en-US" noProof="0" smtClean="0"/>
                          <m:t> (</m:t>
                        </m:r>
                        <m:sSub>
                          <m:sSubPr>
                            <m:ctrlPr>
                              <a:rPr lang="en-US" i="1" noProof="0" smtClean="0">
                                <a:solidFill>
                                  <a:srgbClr val="836967"/>
                                </a:solidFill>
                                <a:latin typeface="Cambria Math" panose="02040503050406030204" pitchFamily="18" charset="0"/>
                              </a:rPr>
                            </m:ctrlPr>
                          </m:sSubPr>
                          <m:e>
                            <m:r>
                              <a:rPr lang="en-US" noProof="0" smtClean="0">
                                <a:latin typeface="Cambria Math" panose="02040503050406030204" pitchFamily="18" charset="0"/>
                              </a:rPr>
                              <m:t>𝑦</m:t>
                            </m:r>
                          </m:e>
                          <m:sub>
                            <m:r>
                              <a:rPr lang="en-US" noProof="0" smtClean="0">
                                <a:latin typeface="Cambria Math" panose="02040503050406030204" pitchFamily="18" charset="0"/>
                              </a:rPr>
                              <m:t>𝑖</m:t>
                            </m:r>
                          </m:sub>
                        </m:sSub>
                        <m:r>
                          <a:rPr lang="en-US" noProof="0" smtClean="0">
                            <a:latin typeface="Cambria Math" panose="02040503050406030204" pitchFamily="18" charset="0"/>
                          </a:rPr>
                          <m:t>−</m:t>
                        </m:r>
                        <m:sSub>
                          <m:sSubPr>
                            <m:ctrlPr>
                              <a:rPr lang="en-US" i="1" noProof="0" smtClean="0">
                                <a:solidFill>
                                  <a:srgbClr val="836967"/>
                                </a:solidFill>
                                <a:latin typeface="Cambria Math" panose="02040503050406030204" pitchFamily="18" charset="0"/>
                              </a:rPr>
                            </m:ctrlPr>
                          </m:sSubPr>
                          <m:e>
                            <m:acc>
                              <m:accPr>
                                <m:chr m:val="̂"/>
                                <m:ctrlPr>
                                  <a:rPr lang="en-US" i="1" noProof="0" smtClean="0">
                                    <a:solidFill>
                                      <a:srgbClr val="836967"/>
                                    </a:solidFill>
                                    <a:latin typeface="Cambria Math" panose="02040503050406030204" pitchFamily="18" charset="0"/>
                                  </a:rPr>
                                </m:ctrlPr>
                              </m:accPr>
                              <m:e>
                                <m:r>
                                  <a:rPr lang="en-US" noProof="0" smtClean="0">
                                    <a:latin typeface="Cambria Math" panose="02040503050406030204" pitchFamily="18" charset="0"/>
                                  </a:rPr>
                                  <m:t>𝑦</m:t>
                                </m:r>
                              </m:e>
                            </m:acc>
                          </m:e>
                          <m:sub>
                            <m:r>
                              <a:rPr lang="en-US" noProof="0" smtClean="0">
                                <a:latin typeface="Cambria Math" panose="02040503050406030204" pitchFamily="18" charset="0"/>
                              </a:rPr>
                              <m:t>𝑖</m:t>
                            </m:r>
                          </m:sub>
                        </m:sSub>
                        <m:r>
                          <m:rPr>
                            <m:nor/>
                          </m:rPr>
                          <a:rPr lang="en-US" noProof="0" smtClean="0"/>
                          <m:t>)</m:t>
                        </m:r>
                      </m:num>
                      <m:den>
                        <m:r>
                          <m:rPr>
                            <m:sty m:val="p"/>
                          </m:rPr>
                          <a:rPr lang="en-US" noProof="0" smtClean="0">
                            <a:latin typeface="Cambria Math" panose="02040503050406030204" pitchFamily="18" charset="0"/>
                          </a:rPr>
                          <m:t>n</m:t>
                        </m:r>
                      </m:den>
                    </m:f>
                  </m:oMath>
                </a14:m>
                <a:r>
                  <a:rPr lang="en-US" noProof="0" dirty="0"/>
                  <a:t> = </a:t>
                </a:r>
                <a14:m>
                  <m:oMath xmlns:m="http://schemas.openxmlformats.org/officeDocument/2006/math">
                    <m:f>
                      <m:fPr>
                        <m:ctrlPr>
                          <a:rPr lang="en-US" i="1" noProof="0" smtClean="0">
                            <a:latin typeface="Cambria Math" panose="02040503050406030204" pitchFamily="18" charset="0"/>
                          </a:rPr>
                        </m:ctrlPr>
                      </m:fPr>
                      <m:num>
                        <m:r>
                          <a:rPr lang="en-US" i="1" noProof="0" smtClean="0">
                            <a:latin typeface="Cambria Math" panose="02040503050406030204" pitchFamily="18" charset="0"/>
                          </a:rPr>
                          <m:t>7</m:t>
                        </m:r>
                        <m:r>
                          <a:rPr lang="en-US" b="0" i="1" noProof="0" smtClean="0">
                            <a:latin typeface="Cambria Math" panose="02040503050406030204" pitchFamily="18" charset="0"/>
                          </a:rPr>
                          <m:t>4</m:t>
                        </m:r>
                      </m:num>
                      <m:den>
                        <m:r>
                          <a:rPr lang="en-US" i="1" noProof="0" smtClean="0">
                            <a:latin typeface="Cambria Math" panose="02040503050406030204" pitchFamily="18" charset="0"/>
                          </a:rPr>
                          <m:t>10</m:t>
                        </m:r>
                      </m:den>
                    </m:f>
                  </m:oMath>
                </a14:m>
                <a:r>
                  <a:rPr lang="en-US" noProof="0" dirty="0"/>
                  <a:t> = 7.4 </a:t>
                </a:r>
              </a:p>
              <a:p>
                <a:endParaRPr lang="en-US" noProof="0" dirty="0"/>
              </a:p>
            </p:txBody>
          </p:sp>
        </mc:Choice>
        <mc:Fallback>
          <p:sp>
            <p:nvSpPr>
              <p:cNvPr id="3" name="Content Placeholder 2">
                <a:extLst>
                  <a:ext uri="{FF2B5EF4-FFF2-40B4-BE49-F238E27FC236}">
                    <a16:creationId xmlns:a16="http://schemas.microsoft.com/office/drawing/2014/main" id="{07E7A4CE-2A86-BB70-0F15-0BC19C6D756D}"/>
                  </a:ext>
                </a:extLst>
              </p:cNvPr>
              <p:cNvSpPr>
                <a:spLocks noGrp="1" noRot="1" noChangeAspect="1" noMove="1" noResize="1" noEditPoints="1" noAdjustHandles="1" noChangeArrowheads="1" noChangeShapeType="1" noTextEdit="1"/>
              </p:cNvSpPr>
              <p:nvPr>
                <p:ph idx="1"/>
              </p:nvPr>
            </p:nvSpPr>
            <p:spPr>
              <a:blipFill>
                <a:blip r:embed="rId2"/>
                <a:stretch>
                  <a:fillRect l="-812" t="-1961" b="-1261"/>
                </a:stretch>
              </a:blipFill>
            </p:spPr>
            <p:txBody>
              <a:bodyPr/>
              <a:lstStyle/>
              <a:p>
                <a:r>
                  <a:rPr lang="en-GB">
                    <a:noFill/>
                  </a:rPr>
                  <a:t> </a:t>
                </a:r>
              </a:p>
            </p:txBody>
          </p:sp>
        </mc:Fallback>
      </mc:AlternateContent>
      <mc:AlternateContent xmlns:mc="http://schemas.openxmlformats.org/markup-compatibility/2006">
        <mc:Choice xmlns:a14="http://schemas.microsoft.com/office/drawing/2010/main" Requires="a14">
          <p:graphicFrame>
            <p:nvGraphicFramePr>
              <p:cNvPr id="4" name="Table 3">
                <a:extLst>
                  <a:ext uri="{FF2B5EF4-FFF2-40B4-BE49-F238E27FC236}">
                    <a16:creationId xmlns:a16="http://schemas.microsoft.com/office/drawing/2014/main" id="{9E9E5444-0BE3-3CFD-4F2A-19EFACD76697}"/>
                  </a:ext>
                </a:extLst>
              </p:cNvPr>
              <p:cNvGraphicFramePr>
                <a:graphicFrameLocks noGrp="1"/>
              </p:cNvGraphicFramePr>
              <p:nvPr>
                <p:extLst>
                  <p:ext uri="{D42A27DB-BD31-4B8C-83A1-F6EECF244321}">
                    <p14:modId xmlns:p14="http://schemas.microsoft.com/office/powerpoint/2010/main" val="4105114540"/>
                  </p:ext>
                </p:extLst>
              </p:nvPr>
            </p:nvGraphicFramePr>
            <p:xfrm>
              <a:off x="5082364" y="96918"/>
              <a:ext cx="6613452" cy="4467625"/>
            </p:xfrm>
            <a:graphic>
              <a:graphicData uri="http://schemas.openxmlformats.org/drawingml/2006/table">
                <a:tbl>
                  <a:tblPr firstRow="1" bandRow="1">
                    <a:tableStyleId>{21E4AEA4-8DFA-4A89-87EB-49C32662AFE0}</a:tableStyleId>
                  </a:tblPr>
                  <a:tblGrid>
                    <a:gridCol w="877295">
                      <a:extLst>
                        <a:ext uri="{9D8B030D-6E8A-4147-A177-3AD203B41FA5}">
                          <a16:colId xmlns:a16="http://schemas.microsoft.com/office/drawing/2014/main" val="2297429349"/>
                        </a:ext>
                      </a:extLst>
                    </a:gridCol>
                    <a:gridCol w="1206685">
                      <a:extLst>
                        <a:ext uri="{9D8B030D-6E8A-4147-A177-3AD203B41FA5}">
                          <a16:colId xmlns:a16="http://schemas.microsoft.com/office/drawing/2014/main" val="1337358672"/>
                        </a:ext>
                      </a:extLst>
                    </a:gridCol>
                    <a:gridCol w="1275907">
                      <a:extLst>
                        <a:ext uri="{9D8B030D-6E8A-4147-A177-3AD203B41FA5}">
                          <a16:colId xmlns:a16="http://schemas.microsoft.com/office/drawing/2014/main" val="1757071119"/>
                        </a:ext>
                      </a:extLst>
                    </a:gridCol>
                    <a:gridCol w="1402569">
                      <a:extLst>
                        <a:ext uri="{9D8B030D-6E8A-4147-A177-3AD203B41FA5}">
                          <a16:colId xmlns:a16="http://schemas.microsoft.com/office/drawing/2014/main" val="830366366"/>
                        </a:ext>
                      </a:extLst>
                    </a:gridCol>
                    <a:gridCol w="1850996">
                      <a:extLst>
                        <a:ext uri="{9D8B030D-6E8A-4147-A177-3AD203B41FA5}">
                          <a16:colId xmlns:a16="http://schemas.microsoft.com/office/drawing/2014/main" val="2765552350"/>
                        </a:ext>
                      </a:extLst>
                    </a:gridCol>
                  </a:tblGrid>
                  <a:tr h="779545">
                    <a:tc>
                      <a:txBody>
                        <a:bodyPr/>
                        <a:lstStyle/>
                        <a:p>
                          <a:pPr algn="ctr"/>
                          <a:r>
                            <a:rPr lang="en-US" sz="1600" noProof="0" dirty="0"/>
                            <a:t>x</a:t>
                          </a:r>
                        </a:p>
                      </a:txBody>
                      <a:tcPr/>
                    </a:tc>
                    <a:tc>
                      <a:txBody>
                        <a:bodyPr/>
                        <a:lstStyle/>
                        <a:p>
                          <a:pPr algn="ctr"/>
                          <a:r>
                            <a:rPr lang="en-US" sz="1600" noProof="0" dirty="0"/>
                            <a:t>Y (Actual)</a:t>
                          </a:r>
                        </a:p>
                      </a:txBody>
                      <a:tcPr/>
                    </a:tc>
                    <a:tc>
                      <a:txBody>
                        <a:bodyPr/>
                        <a:lstStyle/>
                        <a:p>
                          <a:pPr algn="ctr"/>
                          <a14:m>
                            <m:oMath xmlns:m="http://schemas.openxmlformats.org/officeDocument/2006/math">
                              <m:r>
                                <m:rPr>
                                  <m:nor/>
                                </m:rPr>
                                <a:rPr lang="en-US" sz="1600" noProof="0" smtClean="0"/>
                                <m:t>ẏ</m:t>
                              </m:r>
                            </m:oMath>
                          </a14:m>
                          <a:r>
                            <a:rPr lang="en-US" sz="1600" noProof="0" dirty="0"/>
                            <a:t> (Predicted)</a:t>
                          </a:r>
                        </a:p>
                      </a:txBody>
                      <a:tcPr/>
                    </a:tc>
                    <a:tc>
                      <a:txBody>
                        <a:bodyPr/>
                        <a:lstStyle/>
                        <a:p>
                          <a:pPr algn="ctr"/>
                          <a:r>
                            <a:rPr lang="en-US" sz="1600" noProof="0" dirty="0"/>
                            <a:t>|y -</a:t>
                          </a:r>
                          <a14:m>
                            <m:oMath xmlns:m="http://schemas.openxmlformats.org/officeDocument/2006/math">
                              <m:r>
                                <m:rPr>
                                  <m:nor/>
                                </m:rPr>
                                <a:rPr lang="en-US" sz="1600" noProof="0" smtClean="0"/>
                                <m:t>ẏ</m:t>
                              </m:r>
                              <m:r>
                                <m:rPr>
                                  <m:nor/>
                                </m:rPr>
                                <a:rPr lang="en-US" sz="1600" b="1" i="0" noProof="0" smtClean="0"/>
                                <m:t>|</m:t>
                              </m:r>
                            </m:oMath>
                          </a14:m>
                          <a:endParaRPr lang="en-US" sz="1600" baseline="30000" noProof="0" dirty="0"/>
                        </a:p>
                      </a:txBody>
                      <a:tcPr/>
                    </a:tc>
                    <a:tc>
                      <a:txBody>
                        <a:bodyPr/>
                        <a:lstStyle/>
                        <a:p>
                          <a:pPr algn="ctr"/>
                          <a:r>
                            <a:rPr lang="en-US" sz="1600" noProof="0" dirty="0"/>
                            <a:t>(y – </a:t>
                          </a:r>
                          <a14:m>
                            <m:oMath xmlns:m="http://schemas.openxmlformats.org/officeDocument/2006/math">
                              <m:r>
                                <m:rPr>
                                  <m:nor/>
                                </m:rPr>
                                <a:rPr lang="en-US" sz="1600" noProof="0" smtClean="0"/>
                                <m:t>ẏ</m:t>
                              </m:r>
                            </m:oMath>
                          </a14:m>
                          <a:r>
                            <a:rPr lang="en-US" sz="1600" noProof="0" dirty="0"/>
                            <a:t> )</a:t>
                          </a:r>
                          <a:r>
                            <a:rPr lang="en-US" sz="1600" baseline="30000" noProof="0" dirty="0"/>
                            <a:t>2</a:t>
                          </a:r>
                        </a:p>
                      </a:txBody>
                      <a:tcPr/>
                    </a:tc>
                    <a:extLst>
                      <a:ext uri="{0D108BD9-81ED-4DB2-BD59-A6C34878D82A}">
                        <a16:rowId xmlns:a16="http://schemas.microsoft.com/office/drawing/2014/main" val="375836248"/>
                      </a:ext>
                    </a:extLst>
                  </a:tr>
                  <a:tr h="317593">
                    <a:tc>
                      <a:txBody>
                        <a:bodyPr/>
                        <a:lstStyle/>
                        <a:p>
                          <a:pPr algn="ctr"/>
                          <a:r>
                            <a:rPr lang="en-US" sz="1600" noProof="0" dirty="0"/>
                            <a:t>10</a:t>
                          </a:r>
                        </a:p>
                      </a:txBody>
                      <a:tcPr/>
                    </a:tc>
                    <a:tc>
                      <a:txBody>
                        <a:bodyPr/>
                        <a:lstStyle/>
                        <a:p>
                          <a:pPr algn="ctr"/>
                          <a:r>
                            <a:rPr lang="en-US" sz="1600" noProof="0" dirty="0"/>
                            <a:t>10</a:t>
                          </a:r>
                        </a:p>
                      </a:txBody>
                      <a:tcPr/>
                    </a:tc>
                    <a:tc>
                      <a:txBody>
                        <a:bodyPr/>
                        <a:lstStyle/>
                        <a:p>
                          <a:pPr algn="ctr"/>
                          <a:r>
                            <a:rPr lang="en-US" sz="1600" noProof="0" dirty="0"/>
                            <a:t>16</a:t>
                          </a:r>
                        </a:p>
                      </a:txBody>
                      <a:tcPr/>
                    </a:tc>
                    <a:tc>
                      <a:txBody>
                        <a:bodyPr/>
                        <a:lstStyle/>
                        <a:p>
                          <a:pPr algn="ctr"/>
                          <a:r>
                            <a:rPr lang="en-US" sz="1600" noProof="0" dirty="0"/>
                            <a:t>6</a:t>
                          </a:r>
                        </a:p>
                      </a:txBody>
                      <a:tcPr/>
                    </a:tc>
                    <a:tc>
                      <a:txBody>
                        <a:bodyPr/>
                        <a:lstStyle/>
                        <a:p>
                          <a:pPr algn="ctr"/>
                          <a:r>
                            <a:rPr lang="en-US" sz="1600" noProof="0" dirty="0"/>
                            <a:t>36</a:t>
                          </a:r>
                        </a:p>
                      </a:txBody>
                      <a:tcPr/>
                    </a:tc>
                    <a:extLst>
                      <a:ext uri="{0D108BD9-81ED-4DB2-BD59-A6C34878D82A}">
                        <a16:rowId xmlns:a16="http://schemas.microsoft.com/office/drawing/2014/main" val="330859248"/>
                      </a:ext>
                    </a:extLst>
                  </a:tr>
                  <a:tr h="317593">
                    <a:tc>
                      <a:txBody>
                        <a:bodyPr/>
                        <a:lstStyle/>
                        <a:p>
                          <a:pPr algn="ctr"/>
                          <a:r>
                            <a:rPr lang="en-US" sz="1600" noProof="0" dirty="0"/>
                            <a:t>20</a:t>
                          </a:r>
                        </a:p>
                      </a:txBody>
                      <a:tcPr/>
                    </a:tc>
                    <a:tc>
                      <a:txBody>
                        <a:bodyPr/>
                        <a:lstStyle/>
                        <a:p>
                          <a:pPr algn="ctr"/>
                          <a:r>
                            <a:rPr lang="en-US" sz="1600" noProof="0" dirty="0"/>
                            <a:t>25</a:t>
                          </a:r>
                        </a:p>
                      </a:txBody>
                      <a:tcPr/>
                    </a:tc>
                    <a:tc>
                      <a:txBody>
                        <a:bodyPr/>
                        <a:lstStyle/>
                        <a:p>
                          <a:pPr algn="ctr"/>
                          <a:r>
                            <a:rPr lang="en-US" sz="1600" noProof="0" dirty="0"/>
                            <a:t>20</a:t>
                          </a:r>
                        </a:p>
                      </a:txBody>
                      <a:tcPr/>
                    </a:tc>
                    <a:tc>
                      <a:txBody>
                        <a:bodyPr/>
                        <a:lstStyle/>
                        <a:p>
                          <a:pPr algn="ctr"/>
                          <a:r>
                            <a:rPr lang="en-US" sz="1600" noProof="0" dirty="0"/>
                            <a:t>5</a:t>
                          </a:r>
                        </a:p>
                      </a:txBody>
                      <a:tcPr/>
                    </a:tc>
                    <a:tc>
                      <a:txBody>
                        <a:bodyPr/>
                        <a:lstStyle/>
                        <a:p>
                          <a:pPr algn="ctr"/>
                          <a:r>
                            <a:rPr lang="en-US" sz="1600" noProof="0" dirty="0"/>
                            <a:t>25</a:t>
                          </a:r>
                        </a:p>
                      </a:txBody>
                      <a:tcPr/>
                    </a:tc>
                    <a:extLst>
                      <a:ext uri="{0D108BD9-81ED-4DB2-BD59-A6C34878D82A}">
                        <a16:rowId xmlns:a16="http://schemas.microsoft.com/office/drawing/2014/main" val="1088471177"/>
                      </a:ext>
                    </a:extLst>
                  </a:tr>
                  <a:tr h="317593">
                    <a:tc>
                      <a:txBody>
                        <a:bodyPr/>
                        <a:lstStyle/>
                        <a:p>
                          <a:pPr algn="ctr"/>
                          <a:r>
                            <a:rPr lang="en-US" sz="1600" noProof="0" dirty="0"/>
                            <a:t>30</a:t>
                          </a:r>
                        </a:p>
                      </a:txBody>
                      <a:tcPr/>
                    </a:tc>
                    <a:tc>
                      <a:txBody>
                        <a:bodyPr/>
                        <a:lstStyle/>
                        <a:p>
                          <a:pPr algn="ctr"/>
                          <a:r>
                            <a:rPr lang="en-US" sz="1600" noProof="0" dirty="0"/>
                            <a:t>20</a:t>
                          </a:r>
                        </a:p>
                      </a:txBody>
                      <a:tcPr/>
                    </a:tc>
                    <a:tc>
                      <a:txBody>
                        <a:bodyPr/>
                        <a:lstStyle/>
                        <a:p>
                          <a:pPr algn="ctr"/>
                          <a:r>
                            <a:rPr lang="en-US" sz="1600" noProof="0" dirty="0"/>
                            <a:t>24</a:t>
                          </a:r>
                        </a:p>
                      </a:txBody>
                      <a:tcPr/>
                    </a:tc>
                    <a:tc>
                      <a:txBody>
                        <a:bodyPr/>
                        <a:lstStyle/>
                        <a:p>
                          <a:pPr algn="ctr"/>
                          <a:r>
                            <a:rPr lang="en-US" sz="1600" noProof="0" dirty="0"/>
                            <a:t>4</a:t>
                          </a:r>
                        </a:p>
                      </a:txBody>
                      <a:tcPr/>
                    </a:tc>
                    <a:tc>
                      <a:txBody>
                        <a:bodyPr/>
                        <a:lstStyle/>
                        <a:p>
                          <a:pPr algn="ctr"/>
                          <a:r>
                            <a:rPr lang="en-US" sz="1600" noProof="0" dirty="0"/>
                            <a:t>16</a:t>
                          </a:r>
                        </a:p>
                      </a:txBody>
                      <a:tcPr/>
                    </a:tc>
                    <a:extLst>
                      <a:ext uri="{0D108BD9-81ED-4DB2-BD59-A6C34878D82A}">
                        <a16:rowId xmlns:a16="http://schemas.microsoft.com/office/drawing/2014/main" val="1625659414"/>
                      </a:ext>
                    </a:extLst>
                  </a:tr>
                  <a:tr h="317593">
                    <a:tc>
                      <a:txBody>
                        <a:bodyPr/>
                        <a:lstStyle/>
                        <a:p>
                          <a:pPr algn="ctr"/>
                          <a:r>
                            <a:rPr lang="en-US" sz="1600" noProof="0" dirty="0"/>
                            <a:t>35</a:t>
                          </a:r>
                        </a:p>
                      </a:txBody>
                      <a:tcPr/>
                    </a:tc>
                    <a:tc>
                      <a:txBody>
                        <a:bodyPr/>
                        <a:lstStyle/>
                        <a:p>
                          <a:pPr algn="ctr"/>
                          <a:r>
                            <a:rPr lang="en-US" sz="1600" noProof="0" dirty="0"/>
                            <a:t>30</a:t>
                          </a:r>
                        </a:p>
                      </a:txBody>
                      <a:tcPr/>
                    </a:tc>
                    <a:tc>
                      <a:txBody>
                        <a:bodyPr/>
                        <a:lstStyle/>
                        <a:p>
                          <a:pPr algn="ctr"/>
                          <a:r>
                            <a:rPr lang="en-US" sz="1600" noProof="0" dirty="0"/>
                            <a:t>26</a:t>
                          </a:r>
                        </a:p>
                      </a:txBody>
                      <a:tcPr/>
                    </a:tc>
                    <a:tc>
                      <a:txBody>
                        <a:bodyPr/>
                        <a:lstStyle/>
                        <a:p>
                          <a:pPr algn="ctr"/>
                          <a:r>
                            <a:rPr lang="en-US" sz="1600" noProof="0" dirty="0"/>
                            <a:t>4</a:t>
                          </a:r>
                        </a:p>
                      </a:txBody>
                      <a:tcPr/>
                    </a:tc>
                    <a:tc>
                      <a:txBody>
                        <a:bodyPr/>
                        <a:lstStyle/>
                        <a:p>
                          <a:pPr algn="ctr"/>
                          <a:r>
                            <a:rPr lang="en-US" sz="1600" noProof="0" dirty="0"/>
                            <a:t>16</a:t>
                          </a:r>
                        </a:p>
                      </a:txBody>
                      <a:tcPr/>
                    </a:tc>
                    <a:extLst>
                      <a:ext uri="{0D108BD9-81ED-4DB2-BD59-A6C34878D82A}">
                        <a16:rowId xmlns:a16="http://schemas.microsoft.com/office/drawing/2014/main" val="2191306571"/>
                      </a:ext>
                    </a:extLst>
                  </a:tr>
                  <a:tr h="317593">
                    <a:tc>
                      <a:txBody>
                        <a:bodyPr/>
                        <a:lstStyle/>
                        <a:p>
                          <a:pPr algn="ctr"/>
                          <a:r>
                            <a:rPr lang="en-US" sz="1600" noProof="0" dirty="0"/>
                            <a:t>40</a:t>
                          </a:r>
                        </a:p>
                      </a:txBody>
                      <a:tcPr/>
                    </a:tc>
                    <a:tc>
                      <a:txBody>
                        <a:bodyPr/>
                        <a:lstStyle/>
                        <a:p>
                          <a:pPr algn="ctr"/>
                          <a:r>
                            <a:rPr lang="en-US" sz="1600" noProof="0" dirty="0"/>
                            <a:t>40</a:t>
                          </a:r>
                        </a:p>
                      </a:txBody>
                      <a:tcPr/>
                    </a:tc>
                    <a:tc>
                      <a:txBody>
                        <a:bodyPr/>
                        <a:lstStyle/>
                        <a:p>
                          <a:pPr algn="ctr"/>
                          <a:r>
                            <a:rPr lang="en-US" sz="1600" noProof="0" dirty="0"/>
                            <a:t>28</a:t>
                          </a:r>
                        </a:p>
                      </a:txBody>
                      <a:tcPr/>
                    </a:tc>
                    <a:tc>
                      <a:txBody>
                        <a:bodyPr/>
                        <a:lstStyle/>
                        <a:p>
                          <a:pPr algn="ctr"/>
                          <a:r>
                            <a:rPr lang="en-US" sz="1600" noProof="0" dirty="0"/>
                            <a:t>12</a:t>
                          </a:r>
                        </a:p>
                      </a:txBody>
                      <a:tcPr/>
                    </a:tc>
                    <a:tc>
                      <a:txBody>
                        <a:bodyPr/>
                        <a:lstStyle/>
                        <a:p>
                          <a:pPr algn="ctr"/>
                          <a:r>
                            <a:rPr lang="en-US" sz="1600" noProof="0" dirty="0"/>
                            <a:t>144</a:t>
                          </a:r>
                        </a:p>
                      </a:txBody>
                      <a:tcPr/>
                    </a:tc>
                    <a:extLst>
                      <a:ext uri="{0D108BD9-81ED-4DB2-BD59-A6C34878D82A}">
                        <a16:rowId xmlns:a16="http://schemas.microsoft.com/office/drawing/2014/main" val="2375024489"/>
                      </a:ext>
                    </a:extLst>
                  </a:tr>
                  <a:tr h="317593">
                    <a:tc>
                      <a:txBody>
                        <a:bodyPr/>
                        <a:lstStyle/>
                        <a:p>
                          <a:pPr algn="ctr"/>
                          <a:r>
                            <a:rPr lang="en-US" sz="1600" noProof="0" dirty="0"/>
                            <a:t>50</a:t>
                          </a:r>
                        </a:p>
                      </a:txBody>
                      <a:tcPr/>
                    </a:tc>
                    <a:tc>
                      <a:txBody>
                        <a:bodyPr/>
                        <a:lstStyle/>
                        <a:p>
                          <a:pPr algn="ctr"/>
                          <a:r>
                            <a:rPr lang="en-US" sz="1600" noProof="0" dirty="0"/>
                            <a:t>15</a:t>
                          </a:r>
                        </a:p>
                      </a:txBody>
                      <a:tcPr/>
                    </a:tc>
                    <a:tc>
                      <a:txBody>
                        <a:bodyPr/>
                        <a:lstStyle/>
                        <a:p>
                          <a:pPr algn="ctr"/>
                          <a:r>
                            <a:rPr lang="en-US" sz="1600" noProof="0" dirty="0"/>
                            <a:t>32</a:t>
                          </a:r>
                        </a:p>
                      </a:txBody>
                      <a:tcPr/>
                    </a:tc>
                    <a:tc>
                      <a:txBody>
                        <a:bodyPr/>
                        <a:lstStyle/>
                        <a:p>
                          <a:pPr algn="ctr"/>
                          <a:r>
                            <a:rPr lang="en-US" sz="1600" noProof="0" dirty="0"/>
                            <a:t>17</a:t>
                          </a:r>
                        </a:p>
                      </a:txBody>
                      <a:tcPr/>
                    </a:tc>
                    <a:tc>
                      <a:txBody>
                        <a:bodyPr/>
                        <a:lstStyle/>
                        <a:p>
                          <a:pPr algn="ctr"/>
                          <a:r>
                            <a:rPr lang="en-US" sz="1600" noProof="0" dirty="0"/>
                            <a:t>289</a:t>
                          </a:r>
                        </a:p>
                      </a:txBody>
                      <a:tcPr/>
                    </a:tc>
                    <a:extLst>
                      <a:ext uri="{0D108BD9-81ED-4DB2-BD59-A6C34878D82A}">
                        <a16:rowId xmlns:a16="http://schemas.microsoft.com/office/drawing/2014/main" val="2374833442"/>
                      </a:ext>
                    </a:extLst>
                  </a:tr>
                  <a:tr h="317593">
                    <a:tc>
                      <a:txBody>
                        <a:bodyPr/>
                        <a:lstStyle/>
                        <a:p>
                          <a:pPr algn="ctr"/>
                          <a:r>
                            <a:rPr lang="en-US" sz="1600" noProof="0" dirty="0"/>
                            <a:t>60</a:t>
                          </a:r>
                        </a:p>
                      </a:txBody>
                      <a:tcPr/>
                    </a:tc>
                    <a:tc>
                      <a:txBody>
                        <a:bodyPr/>
                        <a:lstStyle/>
                        <a:p>
                          <a:pPr algn="ctr"/>
                          <a:r>
                            <a:rPr lang="en-US" sz="1600" noProof="0" dirty="0"/>
                            <a:t>40</a:t>
                          </a:r>
                        </a:p>
                      </a:txBody>
                      <a:tcPr/>
                    </a:tc>
                    <a:tc>
                      <a:txBody>
                        <a:bodyPr/>
                        <a:lstStyle/>
                        <a:p>
                          <a:pPr algn="ctr"/>
                          <a:r>
                            <a:rPr lang="en-US" sz="1600" noProof="0" dirty="0"/>
                            <a:t>36</a:t>
                          </a:r>
                        </a:p>
                      </a:txBody>
                      <a:tcPr/>
                    </a:tc>
                    <a:tc>
                      <a:txBody>
                        <a:bodyPr/>
                        <a:lstStyle/>
                        <a:p>
                          <a:pPr algn="ctr"/>
                          <a:r>
                            <a:rPr lang="en-US" sz="1600" noProof="0" dirty="0"/>
                            <a:t>4</a:t>
                          </a:r>
                        </a:p>
                      </a:txBody>
                      <a:tcPr/>
                    </a:tc>
                    <a:tc>
                      <a:txBody>
                        <a:bodyPr/>
                        <a:lstStyle/>
                        <a:p>
                          <a:pPr algn="ctr"/>
                          <a:r>
                            <a:rPr lang="en-US" sz="1600" noProof="0" dirty="0"/>
                            <a:t>16</a:t>
                          </a:r>
                        </a:p>
                      </a:txBody>
                      <a:tcPr/>
                    </a:tc>
                    <a:extLst>
                      <a:ext uri="{0D108BD9-81ED-4DB2-BD59-A6C34878D82A}">
                        <a16:rowId xmlns:a16="http://schemas.microsoft.com/office/drawing/2014/main" val="2662212881"/>
                      </a:ext>
                    </a:extLst>
                  </a:tr>
                  <a:tr h="317593">
                    <a:tc>
                      <a:txBody>
                        <a:bodyPr/>
                        <a:lstStyle/>
                        <a:p>
                          <a:pPr algn="ctr"/>
                          <a:r>
                            <a:rPr lang="en-US" sz="1600" noProof="0" dirty="0"/>
                            <a:t>65</a:t>
                          </a:r>
                        </a:p>
                      </a:txBody>
                      <a:tcPr/>
                    </a:tc>
                    <a:tc>
                      <a:txBody>
                        <a:bodyPr/>
                        <a:lstStyle/>
                        <a:p>
                          <a:pPr algn="ctr"/>
                          <a:r>
                            <a:rPr lang="en-US" sz="1600" noProof="0" dirty="0"/>
                            <a:t>30</a:t>
                          </a:r>
                        </a:p>
                      </a:txBody>
                      <a:tcPr/>
                    </a:tc>
                    <a:tc>
                      <a:txBody>
                        <a:bodyPr/>
                        <a:lstStyle/>
                        <a:p>
                          <a:pPr algn="ctr"/>
                          <a:r>
                            <a:rPr lang="en-US" sz="1600" noProof="0" dirty="0"/>
                            <a:t>38</a:t>
                          </a:r>
                        </a:p>
                      </a:txBody>
                      <a:tcPr/>
                    </a:tc>
                    <a:tc>
                      <a:txBody>
                        <a:bodyPr/>
                        <a:lstStyle/>
                        <a:p>
                          <a:pPr algn="ctr"/>
                          <a:r>
                            <a:rPr lang="en-US" sz="1600" noProof="0" dirty="0"/>
                            <a:t>8</a:t>
                          </a:r>
                        </a:p>
                      </a:txBody>
                      <a:tcPr/>
                    </a:tc>
                    <a:tc>
                      <a:txBody>
                        <a:bodyPr/>
                        <a:lstStyle/>
                        <a:p>
                          <a:pPr algn="ctr"/>
                          <a:r>
                            <a:rPr lang="en-US" sz="1600" noProof="0" dirty="0"/>
                            <a:t>64</a:t>
                          </a:r>
                        </a:p>
                      </a:txBody>
                      <a:tcPr/>
                    </a:tc>
                    <a:extLst>
                      <a:ext uri="{0D108BD9-81ED-4DB2-BD59-A6C34878D82A}">
                        <a16:rowId xmlns:a16="http://schemas.microsoft.com/office/drawing/2014/main" val="4272864123"/>
                      </a:ext>
                    </a:extLst>
                  </a:tr>
                  <a:tr h="317593">
                    <a:tc>
                      <a:txBody>
                        <a:bodyPr/>
                        <a:lstStyle/>
                        <a:p>
                          <a:pPr algn="ctr"/>
                          <a:r>
                            <a:rPr lang="en-US" sz="1600" noProof="0" dirty="0"/>
                            <a:t>70</a:t>
                          </a:r>
                        </a:p>
                      </a:txBody>
                      <a:tcPr/>
                    </a:tc>
                    <a:tc>
                      <a:txBody>
                        <a:bodyPr/>
                        <a:lstStyle/>
                        <a:p>
                          <a:pPr algn="ctr"/>
                          <a:r>
                            <a:rPr lang="en-US" sz="1600" noProof="0" dirty="0"/>
                            <a:t>50</a:t>
                          </a:r>
                        </a:p>
                      </a:txBody>
                      <a:tcPr/>
                    </a:tc>
                    <a:tc>
                      <a:txBody>
                        <a:bodyPr/>
                        <a:lstStyle/>
                        <a:p>
                          <a:pPr algn="ctr"/>
                          <a:r>
                            <a:rPr lang="en-US" sz="1600" noProof="0" dirty="0"/>
                            <a:t>40</a:t>
                          </a:r>
                        </a:p>
                      </a:txBody>
                      <a:tcPr/>
                    </a:tc>
                    <a:tc>
                      <a:txBody>
                        <a:bodyPr/>
                        <a:lstStyle/>
                        <a:p>
                          <a:pPr algn="ctr"/>
                          <a:r>
                            <a:rPr lang="en-US" sz="1600" noProof="0" dirty="0"/>
                            <a:t>10</a:t>
                          </a:r>
                        </a:p>
                      </a:txBody>
                      <a:tcPr/>
                    </a:tc>
                    <a:tc>
                      <a:txBody>
                        <a:bodyPr/>
                        <a:lstStyle/>
                        <a:p>
                          <a:pPr algn="ctr"/>
                          <a:r>
                            <a:rPr lang="en-US" sz="1600" noProof="0" dirty="0"/>
                            <a:t>100</a:t>
                          </a:r>
                        </a:p>
                      </a:txBody>
                      <a:tcPr/>
                    </a:tc>
                    <a:extLst>
                      <a:ext uri="{0D108BD9-81ED-4DB2-BD59-A6C34878D82A}">
                        <a16:rowId xmlns:a16="http://schemas.microsoft.com/office/drawing/2014/main" val="778314671"/>
                      </a:ext>
                    </a:extLst>
                  </a:tr>
                  <a:tr h="317593">
                    <a:tc>
                      <a:txBody>
                        <a:bodyPr/>
                        <a:lstStyle/>
                        <a:p>
                          <a:pPr algn="ctr"/>
                          <a:r>
                            <a:rPr lang="en-US" sz="1600" noProof="0" dirty="0"/>
                            <a:t>80</a:t>
                          </a:r>
                        </a:p>
                      </a:txBody>
                      <a:tcPr/>
                    </a:tc>
                    <a:tc>
                      <a:txBody>
                        <a:bodyPr/>
                        <a:lstStyle/>
                        <a:p>
                          <a:pPr algn="ctr"/>
                          <a:r>
                            <a:rPr lang="en-US" sz="1600" noProof="0" dirty="0"/>
                            <a:t>40</a:t>
                          </a:r>
                        </a:p>
                      </a:txBody>
                      <a:tcPr/>
                    </a:tc>
                    <a:tc>
                      <a:txBody>
                        <a:bodyPr/>
                        <a:lstStyle/>
                        <a:p>
                          <a:pPr algn="ctr"/>
                          <a:r>
                            <a:rPr lang="en-US" sz="1600" noProof="0" dirty="0"/>
                            <a:t>44</a:t>
                          </a:r>
                        </a:p>
                      </a:txBody>
                      <a:tcPr/>
                    </a:tc>
                    <a:tc>
                      <a:txBody>
                        <a:bodyPr/>
                        <a:lstStyle/>
                        <a:p>
                          <a:pPr algn="ctr"/>
                          <a:r>
                            <a:rPr lang="en-US" sz="1600" noProof="0" dirty="0"/>
                            <a:t>4</a:t>
                          </a:r>
                        </a:p>
                      </a:txBody>
                      <a:tcPr/>
                    </a:tc>
                    <a:tc>
                      <a:txBody>
                        <a:bodyPr/>
                        <a:lstStyle/>
                        <a:p>
                          <a:pPr algn="ctr"/>
                          <a:r>
                            <a:rPr lang="en-US" sz="1600" noProof="0" dirty="0"/>
                            <a:t>16</a:t>
                          </a:r>
                        </a:p>
                      </a:txBody>
                      <a:tcPr/>
                    </a:tc>
                    <a:extLst>
                      <a:ext uri="{0D108BD9-81ED-4DB2-BD59-A6C34878D82A}">
                        <a16:rowId xmlns:a16="http://schemas.microsoft.com/office/drawing/2014/main" val="2188934142"/>
                      </a:ext>
                    </a:extLst>
                  </a:tr>
                  <a:tr h="317593">
                    <a:tc>
                      <a:txBody>
                        <a:bodyPr/>
                        <a:lstStyle/>
                        <a:p>
                          <a:pPr algn="ctr"/>
                          <a:r>
                            <a:rPr lang="en-US" sz="1600" b="1" noProof="0" dirty="0"/>
                            <a:t>Total</a:t>
                          </a:r>
                        </a:p>
                      </a:txBody>
                      <a:tcPr/>
                    </a:tc>
                    <a:tc>
                      <a:txBody>
                        <a:bodyPr/>
                        <a:lstStyle/>
                        <a:p>
                          <a:pPr algn="ctr"/>
                          <a:r>
                            <a:rPr lang="en-US" sz="1600" b="1" noProof="0" dirty="0"/>
                            <a:t>NA</a:t>
                          </a:r>
                        </a:p>
                      </a:txBody>
                      <a:tcPr/>
                    </a:tc>
                    <a:tc>
                      <a:txBody>
                        <a:bodyPr/>
                        <a:lstStyle/>
                        <a:p>
                          <a:pPr algn="ctr"/>
                          <a:r>
                            <a:rPr lang="en-US" sz="1600" b="1" noProof="0" dirty="0"/>
                            <a:t>NA</a:t>
                          </a:r>
                        </a:p>
                      </a:txBody>
                      <a:tcPr/>
                    </a:tc>
                    <a:tc>
                      <a:txBody>
                        <a:bodyPr/>
                        <a:lstStyle/>
                        <a:p>
                          <a:pPr algn="ctr"/>
                          <a:r>
                            <a:rPr lang="en-US" sz="1600" b="1" noProof="0" dirty="0"/>
                            <a:t>74</a:t>
                          </a:r>
                        </a:p>
                      </a:txBody>
                      <a:tcPr/>
                    </a:tc>
                    <a:tc>
                      <a:txBody>
                        <a:bodyPr/>
                        <a:lstStyle/>
                        <a:p>
                          <a:pPr algn="ctr"/>
                          <a:r>
                            <a:rPr lang="en-US" sz="1600" b="1" noProof="0" dirty="0"/>
                            <a:t>722 (SSE)</a:t>
                          </a:r>
                        </a:p>
                      </a:txBody>
                      <a:tcPr/>
                    </a:tc>
                    <a:extLst>
                      <a:ext uri="{0D108BD9-81ED-4DB2-BD59-A6C34878D82A}">
                        <a16:rowId xmlns:a16="http://schemas.microsoft.com/office/drawing/2014/main" val="3293582667"/>
                      </a:ext>
                    </a:extLst>
                  </a:tr>
                </a:tbl>
              </a:graphicData>
            </a:graphic>
          </p:graphicFrame>
        </mc:Choice>
        <mc:Fallback>
          <p:graphicFrame>
            <p:nvGraphicFramePr>
              <p:cNvPr id="4" name="Table 3">
                <a:extLst>
                  <a:ext uri="{FF2B5EF4-FFF2-40B4-BE49-F238E27FC236}">
                    <a16:creationId xmlns:a16="http://schemas.microsoft.com/office/drawing/2014/main" id="{9E9E5444-0BE3-3CFD-4F2A-19EFACD76697}"/>
                  </a:ext>
                </a:extLst>
              </p:cNvPr>
              <p:cNvGraphicFramePr>
                <a:graphicFrameLocks noGrp="1"/>
              </p:cNvGraphicFramePr>
              <p:nvPr>
                <p:extLst>
                  <p:ext uri="{D42A27DB-BD31-4B8C-83A1-F6EECF244321}">
                    <p14:modId xmlns:p14="http://schemas.microsoft.com/office/powerpoint/2010/main" val="4105114540"/>
                  </p:ext>
                </p:extLst>
              </p:nvPr>
            </p:nvGraphicFramePr>
            <p:xfrm>
              <a:off x="5082364" y="96918"/>
              <a:ext cx="6613452" cy="4467625"/>
            </p:xfrm>
            <a:graphic>
              <a:graphicData uri="http://schemas.openxmlformats.org/drawingml/2006/table">
                <a:tbl>
                  <a:tblPr firstRow="1" bandRow="1">
                    <a:tableStyleId>{21E4AEA4-8DFA-4A89-87EB-49C32662AFE0}</a:tableStyleId>
                  </a:tblPr>
                  <a:tblGrid>
                    <a:gridCol w="877295">
                      <a:extLst>
                        <a:ext uri="{9D8B030D-6E8A-4147-A177-3AD203B41FA5}">
                          <a16:colId xmlns:a16="http://schemas.microsoft.com/office/drawing/2014/main" val="2297429349"/>
                        </a:ext>
                      </a:extLst>
                    </a:gridCol>
                    <a:gridCol w="1206685">
                      <a:extLst>
                        <a:ext uri="{9D8B030D-6E8A-4147-A177-3AD203B41FA5}">
                          <a16:colId xmlns:a16="http://schemas.microsoft.com/office/drawing/2014/main" val="1337358672"/>
                        </a:ext>
                      </a:extLst>
                    </a:gridCol>
                    <a:gridCol w="1275907">
                      <a:extLst>
                        <a:ext uri="{9D8B030D-6E8A-4147-A177-3AD203B41FA5}">
                          <a16:colId xmlns:a16="http://schemas.microsoft.com/office/drawing/2014/main" val="1757071119"/>
                        </a:ext>
                      </a:extLst>
                    </a:gridCol>
                    <a:gridCol w="1402569">
                      <a:extLst>
                        <a:ext uri="{9D8B030D-6E8A-4147-A177-3AD203B41FA5}">
                          <a16:colId xmlns:a16="http://schemas.microsoft.com/office/drawing/2014/main" val="830366366"/>
                        </a:ext>
                      </a:extLst>
                    </a:gridCol>
                    <a:gridCol w="1850996">
                      <a:extLst>
                        <a:ext uri="{9D8B030D-6E8A-4147-A177-3AD203B41FA5}">
                          <a16:colId xmlns:a16="http://schemas.microsoft.com/office/drawing/2014/main" val="2765552350"/>
                        </a:ext>
                      </a:extLst>
                    </a:gridCol>
                  </a:tblGrid>
                  <a:tr h="779545">
                    <a:tc>
                      <a:txBody>
                        <a:bodyPr/>
                        <a:lstStyle/>
                        <a:p>
                          <a:pPr algn="ctr"/>
                          <a:r>
                            <a:rPr lang="en-US" sz="1600" noProof="0" dirty="0"/>
                            <a:t>x</a:t>
                          </a:r>
                        </a:p>
                      </a:txBody>
                      <a:tcPr/>
                    </a:tc>
                    <a:tc>
                      <a:txBody>
                        <a:bodyPr/>
                        <a:lstStyle/>
                        <a:p>
                          <a:pPr algn="ctr"/>
                          <a:r>
                            <a:rPr lang="en-US" sz="1600" noProof="0" dirty="0"/>
                            <a:t>Y (Actual)</a:t>
                          </a:r>
                        </a:p>
                      </a:txBody>
                      <a:tcPr/>
                    </a:tc>
                    <a:tc>
                      <a:txBody>
                        <a:bodyPr/>
                        <a:lstStyle/>
                        <a:p>
                          <a:endParaRPr lang="en-US"/>
                        </a:p>
                      </a:txBody>
                      <a:tcPr>
                        <a:blipFill>
                          <a:blip r:embed="rId3"/>
                          <a:stretch>
                            <a:fillRect l="-163333" t="-1563" r="-256190" b="-483594"/>
                          </a:stretch>
                        </a:blipFill>
                      </a:tcPr>
                    </a:tc>
                    <a:tc>
                      <a:txBody>
                        <a:bodyPr/>
                        <a:lstStyle/>
                        <a:p>
                          <a:endParaRPr lang="en-US"/>
                        </a:p>
                      </a:txBody>
                      <a:tcPr>
                        <a:blipFill>
                          <a:blip r:embed="rId3"/>
                          <a:stretch>
                            <a:fillRect l="-240435" t="-1563" r="-133913" b="-483594"/>
                          </a:stretch>
                        </a:blipFill>
                      </a:tcPr>
                    </a:tc>
                    <a:tc>
                      <a:txBody>
                        <a:bodyPr/>
                        <a:lstStyle/>
                        <a:p>
                          <a:endParaRPr lang="en-US"/>
                        </a:p>
                      </a:txBody>
                      <a:tcPr>
                        <a:blipFill>
                          <a:blip r:embed="rId3"/>
                          <a:stretch>
                            <a:fillRect l="-257566" t="-1563" r="-1316" b="-483594"/>
                          </a:stretch>
                        </a:blipFill>
                      </a:tcPr>
                    </a:tc>
                    <a:extLst>
                      <a:ext uri="{0D108BD9-81ED-4DB2-BD59-A6C34878D82A}">
                        <a16:rowId xmlns:a16="http://schemas.microsoft.com/office/drawing/2014/main" val="375836248"/>
                      </a:ext>
                    </a:extLst>
                  </a:tr>
                  <a:tr h="335280">
                    <a:tc>
                      <a:txBody>
                        <a:bodyPr/>
                        <a:lstStyle/>
                        <a:p>
                          <a:pPr algn="ctr"/>
                          <a:r>
                            <a:rPr lang="en-US" sz="1600" noProof="0" dirty="0"/>
                            <a:t>10</a:t>
                          </a:r>
                        </a:p>
                      </a:txBody>
                      <a:tcPr/>
                    </a:tc>
                    <a:tc>
                      <a:txBody>
                        <a:bodyPr/>
                        <a:lstStyle/>
                        <a:p>
                          <a:pPr algn="ctr"/>
                          <a:r>
                            <a:rPr lang="en-US" sz="1600" noProof="0" dirty="0"/>
                            <a:t>10</a:t>
                          </a:r>
                        </a:p>
                      </a:txBody>
                      <a:tcPr/>
                    </a:tc>
                    <a:tc>
                      <a:txBody>
                        <a:bodyPr/>
                        <a:lstStyle/>
                        <a:p>
                          <a:pPr algn="ctr"/>
                          <a:r>
                            <a:rPr lang="en-US" sz="1600" noProof="0" dirty="0"/>
                            <a:t>16</a:t>
                          </a:r>
                        </a:p>
                      </a:txBody>
                      <a:tcPr/>
                    </a:tc>
                    <a:tc>
                      <a:txBody>
                        <a:bodyPr/>
                        <a:lstStyle/>
                        <a:p>
                          <a:pPr algn="ctr"/>
                          <a:r>
                            <a:rPr lang="en-US" sz="1600" noProof="0" dirty="0"/>
                            <a:t>6</a:t>
                          </a:r>
                        </a:p>
                      </a:txBody>
                      <a:tcPr/>
                    </a:tc>
                    <a:tc>
                      <a:txBody>
                        <a:bodyPr/>
                        <a:lstStyle/>
                        <a:p>
                          <a:pPr algn="ctr"/>
                          <a:r>
                            <a:rPr lang="en-US" sz="1600" noProof="0" dirty="0"/>
                            <a:t>36</a:t>
                          </a:r>
                        </a:p>
                      </a:txBody>
                      <a:tcPr/>
                    </a:tc>
                    <a:extLst>
                      <a:ext uri="{0D108BD9-81ED-4DB2-BD59-A6C34878D82A}">
                        <a16:rowId xmlns:a16="http://schemas.microsoft.com/office/drawing/2014/main" val="330859248"/>
                      </a:ext>
                    </a:extLst>
                  </a:tr>
                  <a:tr h="335280">
                    <a:tc>
                      <a:txBody>
                        <a:bodyPr/>
                        <a:lstStyle/>
                        <a:p>
                          <a:pPr algn="ctr"/>
                          <a:r>
                            <a:rPr lang="en-US" sz="1600" noProof="0" dirty="0"/>
                            <a:t>20</a:t>
                          </a:r>
                        </a:p>
                      </a:txBody>
                      <a:tcPr/>
                    </a:tc>
                    <a:tc>
                      <a:txBody>
                        <a:bodyPr/>
                        <a:lstStyle/>
                        <a:p>
                          <a:pPr algn="ctr"/>
                          <a:r>
                            <a:rPr lang="en-US" sz="1600" noProof="0" dirty="0"/>
                            <a:t>25</a:t>
                          </a:r>
                        </a:p>
                      </a:txBody>
                      <a:tcPr/>
                    </a:tc>
                    <a:tc>
                      <a:txBody>
                        <a:bodyPr/>
                        <a:lstStyle/>
                        <a:p>
                          <a:pPr algn="ctr"/>
                          <a:r>
                            <a:rPr lang="en-US" sz="1600" noProof="0" dirty="0"/>
                            <a:t>20</a:t>
                          </a:r>
                        </a:p>
                      </a:txBody>
                      <a:tcPr/>
                    </a:tc>
                    <a:tc>
                      <a:txBody>
                        <a:bodyPr/>
                        <a:lstStyle/>
                        <a:p>
                          <a:pPr algn="ctr"/>
                          <a:r>
                            <a:rPr lang="en-US" sz="1600" noProof="0" dirty="0"/>
                            <a:t>5</a:t>
                          </a:r>
                        </a:p>
                      </a:txBody>
                      <a:tcPr/>
                    </a:tc>
                    <a:tc>
                      <a:txBody>
                        <a:bodyPr/>
                        <a:lstStyle/>
                        <a:p>
                          <a:pPr algn="ctr"/>
                          <a:r>
                            <a:rPr lang="en-US" sz="1600" noProof="0" dirty="0"/>
                            <a:t>25</a:t>
                          </a:r>
                        </a:p>
                      </a:txBody>
                      <a:tcPr/>
                    </a:tc>
                    <a:extLst>
                      <a:ext uri="{0D108BD9-81ED-4DB2-BD59-A6C34878D82A}">
                        <a16:rowId xmlns:a16="http://schemas.microsoft.com/office/drawing/2014/main" val="1088471177"/>
                      </a:ext>
                    </a:extLst>
                  </a:tr>
                  <a:tr h="335280">
                    <a:tc>
                      <a:txBody>
                        <a:bodyPr/>
                        <a:lstStyle/>
                        <a:p>
                          <a:pPr algn="ctr"/>
                          <a:r>
                            <a:rPr lang="en-US" sz="1600" noProof="0" dirty="0"/>
                            <a:t>30</a:t>
                          </a:r>
                        </a:p>
                      </a:txBody>
                      <a:tcPr/>
                    </a:tc>
                    <a:tc>
                      <a:txBody>
                        <a:bodyPr/>
                        <a:lstStyle/>
                        <a:p>
                          <a:pPr algn="ctr"/>
                          <a:r>
                            <a:rPr lang="en-US" sz="1600" noProof="0" dirty="0"/>
                            <a:t>20</a:t>
                          </a:r>
                        </a:p>
                      </a:txBody>
                      <a:tcPr/>
                    </a:tc>
                    <a:tc>
                      <a:txBody>
                        <a:bodyPr/>
                        <a:lstStyle/>
                        <a:p>
                          <a:pPr algn="ctr"/>
                          <a:r>
                            <a:rPr lang="en-US" sz="1600" noProof="0" dirty="0"/>
                            <a:t>24</a:t>
                          </a:r>
                        </a:p>
                      </a:txBody>
                      <a:tcPr/>
                    </a:tc>
                    <a:tc>
                      <a:txBody>
                        <a:bodyPr/>
                        <a:lstStyle/>
                        <a:p>
                          <a:pPr algn="ctr"/>
                          <a:r>
                            <a:rPr lang="en-US" sz="1600" noProof="0" dirty="0"/>
                            <a:t>4</a:t>
                          </a:r>
                        </a:p>
                      </a:txBody>
                      <a:tcPr/>
                    </a:tc>
                    <a:tc>
                      <a:txBody>
                        <a:bodyPr/>
                        <a:lstStyle/>
                        <a:p>
                          <a:pPr algn="ctr"/>
                          <a:r>
                            <a:rPr lang="en-US" sz="1600" noProof="0" dirty="0"/>
                            <a:t>16</a:t>
                          </a:r>
                        </a:p>
                      </a:txBody>
                      <a:tcPr/>
                    </a:tc>
                    <a:extLst>
                      <a:ext uri="{0D108BD9-81ED-4DB2-BD59-A6C34878D82A}">
                        <a16:rowId xmlns:a16="http://schemas.microsoft.com/office/drawing/2014/main" val="1625659414"/>
                      </a:ext>
                    </a:extLst>
                  </a:tr>
                  <a:tr h="335280">
                    <a:tc>
                      <a:txBody>
                        <a:bodyPr/>
                        <a:lstStyle/>
                        <a:p>
                          <a:pPr algn="ctr"/>
                          <a:r>
                            <a:rPr lang="en-US" sz="1600" noProof="0" dirty="0"/>
                            <a:t>35</a:t>
                          </a:r>
                        </a:p>
                      </a:txBody>
                      <a:tcPr/>
                    </a:tc>
                    <a:tc>
                      <a:txBody>
                        <a:bodyPr/>
                        <a:lstStyle/>
                        <a:p>
                          <a:pPr algn="ctr"/>
                          <a:r>
                            <a:rPr lang="en-US" sz="1600" noProof="0" dirty="0"/>
                            <a:t>30</a:t>
                          </a:r>
                        </a:p>
                      </a:txBody>
                      <a:tcPr/>
                    </a:tc>
                    <a:tc>
                      <a:txBody>
                        <a:bodyPr/>
                        <a:lstStyle/>
                        <a:p>
                          <a:pPr algn="ctr"/>
                          <a:r>
                            <a:rPr lang="en-US" sz="1600" noProof="0" dirty="0"/>
                            <a:t>26</a:t>
                          </a:r>
                        </a:p>
                      </a:txBody>
                      <a:tcPr/>
                    </a:tc>
                    <a:tc>
                      <a:txBody>
                        <a:bodyPr/>
                        <a:lstStyle/>
                        <a:p>
                          <a:pPr algn="ctr"/>
                          <a:r>
                            <a:rPr lang="en-US" sz="1600" noProof="0" dirty="0"/>
                            <a:t>4</a:t>
                          </a:r>
                        </a:p>
                      </a:txBody>
                      <a:tcPr/>
                    </a:tc>
                    <a:tc>
                      <a:txBody>
                        <a:bodyPr/>
                        <a:lstStyle/>
                        <a:p>
                          <a:pPr algn="ctr"/>
                          <a:r>
                            <a:rPr lang="en-US" sz="1600" noProof="0" dirty="0"/>
                            <a:t>16</a:t>
                          </a:r>
                        </a:p>
                      </a:txBody>
                      <a:tcPr/>
                    </a:tc>
                    <a:extLst>
                      <a:ext uri="{0D108BD9-81ED-4DB2-BD59-A6C34878D82A}">
                        <a16:rowId xmlns:a16="http://schemas.microsoft.com/office/drawing/2014/main" val="2191306571"/>
                      </a:ext>
                    </a:extLst>
                  </a:tr>
                  <a:tr h="335280">
                    <a:tc>
                      <a:txBody>
                        <a:bodyPr/>
                        <a:lstStyle/>
                        <a:p>
                          <a:pPr algn="ctr"/>
                          <a:r>
                            <a:rPr lang="en-US" sz="1600" noProof="0" dirty="0"/>
                            <a:t>40</a:t>
                          </a:r>
                        </a:p>
                      </a:txBody>
                      <a:tcPr/>
                    </a:tc>
                    <a:tc>
                      <a:txBody>
                        <a:bodyPr/>
                        <a:lstStyle/>
                        <a:p>
                          <a:pPr algn="ctr"/>
                          <a:r>
                            <a:rPr lang="en-US" sz="1600" noProof="0" dirty="0"/>
                            <a:t>40</a:t>
                          </a:r>
                        </a:p>
                      </a:txBody>
                      <a:tcPr/>
                    </a:tc>
                    <a:tc>
                      <a:txBody>
                        <a:bodyPr/>
                        <a:lstStyle/>
                        <a:p>
                          <a:pPr algn="ctr"/>
                          <a:r>
                            <a:rPr lang="en-US" sz="1600" noProof="0" dirty="0"/>
                            <a:t>28</a:t>
                          </a:r>
                        </a:p>
                      </a:txBody>
                      <a:tcPr/>
                    </a:tc>
                    <a:tc>
                      <a:txBody>
                        <a:bodyPr/>
                        <a:lstStyle/>
                        <a:p>
                          <a:pPr algn="ctr"/>
                          <a:r>
                            <a:rPr lang="en-US" sz="1600" noProof="0" dirty="0"/>
                            <a:t>12</a:t>
                          </a:r>
                        </a:p>
                      </a:txBody>
                      <a:tcPr/>
                    </a:tc>
                    <a:tc>
                      <a:txBody>
                        <a:bodyPr/>
                        <a:lstStyle/>
                        <a:p>
                          <a:pPr algn="ctr"/>
                          <a:r>
                            <a:rPr lang="en-US" sz="1600" noProof="0" dirty="0"/>
                            <a:t>144</a:t>
                          </a:r>
                        </a:p>
                      </a:txBody>
                      <a:tcPr/>
                    </a:tc>
                    <a:extLst>
                      <a:ext uri="{0D108BD9-81ED-4DB2-BD59-A6C34878D82A}">
                        <a16:rowId xmlns:a16="http://schemas.microsoft.com/office/drawing/2014/main" val="2375024489"/>
                      </a:ext>
                    </a:extLst>
                  </a:tr>
                  <a:tr h="335280">
                    <a:tc>
                      <a:txBody>
                        <a:bodyPr/>
                        <a:lstStyle/>
                        <a:p>
                          <a:pPr algn="ctr"/>
                          <a:r>
                            <a:rPr lang="en-US" sz="1600" noProof="0" dirty="0"/>
                            <a:t>50</a:t>
                          </a:r>
                        </a:p>
                      </a:txBody>
                      <a:tcPr/>
                    </a:tc>
                    <a:tc>
                      <a:txBody>
                        <a:bodyPr/>
                        <a:lstStyle/>
                        <a:p>
                          <a:pPr algn="ctr"/>
                          <a:r>
                            <a:rPr lang="en-US" sz="1600" noProof="0" dirty="0"/>
                            <a:t>15</a:t>
                          </a:r>
                        </a:p>
                      </a:txBody>
                      <a:tcPr/>
                    </a:tc>
                    <a:tc>
                      <a:txBody>
                        <a:bodyPr/>
                        <a:lstStyle/>
                        <a:p>
                          <a:pPr algn="ctr"/>
                          <a:r>
                            <a:rPr lang="en-US" sz="1600" noProof="0" dirty="0"/>
                            <a:t>32</a:t>
                          </a:r>
                        </a:p>
                      </a:txBody>
                      <a:tcPr/>
                    </a:tc>
                    <a:tc>
                      <a:txBody>
                        <a:bodyPr/>
                        <a:lstStyle/>
                        <a:p>
                          <a:pPr algn="ctr"/>
                          <a:r>
                            <a:rPr lang="en-US" sz="1600" noProof="0" dirty="0"/>
                            <a:t>17</a:t>
                          </a:r>
                        </a:p>
                      </a:txBody>
                      <a:tcPr/>
                    </a:tc>
                    <a:tc>
                      <a:txBody>
                        <a:bodyPr/>
                        <a:lstStyle/>
                        <a:p>
                          <a:pPr algn="ctr"/>
                          <a:r>
                            <a:rPr lang="en-US" sz="1600" noProof="0" dirty="0"/>
                            <a:t>289</a:t>
                          </a:r>
                        </a:p>
                      </a:txBody>
                      <a:tcPr/>
                    </a:tc>
                    <a:extLst>
                      <a:ext uri="{0D108BD9-81ED-4DB2-BD59-A6C34878D82A}">
                        <a16:rowId xmlns:a16="http://schemas.microsoft.com/office/drawing/2014/main" val="2374833442"/>
                      </a:ext>
                    </a:extLst>
                  </a:tr>
                  <a:tr h="335280">
                    <a:tc>
                      <a:txBody>
                        <a:bodyPr/>
                        <a:lstStyle/>
                        <a:p>
                          <a:pPr algn="ctr"/>
                          <a:r>
                            <a:rPr lang="en-US" sz="1600" noProof="0" dirty="0"/>
                            <a:t>60</a:t>
                          </a:r>
                        </a:p>
                      </a:txBody>
                      <a:tcPr/>
                    </a:tc>
                    <a:tc>
                      <a:txBody>
                        <a:bodyPr/>
                        <a:lstStyle/>
                        <a:p>
                          <a:pPr algn="ctr"/>
                          <a:r>
                            <a:rPr lang="en-US" sz="1600" noProof="0" dirty="0"/>
                            <a:t>40</a:t>
                          </a:r>
                        </a:p>
                      </a:txBody>
                      <a:tcPr/>
                    </a:tc>
                    <a:tc>
                      <a:txBody>
                        <a:bodyPr/>
                        <a:lstStyle/>
                        <a:p>
                          <a:pPr algn="ctr"/>
                          <a:r>
                            <a:rPr lang="en-US" sz="1600" noProof="0" dirty="0"/>
                            <a:t>36</a:t>
                          </a:r>
                        </a:p>
                      </a:txBody>
                      <a:tcPr/>
                    </a:tc>
                    <a:tc>
                      <a:txBody>
                        <a:bodyPr/>
                        <a:lstStyle/>
                        <a:p>
                          <a:pPr algn="ctr"/>
                          <a:r>
                            <a:rPr lang="en-US" sz="1600" noProof="0" dirty="0"/>
                            <a:t>4</a:t>
                          </a:r>
                        </a:p>
                      </a:txBody>
                      <a:tcPr/>
                    </a:tc>
                    <a:tc>
                      <a:txBody>
                        <a:bodyPr/>
                        <a:lstStyle/>
                        <a:p>
                          <a:pPr algn="ctr"/>
                          <a:r>
                            <a:rPr lang="en-US" sz="1600" noProof="0" dirty="0"/>
                            <a:t>16</a:t>
                          </a:r>
                        </a:p>
                      </a:txBody>
                      <a:tcPr/>
                    </a:tc>
                    <a:extLst>
                      <a:ext uri="{0D108BD9-81ED-4DB2-BD59-A6C34878D82A}">
                        <a16:rowId xmlns:a16="http://schemas.microsoft.com/office/drawing/2014/main" val="2662212881"/>
                      </a:ext>
                    </a:extLst>
                  </a:tr>
                  <a:tr h="335280">
                    <a:tc>
                      <a:txBody>
                        <a:bodyPr/>
                        <a:lstStyle/>
                        <a:p>
                          <a:pPr algn="ctr"/>
                          <a:r>
                            <a:rPr lang="en-US" sz="1600" noProof="0" dirty="0"/>
                            <a:t>65</a:t>
                          </a:r>
                        </a:p>
                      </a:txBody>
                      <a:tcPr/>
                    </a:tc>
                    <a:tc>
                      <a:txBody>
                        <a:bodyPr/>
                        <a:lstStyle/>
                        <a:p>
                          <a:pPr algn="ctr"/>
                          <a:r>
                            <a:rPr lang="en-US" sz="1600" noProof="0" dirty="0"/>
                            <a:t>30</a:t>
                          </a:r>
                        </a:p>
                      </a:txBody>
                      <a:tcPr/>
                    </a:tc>
                    <a:tc>
                      <a:txBody>
                        <a:bodyPr/>
                        <a:lstStyle/>
                        <a:p>
                          <a:pPr algn="ctr"/>
                          <a:r>
                            <a:rPr lang="en-US" sz="1600" noProof="0" dirty="0"/>
                            <a:t>38</a:t>
                          </a:r>
                        </a:p>
                      </a:txBody>
                      <a:tcPr/>
                    </a:tc>
                    <a:tc>
                      <a:txBody>
                        <a:bodyPr/>
                        <a:lstStyle/>
                        <a:p>
                          <a:pPr algn="ctr"/>
                          <a:r>
                            <a:rPr lang="en-US" sz="1600" noProof="0" dirty="0"/>
                            <a:t>8</a:t>
                          </a:r>
                        </a:p>
                      </a:txBody>
                      <a:tcPr/>
                    </a:tc>
                    <a:tc>
                      <a:txBody>
                        <a:bodyPr/>
                        <a:lstStyle/>
                        <a:p>
                          <a:pPr algn="ctr"/>
                          <a:r>
                            <a:rPr lang="en-US" sz="1600" noProof="0" dirty="0"/>
                            <a:t>64</a:t>
                          </a:r>
                        </a:p>
                      </a:txBody>
                      <a:tcPr/>
                    </a:tc>
                    <a:extLst>
                      <a:ext uri="{0D108BD9-81ED-4DB2-BD59-A6C34878D82A}">
                        <a16:rowId xmlns:a16="http://schemas.microsoft.com/office/drawing/2014/main" val="4272864123"/>
                      </a:ext>
                    </a:extLst>
                  </a:tr>
                  <a:tr h="335280">
                    <a:tc>
                      <a:txBody>
                        <a:bodyPr/>
                        <a:lstStyle/>
                        <a:p>
                          <a:pPr algn="ctr"/>
                          <a:r>
                            <a:rPr lang="en-US" sz="1600" noProof="0" dirty="0"/>
                            <a:t>70</a:t>
                          </a:r>
                        </a:p>
                      </a:txBody>
                      <a:tcPr/>
                    </a:tc>
                    <a:tc>
                      <a:txBody>
                        <a:bodyPr/>
                        <a:lstStyle/>
                        <a:p>
                          <a:pPr algn="ctr"/>
                          <a:r>
                            <a:rPr lang="en-US" sz="1600" noProof="0" dirty="0"/>
                            <a:t>50</a:t>
                          </a:r>
                        </a:p>
                      </a:txBody>
                      <a:tcPr/>
                    </a:tc>
                    <a:tc>
                      <a:txBody>
                        <a:bodyPr/>
                        <a:lstStyle/>
                        <a:p>
                          <a:pPr algn="ctr"/>
                          <a:r>
                            <a:rPr lang="en-US" sz="1600" noProof="0" dirty="0"/>
                            <a:t>40</a:t>
                          </a:r>
                        </a:p>
                      </a:txBody>
                      <a:tcPr/>
                    </a:tc>
                    <a:tc>
                      <a:txBody>
                        <a:bodyPr/>
                        <a:lstStyle/>
                        <a:p>
                          <a:pPr algn="ctr"/>
                          <a:r>
                            <a:rPr lang="en-US" sz="1600" noProof="0" dirty="0"/>
                            <a:t>10</a:t>
                          </a:r>
                        </a:p>
                      </a:txBody>
                      <a:tcPr/>
                    </a:tc>
                    <a:tc>
                      <a:txBody>
                        <a:bodyPr/>
                        <a:lstStyle/>
                        <a:p>
                          <a:pPr algn="ctr"/>
                          <a:r>
                            <a:rPr lang="en-US" sz="1600" noProof="0" dirty="0"/>
                            <a:t>100</a:t>
                          </a:r>
                        </a:p>
                      </a:txBody>
                      <a:tcPr/>
                    </a:tc>
                    <a:extLst>
                      <a:ext uri="{0D108BD9-81ED-4DB2-BD59-A6C34878D82A}">
                        <a16:rowId xmlns:a16="http://schemas.microsoft.com/office/drawing/2014/main" val="778314671"/>
                      </a:ext>
                    </a:extLst>
                  </a:tr>
                  <a:tr h="335280">
                    <a:tc>
                      <a:txBody>
                        <a:bodyPr/>
                        <a:lstStyle/>
                        <a:p>
                          <a:pPr algn="ctr"/>
                          <a:r>
                            <a:rPr lang="en-US" sz="1600" noProof="0" dirty="0"/>
                            <a:t>80</a:t>
                          </a:r>
                        </a:p>
                      </a:txBody>
                      <a:tcPr/>
                    </a:tc>
                    <a:tc>
                      <a:txBody>
                        <a:bodyPr/>
                        <a:lstStyle/>
                        <a:p>
                          <a:pPr algn="ctr"/>
                          <a:r>
                            <a:rPr lang="en-US" sz="1600" noProof="0" dirty="0"/>
                            <a:t>40</a:t>
                          </a:r>
                        </a:p>
                      </a:txBody>
                      <a:tcPr/>
                    </a:tc>
                    <a:tc>
                      <a:txBody>
                        <a:bodyPr/>
                        <a:lstStyle/>
                        <a:p>
                          <a:pPr algn="ctr"/>
                          <a:r>
                            <a:rPr lang="en-US" sz="1600" noProof="0" dirty="0"/>
                            <a:t>44</a:t>
                          </a:r>
                        </a:p>
                      </a:txBody>
                      <a:tcPr/>
                    </a:tc>
                    <a:tc>
                      <a:txBody>
                        <a:bodyPr/>
                        <a:lstStyle/>
                        <a:p>
                          <a:pPr algn="ctr"/>
                          <a:r>
                            <a:rPr lang="en-US" sz="1600" noProof="0" dirty="0"/>
                            <a:t>4</a:t>
                          </a:r>
                        </a:p>
                      </a:txBody>
                      <a:tcPr/>
                    </a:tc>
                    <a:tc>
                      <a:txBody>
                        <a:bodyPr/>
                        <a:lstStyle/>
                        <a:p>
                          <a:pPr algn="ctr"/>
                          <a:r>
                            <a:rPr lang="en-US" sz="1600" noProof="0" dirty="0"/>
                            <a:t>16</a:t>
                          </a:r>
                        </a:p>
                      </a:txBody>
                      <a:tcPr/>
                    </a:tc>
                    <a:extLst>
                      <a:ext uri="{0D108BD9-81ED-4DB2-BD59-A6C34878D82A}">
                        <a16:rowId xmlns:a16="http://schemas.microsoft.com/office/drawing/2014/main" val="2188934142"/>
                      </a:ext>
                    </a:extLst>
                  </a:tr>
                  <a:tr h="335280">
                    <a:tc>
                      <a:txBody>
                        <a:bodyPr/>
                        <a:lstStyle/>
                        <a:p>
                          <a:pPr algn="ctr"/>
                          <a:r>
                            <a:rPr lang="en-US" sz="1600" b="1" noProof="0" dirty="0"/>
                            <a:t>Total</a:t>
                          </a:r>
                        </a:p>
                      </a:txBody>
                      <a:tcPr/>
                    </a:tc>
                    <a:tc>
                      <a:txBody>
                        <a:bodyPr/>
                        <a:lstStyle/>
                        <a:p>
                          <a:pPr algn="ctr"/>
                          <a:r>
                            <a:rPr lang="en-US" sz="1600" b="1" noProof="0" dirty="0"/>
                            <a:t>NA</a:t>
                          </a:r>
                        </a:p>
                      </a:txBody>
                      <a:tcPr/>
                    </a:tc>
                    <a:tc>
                      <a:txBody>
                        <a:bodyPr/>
                        <a:lstStyle/>
                        <a:p>
                          <a:pPr algn="ctr"/>
                          <a:r>
                            <a:rPr lang="en-US" sz="1600" b="1" noProof="0" dirty="0"/>
                            <a:t>NA</a:t>
                          </a:r>
                        </a:p>
                      </a:txBody>
                      <a:tcPr/>
                    </a:tc>
                    <a:tc>
                      <a:txBody>
                        <a:bodyPr/>
                        <a:lstStyle/>
                        <a:p>
                          <a:pPr algn="ctr"/>
                          <a:r>
                            <a:rPr lang="en-US" sz="1600" b="1" noProof="0" dirty="0"/>
                            <a:t>74</a:t>
                          </a:r>
                        </a:p>
                      </a:txBody>
                      <a:tcPr/>
                    </a:tc>
                    <a:tc>
                      <a:txBody>
                        <a:bodyPr/>
                        <a:lstStyle/>
                        <a:p>
                          <a:pPr algn="ctr"/>
                          <a:r>
                            <a:rPr lang="en-US" sz="1600" b="1" noProof="0" dirty="0"/>
                            <a:t>722 (SSE)</a:t>
                          </a:r>
                        </a:p>
                      </a:txBody>
                      <a:tcPr/>
                    </a:tc>
                    <a:extLst>
                      <a:ext uri="{0D108BD9-81ED-4DB2-BD59-A6C34878D82A}">
                        <a16:rowId xmlns:a16="http://schemas.microsoft.com/office/drawing/2014/main" val="3293582667"/>
                      </a:ext>
                    </a:extLst>
                  </a:tr>
                </a:tbl>
              </a:graphicData>
            </a:graphic>
          </p:graphicFrame>
        </mc:Fallback>
      </mc:AlternateContent>
      <mc:AlternateContent xmlns:mc="http://schemas.openxmlformats.org/markup-compatibility/2006">
        <mc:Choice xmlns:a14="http://schemas.microsoft.com/office/drawing/2010/main" Requires="a14">
          <p:sp>
            <p:nvSpPr>
              <p:cNvPr id="5" name="TextBox 4">
                <a:extLst>
                  <a:ext uri="{FF2B5EF4-FFF2-40B4-BE49-F238E27FC236}">
                    <a16:creationId xmlns:a16="http://schemas.microsoft.com/office/drawing/2014/main" id="{333DCF0E-2AB0-3085-EC21-F201B741B172}"/>
                  </a:ext>
                </a:extLst>
              </p:cNvPr>
              <p:cNvSpPr txBox="1"/>
              <p:nvPr/>
            </p:nvSpPr>
            <p:spPr>
              <a:xfrm>
                <a:off x="5550195" y="4699480"/>
                <a:ext cx="6347638" cy="1477649"/>
              </a:xfrm>
              <a:prstGeom prst="rect">
                <a:avLst/>
              </a:prstGeom>
              <a:solidFill>
                <a:schemeClr val="accent4">
                  <a:lumMod val="20000"/>
                  <a:lumOff val="80000"/>
                </a:schemeClr>
              </a:solidFill>
            </p:spPr>
            <p:txBody>
              <a:bodyPr wrap="square" rtlCol="0">
                <a:spAutoFit/>
              </a:bodyPr>
              <a:lstStyle/>
              <a:p>
                <a:r>
                  <a:rPr lang="en-US" noProof="0" dirty="0"/>
                  <a:t>*TSS = Total Sum of Squares </a:t>
                </a:r>
              </a:p>
              <a:p>
                <a:r>
                  <a:rPr lang="en-US" noProof="0" dirty="0"/>
                  <a:t>Total distance between each y value and mean of y, squared) </a:t>
                </a:r>
              </a:p>
              <a:p>
                <a:endParaRPr lang="en-US" noProof="0" dirty="0"/>
              </a:p>
              <a:p>
                <a:r>
                  <a:rPr lang="en-US" noProof="0" dirty="0"/>
                  <a:t>= </a:t>
                </a:r>
                <a14:m>
                  <m:oMath xmlns:m="http://schemas.openxmlformats.org/officeDocument/2006/math">
                    <m:nary>
                      <m:naryPr>
                        <m:chr m:val="∑"/>
                        <m:supHide m:val="on"/>
                        <m:ctrlPr>
                          <a:rPr lang="en-US" i="1" noProof="0" smtClean="0">
                            <a:latin typeface="Cambria Math" panose="02040503050406030204" pitchFamily="18" charset="0"/>
                          </a:rPr>
                        </m:ctrlPr>
                      </m:naryPr>
                      <m:sub>
                        <m:r>
                          <m:rPr>
                            <m:brk m:alnAt="7"/>
                          </m:rPr>
                          <a:rPr lang="en-US" i="1" noProof="0" smtClean="0">
                            <a:latin typeface="Cambria Math" panose="02040503050406030204" pitchFamily="18" charset="0"/>
                          </a:rPr>
                          <m:t>𝑖</m:t>
                        </m:r>
                      </m:sub>
                      <m:sup/>
                      <m:e>
                        <m:d>
                          <m:dPr>
                            <m:ctrlPr>
                              <a:rPr lang="en-US" i="1" noProof="0" smtClean="0">
                                <a:latin typeface="Cambria Math" panose="02040503050406030204" pitchFamily="18" charset="0"/>
                              </a:rPr>
                            </m:ctrlPr>
                          </m:dPr>
                          <m:e>
                            <m:r>
                              <a:rPr lang="en-US" i="1" noProof="0" smtClean="0">
                                <a:latin typeface="Cambria Math" panose="02040503050406030204" pitchFamily="18" charset="0"/>
                              </a:rPr>
                              <m:t>𝑦</m:t>
                            </m:r>
                            <m:r>
                              <a:rPr lang="en-US" i="1" baseline="-25000" noProof="0" smtClean="0">
                                <a:latin typeface="Cambria Math" panose="02040503050406030204" pitchFamily="18" charset="0"/>
                              </a:rPr>
                              <m:t>𝑖</m:t>
                            </m:r>
                            <m:r>
                              <a:rPr lang="en-US" i="1" noProof="0" smtClean="0">
                                <a:latin typeface="Cambria Math" panose="02040503050406030204" pitchFamily="18" charset="0"/>
                              </a:rPr>
                              <m:t> − </m:t>
                            </m:r>
                            <m:acc>
                              <m:accPr>
                                <m:chr m:val="̅"/>
                                <m:ctrlPr>
                                  <a:rPr lang="en-US" i="1" noProof="0" smtClean="0">
                                    <a:solidFill>
                                      <a:srgbClr val="836967"/>
                                    </a:solidFill>
                                    <a:latin typeface="Cambria Math" panose="02040503050406030204" pitchFamily="18" charset="0"/>
                                  </a:rPr>
                                </m:ctrlPr>
                              </m:accPr>
                              <m:e>
                                <m:r>
                                  <a:rPr lang="en-US" i="1" noProof="0" smtClean="0">
                                    <a:latin typeface="Cambria Math" panose="02040503050406030204" pitchFamily="18" charset="0"/>
                                  </a:rPr>
                                  <m:t>𝑦</m:t>
                                </m:r>
                              </m:e>
                            </m:acc>
                          </m:e>
                        </m:d>
                        <m:r>
                          <a:rPr lang="en-US" i="1" baseline="30000" noProof="0" smtClean="0">
                            <a:latin typeface="Cambria Math" panose="02040503050406030204" pitchFamily="18" charset="0"/>
                          </a:rPr>
                          <m:t>2</m:t>
                        </m:r>
                      </m:e>
                    </m:nary>
                  </m:oMath>
                </a14:m>
                <a:endParaRPr lang="en-US" noProof="0" dirty="0"/>
              </a:p>
              <a:p>
                <a:r>
                  <a:rPr lang="en-US" noProof="0" dirty="0"/>
                  <a:t>= [(10-30) + (25-30) + (20-30) + … (50-30) + (40-30)]</a:t>
                </a:r>
                <a:r>
                  <a:rPr lang="en-US" baseline="30000" noProof="0" dirty="0"/>
                  <a:t>2 </a:t>
                </a:r>
                <a:r>
                  <a:rPr lang="en-US" noProof="0" dirty="0"/>
                  <a:t>= 1450</a:t>
                </a:r>
              </a:p>
            </p:txBody>
          </p:sp>
        </mc:Choice>
        <mc:Fallback>
          <p:sp>
            <p:nvSpPr>
              <p:cNvPr id="5" name="TextBox 4">
                <a:extLst>
                  <a:ext uri="{FF2B5EF4-FFF2-40B4-BE49-F238E27FC236}">
                    <a16:creationId xmlns:a16="http://schemas.microsoft.com/office/drawing/2014/main" id="{333DCF0E-2AB0-3085-EC21-F201B741B172}"/>
                  </a:ext>
                </a:extLst>
              </p:cNvPr>
              <p:cNvSpPr txBox="1">
                <a:spLocks noRot="1" noChangeAspect="1" noMove="1" noResize="1" noEditPoints="1" noAdjustHandles="1" noChangeArrowheads="1" noChangeShapeType="1" noTextEdit="1"/>
              </p:cNvSpPr>
              <p:nvPr/>
            </p:nvSpPr>
            <p:spPr>
              <a:xfrm>
                <a:off x="5550195" y="4699480"/>
                <a:ext cx="6347638" cy="1477649"/>
              </a:xfrm>
              <a:prstGeom prst="rect">
                <a:avLst/>
              </a:prstGeom>
              <a:blipFill>
                <a:blip r:embed="rId4"/>
                <a:stretch>
                  <a:fillRect l="-2687" t="-2479" b="-27273"/>
                </a:stretch>
              </a:blipFill>
            </p:spPr>
            <p:txBody>
              <a:bodyPr/>
              <a:lstStyle/>
              <a:p>
                <a:r>
                  <a:rPr lang="en-GB">
                    <a:noFill/>
                  </a:rPr>
                  <a:t> </a:t>
                </a:r>
              </a:p>
            </p:txBody>
          </p:sp>
        </mc:Fallback>
      </mc:AlternateContent>
    </p:spTree>
    <p:extLst>
      <p:ext uri="{BB962C8B-B14F-4D97-AF65-F5344CB8AC3E}">
        <p14:creationId xmlns:p14="http://schemas.microsoft.com/office/powerpoint/2010/main" val="4185342650"/>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AB3225-F8B2-53A8-27C6-2DD284FB3FAF}"/>
              </a:ext>
            </a:extLst>
          </p:cNvPr>
          <p:cNvSpPr>
            <a:spLocks noGrp="1"/>
          </p:cNvSpPr>
          <p:nvPr>
            <p:ph type="title"/>
          </p:nvPr>
        </p:nvSpPr>
        <p:spPr>
          <a:xfrm>
            <a:off x="838200" y="83763"/>
            <a:ext cx="10515600" cy="474649"/>
          </a:xfrm>
        </p:spPr>
        <p:txBody>
          <a:bodyPr>
            <a:normAutofit fontScale="90000"/>
          </a:bodyPr>
          <a:lstStyle/>
          <a:p>
            <a:r>
              <a:rPr lang="en-US" noProof="0" dirty="0"/>
              <a:t>Logistic Regression: Predict Obesity for a Dog</a:t>
            </a:r>
          </a:p>
        </p:txBody>
      </p:sp>
      <p:graphicFrame>
        <p:nvGraphicFramePr>
          <p:cNvPr id="4" name="Content Placeholder 3">
            <a:extLst>
              <a:ext uri="{FF2B5EF4-FFF2-40B4-BE49-F238E27FC236}">
                <a16:creationId xmlns:a16="http://schemas.microsoft.com/office/drawing/2014/main" id="{F48DAF68-9266-0A14-EC97-50F9AC04D88D}"/>
              </a:ext>
            </a:extLst>
          </p:cNvPr>
          <p:cNvGraphicFramePr>
            <a:graphicFrameLocks noGrp="1"/>
          </p:cNvGraphicFramePr>
          <p:nvPr>
            <p:ph idx="1"/>
            <p:extLst>
              <p:ext uri="{D42A27DB-BD31-4B8C-83A1-F6EECF244321}">
                <p14:modId xmlns:p14="http://schemas.microsoft.com/office/powerpoint/2010/main" val="4185996466"/>
              </p:ext>
            </p:extLst>
          </p:nvPr>
        </p:nvGraphicFramePr>
        <p:xfrm>
          <a:off x="517112" y="796414"/>
          <a:ext cx="3154448" cy="2133600"/>
        </p:xfrm>
        <a:graphic>
          <a:graphicData uri="http://schemas.openxmlformats.org/drawingml/2006/table">
            <a:tbl>
              <a:tblPr firstRow="1">
                <a:tableStyleId>{69012ECD-51FC-41F1-AA8D-1B2483CD663E}</a:tableStyleId>
              </a:tblPr>
              <a:tblGrid>
                <a:gridCol w="837037">
                  <a:extLst>
                    <a:ext uri="{9D8B030D-6E8A-4147-A177-3AD203B41FA5}">
                      <a16:colId xmlns:a16="http://schemas.microsoft.com/office/drawing/2014/main" val="2992704106"/>
                    </a:ext>
                  </a:extLst>
                </a:gridCol>
                <a:gridCol w="1060983">
                  <a:extLst>
                    <a:ext uri="{9D8B030D-6E8A-4147-A177-3AD203B41FA5}">
                      <a16:colId xmlns:a16="http://schemas.microsoft.com/office/drawing/2014/main" val="1247799351"/>
                    </a:ext>
                  </a:extLst>
                </a:gridCol>
                <a:gridCol w="1256428">
                  <a:extLst>
                    <a:ext uri="{9D8B030D-6E8A-4147-A177-3AD203B41FA5}">
                      <a16:colId xmlns:a16="http://schemas.microsoft.com/office/drawing/2014/main" val="4125520342"/>
                    </a:ext>
                  </a:extLst>
                </a:gridCol>
              </a:tblGrid>
              <a:tr h="272387">
                <a:tc>
                  <a:txBody>
                    <a:bodyPr/>
                    <a:lstStyle/>
                    <a:p>
                      <a:pPr>
                        <a:buNone/>
                      </a:pPr>
                      <a:r>
                        <a:rPr lang="en-US" sz="1400" noProof="0" dirty="0"/>
                        <a:t>Dog</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US" sz="1400" noProof="0" dirty="0"/>
                        <a:t>Weight (kg)</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US" sz="1400" noProof="0" dirty="0"/>
                        <a:t>Obese (y)</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277496026"/>
                  </a:ext>
                </a:extLst>
              </a:tr>
              <a:tr h="272387">
                <a:tc>
                  <a:txBody>
                    <a:bodyPr/>
                    <a:lstStyle/>
                    <a:p>
                      <a:pPr>
                        <a:buNone/>
                      </a:pPr>
                      <a:r>
                        <a:rPr lang="en-US" sz="1400" noProof="0" dirty="0"/>
                        <a:t>D1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US" sz="1400" noProof="0" dirty="0"/>
                        <a:t>8</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US" sz="1400" noProof="0" dirty="0"/>
                        <a:t>0 (Not obese)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894649539"/>
                  </a:ext>
                </a:extLst>
              </a:tr>
              <a:tr h="272387">
                <a:tc>
                  <a:txBody>
                    <a:bodyPr/>
                    <a:lstStyle/>
                    <a:p>
                      <a:pPr>
                        <a:buNone/>
                      </a:pPr>
                      <a:r>
                        <a:rPr lang="en-US" sz="1400" noProof="0" dirty="0"/>
                        <a:t>D2</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US" sz="1400" noProof="0" dirty="0"/>
                        <a:t>10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US" sz="1400" noProof="0" dirty="0"/>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837512936"/>
                  </a:ext>
                </a:extLst>
              </a:tr>
              <a:tr h="272387">
                <a:tc>
                  <a:txBody>
                    <a:bodyPr/>
                    <a:lstStyle/>
                    <a:p>
                      <a:pPr>
                        <a:buNone/>
                      </a:pPr>
                      <a:r>
                        <a:rPr lang="en-US" sz="1400" noProof="0" dirty="0"/>
                        <a:t>D3</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US" sz="1400" noProof="0" dirty="0"/>
                        <a:t>12</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US" sz="1400" noProof="0" dirty="0"/>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471504720"/>
                  </a:ext>
                </a:extLst>
              </a:tr>
              <a:tr h="272387">
                <a:tc>
                  <a:txBody>
                    <a:bodyPr/>
                    <a:lstStyle/>
                    <a:p>
                      <a:pPr>
                        <a:buNone/>
                      </a:pPr>
                      <a:r>
                        <a:rPr lang="en-US" sz="1400" noProof="0" dirty="0"/>
                        <a:t>D4</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US" sz="1400" noProof="0" dirty="0"/>
                        <a:t>15</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US" sz="1400" noProof="0" dirty="0"/>
                        <a:t>1 (Obese)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196493873"/>
                  </a:ext>
                </a:extLst>
              </a:tr>
              <a:tr h="272387">
                <a:tc>
                  <a:txBody>
                    <a:bodyPr/>
                    <a:lstStyle/>
                    <a:p>
                      <a:pPr>
                        <a:buNone/>
                      </a:pPr>
                      <a:r>
                        <a:rPr lang="en-US" sz="1400" noProof="0" dirty="0"/>
                        <a:t>D5</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US" sz="1400" noProof="0" dirty="0"/>
                        <a:t>18</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US" sz="1400" noProof="0" dirty="0"/>
                        <a:t>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617706722"/>
                  </a:ext>
                </a:extLst>
              </a:tr>
              <a:tr h="272387">
                <a:tc>
                  <a:txBody>
                    <a:bodyPr/>
                    <a:lstStyle/>
                    <a:p>
                      <a:pPr>
                        <a:buNone/>
                      </a:pPr>
                      <a:r>
                        <a:rPr lang="en-US" sz="1400" noProof="0" dirty="0"/>
                        <a:t>D6</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US" sz="1400" noProof="0" dirty="0"/>
                        <a:t>22</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US" sz="1400" noProof="0" dirty="0"/>
                        <a:t>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00970760"/>
                  </a:ext>
                </a:extLst>
              </a:tr>
            </a:tbl>
          </a:graphicData>
        </a:graphic>
      </p:graphicFrame>
      <mc:AlternateContent xmlns:mc="http://schemas.openxmlformats.org/markup-compatibility/2006">
        <mc:Choice xmlns:a14="http://schemas.microsoft.com/office/drawing/2010/main" Requires="a14">
          <p:sp>
            <p:nvSpPr>
              <p:cNvPr id="5" name="TextBox 4">
                <a:extLst>
                  <a:ext uri="{FF2B5EF4-FFF2-40B4-BE49-F238E27FC236}">
                    <a16:creationId xmlns:a16="http://schemas.microsoft.com/office/drawing/2014/main" id="{0EA6DAC6-99A4-DA15-7628-6196EA00E50E}"/>
                  </a:ext>
                </a:extLst>
              </p:cNvPr>
              <p:cNvSpPr txBox="1"/>
              <p:nvPr/>
            </p:nvSpPr>
            <p:spPr>
              <a:xfrm>
                <a:off x="3880964" y="790559"/>
                <a:ext cx="5870309" cy="2454711"/>
              </a:xfrm>
              <a:prstGeom prst="rect">
                <a:avLst/>
              </a:prstGeom>
              <a:solidFill>
                <a:schemeClr val="accent4">
                  <a:lumMod val="40000"/>
                  <a:lumOff val="60000"/>
                </a:schemeClr>
              </a:solidFill>
            </p:spPr>
            <p:txBody>
              <a:bodyPr wrap="square" rtlCol="0">
                <a:spAutoFit/>
              </a:bodyPr>
              <a:lstStyle/>
              <a:p>
                <a:r>
                  <a:rPr lang="en-US" sz="1600" noProof="0" dirty="0"/>
                  <a:t>Logistic Regression does NOT directly predict 0 or 1</a:t>
                </a:r>
              </a:p>
              <a:p>
                <a:endParaRPr lang="en-US" sz="1600" noProof="0" dirty="0"/>
              </a:p>
              <a:p>
                <a:r>
                  <a:rPr lang="en-US" sz="1600" b="1" noProof="0" dirty="0"/>
                  <a:t>Step 1: Linear score/logit/log-odds (like Linear Regression)</a:t>
                </a:r>
              </a:p>
              <a:p>
                <a:r>
                  <a:rPr lang="en-US" sz="1600" noProof="0" dirty="0"/>
                  <a:t>z = w . x + b (Similar to linear regression z = w1x1 + w2x2 + … + b)</a:t>
                </a:r>
              </a:p>
              <a:p>
                <a:r>
                  <a:rPr lang="en-US" sz="1600" noProof="0" dirty="0"/>
                  <a:t>Suppose after training, the model learned w = 0.8 and b = -10, so …</a:t>
                </a:r>
              </a:p>
              <a:p>
                <a:r>
                  <a:rPr lang="en-US" sz="1600" noProof="0" dirty="0"/>
                  <a:t>z = 0.8 x weight + (-10)</a:t>
                </a:r>
              </a:p>
              <a:p>
                <a:endParaRPr lang="en-US" sz="1600" noProof="0" dirty="0"/>
              </a:p>
              <a:p>
                <a:r>
                  <a:rPr lang="en-US" sz="1600" b="1" noProof="0" dirty="0"/>
                  <a:t>Step 2: Convert score into probability using a sigmoid function</a:t>
                </a:r>
              </a:p>
              <a:p>
                <a:r>
                  <a:rPr lang="en-US" sz="1600" noProof="0" dirty="0"/>
                  <a:t>sigmoid(z) = </a:t>
                </a:r>
                <a14:m>
                  <m:oMath xmlns:m="http://schemas.openxmlformats.org/officeDocument/2006/math">
                    <m:f>
                      <m:fPr>
                        <m:ctrlPr>
                          <a:rPr lang="en-US" sz="1600" i="1" noProof="0" smtClean="0">
                            <a:latin typeface="Cambria Math" panose="02040503050406030204" pitchFamily="18" charset="0"/>
                          </a:rPr>
                        </m:ctrlPr>
                      </m:fPr>
                      <m:num>
                        <m:r>
                          <a:rPr lang="en-US" sz="1600" noProof="0" smtClean="0">
                            <a:latin typeface="Cambria Math" panose="02040503050406030204" pitchFamily="18" charset="0"/>
                          </a:rPr>
                          <m:t>1</m:t>
                        </m:r>
                      </m:num>
                      <m:den>
                        <m:r>
                          <a:rPr lang="en-US" sz="1600" i="0" noProof="0" smtClean="0">
                            <a:latin typeface="Cambria Math" panose="02040503050406030204" pitchFamily="18" charset="0"/>
                          </a:rPr>
                          <m:t>1+</m:t>
                        </m:r>
                        <m:sSup>
                          <m:sSupPr>
                            <m:ctrlPr>
                              <a:rPr lang="en-US" sz="1600" i="1" noProof="0" smtClean="0">
                                <a:latin typeface="Cambria Math" panose="02040503050406030204" pitchFamily="18" charset="0"/>
                              </a:rPr>
                            </m:ctrlPr>
                          </m:sSupPr>
                          <m:e>
                            <m:r>
                              <a:rPr lang="en-US" sz="1600" i="0" noProof="0" smtClean="0">
                                <a:latin typeface="Cambria Math" panose="02040503050406030204" pitchFamily="18" charset="0"/>
                              </a:rPr>
                              <m:t>ⅇ</m:t>
                            </m:r>
                          </m:e>
                          <m:sup>
                            <m:r>
                              <a:rPr lang="en-US" sz="1600" i="0" noProof="0" smtClean="0">
                                <a:latin typeface="Cambria Math" panose="02040503050406030204" pitchFamily="18" charset="0"/>
                              </a:rPr>
                              <m:t>−</m:t>
                            </m:r>
                            <m:r>
                              <a:rPr lang="en-US" sz="1600" i="1" noProof="0" smtClean="0">
                                <a:latin typeface="Cambria Math" panose="02040503050406030204" pitchFamily="18" charset="0"/>
                              </a:rPr>
                              <m:t>𝑧</m:t>
                            </m:r>
                          </m:sup>
                        </m:sSup>
                      </m:den>
                    </m:f>
                  </m:oMath>
                </a14:m>
                <a:r>
                  <a:rPr lang="en-US" sz="1600" noProof="0" dirty="0"/>
                  <a:t>   =&gt; This forces the output into </a:t>
                </a:r>
                <a:r>
                  <a:rPr lang="en-US" sz="1600" b="1" noProof="0" dirty="0"/>
                  <a:t>0 to 1 (probability)</a:t>
                </a:r>
                <a:endParaRPr lang="en-US" sz="1600" noProof="0" dirty="0"/>
              </a:p>
            </p:txBody>
          </p:sp>
        </mc:Choice>
        <mc:Fallback>
          <p:sp>
            <p:nvSpPr>
              <p:cNvPr id="5" name="TextBox 4">
                <a:extLst>
                  <a:ext uri="{FF2B5EF4-FFF2-40B4-BE49-F238E27FC236}">
                    <a16:creationId xmlns:a16="http://schemas.microsoft.com/office/drawing/2014/main" id="{0EA6DAC6-99A4-DA15-7628-6196EA00E50E}"/>
                  </a:ext>
                </a:extLst>
              </p:cNvPr>
              <p:cNvSpPr txBox="1">
                <a:spLocks noRot="1" noChangeAspect="1" noMove="1" noResize="1" noEditPoints="1" noAdjustHandles="1" noChangeArrowheads="1" noChangeShapeType="1" noTextEdit="1"/>
              </p:cNvSpPr>
              <p:nvPr/>
            </p:nvSpPr>
            <p:spPr>
              <a:xfrm>
                <a:off x="3880964" y="790559"/>
                <a:ext cx="5870309" cy="2454711"/>
              </a:xfrm>
              <a:prstGeom prst="rect">
                <a:avLst/>
              </a:prstGeom>
              <a:blipFill>
                <a:blip r:embed="rId2"/>
                <a:stretch>
                  <a:fillRect l="-623" t="-746"/>
                </a:stretch>
              </a:blipFill>
            </p:spPr>
            <p:txBody>
              <a:bodyPr/>
              <a:lstStyle/>
              <a:p>
                <a:r>
                  <a:rPr lang="en-GB">
                    <a:noFill/>
                  </a:rPr>
                  <a:t> </a:t>
                </a:r>
              </a:p>
            </p:txBody>
          </p:sp>
        </mc:Fallback>
      </mc:AlternateContent>
      <mc:AlternateContent xmlns:mc="http://schemas.openxmlformats.org/markup-compatibility/2006">
        <mc:Choice xmlns:a14="http://schemas.microsoft.com/office/drawing/2010/main" Requires="a14">
          <p:sp>
            <p:nvSpPr>
              <p:cNvPr id="6" name="TextBox 5">
                <a:extLst>
                  <a:ext uri="{FF2B5EF4-FFF2-40B4-BE49-F238E27FC236}">
                    <a16:creationId xmlns:a16="http://schemas.microsoft.com/office/drawing/2014/main" id="{581EE338-5351-4067-FD03-8C808F0402A1}"/>
                  </a:ext>
                </a:extLst>
              </p:cNvPr>
              <p:cNvSpPr txBox="1"/>
              <p:nvPr/>
            </p:nvSpPr>
            <p:spPr>
              <a:xfrm>
                <a:off x="184351" y="3555057"/>
                <a:ext cx="3071267" cy="2164823"/>
              </a:xfrm>
              <a:prstGeom prst="rect">
                <a:avLst/>
              </a:prstGeom>
              <a:solidFill>
                <a:schemeClr val="accent6">
                  <a:lumMod val="20000"/>
                  <a:lumOff val="80000"/>
                </a:schemeClr>
              </a:solidFill>
            </p:spPr>
            <p:txBody>
              <a:bodyPr wrap="square" rtlCol="0">
                <a:spAutoFit/>
              </a:bodyPr>
              <a:lstStyle/>
              <a:p>
                <a:r>
                  <a:rPr lang="en-US" sz="1600" b="1" noProof="0" dirty="0"/>
                  <a:t>Dog D1</a:t>
                </a:r>
              </a:p>
              <a:p>
                <a:r>
                  <a:rPr lang="en-US" sz="1600" b="1" noProof="0" dirty="0"/>
                  <a:t>Step 1: Linear score</a:t>
                </a:r>
              </a:p>
              <a:p>
                <a:r>
                  <a:rPr lang="en-US" sz="1600" noProof="0" dirty="0"/>
                  <a:t>z = 0.8 x 8 + (-10) = 6.4 – 10 = -3.6</a:t>
                </a:r>
              </a:p>
              <a:p>
                <a:endParaRPr lang="en-US" sz="1600" noProof="0" dirty="0"/>
              </a:p>
              <a:p>
                <a:r>
                  <a:rPr lang="en-US" sz="1600" b="1" noProof="0" dirty="0"/>
                  <a:t>Step 2: Probability</a:t>
                </a:r>
              </a:p>
              <a:p>
                <a:r>
                  <a:rPr lang="en-US" sz="1600" noProof="0" dirty="0"/>
                  <a:t>P(obese) = </a:t>
                </a:r>
                <a14:m>
                  <m:oMath xmlns:m="http://schemas.openxmlformats.org/officeDocument/2006/math">
                    <m:f>
                      <m:fPr>
                        <m:ctrlPr>
                          <a:rPr lang="en-US" sz="1600" i="1" noProof="0" smtClean="0">
                            <a:latin typeface="Cambria Math" panose="02040503050406030204" pitchFamily="18" charset="0"/>
                          </a:rPr>
                        </m:ctrlPr>
                      </m:fPr>
                      <m:num>
                        <m:r>
                          <a:rPr lang="en-US" sz="1600" noProof="0" smtClean="0">
                            <a:latin typeface="Cambria Math" panose="02040503050406030204" pitchFamily="18" charset="0"/>
                          </a:rPr>
                          <m:t>1</m:t>
                        </m:r>
                      </m:num>
                      <m:den>
                        <m:r>
                          <a:rPr lang="en-US" sz="1600" noProof="0" smtClean="0">
                            <a:latin typeface="Cambria Math" panose="02040503050406030204" pitchFamily="18" charset="0"/>
                          </a:rPr>
                          <m:t>1+</m:t>
                        </m:r>
                        <m:sSup>
                          <m:sSupPr>
                            <m:ctrlPr>
                              <a:rPr lang="en-US" sz="1600" i="1" noProof="0" smtClean="0">
                                <a:latin typeface="Cambria Math" panose="02040503050406030204" pitchFamily="18" charset="0"/>
                              </a:rPr>
                            </m:ctrlPr>
                          </m:sSupPr>
                          <m:e>
                            <m:r>
                              <a:rPr lang="en-US" sz="1600" noProof="0" smtClean="0">
                                <a:latin typeface="Cambria Math" panose="02040503050406030204" pitchFamily="18" charset="0"/>
                              </a:rPr>
                              <m:t>ⅇ</m:t>
                            </m:r>
                          </m:e>
                          <m:sup>
                            <m:r>
                              <a:rPr lang="en-US" sz="1600" b="0" i="1" noProof="0" smtClean="0">
                                <a:latin typeface="Cambria Math" panose="02040503050406030204" pitchFamily="18" charset="0"/>
                              </a:rPr>
                              <m:t>3.6</m:t>
                            </m:r>
                          </m:sup>
                        </m:sSup>
                      </m:den>
                    </m:f>
                  </m:oMath>
                </a14:m>
                <a:r>
                  <a:rPr lang="en-US" sz="1600" noProof="0" dirty="0"/>
                  <a:t> ≈ 0.027 = 2.7%</a:t>
                </a:r>
              </a:p>
              <a:p>
                <a:endParaRPr lang="en-US" sz="1600" noProof="0" dirty="0"/>
              </a:p>
              <a:p>
                <a:r>
                  <a:rPr lang="en-US" sz="1600" b="1" noProof="0" dirty="0"/>
                  <a:t>Prediction</a:t>
                </a:r>
                <a:r>
                  <a:rPr lang="en-US" sz="1600" noProof="0" dirty="0"/>
                  <a:t>: Not obese</a:t>
                </a:r>
              </a:p>
            </p:txBody>
          </p:sp>
        </mc:Choice>
        <mc:Fallback>
          <p:sp>
            <p:nvSpPr>
              <p:cNvPr id="6" name="TextBox 5">
                <a:extLst>
                  <a:ext uri="{FF2B5EF4-FFF2-40B4-BE49-F238E27FC236}">
                    <a16:creationId xmlns:a16="http://schemas.microsoft.com/office/drawing/2014/main" id="{581EE338-5351-4067-FD03-8C808F0402A1}"/>
                  </a:ext>
                </a:extLst>
              </p:cNvPr>
              <p:cNvSpPr txBox="1">
                <a:spLocks noRot="1" noChangeAspect="1" noMove="1" noResize="1" noEditPoints="1" noAdjustHandles="1" noChangeArrowheads="1" noChangeShapeType="1" noTextEdit="1"/>
              </p:cNvSpPr>
              <p:nvPr/>
            </p:nvSpPr>
            <p:spPr>
              <a:xfrm>
                <a:off x="184351" y="3555057"/>
                <a:ext cx="3071267" cy="2164823"/>
              </a:xfrm>
              <a:prstGeom prst="rect">
                <a:avLst/>
              </a:prstGeom>
              <a:blipFill>
                <a:blip r:embed="rId3"/>
                <a:stretch>
                  <a:fillRect l="-992" t="-845" b="-2817"/>
                </a:stretch>
              </a:blipFill>
            </p:spPr>
            <p:txBody>
              <a:bodyPr/>
              <a:lstStyle/>
              <a:p>
                <a:r>
                  <a:rPr lang="en-GB">
                    <a:noFill/>
                  </a:rPr>
                  <a:t> </a:t>
                </a:r>
              </a:p>
            </p:txBody>
          </p:sp>
        </mc:Fallback>
      </mc:AlternateContent>
      <p:pic>
        <p:nvPicPr>
          <p:cNvPr id="8" name="Picture 7">
            <a:extLst>
              <a:ext uri="{FF2B5EF4-FFF2-40B4-BE49-F238E27FC236}">
                <a16:creationId xmlns:a16="http://schemas.microsoft.com/office/drawing/2014/main" id="{88835768-AAC3-3A1D-C99A-B49C02FC7494}"/>
              </a:ext>
            </a:extLst>
          </p:cNvPr>
          <p:cNvPicPr>
            <a:picLocks noChangeAspect="1"/>
          </p:cNvPicPr>
          <p:nvPr/>
        </p:nvPicPr>
        <p:blipFill>
          <a:blip r:embed="rId4">
            <a:extLst>
              <a:ext uri="{28A0092B-C50C-407E-A947-70E740481C1C}">
                <a14:useLocalDpi xmlns:a14="http://schemas.microsoft.com/office/drawing/2010/main" val="0"/>
              </a:ext>
              <a:ext uri="{837473B0-CC2E-450A-ABE3-18F120FF3D39}">
                <a1611:picAttrSrcUrl xmlns:a1611="http://schemas.microsoft.com/office/drawing/2016/11/main" r:id="rId5"/>
              </a:ext>
            </a:extLst>
          </a:blip>
          <a:stretch>
            <a:fillRect/>
          </a:stretch>
        </p:blipFill>
        <p:spPr>
          <a:xfrm>
            <a:off x="2197835" y="3555057"/>
            <a:ext cx="750657" cy="500438"/>
          </a:xfrm>
          <a:prstGeom prst="rect">
            <a:avLst/>
          </a:prstGeom>
        </p:spPr>
      </p:pic>
      <mc:AlternateContent xmlns:mc="http://schemas.openxmlformats.org/markup-compatibility/2006">
        <mc:Choice xmlns:a14="http://schemas.microsoft.com/office/drawing/2010/main" Requires="a14">
          <p:sp>
            <p:nvSpPr>
              <p:cNvPr id="9" name="TextBox 8">
                <a:extLst>
                  <a:ext uri="{FF2B5EF4-FFF2-40B4-BE49-F238E27FC236}">
                    <a16:creationId xmlns:a16="http://schemas.microsoft.com/office/drawing/2014/main" id="{F1D6611A-4CD6-44A8-AA80-CBF8CF3BB2B7}"/>
                  </a:ext>
                </a:extLst>
              </p:cNvPr>
              <p:cNvSpPr txBox="1"/>
              <p:nvPr/>
            </p:nvSpPr>
            <p:spPr>
              <a:xfrm>
                <a:off x="3426342" y="3548076"/>
                <a:ext cx="3071267" cy="2164823"/>
              </a:xfrm>
              <a:prstGeom prst="rect">
                <a:avLst/>
              </a:prstGeom>
              <a:solidFill>
                <a:schemeClr val="accent6">
                  <a:lumMod val="20000"/>
                  <a:lumOff val="80000"/>
                </a:schemeClr>
              </a:solidFill>
            </p:spPr>
            <p:txBody>
              <a:bodyPr wrap="square" rtlCol="0">
                <a:spAutoFit/>
              </a:bodyPr>
              <a:lstStyle/>
              <a:p>
                <a:r>
                  <a:rPr lang="en-US" sz="1600" b="1" noProof="0" dirty="0"/>
                  <a:t>Dog D3</a:t>
                </a:r>
              </a:p>
              <a:p>
                <a:r>
                  <a:rPr lang="en-US" sz="1600" b="1" noProof="0" dirty="0"/>
                  <a:t>Step 1: Linear score</a:t>
                </a:r>
              </a:p>
              <a:p>
                <a:r>
                  <a:rPr lang="en-US" sz="1600" noProof="0" dirty="0"/>
                  <a:t>z = 0.8 x 12 + (-10) = 9.6 – 10 = -0.4</a:t>
                </a:r>
              </a:p>
              <a:p>
                <a:endParaRPr lang="en-US" sz="1600" noProof="0" dirty="0"/>
              </a:p>
              <a:p>
                <a:r>
                  <a:rPr lang="en-US" sz="1600" b="1" noProof="0" dirty="0"/>
                  <a:t>Step 2: Probability</a:t>
                </a:r>
              </a:p>
              <a:p>
                <a:r>
                  <a:rPr lang="en-US" sz="1600" noProof="0" dirty="0"/>
                  <a:t>P(obese) = </a:t>
                </a:r>
                <a14:m>
                  <m:oMath xmlns:m="http://schemas.openxmlformats.org/officeDocument/2006/math">
                    <m:f>
                      <m:fPr>
                        <m:ctrlPr>
                          <a:rPr lang="en-US" sz="1600" i="1" noProof="0" smtClean="0">
                            <a:latin typeface="Cambria Math" panose="02040503050406030204" pitchFamily="18" charset="0"/>
                          </a:rPr>
                        </m:ctrlPr>
                      </m:fPr>
                      <m:num>
                        <m:r>
                          <a:rPr lang="en-US" sz="1600" noProof="0" smtClean="0">
                            <a:latin typeface="Cambria Math" panose="02040503050406030204" pitchFamily="18" charset="0"/>
                          </a:rPr>
                          <m:t>1</m:t>
                        </m:r>
                      </m:num>
                      <m:den>
                        <m:r>
                          <a:rPr lang="en-US" sz="1600" noProof="0" smtClean="0">
                            <a:latin typeface="Cambria Math" panose="02040503050406030204" pitchFamily="18" charset="0"/>
                          </a:rPr>
                          <m:t>1+</m:t>
                        </m:r>
                        <m:sSup>
                          <m:sSupPr>
                            <m:ctrlPr>
                              <a:rPr lang="en-US" sz="1600" i="1" noProof="0" smtClean="0">
                                <a:latin typeface="Cambria Math" panose="02040503050406030204" pitchFamily="18" charset="0"/>
                              </a:rPr>
                            </m:ctrlPr>
                          </m:sSupPr>
                          <m:e>
                            <m:r>
                              <a:rPr lang="en-US" sz="1600" noProof="0" smtClean="0">
                                <a:latin typeface="Cambria Math" panose="02040503050406030204" pitchFamily="18" charset="0"/>
                              </a:rPr>
                              <m:t>ⅇ</m:t>
                            </m:r>
                          </m:e>
                          <m:sup>
                            <m:r>
                              <a:rPr lang="en-US" sz="1600" b="0" i="1" noProof="0" smtClean="0">
                                <a:latin typeface="Cambria Math" panose="02040503050406030204" pitchFamily="18" charset="0"/>
                              </a:rPr>
                              <m:t>−0.4</m:t>
                            </m:r>
                          </m:sup>
                        </m:sSup>
                      </m:den>
                    </m:f>
                  </m:oMath>
                </a14:m>
                <a:r>
                  <a:rPr lang="en-US" sz="1600" noProof="0" dirty="0"/>
                  <a:t> ≈ 0.40 = 40%</a:t>
                </a:r>
              </a:p>
              <a:p>
                <a:endParaRPr lang="en-US" sz="1600" noProof="0" dirty="0"/>
              </a:p>
              <a:p>
                <a:r>
                  <a:rPr lang="en-US" sz="1600" b="1" noProof="0" dirty="0"/>
                  <a:t>Prediction</a:t>
                </a:r>
                <a:r>
                  <a:rPr lang="en-US" sz="1600" noProof="0" dirty="0"/>
                  <a:t>: Still not obese</a:t>
                </a:r>
              </a:p>
            </p:txBody>
          </p:sp>
        </mc:Choice>
        <mc:Fallback>
          <p:sp>
            <p:nvSpPr>
              <p:cNvPr id="9" name="TextBox 8">
                <a:extLst>
                  <a:ext uri="{FF2B5EF4-FFF2-40B4-BE49-F238E27FC236}">
                    <a16:creationId xmlns:a16="http://schemas.microsoft.com/office/drawing/2014/main" id="{F1D6611A-4CD6-44A8-AA80-CBF8CF3BB2B7}"/>
                  </a:ext>
                </a:extLst>
              </p:cNvPr>
              <p:cNvSpPr txBox="1">
                <a:spLocks noRot="1" noChangeAspect="1" noMove="1" noResize="1" noEditPoints="1" noAdjustHandles="1" noChangeArrowheads="1" noChangeShapeType="1" noTextEdit="1"/>
              </p:cNvSpPr>
              <p:nvPr/>
            </p:nvSpPr>
            <p:spPr>
              <a:xfrm>
                <a:off x="3426342" y="3548076"/>
                <a:ext cx="3071267" cy="2164823"/>
              </a:xfrm>
              <a:prstGeom prst="rect">
                <a:avLst/>
              </a:prstGeom>
              <a:blipFill>
                <a:blip r:embed="rId6"/>
                <a:stretch>
                  <a:fillRect l="-992" t="-845" r="-397" b="-2817"/>
                </a:stretch>
              </a:blipFill>
            </p:spPr>
            <p:txBody>
              <a:bodyPr/>
              <a:lstStyle/>
              <a:p>
                <a:r>
                  <a:rPr lang="en-GB">
                    <a:noFill/>
                  </a:rPr>
                  <a:t> </a:t>
                </a:r>
              </a:p>
            </p:txBody>
          </p:sp>
        </mc:Fallback>
      </mc:AlternateContent>
      <p:pic>
        <p:nvPicPr>
          <p:cNvPr id="11" name="Picture 10">
            <a:extLst>
              <a:ext uri="{FF2B5EF4-FFF2-40B4-BE49-F238E27FC236}">
                <a16:creationId xmlns:a16="http://schemas.microsoft.com/office/drawing/2014/main" id="{F9295F04-7368-2685-6875-B4534A40531D}"/>
              </a:ext>
            </a:extLst>
          </p:cNvPr>
          <p:cNvPicPr>
            <a:picLocks noChangeAspect="1"/>
          </p:cNvPicPr>
          <p:nvPr/>
        </p:nvPicPr>
        <p:blipFill>
          <a:blip r:embed="rId7">
            <a:extLst>
              <a:ext uri="{28A0092B-C50C-407E-A947-70E740481C1C}">
                <a14:useLocalDpi xmlns:a14="http://schemas.microsoft.com/office/drawing/2010/main" val="0"/>
              </a:ext>
              <a:ext uri="{837473B0-CC2E-450A-ABE3-18F120FF3D39}">
                <a1611:picAttrSrcUrl xmlns:a1611="http://schemas.microsoft.com/office/drawing/2016/11/main" r:id="rId8"/>
              </a:ext>
            </a:extLst>
          </a:blip>
          <a:stretch>
            <a:fillRect/>
          </a:stretch>
        </p:blipFill>
        <p:spPr>
          <a:xfrm>
            <a:off x="5455259" y="3564195"/>
            <a:ext cx="759362" cy="508140"/>
          </a:xfrm>
          <a:prstGeom prst="rect">
            <a:avLst/>
          </a:prstGeom>
        </p:spPr>
      </p:pic>
      <mc:AlternateContent xmlns:mc="http://schemas.openxmlformats.org/markup-compatibility/2006">
        <mc:Choice xmlns:a14="http://schemas.microsoft.com/office/drawing/2010/main" Requires="a14">
          <p:sp>
            <p:nvSpPr>
              <p:cNvPr id="12" name="TextBox 11">
                <a:extLst>
                  <a:ext uri="{FF2B5EF4-FFF2-40B4-BE49-F238E27FC236}">
                    <a16:creationId xmlns:a16="http://schemas.microsoft.com/office/drawing/2014/main" id="{A7801083-516D-9EFB-62B2-1B081A141D8C}"/>
                  </a:ext>
                </a:extLst>
              </p:cNvPr>
              <p:cNvSpPr txBox="1"/>
              <p:nvPr/>
            </p:nvSpPr>
            <p:spPr>
              <a:xfrm>
                <a:off x="6668333" y="3548076"/>
                <a:ext cx="3071267" cy="2164823"/>
              </a:xfrm>
              <a:prstGeom prst="rect">
                <a:avLst/>
              </a:prstGeom>
              <a:solidFill>
                <a:schemeClr val="accent2">
                  <a:lumMod val="20000"/>
                  <a:lumOff val="80000"/>
                </a:schemeClr>
              </a:solidFill>
            </p:spPr>
            <p:txBody>
              <a:bodyPr wrap="square" rtlCol="0">
                <a:spAutoFit/>
              </a:bodyPr>
              <a:lstStyle/>
              <a:p>
                <a:r>
                  <a:rPr lang="en-US" sz="1600" b="1" noProof="0" dirty="0"/>
                  <a:t>Dog D4</a:t>
                </a:r>
              </a:p>
              <a:p>
                <a:r>
                  <a:rPr lang="en-US" sz="1600" b="1" noProof="0" dirty="0"/>
                  <a:t>Step 1: Linear score</a:t>
                </a:r>
              </a:p>
              <a:p>
                <a:r>
                  <a:rPr lang="en-US" sz="1600" noProof="0" dirty="0"/>
                  <a:t>z = 0.8 x 15 + (-10) = 12.0 – 10 = 2</a:t>
                </a:r>
              </a:p>
              <a:p>
                <a:endParaRPr lang="en-US" sz="1600" noProof="0" dirty="0"/>
              </a:p>
              <a:p>
                <a:r>
                  <a:rPr lang="en-US" sz="1600" b="1" noProof="0" dirty="0"/>
                  <a:t>Step 2: Probability</a:t>
                </a:r>
              </a:p>
              <a:p>
                <a:r>
                  <a:rPr lang="en-US" sz="1600" noProof="0" dirty="0"/>
                  <a:t>P(obese) = </a:t>
                </a:r>
                <a14:m>
                  <m:oMath xmlns:m="http://schemas.openxmlformats.org/officeDocument/2006/math">
                    <m:f>
                      <m:fPr>
                        <m:ctrlPr>
                          <a:rPr lang="en-US" sz="1600" i="1" noProof="0" smtClean="0">
                            <a:latin typeface="Cambria Math" panose="02040503050406030204" pitchFamily="18" charset="0"/>
                          </a:rPr>
                        </m:ctrlPr>
                      </m:fPr>
                      <m:num>
                        <m:r>
                          <a:rPr lang="en-US" sz="1600" noProof="0" smtClean="0">
                            <a:latin typeface="Cambria Math" panose="02040503050406030204" pitchFamily="18" charset="0"/>
                          </a:rPr>
                          <m:t>1</m:t>
                        </m:r>
                      </m:num>
                      <m:den>
                        <m:r>
                          <a:rPr lang="en-US" sz="1600" noProof="0" smtClean="0">
                            <a:latin typeface="Cambria Math" panose="02040503050406030204" pitchFamily="18" charset="0"/>
                          </a:rPr>
                          <m:t>1+</m:t>
                        </m:r>
                        <m:sSup>
                          <m:sSupPr>
                            <m:ctrlPr>
                              <a:rPr lang="en-US" sz="1600" i="1" noProof="0" smtClean="0">
                                <a:latin typeface="Cambria Math" panose="02040503050406030204" pitchFamily="18" charset="0"/>
                              </a:rPr>
                            </m:ctrlPr>
                          </m:sSupPr>
                          <m:e>
                            <m:r>
                              <a:rPr lang="en-US" sz="1600" noProof="0" smtClean="0">
                                <a:latin typeface="Cambria Math" panose="02040503050406030204" pitchFamily="18" charset="0"/>
                              </a:rPr>
                              <m:t>ⅇ</m:t>
                            </m:r>
                          </m:e>
                          <m:sup>
                            <m:r>
                              <a:rPr lang="en-US" sz="1600" b="0" i="1" noProof="0" smtClean="0">
                                <a:latin typeface="Cambria Math" panose="02040503050406030204" pitchFamily="18" charset="0"/>
                              </a:rPr>
                              <m:t>−2</m:t>
                            </m:r>
                          </m:sup>
                        </m:sSup>
                      </m:den>
                    </m:f>
                  </m:oMath>
                </a14:m>
                <a:r>
                  <a:rPr lang="en-US" sz="1600" noProof="0" dirty="0"/>
                  <a:t> ≈ 0.88 = 88%</a:t>
                </a:r>
              </a:p>
              <a:p>
                <a:endParaRPr lang="en-US" sz="1600" noProof="0" dirty="0"/>
              </a:p>
              <a:p>
                <a:r>
                  <a:rPr lang="en-US" sz="1600" b="1" noProof="0" dirty="0"/>
                  <a:t>Prediction</a:t>
                </a:r>
                <a:r>
                  <a:rPr lang="en-US" sz="1600" noProof="0" dirty="0"/>
                  <a:t>: Obese</a:t>
                </a:r>
              </a:p>
            </p:txBody>
          </p:sp>
        </mc:Choice>
        <mc:Fallback>
          <p:sp>
            <p:nvSpPr>
              <p:cNvPr id="12" name="TextBox 11">
                <a:extLst>
                  <a:ext uri="{FF2B5EF4-FFF2-40B4-BE49-F238E27FC236}">
                    <a16:creationId xmlns:a16="http://schemas.microsoft.com/office/drawing/2014/main" id="{A7801083-516D-9EFB-62B2-1B081A141D8C}"/>
                  </a:ext>
                </a:extLst>
              </p:cNvPr>
              <p:cNvSpPr txBox="1">
                <a:spLocks noRot="1" noChangeAspect="1" noMove="1" noResize="1" noEditPoints="1" noAdjustHandles="1" noChangeArrowheads="1" noChangeShapeType="1" noTextEdit="1"/>
              </p:cNvSpPr>
              <p:nvPr/>
            </p:nvSpPr>
            <p:spPr>
              <a:xfrm>
                <a:off x="6668333" y="3548076"/>
                <a:ext cx="3071267" cy="2164823"/>
              </a:xfrm>
              <a:prstGeom prst="rect">
                <a:avLst/>
              </a:prstGeom>
              <a:blipFill>
                <a:blip r:embed="rId9"/>
                <a:stretch>
                  <a:fillRect l="-1190" t="-845" b="-2817"/>
                </a:stretch>
              </a:blipFill>
            </p:spPr>
            <p:txBody>
              <a:bodyPr/>
              <a:lstStyle/>
              <a:p>
                <a:r>
                  <a:rPr lang="en-GB">
                    <a:noFill/>
                  </a:rPr>
                  <a:t> </a:t>
                </a:r>
              </a:p>
            </p:txBody>
          </p:sp>
        </mc:Fallback>
      </mc:AlternateContent>
      <p:pic>
        <p:nvPicPr>
          <p:cNvPr id="14" name="Picture 13">
            <a:extLst>
              <a:ext uri="{FF2B5EF4-FFF2-40B4-BE49-F238E27FC236}">
                <a16:creationId xmlns:a16="http://schemas.microsoft.com/office/drawing/2014/main" id="{F8FFDED3-3877-892C-D8D9-DD8433F0D3ED}"/>
              </a:ext>
            </a:extLst>
          </p:cNvPr>
          <p:cNvPicPr>
            <a:picLocks noChangeAspect="1"/>
          </p:cNvPicPr>
          <p:nvPr/>
        </p:nvPicPr>
        <p:blipFill>
          <a:blip r:embed="rId10">
            <a:extLst>
              <a:ext uri="{28A0092B-C50C-407E-A947-70E740481C1C}">
                <a14:useLocalDpi xmlns:a14="http://schemas.microsoft.com/office/drawing/2010/main" val="0"/>
              </a:ext>
              <a:ext uri="{837473B0-CC2E-450A-ABE3-18F120FF3D39}">
                <a1611:picAttrSrcUrl xmlns:a1611="http://schemas.microsoft.com/office/drawing/2016/11/main" r:id="rId11"/>
              </a:ext>
            </a:extLst>
          </a:blip>
          <a:stretch>
            <a:fillRect/>
          </a:stretch>
        </p:blipFill>
        <p:spPr>
          <a:xfrm>
            <a:off x="8764162" y="3538938"/>
            <a:ext cx="703213" cy="461171"/>
          </a:xfrm>
          <a:prstGeom prst="rect">
            <a:avLst/>
          </a:prstGeom>
        </p:spPr>
      </p:pic>
      <mc:AlternateContent xmlns:mc="http://schemas.openxmlformats.org/markup-compatibility/2006">
        <mc:Choice xmlns:a14="http://schemas.microsoft.com/office/drawing/2010/main" Requires="a14">
          <p:sp>
            <p:nvSpPr>
              <p:cNvPr id="15" name="TextBox 14">
                <a:extLst>
                  <a:ext uri="{FF2B5EF4-FFF2-40B4-BE49-F238E27FC236}">
                    <a16:creationId xmlns:a16="http://schemas.microsoft.com/office/drawing/2014/main" id="{87AA502F-E5BC-19D4-7C6C-9EB2D42EE13B}"/>
                  </a:ext>
                </a:extLst>
              </p:cNvPr>
              <p:cNvSpPr txBox="1"/>
              <p:nvPr/>
            </p:nvSpPr>
            <p:spPr>
              <a:xfrm>
                <a:off x="10243953" y="76783"/>
                <a:ext cx="1628161" cy="3719416"/>
              </a:xfrm>
              <a:prstGeom prst="rect">
                <a:avLst/>
              </a:prstGeom>
              <a:solidFill>
                <a:schemeClr val="tx2">
                  <a:lumMod val="20000"/>
                  <a:lumOff val="80000"/>
                </a:schemeClr>
              </a:solidFill>
            </p:spPr>
            <p:txBody>
              <a:bodyPr wrap="square" rtlCol="0">
                <a:spAutoFit/>
              </a:bodyPr>
              <a:lstStyle/>
              <a:p>
                <a:pPr algn="ctr"/>
                <a:r>
                  <a:rPr lang="en-US" sz="1400" b="1" noProof="0" dirty="0"/>
                  <a:t>Odds</a:t>
                </a:r>
              </a:p>
              <a:p>
                <a:endParaRPr lang="en-US" sz="1400" noProof="0" dirty="0"/>
              </a:p>
              <a:p>
                <a:r>
                  <a:rPr lang="en-US" sz="1400" noProof="0" dirty="0"/>
                  <a:t>odds = </a:t>
                </a:r>
                <a14:m>
                  <m:oMath xmlns:m="http://schemas.openxmlformats.org/officeDocument/2006/math">
                    <m:f>
                      <m:fPr>
                        <m:ctrlPr>
                          <a:rPr lang="en-US" sz="1400" i="1" noProof="0" smtClean="0">
                            <a:latin typeface="Cambria Math" panose="02040503050406030204" pitchFamily="18" charset="0"/>
                          </a:rPr>
                        </m:ctrlPr>
                      </m:fPr>
                      <m:num>
                        <m:r>
                          <a:rPr lang="en-US" sz="1400" i="1" noProof="0" smtClean="0">
                            <a:latin typeface="Cambria Math" panose="02040503050406030204" pitchFamily="18" charset="0"/>
                          </a:rPr>
                          <m:t>𝑃</m:t>
                        </m:r>
                      </m:num>
                      <m:den>
                        <m:r>
                          <a:rPr lang="en-US" sz="1400" i="0" noProof="0" smtClean="0">
                            <a:latin typeface="Cambria Math" panose="02040503050406030204" pitchFamily="18" charset="0"/>
                          </a:rPr>
                          <m:t>1−</m:t>
                        </m:r>
                        <m:r>
                          <a:rPr lang="en-US" sz="1400" i="1" noProof="0" smtClean="0">
                            <a:latin typeface="Cambria Math" panose="02040503050406030204" pitchFamily="18" charset="0"/>
                          </a:rPr>
                          <m:t>𝑃</m:t>
                        </m:r>
                      </m:den>
                    </m:f>
                  </m:oMath>
                </a14:m>
                <a:endParaRPr lang="en-US" sz="1400" noProof="0" dirty="0"/>
              </a:p>
              <a:p>
                <a:endParaRPr lang="en-US" sz="1400" noProof="0" dirty="0"/>
              </a:p>
              <a:p>
                <a:r>
                  <a:rPr lang="en-US" sz="1400" noProof="0" dirty="0"/>
                  <a:t>Dog D4 (P = 0.88)</a:t>
                </a:r>
              </a:p>
              <a:p>
                <a:r>
                  <a:rPr lang="en-US" sz="1400" noProof="0" dirty="0"/>
                  <a:t>odds = </a:t>
                </a:r>
                <a14:m>
                  <m:oMath xmlns:m="http://schemas.openxmlformats.org/officeDocument/2006/math">
                    <m:f>
                      <m:fPr>
                        <m:ctrlPr>
                          <a:rPr lang="en-US" sz="1400" i="1" noProof="0" smtClean="0">
                            <a:latin typeface="Cambria Math" panose="02040503050406030204" pitchFamily="18" charset="0"/>
                          </a:rPr>
                        </m:ctrlPr>
                      </m:fPr>
                      <m:num>
                        <m:r>
                          <a:rPr lang="en-US" sz="1400" b="0" i="1" noProof="0" smtClean="0">
                            <a:latin typeface="Cambria Math" panose="02040503050406030204" pitchFamily="18" charset="0"/>
                          </a:rPr>
                          <m:t>0.88</m:t>
                        </m:r>
                      </m:num>
                      <m:den>
                        <m:r>
                          <a:rPr lang="en-US" sz="1400" i="0" noProof="0" smtClean="0">
                            <a:latin typeface="Cambria Math" panose="02040503050406030204" pitchFamily="18" charset="0"/>
                          </a:rPr>
                          <m:t>1−</m:t>
                        </m:r>
                        <m:r>
                          <a:rPr lang="en-US" sz="1400" b="0" i="1" noProof="0" smtClean="0">
                            <a:latin typeface="Cambria Math" panose="02040503050406030204" pitchFamily="18" charset="0"/>
                          </a:rPr>
                          <m:t>0. 88</m:t>
                        </m:r>
                      </m:den>
                    </m:f>
                  </m:oMath>
                </a14:m>
                <a:r>
                  <a:rPr lang="en-US" sz="1400" noProof="0" dirty="0"/>
                  <a:t> ≈ 7.3</a:t>
                </a:r>
              </a:p>
              <a:p>
                <a:endParaRPr lang="en-US" sz="1400" noProof="0" dirty="0"/>
              </a:p>
              <a:p>
                <a:r>
                  <a:rPr lang="en-US" sz="1400" noProof="0" dirty="0"/>
                  <a:t>Dog is 7.3 times more likely obese and not obese</a:t>
                </a:r>
              </a:p>
              <a:p>
                <a:endParaRPr lang="en-US" sz="1400" noProof="0" dirty="0"/>
              </a:p>
              <a:p>
                <a:pPr algn="ctr"/>
                <a:r>
                  <a:rPr lang="en-US" sz="1400" b="1" noProof="0" dirty="0"/>
                  <a:t>Log-odds (z)</a:t>
                </a:r>
              </a:p>
              <a:p>
                <a:r>
                  <a:rPr lang="en-US" sz="1400" noProof="0" dirty="0"/>
                  <a:t>z = log(odds)</a:t>
                </a:r>
              </a:p>
              <a:p>
                <a:endParaRPr lang="en-US" sz="1400" noProof="0" dirty="0"/>
              </a:p>
              <a:p>
                <a:r>
                  <a:rPr lang="en-US" sz="1400" noProof="0" dirty="0"/>
                  <a:t>Dog D4 (odds = 7.3)</a:t>
                </a:r>
              </a:p>
              <a:p>
                <a:r>
                  <a:rPr lang="en-US" sz="1400" noProof="0" dirty="0"/>
                  <a:t>z = log(7.3) = 0.86</a:t>
                </a:r>
              </a:p>
            </p:txBody>
          </p:sp>
        </mc:Choice>
        <mc:Fallback>
          <p:sp>
            <p:nvSpPr>
              <p:cNvPr id="15" name="TextBox 14">
                <a:extLst>
                  <a:ext uri="{FF2B5EF4-FFF2-40B4-BE49-F238E27FC236}">
                    <a16:creationId xmlns:a16="http://schemas.microsoft.com/office/drawing/2014/main" id="{87AA502F-E5BC-19D4-7C6C-9EB2D42EE13B}"/>
                  </a:ext>
                </a:extLst>
              </p:cNvPr>
              <p:cNvSpPr txBox="1">
                <a:spLocks noRot="1" noChangeAspect="1" noMove="1" noResize="1" noEditPoints="1" noAdjustHandles="1" noChangeArrowheads="1" noChangeShapeType="1" noTextEdit="1"/>
              </p:cNvSpPr>
              <p:nvPr/>
            </p:nvSpPr>
            <p:spPr>
              <a:xfrm>
                <a:off x="10243953" y="76783"/>
                <a:ext cx="1628161" cy="3719416"/>
              </a:xfrm>
              <a:prstGeom prst="rect">
                <a:avLst/>
              </a:prstGeom>
              <a:blipFill>
                <a:blip r:embed="rId12"/>
                <a:stretch>
                  <a:fillRect l="-1119" t="-328" b="-820"/>
                </a:stretch>
              </a:blipFill>
            </p:spPr>
            <p:txBody>
              <a:bodyPr/>
              <a:lstStyle/>
              <a:p>
                <a:r>
                  <a:rPr lang="en-GB">
                    <a:noFill/>
                  </a:rPr>
                  <a:t> </a:t>
                </a:r>
              </a:p>
            </p:txBody>
          </p:sp>
        </mc:Fallback>
      </mc:AlternateContent>
      <p:graphicFrame>
        <p:nvGraphicFramePr>
          <p:cNvPr id="16" name="Table 15">
            <a:extLst>
              <a:ext uri="{FF2B5EF4-FFF2-40B4-BE49-F238E27FC236}">
                <a16:creationId xmlns:a16="http://schemas.microsoft.com/office/drawing/2014/main" id="{49DB302C-BE43-D31B-6E9C-46144C49CBFE}"/>
              </a:ext>
            </a:extLst>
          </p:cNvPr>
          <p:cNvGraphicFramePr>
            <a:graphicFrameLocks noGrp="1"/>
          </p:cNvGraphicFramePr>
          <p:nvPr>
            <p:extLst>
              <p:ext uri="{D42A27DB-BD31-4B8C-83A1-F6EECF244321}">
                <p14:modId xmlns:p14="http://schemas.microsoft.com/office/powerpoint/2010/main" val="285807084"/>
              </p:ext>
            </p:extLst>
          </p:nvPr>
        </p:nvGraphicFramePr>
        <p:xfrm>
          <a:off x="9836469" y="3913625"/>
          <a:ext cx="2169684" cy="1554180"/>
        </p:xfrm>
        <a:graphic>
          <a:graphicData uri="http://schemas.openxmlformats.org/drawingml/2006/table">
            <a:tbl>
              <a:tblPr firstRow="1">
                <a:tableStyleId>{8FD4443E-F989-4FC4-A0C8-D5A2AF1F390B}</a:tableStyleId>
              </a:tblPr>
              <a:tblGrid>
                <a:gridCol w="585193">
                  <a:extLst>
                    <a:ext uri="{9D8B030D-6E8A-4147-A177-3AD203B41FA5}">
                      <a16:colId xmlns:a16="http://schemas.microsoft.com/office/drawing/2014/main" val="2069006429"/>
                    </a:ext>
                  </a:extLst>
                </a:gridCol>
                <a:gridCol w="1584491">
                  <a:extLst>
                    <a:ext uri="{9D8B030D-6E8A-4147-A177-3AD203B41FA5}">
                      <a16:colId xmlns:a16="http://schemas.microsoft.com/office/drawing/2014/main" val="2505400244"/>
                    </a:ext>
                  </a:extLst>
                </a:gridCol>
              </a:tblGrid>
              <a:tr h="237684">
                <a:tc>
                  <a:txBody>
                    <a:bodyPr/>
                    <a:lstStyle/>
                    <a:p>
                      <a:pPr>
                        <a:buNone/>
                      </a:pPr>
                      <a:r>
                        <a:rPr lang="en-US" sz="900" noProof="0" dirty="0"/>
                        <a:t>z value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US" sz="900" noProof="0" dirty="0"/>
                        <a:t>Meaning</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093357938"/>
                  </a:ext>
                </a:extLst>
              </a:tr>
              <a:tr h="237684">
                <a:tc>
                  <a:txBody>
                    <a:bodyPr/>
                    <a:lstStyle/>
                    <a:p>
                      <a:pPr>
                        <a:buNone/>
                      </a:pPr>
                      <a:r>
                        <a:rPr lang="en-US" sz="900" noProof="0" dirty="0"/>
                        <a:t>z = 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US" sz="900" noProof="0" dirty="0"/>
                        <a:t>Obese and not-obese equally likely (50–50)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805353543"/>
                  </a:ext>
                </a:extLst>
              </a:tr>
              <a:tr h="237684">
                <a:tc>
                  <a:txBody>
                    <a:bodyPr/>
                    <a:lstStyle/>
                    <a:p>
                      <a:pPr>
                        <a:buNone/>
                      </a:pPr>
                      <a:r>
                        <a:rPr lang="en-US" sz="900" noProof="0" dirty="0"/>
                        <a:t>z &gt; 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US" sz="900" noProof="0" dirty="0"/>
                        <a:t>More likely obese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99573229"/>
                  </a:ext>
                </a:extLst>
              </a:tr>
              <a:tr h="237684">
                <a:tc>
                  <a:txBody>
                    <a:bodyPr/>
                    <a:lstStyle/>
                    <a:p>
                      <a:pPr>
                        <a:buNone/>
                      </a:pPr>
                      <a:r>
                        <a:rPr lang="en-US" sz="900" noProof="0" dirty="0"/>
                        <a:t>z &lt; 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US" sz="900" noProof="0" dirty="0"/>
                        <a:t>More likely not obese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298021152"/>
                  </a:ext>
                </a:extLst>
              </a:tr>
              <a:tr h="237684">
                <a:tc>
                  <a:txBody>
                    <a:bodyPr/>
                    <a:lstStyle/>
                    <a:p>
                      <a:pPr>
                        <a:buNone/>
                      </a:pPr>
                      <a:r>
                        <a:rPr lang="en-US" sz="900" noProof="0" dirty="0"/>
                        <a:t>Large +z</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US" sz="900" noProof="0" dirty="0"/>
                        <a:t>Almost certainly obese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554774734"/>
                  </a:ext>
                </a:extLst>
              </a:tr>
              <a:tr h="237684">
                <a:tc>
                  <a:txBody>
                    <a:bodyPr/>
                    <a:lstStyle/>
                    <a:p>
                      <a:pPr>
                        <a:buNone/>
                      </a:pPr>
                      <a:r>
                        <a:rPr lang="en-US" sz="900" noProof="0" dirty="0"/>
                        <a:t>Large −z</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US" sz="900" noProof="0" dirty="0"/>
                        <a:t>Almost certainly not obese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317853945"/>
                  </a:ext>
                </a:extLst>
              </a:tr>
            </a:tbl>
          </a:graphicData>
        </a:graphic>
      </p:graphicFrame>
      <p:pic>
        <p:nvPicPr>
          <p:cNvPr id="1026" name="Picture 2" descr="undefined">
            <a:extLst>
              <a:ext uri="{FF2B5EF4-FFF2-40B4-BE49-F238E27FC236}">
                <a16:creationId xmlns:a16="http://schemas.microsoft.com/office/drawing/2014/main" id="{45704A75-56A8-55F4-2AFD-BADA3B432ABE}"/>
              </a:ext>
            </a:extLst>
          </p:cNvPr>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10069742" y="5585231"/>
            <a:ext cx="1802372" cy="1201767"/>
          </a:xfrm>
          <a:prstGeom prst="rect">
            <a:avLst/>
          </a:prstGeom>
          <a:solidFill>
            <a:srgbClr val="FFC000"/>
          </a:solidFill>
        </p:spPr>
      </p:pic>
    </p:spTree>
    <p:extLst>
      <p:ext uri="{BB962C8B-B14F-4D97-AF65-F5344CB8AC3E}">
        <p14:creationId xmlns:p14="http://schemas.microsoft.com/office/powerpoint/2010/main" val="2515364804"/>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1433C6-A1F6-9D3C-0801-F61E00C78BDC}"/>
              </a:ext>
            </a:extLst>
          </p:cNvPr>
          <p:cNvSpPr>
            <a:spLocks noGrp="1"/>
          </p:cNvSpPr>
          <p:nvPr>
            <p:ph type="title"/>
          </p:nvPr>
        </p:nvSpPr>
        <p:spPr/>
        <p:txBody>
          <a:bodyPr/>
          <a:lstStyle/>
          <a:p>
            <a:r>
              <a:rPr lang="en-US" noProof="0" dirty="0"/>
              <a:t>Confusion Matrix</a:t>
            </a:r>
          </a:p>
        </p:txBody>
      </p:sp>
      <p:sp>
        <p:nvSpPr>
          <p:cNvPr id="3" name="Content Placeholder 2">
            <a:extLst>
              <a:ext uri="{FF2B5EF4-FFF2-40B4-BE49-F238E27FC236}">
                <a16:creationId xmlns:a16="http://schemas.microsoft.com/office/drawing/2014/main" id="{29E91B67-772B-8ABA-AC68-5AB5629EDF24}"/>
              </a:ext>
            </a:extLst>
          </p:cNvPr>
          <p:cNvSpPr>
            <a:spLocks noGrp="1"/>
          </p:cNvSpPr>
          <p:nvPr>
            <p:ph idx="1"/>
          </p:nvPr>
        </p:nvSpPr>
        <p:spPr/>
        <p:txBody>
          <a:bodyPr/>
          <a:lstStyle/>
          <a:p>
            <a:r>
              <a:rPr lang="en-US" b="1" noProof="0" dirty="0"/>
              <a:t>Confusion matrix</a:t>
            </a:r>
            <a:r>
              <a:rPr lang="en-US" noProof="0" dirty="0"/>
              <a:t>: A table that summarizes how well a classification model performs — by comparing actual labels with predicted labels</a:t>
            </a:r>
          </a:p>
          <a:p>
            <a:r>
              <a:rPr lang="en-US" noProof="0" dirty="0"/>
              <a:t>Tells us where our model is getting confused — i.e. which classes it is mixing up</a:t>
            </a:r>
          </a:p>
          <a:p>
            <a:endParaRPr lang="en-US" noProof="0" dirty="0"/>
          </a:p>
        </p:txBody>
      </p:sp>
      <p:graphicFrame>
        <p:nvGraphicFramePr>
          <p:cNvPr id="4" name="Table 3">
            <a:extLst>
              <a:ext uri="{FF2B5EF4-FFF2-40B4-BE49-F238E27FC236}">
                <a16:creationId xmlns:a16="http://schemas.microsoft.com/office/drawing/2014/main" id="{24BFE84E-C2F2-9882-1656-730ADE1DE19B}"/>
              </a:ext>
            </a:extLst>
          </p:cNvPr>
          <p:cNvGraphicFramePr>
            <a:graphicFrameLocks noGrp="1"/>
          </p:cNvGraphicFramePr>
          <p:nvPr>
            <p:extLst>
              <p:ext uri="{D42A27DB-BD31-4B8C-83A1-F6EECF244321}">
                <p14:modId xmlns:p14="http://schemas.microsoft.com/office/powerpoint/2010/main" val="4114179359"/>
              </p:ext>
            </p:extLst>
          </p:nvPr>
        </p:nvGraphicFramePr>
        <p:xfrm>
          <a:off x="1002792" y="3699542"/>
          <a:ext cx="10515600" cy="1097280"/>
        </p:xfrm>
        <a:graphic>
          <a:graphicData uri="http://schemas.openxmlformats.org/drawingml/2006/table">
            <a:tbl>
              <a:tblPr>
                <a:tableStyleId>{E8B1032C-EA38-4F05-BA0D-38AFFFC7BED3}</a:tableStyleId>
              </a:tblPr>
              <a:tblGrid>
                <a:gridCol w="1493520">
                  <a:extLst>
                    <a:ext uri="{9D8B030D-6E8A-4147-A177-3AD203B41FA5}">
                      <a16:colId xmlns:a16="http://schemas.microsoft.com/office/drawing/2014/main" val="664046297"/>
                    </a:ext>
                  </a:extLst>
                </a:gridCol>
                <a:gridCol w="9022080">
                  <a:extLst>
                    <a:ext uri="{9D8B030D-6E8A-4147-A177-3AD203B41FA5}">
                      <a16:colId xmlns:a16="http://schemas.microsoft.com/office/drawing/2014/main" val="3150798573"/>
                    </a:ext>
                  </a:extLst>
                </a:gridCol>
              </a:tblGrid>
              <a:tr h="0">
                <a:tc>
                  <a:txBody>
                    <a:bodyPr/>
                    <a:lstStyle/>
                    <a:p>
                      <a:pPr>
                        <a:buNone/>
                      </a:pPr>
                      <a:r>
                        <a:rPr lang="en-US" b="1" noProof="0" dirty="0"/>
                        <a:t>Symbol</a:t>
                      </a:r>
                    </a:p>
                  </a:txBody>
                  <a:tcPr anchor="ctr"/>
                </a:tc>
                <a:tc>
                  <a:txBody>
                    <a:bodyPr/>
                    <a:lstStyle/>
                    <a:p>
                      <a:pPr>
                        <a:buNone/>
                      </a:pPr>
                      <a:r>
                        <a:rPr lang="en-US" b="1" noProof="0" dirty="0"/>
                        <a:t>Meaning</a:t>
                      </a:r>
                    </a:p>
                  </a:txBody>
                  <a:tcPr anchor="ctr"/>
                </a:tc>
                <a:extLst>
                  <a:ext uri="{0D108BD9-81ED-4DB2-BD59-A6C34878D82A}">
                    <a16:rowId xmlns:a16="http://schemas.microsoft.com/office/drawing/2014/main" val="1899407844"/>
                  </a:ext>
                </a:extLst>
              </a:tr>
              <a:tr h="0">
                <a:tc>
                  <a:txBody>
                    <a:bodyPr/>
                    <a:lstStyle/>
                    <a:p>
                      <a:pPr>
                        <a:buNone/>
                      </a:pPr>
                      <a:r>
                        <a:rPr lang="en-US" b="1" noProof="0" dirty="0"/>
                        <a:t>H</a:t>
                      </a:r>
                      <a:r>
                        <a:rPr lang="en-US" b="1" baseline="-25000" noProof="0" dirty="0"/>
                        <a:t>0</a:t>
                      </a:r>
                    </a:p>
                  </a:txBody>
                  <a:tcPr anchor="ctr"/>
                </a:tc>
                <a:tc>
                  <a:txBody>
                    <a:bodyPr/>
                    <a:lstStyle/>
                    <a:p>
                      <a:pPr>
                        <a:buNone/>
                      </a:pPr>
                      <a:r>
                        <a:rPr lang="en-US" b="1" noProof="0" dirty="0"/>
                        <a:t>Null hypothesis</a:t>
                      </a:r>
                      <a:r>
                        <a:rPr lang="en-US" noProof="0" dirty="0"/>
                        <a:t> — the “default” or “no effect” assumption</a:t>
                      </a:r>
                    </a:p>
                  </a:txBody>
                  <a:tcPr anchor="ctr"/>
                </a:tc>
                <a:extLst>
                  <a:ext uri="{0D108BD9-81ED-4DB2-BD59-A6C34878D82A}">
                    <a16:rowId xmlns:a16="http://schemas.microsoft.com/office/drawing/2014/main" val="3233697839"/>
                  </a:ext>
                </a:extLst>
              </a:tr>
              <a:tr h="0">
                <a:tc>
                  <a:txBody>
                    <a:bodyPr/>
                    <a:lstStyle/>
                    <a:p>
                      <a:pPr>
                        <a:buNone/>
                      </a:pPr>
                      <a:r>
                        <a:rPr lang="en-US" b="1" noProof="0" dirty="0"/>
                        <a:t>H</a:t>
                      </a:r>
                      <a:r>
                        <a:rPr lang="en-US" b="1" baseline="-25000" noProof="0" dirty="0"/>
                        <a:t>1</a:t>
                      </a:r>
                      <a:endParaRPr lang="en-US" b="1" noProof="0" dirty="0"/>
                    </a:p>
                  </a:txBody>
                  <a:tcPr anchor="ctr"/>
                </a:tc>
                <a:tc>
                  <a:txBody>
                    <a:bodyPr/>
                    <a:lstStyle/>
                    <a:p>
                      <a:pPr>
                        <a:buNone/>
                      </a:pPr>
                      <a:r>
                        <a:rPr lang="en-US" b="1" noProof="0" dirty="0"/>
                        <a:t>Alternative hypothesis</a:t>
                      </a:r>
                      <a:r>
                        <a:rPr lang="en-US" noProof="0" dirty="0"/>
                        <a:t> — the competing claim, suggesting a difference or effect</a:t>
                      </a:r>
                    </a:p>
                  </a:txBody>
                  <a:tcPr anchor="ctr"/>
                </a:tc>
                <a:extLst>
                  <a:ext uri="{0D108BD9-81ED-4DB2-BD59-A6C34878D82A}">
                    <a16:rowId xmlns:a16="http://schemas.microsoft.com/office/drawing/2014/main" val="3839271373"/>
                  </a:ext>
                </a:extLst>
              </a:tr>
            </a:tbl>
          </a:graphicData>
        </a:graphic>
      </p:graphicFrame>
      <p:graphicFrame>
        <p:nvGraphicFramePr>
          <p:cNvPr id="5" name="Table 4">
            <a:extLst>
              <a:ext uri="{FF2B5EF4-FFF2-40B4-BE49-F238E27FC236}">
                <a16:creationId xmlns:a16="http://schemas.microsoft.com/office/drawing/2014/main" id="{149BABA5-F4E5-62AA-18FE-A82A0F179696}"/>
              </a:ext>
            </a:extLst>
          </p:cNvPr>
          <p:cNvGraphicFramePr>
            <a:graphicFrameLocks noGrp="1"/>
          </p:cNvGraphicFramePr>
          <p:nvPr>
            <p:extLst>
              <p:ext uri="{D42A27DB-BD31-4B8C-83A1-F6EECF244321}">
                <p14:modId xmlns:p14="http://schemas.microsoft.com/office/powerpoint/2010/main" val="3365013914"/>
              </p:ext>
            </p:extLst>
          </p:nvPr>
        </p:nvGraphicFramePr>
        <p:xfrm>
          <a:off x="1002792" y="4943126"/>
          <a:ext cx="10515600" cy="1097280"/>
        </p:xfrm>
        <a:graphic>
          <a:graphicData uri="http://schemas.openxmlformats.org/drawingml/2006/table">
            <a:tbl>
              <a:tblPr>
                <a:tableStyleId>{E8B1032C-EA38-4F05-BA0D-38AFFFC7BED3}</a:tableStyleId>
              </a:tblPr>
              <a:tblGrid>
                <a:gridCol w="3020568">
                  <a:extLst>
                    <a:ext uri="{9D8B030D-6E8A-4147-A177-3AD203B41FA5}">
                      <a16:colId xmlns:a16="http://schemas.microsoft.com/office/drawing/2014/main" val="2674913571"/>
                    </a:ext>
                  </a:extLst>
                </a:gridCol>
                <a:gridCol w="7495032">
                  <a:extLst>
                    <a:ext uri="{9D8B030D-6E8A-4147-A177-3AD203B41FA5}">
                      <a16:colId xmlns:a16="http://schemas.microsoft.com/office/drawing/2014/main" val="3473483038"/>
                    </a:ext>
                  </a:extLst>
                </a:gridCol>
              </a:tblGrid>
              <a:tr h="0">
                <a:tc>
                  <a:txBody>
                    <a:bodyPr/>
                    <a:lstStyle/>
                    <a:p>
                      <a:pPr>
                        <a:buNone/>
                      </a:pPr>
                      <a:r>
                        <a:rPr lang="en-US" b="1" noProof="0" dirty="0"/>
                        <a:t>Hypothesis</a:t>
                      </a:r>
                    </a:p>
                  </a:txBody>
                  <a:tcPr anchor="ctr"/>
                </a:tc>
                <a:tc>
                  <a:txBody>
                    <a:bodyPr/>
                    <a:lstStyle/>
                    <a:p>
                      <a:pPr>
                        <a:buNone/>
                      </a:pPr>
                      <a:r>
                        <a:rPr lang="en-US" b="1" noProof="0" dirty="0"/>
                        <a:t>Statement</a:t>
                      </a:r>
                    </a:p>
                  </a:txBody>
                  <a:tcPr anchor="ctr"/>
                </a:tc>
                <a:extLst>
                  <a:ext uri="{0D108BD9-81ED-4DB2-BD59-A6C34878D82A}">
                    <a16:rowId xmlns:a16="http://schemas.microsoft.com/office/drawing/2014/main" val="333914353"/>
                  </a:ext>
                </a:extLst>
              </a:tr>
              <a:tr h="0">
                <a:tc>
                  <a:txBody>
                    <a:bodyPr/>
                    <a:lstStyle/>
                    <a:p>
                      <a:pPr>
                        <a:buNone/>
                      </a:pPr>
                      <a:r>
                        <a:rPr lang="en-US" b="1" noProof="0" dirty="0"/>
                        <a:t>H</a:t>
                      </a:r>
                      <a:r>
                        <a:rPr lang="en-US" b="1" baseline="-25000" noProof="0" dirty="0"/>
                        <a:t>0</a:t>
                      </a:r>
                      <a:r>
                        <a:rPr lang="en-US" b="1" noProof="0" dirty="0"/>
                        <a:t>: Email is NOT spam</a:t>
                      </a:r>
                      <a:endParaRPr lang="en-US" noProof="0" dirty="0"/>
                    </a:p>
                  </a:txBody>
                  <a:tcPr anchor="ctr"/>
                </a:tc>
                <a:tc>
                  <a:txBody>
                    <a:bodyPr/>
                    <a:lstStyle/>
                    <a:p>
                      <a:pPr>
                        <a:buNone/>
                      </a:pPr>
                      <a:r>
                        <a:rPr lang="en-US" noProof="0" dirty="0"/>
                        <a:t>Default assumption: the email is legitimate (ham)</a:t>
                      </a:r>
                    </a:p>
                  </a:txBody>
                  <a:tcPr anchor="ctr"/>
                </a:tc>
                <a:extLst>
                  <a:ext uri="{0D108BD9-81ED-4DB2-BD59-A6C34878D82A}">
                    <a16:rowId xmlns:a16="http://schemas.microsoft.com/office/drawing/2014/main" val="3645812568"/>
                  </a:ext>
                </a:extLst>
              </a:tr>
              <a:tr h="0">
                <a:tc>
                  <a:txBody>
                    <a:bodyPr/>
                    <a:lstStyle/>
                    <a:p>
                      <a:pPr>
                        <a:buNone/>
                      </a:pPr>
                      <a:r>
                        <a:rPr lang="en-US" b="1" noProof="0" dirty="0"/>
                        <a:t>H</a:t>
                      </a:r>
                      <a:r>
                        <a:rPr lang="en-US" b="1" baseline="-25000" noProof="0" dirty="0"/>
                        <a:t>1</a:t>
                      </a:r>
                      <a:r>
                        <a:rPr lang="en-US" b="1" noProof="0" dirty="0"/>
                        <a:t>: Email IS spam</a:t>
                      </a:r>
                      <a:endParaRPr lang="en-US" noProof="0" dirty="0"/>
                    </a:p>
                  </a:txBody>
                  <a:tcPr anchor="ctr"/>
                </a:tc>
                <a:tc>
                  <a:txBody>
                    <a:bodyPr/>
                    <a:lstStyle/>
                    <a:p>
                      <a:pPr>
                        <a:buNone/>
                      </a:pPr>
                      <a:r>
                        <a:rPr lang="en-US" noProof="0" dirty="0"/>
                        <a:t>Alternative assumption: the email is spam</a:t>
                      </a:r>
                    </a:p>
                  </a:txBody>
                  <a:tcPr anchor="ctr"/>
                </a:tc>
                <a:extLst>
                  <a:ext uri="{0D108BD9-81ED-4DB2-BD59-A6C34878D82A}">
                    <a16:rowId xmlns:a16="http://schemas.microsoft.com/office/drawing/2014/main" val="284808796"/>
                  </a:ext>
                </a:extLst>
              </a:tr>
            </a:tbl>
          </a:graphicData>
        </a:graphic>
      </p:graphicFrame>
    </p:spTree>
    <p:extLst>
      <p:ext uri="{BB962C8B-B14F-4D97-AF65-F5344CB8AC3E}">
        <p14:creationId xmlns:p14="http://schemas.microsoft.com/office/powerpoint/2010/main" val="2523693948"/>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0C77255-FC10-8EC6-5F67-7F7F9BD45C28}"/>
              </a:ext>
            </a:extLst>
          </p:cNvPr>
          <p:cNvSpPr>
            <a:spLocks noGrp="1"/>
          </p:cNvSpPr>
          <p:nvPr>
            <p:ph type="title"/>
          </p:nvPr>
        </p:nvSpPr>
        <p:spPr/>
        <p:txBody>
          <a:bodyPr/>
          <a:lstStyle/>
          <a:p>
            <a:r>
              <a:rPr lang="en-US" noProof="0" dirty="0"/>
              <a:t>Confusion Matrix</a:t>
            </a:r>
          </a:p>
        </p:txBody>
      </p:sp>
      <mc:AlternateContent xmlns:mc="http://schemas.openxmlformats.org/markup-compatibility/2006">
        <mc:Choice xmlns:a14="http://schemas.microsoft.com/office/drawing/2010/main" Requires="a14">
          <p:sp>
            <p:nvSpPr>
              <p:cNvPr id="3" name="Content Placeholder 2">
                <a:extLst>
                  <a:ext uri="{FF2B5EF4-FFF2-40B4-BE49-F238E27FC236}">
                    <a16:creationId xmlns:a16="http://schemas.microsoft.com/office/drawing/2014/main" id="{8B61B770-EA36-5FB9-600F-8ACCE48574CA}"/>
                  </a:ext>
                </a:extLst>
              </p:cNvPr>
              <p:cNvSpPr>
                <a:spLocks noGrp="1"/>
              </p:cNvSpPr>
              <p:nvPr>
                <p:ph idx="1"/>
              </p:nvPr>
            </p:nvSpPr>
            <p:spPr/>
            <p:txBody>
              <a:bodyPr/>
              <a:lstStyle/>
              <a:p>
                <a:r>
                  <a:rPr lang="en-US" noProof="0" dirty="0"/>
                  <a:t>Model decision = Hypothesis Test</a:t>
                </a:r>
              </a:p>
              <a:p>
                <a:pPr lvl="1"/>
                <a:r>
                  <a:rPr lang="en-US" noProof="0" dirty="0"/>
                  <a:t>When the model predicts a probability (say </a:t>
                </a:r>
                <a14:m>
                  <m:oMath xmlns:m="http://schemas.openxmlformats.org/officeDocument/2006/math">
                    <m:r>
                      <a:rPr lang="en-US" i="1" noProof="0" smtClean="0">
                        <a:latin typeface="Cambria Math" panose="02040503050406030204" pitchFamily="18" charset="0"/>
                      </a:rPr>
                      <m:t>𝑃</m:t>
                    </m:r>
                    <m:d>
                      <m:dPr>
                        <m:ctrlPr>
                          <a:rPr lang="en-US" i="1" noProof="0" smtClean="0">
                            <a:latin typeface="Cambria Math" panose="02040503050406030204" pitchFamily="18" charset="0"/>
                          </a:rPr>
                        </m:ctrlPr>
                      </m:dPr>
                      <m:e>
                        <m:r>
                          <m:rPr>
                            <m:nor/>
                          </m:rPr>
                          <a:rPr lang="en-US" i="1" noProof="0" smtClean="0"/>
                          <m:t>Spam</m:t>
                        </m:r>
                      </m:e>
                    </m:d>
                    <m:r>
                      <a:rPr lang="en-US" noProof="0" smtClean="0">
                        <a:latin typeface="Cambria Math" panose="02040503050406030204" pitchFamily="18" charset="0"/>
                      </a:rPr>
                      <m:t>=0.8</m:t>
                    </m:r>
                    <m:r>
                      <a:rPr lang="en-US" b="0" i="0" noProof="0" smtClean="0">
                        <a:latin typeface="Cambria Math" panose="02040503050406030204" pitchFamily="18" charset="0"/>
                      </a:rPr>
                      <m:t>)</m:t>
                    </m:r>
                  </m:oMath>
                </a14:m>
                <a:endParaRPr lang="en-US" noProof="0" dirty="0"/>
              </a:p>
              <a:p>
                <a:pPr lvl="2"/>
                <a:r>
                  <a:rPr lang="en-US" noProof="0" dirty="0"/>
                  <a:t>If </a:t>
                </a:r>
                <a14:m>
                  <m:oMath xmlns:m="http://schemas.openxmlformats.org/officeDocument/2006/math">
                    <m:r>
                      <a:rPr lang="en-US" i="1" noProof="0" smtClean="0">
                        <a:latin typeface="Cambria Math" panose="02040503050406030204" pitchFamily="18" charset="0"/>
                      </a:rPr>
                      <m:t>𝑃</m:t>
                    </m:r>
                    <m:d>
                      <m:dPr>
                        <m:ctrlPr>
                          <a:rPr lang="en-US" i="1" noProof="0" smtClean="0">
                            <a:latin typeface="Cambria Math" panose="02040503050406030204" pitchFamily="18" charset="0"/>
                          </a:rPr>
                        </m:ctrlPr>
                      </m:dPr>
                      <m:e>
                        <m:r>
                          <m:rPr>
                            <m:nor/>
                          </m:rPr>
                          <a:rPr lang="en-US" i="1" noProof="0" smtClean="0"/>
                          <m:t>Spam</m:t>
                        </m:r>
                      </m:e>
                    </m:d>
                    <m:r>
                      <a:rPr lang="en-US" noProof="0" smtClean="0">
                        <a:latin typeface="Cambria Math" panose="02040503050406030204" pitchFamily="18" charset="0"/>
                      </a:rPr>
                      <m:t>≥0.5</m:t>
                    </m:r>
                  </m:oMath>
                </a14:m>
                <a:r>
                  <a:rPr lang="en-US" noProof="0" dirty="0"/>
                  <a:t>→ we </a:t>
                </a:r>
                <a:r>
                  <a:rPr lang="en-US" b="1" noProof="0" dirty="0"/>
                  <a:t>reject </a:t>
                </a:r>
                <a14:m>
                  <m:oMath xmlns:m="http://schemas.openxmlformats.org/officeDocument/2006/math">
                    <m:sSub>
                      <m:sSubPr>
                        <m:ctrlPr>
                          <a:rPr lang="en-US" i="1" noProof="0" smtClean="0">
                            <a:latin typeface="Cambria Math" panose="02040503050406030204" pitchFamily="18" charset="0"/>
                          </a:rPr>
                        </m:ctrlPr>
                      </m:sSubPr>
                      <m:e>
                        <m:r>
                          <a:rPr lang="en-US" i="1" noProof="0" smtClean="0">
                            <a:latin typeface="Cambria Math" panose="02040503050406030204" pitchFamily="18" charset="0"/>
                          </a:rPr>
                          <m:t>𝐻</m:t>
                        </m:r>
                      </m:e>
                      <m:sub>
                        <m:r>
                          <a:rPr lang="en-US" noProof="0" smtClean="0">
                            <a:latin typeface="Cambria Math" panose="02040503050406030204" pitchFamily="18" charset="0"/>
                          </a:rPr>
                          <m:t>0</m:t>
                        </m:r>
                      </m:sub>
                    </m:sSub>
                  </m:oMath>
                </a14:m>
                <a:r>
                  <a:rPr lang="en-US" noProof="0" dirty="0"/>
                  <a:t>(decide email </a:t>
                </a:r>
                <a:r>
                  <a:rPr lang="en-US" b="1" noProof="0" dirty="0"/>
                  <a:t>is spam</a:t>
                </a:r>
                <a:r>
                  <a:rPr lang="en-US" noProof="0" dirty="0"/>
                  <a:t>)</a:t>
                </a:r>
              </a:p>
              <a:p>
                <a:pPr lvl="2"/>
                <a:r>
                  <a:rPr lang="en-US" noProof="0" dirty="0"/>
                  <a:t>If </a:t>
                </a:r>
                <a14:m>
                  <m:oMath xmlns:m="http://schemas.openxmlformats.org/officeDocument/2006/math">
                    <m:r>
                      <a:rPr lang="en-US" i="1" noProof="0" smtClean="0">
                        <a:latin typeface="Cambria Math" panose="02040503050406030204" pitchFamily="18" charset="0"/>
                      </a:rPr>
                      <m:t>𝑃</m:t>
                    </m:r>
                    <m:d>
                      <m:dPr>
                        <m:ctrlPr>
                          <a:rPr lang="en-US" i="1" noProof="0" smtClean="0">
                            <a:latin typeface="Cambria Math" panose="02040503050406030204" pitchFamily="18" charset="0"/>
                          </a:rPr>
                        </m:ctrlPr>
                      </m:dPr>
                      <m:e>
                        <m:r>
                          <m:rPr>
                            <m:nor/>
                          </m:rPr>
                          <a:rPr lang="en-US" i="1" noProof="0" smtClean="0"/>
                          <m:t>Spam</m:t>
                        </m:r>
                      </m:e>
                    </m:d>
                    <m:r>
                      <a:rPr lang="en-US" noProof="0" smtClean="0">
                        <a:latin typeface="Cambria Math" panose="02040503050406030204" pitchFamily="18" charset="0"/>
                      </a:rPr>
                      <m:t>&lt;0.5</m:t>
                    </m:r>
                  </m:oMath>
                </a14:m>
                <a:r>
                  <a:rPr lang="en-US" noProof="0" dirty="0"/>
                  <a:t>→ we </a:t>
                </a:r>
                <a:r>
                  <a:rPr lang="en-US" b="1" noProof="0" dirty="0"/>
                  <a:t>fail to reject </a:t>
                </a:r>
                <a14:m>
                  <m:oMath xmlns:m="http://schemas.openxmlformats.org/officeDocument/2006/math">
                    <m:sSub>
                      <m:sSubPr>
                        <m:ctrlPr>
                          <a:rPr lang="en-US" i="1" noProof="0" smtClean="0">
                            <a:latin typeface="Cambria Math" panose="02040503050406030204" pitchFamily="18" charset="0"/>
                          </a:rPr>
                        </m:ctrlPr>
                      </m:sSubPr>
                      <m:e>
                        <m:r>
                          <a:rPr lang="en-US" i="1" noProof="0" smtClean="0">
                            <a:latin typeface="Cambria Math" panose="02040503050406030204" pitchFamily="18" charset="0"/>
                          </a:rPr>
                          <m:t>𝐻</m:t>
                        </m:r>
                      </m:e>
                      <m:sub>
                        <m:r>
                          <a:rPr lang="en-US" noProof="0" smtClean="0">
                            <a:latin typeface="Cambria Math" panose="02040503050406030204" pitchFamily="18" charset="0"/>
                          </a:rPr>
                          <m:t>0</m:t>
                        </m:r>
                      </m:sub>
                    </m:sSub>
                    <m:r>
                      <a:rPr lang="en-US" b="0" i="0" noProof="0" smtClean="0">
                        <a:latin typeface="Cambria Math" panose="02040503050406030204" pitchFamily="18" charset="0"/>
                      </a:rPr>
                      <m:t>(</m:t>
                    </m:r>
                  </m:oMath>
                </a14:m>
                <a:r>
                  <a:rPr lang="en-US" noProof="0" dirty="0"/>
                  <a:t>decide email </a:t>
                </a:r>
                <a:r>
                  <a:rPr lang="en-US" b="1" noProof="0" dirty="0"/>
                  <a:t>is not spam</a:t>
                </a:r>
                <a:r>
                  <a:rPr lang="en-US" noProof="0" dirty="0"/>
                  <a:t>)</a:t>
                </a:r>
              </a:p>
              <a:p>
                <a:r>
                  <a:rPr lang="en-US" noProof="0" dirty="0"/>
                  <a:t>Connecting to Confusion Matrix</a:t>
                </a:r>
              </a:p>
              <a:p>
                <a:endParaRPr lang="en-US" noProof="0" dirty="0"/>
              </a:p>
            </p:txBody>
          </p:sp>
        </mc:Choice>
        <mc:Fallback>
          <p:sp>
            <p:nvSpPr>
              <p:cNvPr id="3" name="Content Placeholder 2">
                <a:extLst>
                  <a:ext uri="{FF2B5EF4-FFF2-40B4-BE49-F238E27FC236}">
                    <a16:creationId xmlns:a16="http://schemas.microsoft.com/office/drawing/2014/main" id="{8B61B770-EA36-5FB9-600F-8ACCE48574CA}"/>
                  </a:ext>
                </a:extLst>
              </p:cNvPr>
              <p:cNvSpPr>
                <a:spLocks noGrp="1" noRot="1" noChangeAspect="1" noMove="1" noResize="1" noEditPoints="1" noAdjustHandles="1" noChangeArrowheads="1" noChangeShapeType="1" noTextEdit="1"/>
              </p:cNvSpPr>
              <p:nvPr>
                <p:ph idx="1"/>
              </p:nvPr>
            </p:nvSpPr>
            <p:spPr>
              <a:blipFill>
                <a:blip r:embed="rId2"/>
                <a:stretch>
                  <a:fillRect l="-1043" t="-2241"/>
                </a:stretch>
              </a:blipFill>
            </p:spPr>
            <p:txBody>
              <a:bodyPr/>
              <a:lstStyle/>
              <a:p>
                <a:r>
                  <a:rPr lang="en-GB">
                    <a:noFill/>
                  </a:rPr>
                  <a:t> </a:t>
                </a:r>
              </a:p>
            </p:txBody>
          </p:sp>
        </mc:Fallback>
      </mc:AlternateContent>
      <p:graphicFrame>
        <p:nvGraphicFramePr>
          <p:cNvPr id="5" name="Table 4">
            <a:extLst>
              <a:ext uri="{FF2B5EF4-FFF2-40B4-BE49-F238E27FC236}">
                <a16:creationId xmlns:a16="http://schemas.microsoft.com/office/drawing/2014/main" id="{94BD8F96-8101-D1DE-43AD-70CA541E8B2D}"/>
              </a:ext>
            </a:extLst>
          </p:cNvPr>
          <p:cNvGraphicFramePr>
            <a:graphicFrameLocks noGrp="1"/>
          </p:cNvGraphicFramePr>
          <p:nvPr>
            <p:extLst>
              <p:ext uri="{D42A27DB-BD31-4B8C-83A1-F6EECF244321}">
                <p14:modId xmlns:p14="http://schemas.microsoft.com/office/powerpoint/2010/main" val="4245505506"/>
              </p:ext>
            </p:extLst>
          </p:nvPr>
        </p:nvGraphicFramePr>
        <p:xfrm>
          <a:off x="838200" y="3905123"/>
          <a:ext cx="10856977" cy="2103120"/>
        </p:xfrm>
        <a:graphic>
          <a:graphicData uri="http://schemas.openxmlformats.org/drawingml/2006/table">
            <a:tbl>
              <a:tblPr>
                <a:tableStyleId>{E8B1032C-EA38-4F05-BA0D-38AFFFC7BED3}</a:tableStyleId>
              </a:tblPr>
              <a:tblGrid>
                <a:gridCol w="2457768">
                  <a:extLst>
                    <a:ext uri="{9D8B030D-6E8A-4147-A177-3AD203B41FA5}">
                      <a16:colId xmlns:a16="http://schemas.microsoft.com/office/drawing/2014/main" val="1948497012"/>
                    </a:ext>
                  </a:extLst>
                </a:gridCol>
                <a:gridCol w="2662319">
                  <a:extLst>
                    <a:ext uri="{9D8B030D-6E8A-4147-A177-3AD203B41FA5}">
                      <a16:colId xmlns:a16="http://schemas.microsoft.com/office/drawing/2014/main" val="2673245698"/>
                    </a:ext>
                  </a:extLst>
                </a:gridCol>
                <a:gridCol w="2775610">
                  <a:extLst>
                    <a:ext uri="{9D8B030D-6E8A-4147-A177-3AD203B41FA5}">
                      <a16:colId xmlns:a16="http://schemas.microsoft.com/office/drawing/2014/main" val="3680328543"/>
                    </a:ext>
                  </a:extLst>
                </a:gridCol>
                <a:gridCol w="2961280">
                  <a:extLst>
                    <a:ext uri="{9D8B030D-6E8A-4147-A177-3AD203B41FA5}">
                      <a16:colId xmlns:a16="http://schemas.microsoft.com/office/drawing/2014/main" val="3396256060"/>
                    </a:ext>
                  </a:extLst>
                </a:gridCol>
              </a:tblGrid>
              <a:tr h="0">
                <a:tc>
                  <a:txBody>
                    <a:bodyPr/>
                    <a:lstStyle/>
                    <a:p>
                      <a:pPr>
                        <a:buNone/>
                      </a:pPr>
                      <a:r>
                        <a:rPr lang="en-US" b="1" noProof="0" dirty="0"/>
                        <a:t>Actual</a:t>
                      </a:r>
                      <a:endParaRPr lang="en-US" noProof="0" dirty="0"/>
                    </a:p>
                  </a:txBody>
                  <a:tcPr anchor="ctr"/>
                </a:tc>
                <a:tc>
                  <a:txBody>
                    <a:bodyPr/>
                    <a:lstStyle/>
                    <a:p>
                      <a:pPr>
                        <a:buNone/>
                      </a:pPr>
                      <a:r>
                        <a:rPr lang="en-US" b="1" noProof="0" dirty="0"/>
                        <a:t>Model Decision</a:t>
                      </a:r>
                      <a:endParaRPr lang="en-US" noProof="0" dirty="0"/>
                    </a:p>
                  </a:txBody>
                  <a:tcPr anchor="ctr"/>
                </a:tc>
                <a:tc>
                  <a:txBody>
                    <a:bodyPr/>
                    <a:lstStyle/>
                    <a:p>
                      <a:pPr>
                        <a:buNone/>
                      </a:pPr>
                      <a:r>
                        <a:rPr lang="en-US" b="1" noProof="0" dirty="0"/>
                        <a:t>What happened (statistically)</a:t>
                      </a:r>
                      <a:endParaRPr lang="en-US" noProof="0" dirty="0"/>
                    </a:p>
                  </a:txBody>
                  <a:tcPr anchor="ctr"/>
                </a:tc>
                <a:tc>
                  <a:txBody>
                    <a:bodyPr/>
                    <a:lstStyle/>
                    <a:p>
                      <a:pPr>
                        <a:buNone/>
                      </a:pPr>
                      <a:r>
                        <a:rPr lang="en-US" b="1" noProof="0" dirty="0"/>
                        <a:t>Type of Error / Correctness</a:t>
                      </a:r>
                      <a:endParaRPr lang="en-US" noProof="0" dirty="0"/>
                    </a:p>
                  </a:txBody>
                  <a:tcPr anchor="ctr"/>
                </a:tc>
                <a:extLst>
                  <a:ext uri="{0D108BD9-81ED-4DB2-BD59-A6C34878D82A}">
                    <a16:rowId xmlns:a16="http://schemas.microsoft.com/office/drawing/2014/main" val="4182985123"/>
                  </a:ext>
                </a:extLst>
              </a:tr>
              <a:tr h="0">
                <a:tc>
                  <a:txBody>
                    <a:bodyPr/>
                    <a:lstStyle/>
                    <a:p>
                      <a:pPr>
                        <a:buNone/>
                      </a:pPr>
                      <a:r>
                        <a:rPr lang="en-US" noProof="0" dirty="0"/>
                        <a:t>Not spam (H₀ true)</a:t>
                      </a:r>
                    </a:p>
                  </a:txBody>
                  <a:tcPr anchor="ctr"/>
                </a:tc>
                <a:tc>
                  <a:txBody>
                    <a:bodyPr/>
                    <a:lstStyle/>
                    <a:p>
                      <a:pPr>
                        <a:buNone/>
                      </a:pPr>
                      <a:r>
                        <a:rPr lang="en-US" noProof="0" dirty="0"/>
                        <a:t>Predicted not spam</a:t>
                      </a:r>
                    </a:p>
                  </a:txBody>
                  <a:tcPr anchor="ctr"/>
                </a:tc>
                <a:tc>
                  <a:txBody>
                    <a:bodyPr/>
                    <a:lstStyle/>
                    <a:p>
                      <a:pPr>
                        <a:buNone/>
                      </a:pPr>
                      <a:r>
                        <a:rPr lang="en-US" noProof="0" dirty="0"/>
                        <a:t>Correctly accepted H₀</a:t>
                      </a:r>
                    </a:p>
                  </a:txBody>
                  <a:tcPr anchor="ctr"/>
                </a:tc>
                <a:tc>
                  <a:txBody>
                    <a:bodyPr/>
                    <a:lstStyle/>
                    <a:p>
                      <a:pPr>
                        <a:buNone/>
                      </a:pPr>
                      <a:r>
                        <a:rPr lang="en-US" b="1" noProof="0" dirty="0"/>
                        <a:t>True Negative</a:t>
                      </a:r>
                    </a:p>
                  </a:txBody>
                  <a:tcPr anchor="ctr"/>
                </a:tc>
                <a:extLst>
                  <a:ext uri="{0D108BD9-81ED-4DB2-BD59-A6C34878D82A}">
                    <a16:rowId xmlns:a16="http://schemas.microsoft.com/office/drawing/2014/main" val="980566594"/>
                  </a:ext>
                </a:extLst>
              </a:tr>
              <a:tr h="0">
                <a:tc>
                  <a:txBody>
                    <a:bodyPr/>
                    <a:lstStyle/>
                    <a:p>
                      <a:pPr>
                        <a:buNone/>
                      </a:pPr>
                      <a:r>
                        <a:rPr lang="en-US" noProof="0" dirty="0"/>
                        <a:t>Not spam (H₀ true)</a:t>
                      </a:r>
                    </a:p>
                  </a:txBody>
                  <a:tcPr anchor="ctr"/>
                </a:tc>
                <a:tc>
                  <a:txBody>
                    <a:bodyPr/>
                    <a:lstStyle/>
                    <a:p>
                      <a:pPr>
                        <a:buNone/>
                      </a:pPr>
                      <a:r>
                        <a:rPr lang="en-US" noProof="0" dirty="0"/>
                        <a:t>Predicted spam</a:t>
                      </a:r>
                    </a:p>
                  </a:txBody>
                  <a:tcPr anchor="ctr"/>
                </a:tc>
                <a:tc>
                  <a:txBody>
                    <a:bodyPr/>
                    <a:lstStyle/>
                    <a:p>
                      <a:pPr>
                        <a:buNone/>
                      </a:pPr>
                      <a:r>
                        <a:rPr lang="en-US" b="1" noProof="0" dirty="0"/>
                        <a:t>Wrongly rejected H₀</a:t>
                      </a:r>
                      <a:endParaRPr lang="en-US" noProof="0" dirty="0"/>
                    </a:p>
                  </a:txBody>
                  <a:tcPr anchor="ctr"/>
                </a:tc>
                <a:tc>
                  <a:txBody>
                    <a:bodyPr/>
                    <a:lstStyle/>
                    <a:p>
                      <a:pPr>
                        <a:buNone/>
                      </a:pPr>
                      <a:r>
                        <a:rPr lang="en-US" b="1" noProof="0" dirty="0"/>
                        <a:t>False Positive (Type I error)</a:t>
                      </a:r>
                    </a:p>
                  </a:txBody>
                  <a:tcPr anchor="ctr"/>
                </a:tc>
                <a:extLst>
                  <a:ext uri="{0D108BD9-81ED-4DB2-BD59-A6C34878D82A}">
                    <a16:rowId xmlns:a16="http://schemas.microsoft.com/office/drawing/2014/main" val="3481214436"/>
                  </a:ext>
                </a:extLst>
              </a:tr>
              <a:tr h="0">
                <a:tc>
                  <a:txBody>
                    <a:bodyPr/>
                    <a:lstStyle/>
                    <a:p>
                      <a:pPr>
                        <a:buNone/>
                      </a:pPr>
                      <a:r>
                        <a:rPr lang="en-US" noProof="0" dirty="0"/>
                        <a:t>Spam (H₁ true)</a:t>
                      </a:r>
                    </a:p>
                  </a:txBody>
                  <a:tcPr anchor="ctr"/>
                </a:tc>
                <a:tc>
                  <a:txBody>
                    <a:bodyPr/>
                    <a:lstStyle/>
                    <a:p>
                      <a:pPr>
                        <a:buNone/>
                      </a:pPr>
                      <a:r>
                        <a:rPr lang="en-US" noProof="0" dirty="0"/>
                        <a:t>Predicted spam</a:t>
                      </a:r>
                    </a:p>
                  </a:txBody>
                  <a:tcPr anchor="ctr"/>
                </a:tc>
                <a:tc>
                  <a:txBody>
                    <a:bodyPr/>
                    <a:lstStyle/>
                    <a:p>
                      <a:pPr>
                        <a:buNone/>
                      </a:pPr>
                      <a:r>
                        <a:rPr lang="en-US" noProof="0" dirty="0"/>
                        <a:t>Correctly rejected H₀</a:t>
                      </a:r>
                    </a:p>
                  </a:txBody>
                  <a:tcPr anchor="ctr"/>
                </a:tc>
                <a:tc>
                  <a:txBody>
                    <a:bodyPr/>
                    <a:lstStyle/>
                    <a:p>
                      <a:pPr>
                        <a:buNone/>
                      </a:pPr>
                      <a:r>
                        <a:rPr lang="en-US" b="1" noProof="0" dirty="0"/>
                        <a:t>True Positive</a:t>
                      </a:r>
                    </a:p>
                  </a:txBody>
                  <a:tcPr anchor="ctr"/>
                </a:tc>
                <a:extLst>
                  <a:ext uri="{0D108BD9-81ED-4DB2-BD59-A6C34878D82A}">
                    <a16:rowId xmlns:a16="http://schemas.microsoft.com/office/drawing/2014/main" val="3283311328"/>
                  </a:ext>
                </a:extLst>
              </a:tr>
              <a:tr h="0">
                <a:tc>
                  <a:txBody>
                    <a:bodyPr/>
                    <a:lstStyle/>
                    <a:p>
                      <a:pPr>
                        <a:buNone/>
                      </a:pPr>
                      <a:r>
                        <a:rPr lang="en-US" noProof="0" dirty="0"/>
                        <a:t>Spam (H₁ true)</a:t>
                      </a:r>
                    </a:p>
                  </a:txBody>
                  <a:tcPr anchor="ctr"/>
                </a:tc>
                <a:tc>
                  <a:txBody>
                    <a:bodyPr/>
                    <a:lstStyle/>
                    <a:p>
                      <a:pPr>
                        <a:buNone/>
                      </a:pPr>
                      <a:r>
                        <a:rPr lang="en-US" noProof="0" dirty="0"/>
                        <a:t>Predicted not spam</a:t>
                      </a:r>
                    </a:p>
                  </a:txBody>
                  <a:tcPr anchor="ctr"/>
                </a:tc>
                <a:tc>
                  <a:txBody>
                    <a:bodyPr/>
                    <a:lstStyle/>
                    <a:p>
                      <a:pPr>
                        <a:buNone/>
                      </a:pPr>
                      <a:r>
                        <a:rPr lang="en-US" b="1" noProof="0" dirty="0"/>
                        <a:t>Failed to reject H₀</a:t>
                      </a:r>
                      <a:endParaRPr lang="en-US" noProof="0" dirty="0"/>
                    </a:p>
                  </a:txBody>
                  <a:tcPr anchor="ctr"/>
                </a:tc>
                <a:tc>
                  <a:txBody>
                    <a:bodyPr/>
                    <a:lstStyle/>
                    <a:p>
                      <a:pPr>
                        <a:buNone/>
                      </a:pPr>
                      <a:r>
                        <a:rPr lang="en-US" b="1" noProof="0" dirty="0"/>
                        <a:t>False Negative (Type II error)</a:t>
                      </a:r>
                    </a:p>
                  </a:txBody>
                  <a:tcPr anchor="ctr"/>
                </a:tc>
                <a:extLst>
                  <a:ext uri="{0D108BD9-81ED-4DB2-BD59-A6C34878D82A}">
                    <a16:rowId xmlns:a16="http://schemas.microsoft.com/office/drawing/2014/main" val="3646618404"/>
                  </a:ext>
                </a:extLst>
              </a:tr>
            </a:tbl>
          </a:graphicData>
        </a:graphic>
      </p:graphicFrame>
    </p:spTree>
    <p:extLst>
      <p:ext uri="{BB962C8B-B14F-4D97-AF65-F5344CB8AC3E}">
        <p14:creationId xmlns:p14="http://schemas.microsoft.com/office/powerpoint/2010/main" val="2736861649"/>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6B8A48-9CFE-27C4-8692-C1DB338AAD00}"/>
              </a:ext>
            </a:extLst>
          </p:cNvPr>
          <p:cNvSpPr>
            <a:spLocks noGrp="1"/>
          </p:cNvSpPr>
          <p:nvPr>
            <p:ph type="title"/>
          </p:nvPr>
        </p:nvSpPr>
        <p:spPr/>
        <p:txBody>
          <a:bodyPr/>
          <a:lstStyle/>
          <a:p>
            <a:r>
              <a:rPr lang="en-US" noProof="0" dirty="0"/>
              <a:t>Metrics Derived From Confusion Matrix</a:t>
            </a:r>
          </a:p>
        </p:txBody>
      </p:sp>
      <p:graphicFrame>
        <p:nvGraphicFramePr>
          <p:cNvPr id="4" name="Content Placeholder 3">
            <a:extLst>
              <a:ext uri="{FF2B5EF4-FFF2-40B4-BE49-F238E27FC236}">
                <a16:creationId xmlns:a16="http://schemas.microsoft.com/office/drawing/2014/main" id="{14866547-671F-404C-1A49-FD260AC0D948}"/>
              </a:ext>
            </a:extLst>
          </p:cNvPr>
          <p:cNvGraphicFramePr>
            <a:graphicFrameLocks noGrp="1"/>
          </p:cNvGraphicFramePr>
          <p:nvPr>
            <p:ph idx="1"/>
            <p:extLst>
              <p:ext uri="{D42A27DB-BD31-4B8C-83A1-F6EECF244321}">
                <p14:modId xmlns:p14="http://schemas.microsoft.com/office/powerpoint/2010/main" val="1939884186"/>
              </p:ext>
            </p:extLst>
          </p:nvPr>
        </p:nvGraphicFramePr>
        <p:xfrm>
          <a:off x="612648" y="1825624"/>
          <a:ext cx="11119105" cy="4502905"/>
        </p:xfrm>
        <a:graphic>
          <a:graphicData uri="http://schemas.openxmlformats.org/drawingml/2006/table">
            <a:tbl>
              <a:tblPr>
                <a:tableStyleId>{E8B1032C-EA38-4F05-BA0D-38AFFFC7BED3}</a:tableStyleId>
              </a:tblPr>
              <a:tblGrid>
                <a:gridCol w="1892808">
                  <a:extLst>
                    <a:ext uri="{9D8B030D-6E8A-4147-A177-3AD203B41FA5}">
                      <a16:colId xmlns:a16="http://schemas.microsoft.com/office/drawing/2014/main" val="3777908112"/>
                    </a:ext>
                  </a:extLst>
                </a:gridCol>
                <a:gridCol w="2554834">
                  <a:extLst>
                    <a:ext uri="{9D8B030D-6E8A-4147-A177-3AD203B41FA5}">
                      <a16:colId xmlns:a16="http://schemas.microsoft.com/office/drawing/2014/main" val="3489602681"/>
                    </a:ext>
                  </a:extLst>
                </a:gridCol>
                <a:gridCol w="2776118">
                  <a:extLst>
                    <a:ext uri="{9D8B030D-6E8A-4147-A177-3AD203B41FA5}">
                      <a16:colId xmlns:a16="http://schemas.microsoft.com/office/drawing/2014/main" val="169128107"/>
                    </a:ext>
                  </a:extLst>
                </a:gridCol>
                <a:gridCol w="2715768">
                  <a:extLst>
                    <a:ext uri="{9D8B030D-6E8A-4147-A177-3AD203B41FA5}">
                      <a16:colId xmlns:a16="http://schemas.microsoft.com/office/drawing/2014/main" val="3058661579"/>
                    </a:ext>
                  </a:extLst>
                </a:gridCol>
                <a:gridCol w="1179577">
                  <a:extLst>
                    <a:ext uri="{9D8B030D-6E8A-4147-A177-3AD203B41FA5}">
                      <a16:colId xmlns:a16="http://schemas.microsoft.com/office/drawing/2014/main" val="2937560234"/>
                    </a:ext>
                  </a:extLst>
                </a:gridCol>
              </a:tblGrid>
              <a:tr h="763393">
                <a:tc>
                  <a:txBody>
                    <a:bodyPr/>
                    <a:lstStyle/>
                    <a:p>
                      <a:pPr>
                        <a:buNone/>
                      </a:pPr>
                      <a:r>
                        <a:rPr lang="en-US" sz="2000" b="1" noProof="0" dirty="0"/>
                        <a:t>Metric</a:t>
                      </a:r>
                      <a:endParaRPr lang="en-US" sz="2000" noProof="0" dirty="0"/>
                    </a:p>
                  </a:txBody>
                  <a:tcPr marL="76339" marR="76339" marT="38170" marB="38170" anchor="ctr"/>
                </a:tc>
                <a:tc>
                  <a:txBody>
                    <a:bodyPr/>
                    <a:lstStyle/>
                    <a:p>
                      <a:pPr>
                        <a:buNone/>
                      </a:pPr>
                      <a:r>
                        <a:rPr lang="en-US" sz="2000" b="1" noProof="0" dirty="0"/>
                        <a:t>Formula</a:t>
                      </a:r>
                      <a:endParaRPr lang="en-US" sz="2000" noProof="0" dirty="0"/>
                    </a:p>
                  </a:txBody>
                  <a:tcPr marL="76339" marR="76339" marT="38170" marB="38170" anchor="ctr"/>
                </a:tc>
                <a:tc>
                  <a:txBody>
                    <a:bodyPr/>
                    <a:lstStyle/>
                    <a:p>
                      <a:pPr>
                        <a:buNone/>
                      </a:pPr>
                      <a:r>
                        <a:rPr lang="en-US" sz="2000" b="1" noProof="0" dirty="0"/>
                        <a:t>Meaning</a:t>
                      </a:r>
                      <a:endParaRPr lang="en-US" sz="2000" noProof="0" dirty="0"/>
                    </a:p>
                  </a:txBody>
                  <a:tcPr marL="76339" marR="76339" marT="38170" marB="38170" anchor="ctr"/>
                </a:tc>
                <a:tc>
                  <a:txBody>
                    <a:bodyPr/>
                    <a:lstStyle/>
                    <a:p>
                      <a:pPr>
                        <a:buNone/>
                      </a:pPr>
                      <a:r>
                        <a:rPr lang="en-US" sz="2000" b="1" noProof="0" dirty="0"/>
                        <a:t>Example (TN=90, FP=10, FN=20, TP=80)</a:t>
                      </a:r>
                      <a:endParaRPr lang="en-US" sz="2000" noProof="0" dirty="0"/>
                    </a:p>
                  </a:txBody>
                  <a:tcPr marL="76339" marR="76339" marT="38170" marB="38170" anchor="ctr"/>
                </a:tc>
                <a:tc>
                  <a:txBody>
                    <a:bodyPr/>
                    <a:lstStyle/>
                    <a:p>
                      <a:pPr>
                        <a:buNone/>
                      </a:pPr>
                      <a:r>
                        <a:rPr lang="en-US" sz="2000" b="1" noProof="0" dirty="0"/>
                        <a:t>Value</a:t>
                      </a:r>
                      <a:endParaRPr lang="en-US" sz="2000" noProof="0" dirty="0"/>
                    </a:p>
                  </a:txBody>
                  <a:tcPr marL="76339" marR="76339" marT="38170" marB="38170" anchor="ctr"/>
                </a:tc>
                <a:extLst>
                  <a:ext uri="{0D108BD9-81ED-4DB2-BD59-A6C34878D82A}">
                    <a16:rowId xmlns:a16="http://schemas.microsoft.com/office/drawing/2014/main" val="3952395341"/>
                  </a:ext>
                </a:extLst>
              </a:tr>
              <a:tr h="534375">
                <a:tc>
                  <a:txBody>
                    <a:bodyPr/>
                    <a:lstStyle/>
                    <a:p>
                      <a:pPr>
                        <a:buNone/>
                      </a:pPr>
                      <a:r>
                        <a:rPr lang="en-US" sz="2000" b="1" noProof="0" dirty="0"/>
                        <a:t>Accuracy</a:t>
                      </a:r>
                      <a:endParaRPr lang="en-US" sz="2000" noProof="0" dirty="0"/>
                    </a:p>
                  </a:txBody>
                  <a:tcPr marL="76339" marR="76339" marT="38170" marB="38170" anchor="ctr"/>
                </a:tc>
                <a:tc>
                  <a:txBody>
                    <a:bodyPr/>
                    <a:lstStyle/>
                    <a:p>
                      <a:pPr>
                        <a:buNone/>
                      </a:pPr>
                      <a:r>
                        <a:rPr lang="en-US" sz="2000" noProof="0" dirty="0"/>
                        <a:t>(TP + TN) / </a:t>
                      </a:r>
                    </a:p>
                    <a:p>
                      <a:pPr>
                        <a:buNone/>
                      </a:pPr>
                      <a:r>
                        <a:rPr lang="en-US" sz="2000" noProof="0" dirty="0"/>
                        <a:t>(TP + TN + FP + FN)</a:t>
                      </a:r>
                    </a:p>
                  </a:txBody>
                  <a:tcPr marL="76339" marR="76339" marT="38170" marB="38170" anchor="ctr"/>
                </a:tc>
                <a:tc>
                  <a:txBody>
                    <a:bodyPr/>
                    <a:lstStyle/>
                    <a:p>
                      <a:pPr>
                        <a:buNone/>
                      </a:pPr>
                      <a:r>
                        <a:rPr lang="en-US" sz="2000" noProof="0" dirty="0"/>
                        <a:t>Overall correctness</a:t>
                      </a:r>
                    </a:p>
                  </a:txBody>
                  <a:tcPr marL="76339" marR="76339" marT="38170" marB="38170" anchor="ctr"/>
                </a:tc>
                <a:tc>
                  <a:txBody>
                    <a:bodyPr/>
                    <a:lstStyle/>
                    <a:p>
                      <a:pPr>
                        <a:buNone/>
                      </a:pPr>
                      <a:r>
                        <a:rPr lang="en-US" sz="2000" noProof="0" dirty="0"/>
                        <a:t>(80+90)/</a:t>
                      </a:r>
                    </a:p>
                    <a:p>
                      <a:pPr>
                        <a:buNone/>
                      </a:pPr>
                      <a:r>
                        <a:rPr lang="en-US" sz="2000" noProof="0" dirty="0"/>
                        <a:t>(80+90+10+20)</a:t>
                      </a:r>
                    </a:p>
                  </a:txBody>
                  <a:tcPr marL="76339" marR="76339" marT="38170" marB="38170" anchor="ctr"/>
                </a:tc>
                <a:tc>
                  <a:txBody>
                    <a:bodyPr/>
                    <a:lstStyle/>
                    <a:p>
                      <a:pPr>
                        <a:buNone/>
                      </a:pPr>
                      <a:r>
                        <a:rPr lang="en-US" sz="2000" b="1" noProof="0" dirty="0"/>
                        <a:t>0.85</a:t>
                      </a:r>
                      <a:endParaRPr lang="en-US" sz="2000" noProof="0" dirty="0"/>
                    </a:p>
                  </a:txBody>
                  <a:tcPr marL="76339" marR="76339" marT="38170" marB="38170" anchor="ctr"/>
                </a:tc>
                <a:extLst>
                  <a:ext uri="{0D108BD9-81ED-4DB2-BD59-A6C34878D82A}">
                    <a16:rowId xmlns:a16="http://schemas.microsoft.com/office/drawing/2014/main" val="3531903368"/>
                  </a:ext>
                </a:extLst>
              </a:tr>
              <a:tr h="763393">
                <a:tc>
                  <a:txBody>
                    <a:bodyPr/>
                    <a:lstStyle/>
                    <a:p>
                      <a:pPr>
                        <a:buNone/>
                      </a:pPr>
                      <a:r>
                        <a:rPr lang="en-US" sz="2000" b="1" noProof="0" dirty="0"/>
                        <a:t>Precision</a:t>
                      </a:r>
                      <a:endParaRPr lang="en-US" sz="2000" noProof="0" dirty="0"/>
                    </a:p>
                  </a:txBody>
                  <a:tcPr marL="76339" marR="76339" marT="38170" marB="38170" anchor="ctr"/>
                </a:tc>
                <a:tc>
                  <a:txBody>
                    <a:bodyPr/>
                    <a:lstStyle/>
                    <a:p>
                      <a:pPr>
                        <a:buNone/>
                      </a:pPr>
                      <a:r>
                        <a:rPr lang="en-US" sz="2000" noProof="0" dirty="0"/>
                        <a:t>TP / (TP + FP)</a:t>
                      </a:r>
                    </a:p>
                  </a:txBody>
                  <a:tcPr marL="76339" marR="76339" marT="38170" marB="38170" anchor="ctr"/>
                </a:tc>
                <a:tc>
                  <a:txBody>
                    <a:bodyPr/>
                    <a:lstStyle/>
                    <a:p>
                      <a:pPr>
                        <a:buNone/>
                      </a:pPr>
                      <a:r>
                        <a:rPr lang="en-US" sz="2000" noProof="0" dirty="0"/>
                        <a:t>Of predicted positives, how many were correct</a:t>
                      </a:r>
                    </a:p>
                  </a:txBody>
                  <a:tcPr marL="76339" marR="76339" marT="38170" marB="38170" anchor="ctr"/>
                </a:tc>
                <a:tc>
                  <a:txBody>
                    <a:bodyPr/>
                    <a:lstStyle/>
                    <a:p>
                      <a:pPr>
                        <a:buNone/>
                      </a:pPr>
                      <a:r>
                        <a:rPr lang="en-US" sz="2000" noProof="0" dirty="0"/>
                        <a:t>80/</a:t>
                      </a:r>
                    </a:p>
                    <a:p>
                      <a:pPr>
                        <a:buNone/>
                      </a:pPr>
                      <a:r>
                        <a:rPr lang="en-US" sz="2000" noProof="0" dirty="0"/>
                        <a:t>(80+10)</a:t>
                      </a:r>
                    </a:p>
                  </a:txBody>
                  <a:tcPr marL="76339" marR="76339" marT="38170" marB="38170" anchor="ctr"/>
                </a:tc>
                <a:tc>
                  <a:txBody>
                    <a:bodyPr/>
                    <a:lstStyle/>
                    <a:p>
                      <a:pPr>
                        <a:buNone/>
                      </a:pPr>
                      <a:r>
                        <a:rPr lang="en-US" sz="2000" b="1" noProof="0" dirty="0"/>
                        <a:t>0.89</a:t>
                      </a:r>
                      <a:endParaRPr lang="en-US" sz="2000" noProof="0" dirty="0"/>
                    </a:p>
                  </a:txBody>
                  <a:tcPr marL="76339" marR="76339" marT="38170" marB="38170" anchor="ctr"/>
                </a:tc>
                <a:extLst>
                  <a:ext uri="{0D108BD9-81ED-4DB2-BD59-A6C34878D82A}">
                    <a16:rowId xmlns:a16="http://schemas.microsoft.com/office/drawing/2014/main" val="3083190969"/>
                  </a:ext>
                </a:extLst>
              </a:tr>
              <a:tr h="763393">
                <a:tc>
                  <a:txBody>
                    <a:bodyPr/>
                    <a:lstStyle/>
                    <a:p>
                      <a:pPr>
                        <a:buNone/>
                      </a:pPr>
                      <a:r>
                        <a:rPr lang="en-US" sz="2000" b="1" noProof="0" dirty="0"/>
                        <a:t>Recall (Sensitivity)</a:t>
                      </a:r>
                      <a:endParaRPr lang="en-US" sz="2000" noProof="0" dirty="0"/>
                    </a:p>
                  </a:txBody>
                  <a:tcPr marL="76339" marR="76339" marT="38170" marB="38170" anchor="ctr"/>
                </a:tc>
                <a:tc>
                  <a:txBody>
                    <a:bodyPr/>
                    <a:lstStyle/>
                    <a:p>
                      <a:pPr>
                        <a:buNone/>
                      </a:pPr>
                      <a:r>
                        <a:rPr lang="en-US" sz="2000" noProof="0" dirty="0"/>
                        <a:t>TP / (TP + FN)</a:t>
                      </a:r>
                    </a:p>
                  </a:txBody>
                  <a:tcPr marL="76339" marR="76339" marT="38170" marB="38170" anchor="ctr"/>
                </a:tc>
                <a:tc>
                  <a:txBody>
                    <a:bodyPr/>
                    <a:lstStyle/>
                    <a:p>
                      <a:pPr>
                        <a:buNone/>
                      </a:pPr>
                      <a:r>
                        <a:rPr lang="en-US" sz="2000" noProof="0" dirty="0"/>
                        <a:t>Of actual positives, how many were caught</a:t>
                      </a:r>
                    </a:p>
                  </a:txBody>
                  <a:tcPr marL="76339" marR="76339" marT="38170" marB="38170" anchor="ctr"/>
                </a:tc>
                <a:tc>
                  <a:txBody>
                    <a:bodyPr/>
                    <a:lstStyle/>
                    <a:p>
                      <a:pPr>
                        <a:buNone/>
                      </a:pPr>
                      <a:r>
                        <a:rPr lang="en-US" sz="2000" noProof="0" dirty="0"/>
                        <a:t>80/</a:t>
                      </a:r>
                    </a:p>
                    <a:p>
                      <a:pPr>
                        <a:buNone/>
                      </a:pPr>
                      <a:r>
                        <a:rPr lang="en-US" sz="2000" noProof="0" dirty="0"/>
                        <a:t>(80+20)</a:t>
                      </a:r>
                    </a:p>
                  </a:txBody>
                  <a:tcPr marL="76339" marR="76339" marT="38170" marB="38170" anchor="ctr"/>
                </a:tc>
                <a:tc>
                  <a:txBody>
                    <a:bodyPr/>
                    <a:lstStyle/>
                    <a:p>
                      <a:pPr>
                        <a:buNone/>
                      </a:pPr>
                      <a:r>
                        <a:rPr lang="en-US" sz="2000" b="1" noProof="0" dirty="0"/>
                        <a:t>0.80</a:t>
                      </a:r>
                      <a:endParaRPr lang="en-US" sz="2000" noProof="0" dirty="0"/>
                    </a:p>
                  </a:txBody>
                  <a:tcPr marL="76339" marR="76339" marT="38170" marB="38170" anchor="ctr"/>
                </a:tc>
                <a:extLst>
                  <a:ext uri="{0D108BD9-81ED-4DB2-BD59-A6C34878D82A}">
                    <a16:rowId xmlns:a16="http://schemas.microsoft.com/office/drawing/2014/main" val="3730556513"/>
                  </a:ext>
                </a:extLst>
              </a:tr>
              <a:tr h="763393">
                <a:tc>
                  <a:txBody>
                    <a:bodyPr/>
                    <a:lstStyle/>
                    <a:p>
                      <a:pPr>
                        <a:buNone/>
                      </a:pPr>
                      <a:r>
                        <a:rPr lang="en-US" sz="2000" b="1" noProof="0" dirty="0"/>
                        <a:t>Specificity</a:t>
                      </a:r>
                      <a:endParaRPr lang="en-US" sz="2000" noProof="0" dirty="0"/>
                    </a:p>
                  </a:txBody>
                  <a:tcPr marL="76339" marR="76339" marT="38170" marB="38170" anchor="ctr"/>
                </a:tc>
                <a:tc>
                  <a:txBody>
                    <a:bodyPr/>
                    <a:lstStyle/>
                    <a:p>
                      <a:pPr>
                        <a:buNone/>
                      </a:pPr>
                      <a:r>
                        <a:rPr lang="en-US" sz="2000" noProof="0" dirty="0"/>
                        <a:t>TN / (TN + FP)</a:t>
                      </a:r>
                    </a:p>
                  </a:txBody>
                  <a:tcPr marL="76339" marR="76339" marT="38170" marB="38170" anchor="ctr"/>
                </a:tc>
                <a:tc>
                  <a:txBody>
                    <a:bodyPr/>
                    <a:lstStyle/>
                    <a:p>
                      <a:pPr>
                        <a:buNone/>
                      </a:pPr>
                      <a:r>
                        <a:rPr lang="en-US" sz="2000" noProof="0" dirty="0"/>
                        <a:t>Of actual negatives, how many were correct</a:t>
                      </a:r>
                    </a:p>
                  </a:txBody>
                  <a:tcPr marL="76339" marR="76339" marT="38170" marB="38170" anchor="ctr"/>
                </a:tc>
                <a:tc>
                  <a:txBody>
                    <a:bodyPr/>
                    <a:lstStyle/>
                    <a:p>
                      <a:pPr>
                        <a:buNone/>
                      </a:pPr>
                      <a:r>
                        <a:rPr lang="en-US" sz="2000" noProof="0" dirty="0"/>
                        <a:t>90/</a:t>
                      </a:r>
                    </a:p>
                    <a:p>
                      <a:pPr>
                        <a:buNone/>
                      </a:pPr>
                      <a:r>
                        <a:rPr lang="en-US" sz="2000" noProof="0" dirty="0"/>
                        <a:t>(90+10)</a:t>
                      </a:r>
                    </a:p>
                  </a:txBody>
                  <a:tcPr marL="76339" marR="76339" marT="38170" marB="38170" anchor="ctr"/>
                </a:tc>
                <a:tc>
                  <a:txBody>
                    <a:bodyPr/>
                    <a:lstStyle/>
                    <a:p>
                      <a:pPr>
                        <a:buNone/>
                      </a:pPr>
                      <a:r>
                        <a:rPr lang="en-US" sz="2000" b="1" noProof="0" dirty="0"/>
                        <a:t>0.90</a:t>
                      </a:r>
                      <a:endParaRPr lang="en-US" sz="2000" noProof="0" dirty="0"/>
                    </a:p>
                  </a:txBody>
                  <a:tcPr marL="76339" marR="76339" marT="38170" marB="38170" anchor="ctr"/>
                </a:tc>
                <a:extLst>
                  <a:ext uri="{0D108BD9-81ED-4DB2-BD59-A6C34878D82A}">
                    <a16:rowId xmlns:a16="http://schemas.microsoft.com/office/drawing/2014/main" val="1831012174"/>
                  </a:ext>
                </a:extLst>
              </a:tr>
              <a:tr h="763393">
                <a:tc>
                  <a:txBody>
                    <a:bodyPr/>
                    <a:lstStyle/>
                    <a:p>
                      <a:pPr>
                        <a:buNone/>
                      </a:pPr>
                      <a:r>
                        <a:rPr lang="en-US" sz="2000" b="1" noProof="0" dirty="0"/>
                        <a:t>F1 Score</a:t>
                      </a:r>
                      <a:endParaRPr lang="en-US" sz="2000" noProof="0" dirty="0"/>
                    </a:p>
                  </a:txBody>
                  <a:tcPr marL="76339" marR="76339" marT="38170" marB="38170" anchor="ctr"/>
                </a:tc>
                <a:tc>
                  <a:txBody>
                    <a:bodyPr/>
                    <a:lstStyle/>
                    <a:p>
                      <a:pPr>
                        <a:buNone/>
                      </a:pPr>
                      <a:r>
                        <a:rPr lang="en-US" sz="2000" noProof="0" dirty="0"/>
                        <a:t>2 × (Precision × Recall) / (Precision + Recall)</a:t>
                      </a:r>
                    </a:p>
                  </a:txBody>
                  <a:tcPr marL="76339" marR="76339" marT="38170" marB="38170" anchor="ctr"/>
                </a:tc>
                <a:tc>
                  <a:txBody>
                    <a:bodyPr/>
                    <a:lstStyle/>
                    <a:p>
                      <a:pPr>
                        <a:buNone/>
                      </a:pPr>
                      <a:r>
                        <a:rPr lang="en-US" sz="2000" noProof="0" dirty="0"/>
                        <a:t>Balance between precision and recall</a:t>
                      </a:r>
                    </a:p>
                  </a:txBody>
                  <a:tcPr marL="76339" marR="76339" marT="38170" marB="38170" anchor="ctr"/>
                </a:tc>
                <a:tc>
                  <a:txBody>
                    <a:bodyPr/>
                    <a:lstStyle/>
                    <a:p>
                      <a:pPr>
                        <a:buNone/>
                      </a:pPr>
                      <a:r>
                        <a:rPr lang="en-US" sz="2000" noProof="0" dirty="0"/>
                        <a:t>2×(0.89×0.80)/</a:t>
                      </a:r>
                    </a:p>
                    <a:p>
                      <a:pPr>
                        <a:buNone/>
                      </a:pPr>
                      <a:r>
                        <a:rPr lang="en-US" sz="2000" noProof="0" dirty="0"/>
                        <a:t>(0.89+0.80)</a:t>
                      </a:r>
                    </a:p>
                  </a:txBody>
                  <a:tcPr marL="76339" marR="76339" marT="38170" marB="38170" anchor="ctr"/>
                </a:tc>
                <a:tc>
                  <a:txBody>
                    <a:bodyPr/>
                    <a:lstStyle/>
                    <a:p>
                      <a:pPr>
                        <a:buNone/>
                      </a:pPr>
                      <a:r>
                        <a:rPr lang="en-US" sz="2000" b="1" noProof="0" dirty="0"/>
                        <a:t>0.84</a:t>
                      </a:r>
                      <a:endParaRPr lang="en-US" sz="2000" noProof="0" dirty="0"/>
                    </a:p>
                  </a:txBody>
                  <a:tcPr marL="76339" marR="76339" marT="38170" marB="38170" anchor="ctr"/>
                </a:tc>
                <a:extLst>
                  <a:ext uri="{0D108BD9-81ED-4DB2-BD59-A6C34878D82A}">
                    <a16:rowId xmlns:a16="http://schemas.microsoft.com/office/drawing/2014/main" val="950212824"/>
                  </a:ext>
                </a:extLst>
              </a:tr>
            </a:tbl>
          </a:graphicData>
        </a:graphic>
      </p:graphicFrame>
    </p:spTree>
    <p:extLst>
      <p:ext uri="{BB962C8B-B14F-4D97-AF65-F5344CB8AC3E}">
        <p14:creationId xmlns:p14="http://schemas.microsoft.com/office/powerpoint/2010/main" val="1316628062"/>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55A276-3826-7B50-BAFF-2B8CE2834ECF}"/>
              </a:ext>
            </a:extLst>
          </p:cNvPr>
          <p:cNvSpPr>
            <a:spLocks noGrp="1"/>
          </p:cNvSpPr>
          <p:nvPr>
            <p:ph type="title"/>
          </p:nvPr>
        </p:nvSpPr>
        <p:spPr/>
        <p:txBody>
          <a:bodyPr/>
          <a:lstStyle/>
          <a:p>
            <a:r>
              <a:rPr lang="en-US" noProof="0" dirty="0"/>
              <a:t>K-Means Clustering</a:t>
            </a:r>
          </a:p>
        </p:txBody>
      </p:sp>
      <p:sp>
        <p:nvSpPr>
          <p:cNvPr id="3" name="Content Placeholder 2">
            <a:extLst>
              <a:ext uri="{FF2B5EF4-FFF2-40B4-BE49-F238E27FC236}">
                <a16:creationId xmlns:a16="http://schemas.microsoft.com/office/drawing/2014/main" id="{1A692660-FDD6-EBF8-DB1A-2C1D2F1B8435}"/>
              </a:ext>
            </a:extLst>
          </p:cNvPr>
          <p:cNvSpPr>
            <a:spLocks noGrp="1"/>
          </p:cNvSpPr>
          <p:nvPr>
            <p:ph idx="1"/>
          </p:nvPr>
        </p:nvSpPr>
        <p:spPr/>
        <p:txBody>
          <a:bodyPr>
            <a:normAutofit fontScale="92500" lnSpcReduction="10000"/>
          </a:bodyPr>
          <a:lstStyle/>
          <a:p>
            <a:r>
              <a:rPr lang="en-US" noProof="0" dirty="0"/>
              <a:t>An </a:t>
            </a:r>
            <a:r>
              <a:rPr lang="en-US" b="1" noProof="0" dirty="0"/>
              <a:t>unsupervised machine learning algorithm</a:t>
            </a:r>
            <a:r>
              <a:rPr lang="en-US" noProof="0" dirty="0"/>
              <a:t> used to </a:t>
            </a:r>
            <a:r>
              <a:rPr lang="en-US" b="1" noProof="0" dirty="0"/>
              <a:t>group similar data points into clusters</a:t>
            </a:r>
            <a:r>
              <a:rPr lang="en-US" noProof="0" dirty="0"/>
              <a:t> based on distance</a:t>
            </a:r>
          </a:p>
          <a:p>
            <a:r>
              <a:rPr lang="en-US" noProof="0" dirty="0"/>
              <a:t>Goal</a:t>
            </a:r>
          </a:p>
          <a:p>
            <a:pPr lvl="1"/>
            <a:r>
              <a:rPr lang="en-US" noProof="0" dirty="0"/>
              <a:t>Divide data into K groups (clusters)</a:t>
            </a:r>
          </a:p>
          <a:p>
            <a:pPr lvl="1"/>
            <a:r>
              <a:rPr lang="en-US" noProof="0" dirty="0"/>
              <a:t>Points in the same cluster are similar</a:t>
            </a:r>
          </a:p>
          <a:p>
            <a:pPr lvl="1"/>
            <a:r>
              <a:rPr lang="en-US" noProof="0" dirty="0"/>
              <a:t>Points in different clusters are dissimilar</a:t>
            </a:r>
          </a:p>
          <a:p>
            <a:r>
              <a:rPr lang="en-US" noProof="0" dirty="0"/>
              <a:t>Working</a:t>
            </a:r>
          </a:p>
          <a:p>
            <a:pPr lvl="1"/>
            <a:r>
              <a:rPr lang="en-US" noProof="0" dirty="0"/>
              <a:t>Choose K (number of clusters)</a:t>
            </a:r>
          </a:p>
          <a:p>
            <a:pPr lvl="1"/>
            <a:r>
              <a:rPr lang="en-US" noProof="0" dirty="0"/>
              <a:t>Randomly place K centroids</a:t>
            </a:r>
          </a:p>
          <a:p>
            <a:pPr lvl="1"/>
            <a:r>
              <a:rPr lang="en-US" noProof="0" dirty="0"/>
              <a:t>Assign each data point to the nearest centroid</a:t>
            </a:r>
          </a:p>
          <a:p>
            <a:pPr lvl="1"/>
            <a:r>
              <a:rPr lang="en-US" noProof="0" dirty="0"/>
              <a:t>Recompute centroids (mean of points)</a:t>
            </a:r>
          </a:p>
          <a:p>
            <a:pPr lvl="1"/>
            <a:r>
              <a:rPr lang="en-US" noProof="0" dirty="0"/>
              <a:t>Repeat steps 3–4 until centroids stop changing</a:t>
            </a:r>
          </a:p>
        </p:txBody>
      </p:sp>
      <p:pic>
        <p:nvPicPr>
          <p:cNvPr id="6" name="Picture 5">
            <a:extLst>
              <a:ext uri="{FF2B5EF4-FFF2-40B4-BE49-F238E27FC236}">
                <a16:creationId xmlns:a16="http://schemas.microsoft.com/office/drawing/2014/main" id="{20E30FC8-03C1-0022-0BE0-3F702D9C0B8F}"/>
              </a:ext>
            </a:extLst>
          </p:cNvPr>
          <p:cNvPicPr>
            <a:picLocks noChangeAspect="1"/>
          </p:cNvPicPr>
          <p:nvPr/>
        </p:nvPicPr>
        <p:blipFill>
          <a:blip r:embed="rId2"/>
          <a:stretch>
            <a:fillRect/>
          </a:stretch>
        </p:blipFill>
        <p:spPr>
          <a:xfrm>
            <a:off x="7467004" y="2249107"/>
            <a:ext cx="4150284" cy="4580973"/>
          </a:xfrm>
          <a:prstGeom prst="rect">
            <a:avLst/>
          </a:prstGeom>
        </p:spPr>
      </p:pic>
    </p:spTree>
    <p:extLst>
      <p:ext uri="{BB962C8B-B14F-4D97-AF65-F5344CB8AC3E}">
        <p14:creationId xmlns:p14="http://schemas.microsoft.com/office/powerpoint/2010/main" val="1898299762"/>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D83F63-ADB4-A883-0DA8-19F71ED78CC3}"/>
              </a:ext>
            </a:extLst>
          </p:cNvPr>
          <p:cNvSpPr>
            <a:spLocks noGrp="1"/>
          </p:cNvSpPr>
          <p:nvPr>
            <p:ph type="title"/>
          </p:nvPr>
        </p:nvSpPr>
        <p:spPr>
          <a:xfrm>
            <a:off x="91324" y="120820"/>
            <a:ext cx="3840443" cy="807539"/>
          </a:xfrm>
        </p:spPr>
        <p:txBody>
          <a:bodyPr>
            <a:normAutofit fontScale="90000"/>
          </a:bodyPr>
          <a:lstStyle/>
          <a:p>
            <a:r>
              <a:rPr lang="en-US" sz="3200" noProof="0" dirty="0"/>
              <a:t>K-Means Clustering and Elbow Method</a:t>
            </a:r>
          </a:p>
        </p:txBody>
      </p:sp>
      <p:graphicFrame>
        <p:nvGraphicFramePr>
          <p:cNvPr id="5" name="Content Placeholder 4">
            <a:extLst>
              <a:ext uri="{FF2B5EF4-FFF2-40B4-BE49-F238E27FC236}">
                <a16:creationId xmlns:a16="http://schemas.microsoft.com/office/drawing/2014/main" id="{393F72EF-D873-A72B-06B7-E53020CE14E8}"/>
              </a:ext>
            </a:extLst>
          </p:cNvPr>
          <p:cNvGraphicFramePr>
            <a:graphicFrameLocks noGrp="1"/>
          </p:cNvGraphicFramePr>
          <p:nvPr>
            <p:ph idx="1"/>
            <p:extLst>
              <p:ext uri="{D42A27DB-BD31-4B8C-83A1-F6EECF244321}">
                <p14:modId xmlns:p14="http://schemas.microsoft.com/office/powerpoint/2010/main" val="600361943"/>
              </p:ext>
            </p:extLst>
          </p:nvPr>
        </p:nvGraphicFramePr>
        <p:xfrm>
          <a:off x="174503" y="2750162"/>
          <a:ext cx="2693176" cy="2133600"/>
        </p:xfrm>
        <a:graphic>
          <a:graphicData uri="http://schemas.openxmlformats.org/drawingml/2006/table">
            <a:tbl>
              <a:tblPr firstRow="1">
                <a:tableStyleId>{69012ECD-51FC-41F1-AA8D-1B2483CD663E}</a:tableStyleId>
              </a:tblPr>
              <a:tblGrid>
                <a:gridCol w="1346588">
                  <a:extLst>
                    <a:ext uri="{9D8B030D-6E8A-4147-A177-3AD203B41FA5}">
                      <a16:colId xmlns:a16="http://schemas.microsoft.com/office/drawing/2014/main" val="1737744432"/>
                    </a:ext>
                  </a:extLst>
                </a:gridCol>
                <a:gridCol w="1346588">
                  <a:extLst>
                    <a:ext uri="{9D8B030D-6E8A-4147-A177-3AD203B41FA5}">
                      <a16:colId xmlns:a16="http://schemas.microsoft.com/office/drawing/2014/main" val="866757949"/>
                    </a:ext>
                  </a:extLst>
                </a:gridCol>
              </a:tblGrid>
              <a:tr h="153724">
                <a:tc>
                  <a:txBody>
                    <a:bodyPr/>
                    <a:lstStyle/>
                    <a:p>
                      <a:pPr>
                        <a:buNone/>
                      </a:pPr>
                      <a:r>
                        <a:rPr lang="en-US" sz="1400" noProof="0" dirty="0"/>
                        <a:t>Student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buNone/>
                      </a:pPr>
                      <a:r>
                        <a:rPr lang="en-US" sz="1400" noProof="0" dirty="0"/>
                        <a:t>Marks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240822569"/>
                  </a:ext>
                </a:extLst>
              </a:tr>
              <a:tr h="153724">
                <a:tc>
                  <a:txBody>
                    <a:bodyPr/>
                    <a:lstStyle/>
                    <a:p>
                      <a:pPr>
                        <a:buNone/>
                      </a:pPr>
                      <a:r>
                        <a:rPr lang="en-US" sz="1400" noProof="0" dirty="0"/>
                        <a:t>A</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buNone/>
                      </a:pPr>
                      <a:r>
                        <a:rPr lang="en-US" sz="1400" noProof="0" dirty="0"/>
                        <a:t>35</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310708819"/>
                  </a:ext>
                </a:extLst>
              </a:tr>
              <a:tr h="153724">
                <a:tc>
                  <a:txBody>
                    <a:bodyPr/>
                    <a:lstStyle/>
                    <a:p>
                      <a:pPr>
                        <a:buNone/>
                      </a:pPr>
                      <a:r>
                        <a:rPr lang="en-US" sz="1400" noProof="0" dirty="0"/>
                        <a:t>B</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buNone/>
                      </a:pPr>
                      <a:r>
                        <a:rPr lang="en-US" sz="1400" noProof="0" dirty="0"/>
                        <a:t>38</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4237047056"/>
                  </a:ext>
                </a:extLst>
              </a:tr>
              <a:tr h="153724">
                <a:tc>
                  <a:txBody>
                    <a:bodyPr/>
                    <a:lstStyle/>
                    <a:p>
                      <a:pPr>
                        <a:buNone/>
                      </a:pPr>
                      <a:r>
                        <a:rPr lang="en-US" sz="1400" noProof="0" dirty="0"/>
                        <a:t>C</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buNone/>
                      </a:pPr>
                      <a:r>
                        <a:rPr lang="en-US" sz="1400" noProof="0" dirty="0"/>
                        <a:t>40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558256064"/>
                  </a:ext>
                </a:extLst>
              </a:tr>
              <a:tr h="153724">
                <a:tc>
                  <a:txBody>
                    <a:bodyPr/>
                    <a:lstStyle/>
                    <a:p>
                      <a:pPr>
                        <a:buNone/>
                      </a:pPr>
                      <a:r>
                        <a:rPr lang="en-US" sz="1400" noProof="0" dirty="0"/>
                        <a:t>D</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buNone/>
                      </a:pPr>
                      <a:r>
                        <a:rPr lang="en-US" sz="1400" noProof="0" dirty="0"/>
                        <a:t>75</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56616859"/>
                  </a:ext>
                </a:extLst>
              </a:tr>
              <a:tr h="153724">
                <a:tc>
                  <a:txBody>
                    <a:bodyPr/>
                    <a:lstStyle/>
                    <a:p>
                      <a:pPr>
                        <a:buNone/>
                      </a:pPr>
                      <a:r>
                        <a:rPr lang="en-US" sz="1400" noProof="0" dirty="0"/>
                        <a:t>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buNone/>
                      </a:pPr>
                      <a:r>
                        <a:rPr lang="en-US" sz="1400" noProof="0" dirty="0"/>
                        <a:t>78</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269964916"/>
                  </a:ext>
                </a:extLst>
              </a:tr>
              <a:tr h="153724">
                <a:tc>
                  <a:txBody>
                    <a:bodyPr/>
                    <a:lstStyle/>
                    <a:p>
                      <a:pPr>
                        <a:buNone/>
                      </a:pPr>
                      <a:r>
                        <a:rPr lang="en-US" sz="1400" noProof="0" dirty="0"/>
                        <a:t>F</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buNone/>
                      </a:pPr>
                      <a:r>
                        <a:rPr lang="en-US" sz="1400" noProof="0" dirty="0"/>
                        <a:t>82</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075334568"/>
                  </a:ext>
                </a:extLst>
              </a:tr>
            </a:tbl>
          </a:graphicData>
        </a:graphic>
      </p:graphicFrame>
      <p:sp>
        <p:nvSpPr>
          <p:cNvPr id="4" name="TextBox 3">
            <a:extLst>
              <a:ext uri="{FF2B5EF4-FFF2-40B4-BE49-F238E27FC236}">
                <a16:creationId xmlns:a16="http://schemas.microsoft.com/office/drawing/2014/main" id="{7CCA9645-BC83-9109-1FB9-6F7A74471D1D}"/>
              </a:ext>
            </a:extLst>
          </p:cNvPr>
          <p:cNvSpPr txBox="1"/>
          <p:nvPr/>
        </p:nvSpPr>
        <p:spPr>
          <a:xfrm>
            <a:off x="174503" y="1086961"/>
            <a:ext cx="3748342" cy="1169551"/>
          </a:xfrm>
          <a:prstGeom prst="rect">
            <a:avLst/>
          </a:prstGeom>
          <a:solidFill>
            <a:schemeClr val="accent4">
              <a:lumMod val="40000"/>
              <a:lumOff val="60000"/>
            </a:schemeClr>
          </a:solidFill>
        </p:spPr>
        <p:txBody>
          <a:bodyPr wrap="square" rtlCol="0">
            <a:spAutoFit/>
          </a:bodyPr>
          <a:lstStyle/>
          <a:p>
            <a:r>
              <a:rPr lang="en-US" sz="1400" b="1" noProof="0" dirty="0"/>
              <a:t>K-Means</a:t>
            </a:r>
            <a:r>
              <a:rPr lang="en-US" sz="1400" noProof="0" dirty="0"/>
              <a:t> = Grouping similar data points together</a:t>
            </a:r>
          </a:p>
          <a:p>
            <a:r>
              <a:rPr lang="en-US" sz="1400" b="1" noProof="0" dirty="0"/>
              <a:t>K</a:t>
            </a:r>
            <a:r>
              <a:rPr lang="en-US" sz="1400" noProof="0" dirty="0"/>
              <a:t> = Number of groups (clusters)</a:t>
            </a:r>
          </a:p>
          <a:p>
            <a:r>
              <a:rPr lang="en-US" sz="1400" b="1" noProof="0" dirty="0"/>
              <a:t>Means</a:t>
            </a:r>
            <a:r>
              <a:rPr lang="en-US" sz="1400" noProof="0" dirty="0"/>
              <a:t> = Center of each group</a:t>
            </a:r>
          </a:p>
          <a:p>
            <a:r>
              <a:rPr lang="en-US" sz="1400" noProof="0" dirty="0"/>
              <a:t>Used when no labels are available, i.e. </a:t>
            </a:r>
            <a:r>
              <a:rPr lang="en-US" sz="1400" b="1" noProof="0" dirty="0"/>
              <a:t>Unsupervised learning</a:t>
            </a:r>
          </a:p>
        </p:txBody>
      </p:sp>
      <p:sp>
        <p:nvSpPr>
          <p:cNvPr id="6" name="TextBox 5">
            <a:extLst>
              <a:ext uri="{FF2B5EF4-FFF2-40B4-BE49-F238E27FC236}">
                <a16:creationId xmlns:a16="http://schemas.microsoft.com/office/drawing/2014/main" id="{CF96C241-3FB3-862D-B290-BDCDD29A36EF}"/>
              </a:ext>
            </a:extLst>
          </p:cNvPr>
          <p:cNvSpPr txBox="1"/>
          <p:nvPr/>
        </p:nvSpPr>
        <p:spPr>
          <a:xfrm>
            <a:off x="174504" y="2408153"/>
            <a:ext cx="2693176" cy="338554"/>
          </a:xfrm>
          <a:prstGeom prst="rect">
            <a:avLst/>
          </a:prstGeom>
          <a:solidFill>
            <a:schemeClr val="accent5">
              <a:lumMod val="20000"/>
              <a:lumOff val="80000"/>
            </a:schemeClr>
          </a:solidFill>
        </p:spPr>
        <p:txBody>
          <a:bodyPr wrap="square" rtlCol="0">
            <a:spAutoFit/>
          </a:bodyPr>
          <a:lstStyle/>
          <a:p>
            <a:r>
              <a:rPr lang="en-US" sz="1600" noProof="0" dirty="0"/>
              <a:t>Student data: Make 2 clusters</a:t>
            </a:r>
          </a:p>
        </p:txBody>
      </p:sp>
      <p:graphicFrame>
        <p:nvGraphicFramePr>
          <p:cNvPr id="7" name="Table 6">
            <a:extLst>
              <a:ext uri="{FF2B5EF4-FFF2-40B4-BE49-F238E27FC236}">
                <a16:creationId xmlns:a16="http://schemas.microsoft.com/office/drawing/2014/main" id="{05FE1251-CB8D-701B-0E41-8573C332A3BA}"/>
              </a:ext>
            </a:extLst>
          </p:cNvPr>
          <p:cNvGraphicFramePr>
            <a:graphicFrameLocks noGrp="1"/>
          </p:cNvGraphicFramePr>
          <p:nvPr>
            <p:extLst>
              <p:ext uri="{D42A27DB-BD31-4B8C-83A1-F6EECF244321}">
                <p14:modId xmlns:p14="http://schemas.microsoft.com/office/powerpoint/2010/main" val="1127287017"/>
              </p:ext>
            </p:extLst>
          </p:nvPr>
        </p:nvGraphicFramePr>
        <p:xfrm>
          <a:off x="4101324" y="120820"/>
          <a:ext cx="5566188" cy="2682240"/>
        </p:xfrm>
        <a:graphic>
          <a:graphicData uri="http://schemas.openxmlformats.org/drawingml/2006/table">
            <a:tbl>
              <a:tblPr firstRow="1" bandRow="1">
                <a:tableStyleId>{912C8C85-51F0-491E-9774-3900AFEF0FD7}</a:tableStyleId>
              </a:tblPr>
              <a:tblGrid>
                <a:gridCol w="571729">
                  <a:extLst>
                    <a:ext uri="{9D8B030D-6E8A-4147-A177-3AD203B41FA5}">
                      <a16:colId xmlns:a16="http://schemas.microsoft.com/office/drawing/2014/main" val="3224827542"/>
                    </a:ext>
                  </a:extLst>
                </a:gridCol>
                <a:gridCol w="2246128">
                  <a:extLst>
                    <a:ext uri="{9D8B030D-6E8A-4147-A177-3AD203B41FA5}">
                      <a16:colId xmlns:a16="http://schemas.microsoft.com/office/drawing/2014/main" val="2380185986"/>
                    </a:ext>
                  </a:extLst>
                </a:gridCol>
                <a:gridCol w="2748331">
                  <a:extLst>
                    <a:ext uri="{9D8B030D-6E8A-4147-A177-3AD203B41FA5}">
                      <a16:colId xmlns:a16="http://schemas.microsoft.com/office/drawing/2014/main" val="53505073"/>
                    </a:ext>
                  </a:extLst>
                </a:gridCol>
              </a:tblGrid>
              <a:tr h="280935">
                <a:tc>
                  <a:txBody>
                    <a:bodyPr/>
                    <a:lstStyle/>
                    <a:p>
                      <a:r>
                        <a:rPr lang="en-US" sz="1400" noProof="0" dirty="0"/>
                        <a:t>Step</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400" noProof="0" dirty="0"/>
                        <a:t>Action</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400" noProof="0" dirty="0"/>
                        <a:t>Our example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827596000"/>
                  </a:ext>
                </a:extLst>
              </a:tr>
              <a:tr h="280935">
                <a:tc>
                  <a:txBody>
                    <a:bodyPr/>
                    <a:lstStyle/>
                    <a:p>
                      <a:r>
                        <a:rPr lang="en-US" sz="1400" noProof="0" dirty="0"/>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400" noProof="0" dirty="0"/>
                        <a:t>Choose K</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400" noProof="0" dirty="0"/>
                        <a:t>Let K = 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53807096"/>
                  </a:ext>
                </a:extLst>
              </a:tr>
              <a:tr h="392539">
                <a:tc>
                  <a:txBody>
                    <a:bodyPr/>
                    <a:lstStyle/>
                    <a:p>
                      <a:r>
                        <a:rPr lang="en-US" sz="1400" noProof="0" dirty="0"/>
                        <a:t>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400" noProof="0" dirty="0"/>
                        <a:t>Pick 2 random centers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400" noProof="0" dirty="0"/>
                        <a:t>Center 1 = 35, </a:t>
                      </a:r>
                    </a:p>
                    <a:p>
                      <a:r>
                        <a:rPr lang="en-US" sz="1400" noProof="0" dirty="0"/>
                        <a:t>Center 2 = 75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590081185"/>
                  </a:ext>
                </a:extLst>
              </a:tr>
              <a:tr h="392539">
                <a:tc>
                  <a:txBody>
                    <a:bodyPr/>
                    <a:lstStyle/>
                    <a:p>
                      <a:r>
                        <a:rPr lang="en-US" sz="1400" noProof="0" dirty="0"/>
                        <a:t>3</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400" noProof="0" dirty="0"/>
                        <a:t>Assign points to nearest centers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400" noProof="0" dirty="0"/>
                        <a:t>35, 38, 40 -&gt; Cluster 1</a:t>
                      </a:r>
                    </a:p>
                    <a:p>
                      <a:r>
                        <a:rPr lang="en-US" sz="1400" noProof="0" dirty="0"/>
                        <a:t>75, 78, 82 -&gt; Cluster 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813502341"/>
                  </a:ext>
                </a:extLst>
              </a:tr>
              <a:tr h="392539">
                <a:tc>
                  <a:txBody>
                    <a:bodyPr/>
                    <a:lstStyle/>
                    <a:p>
                      <a:r>
                        <a:rPr lang="en-US" sz="1400" noProof="0" dirty="0"/>
                        <a:t>4</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400" noProof="0" dirty="0"/>
                        <a:t>Recalculate centers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400" noProof="0" dirty="0"/>
                        <a:t>New Center 1 ≈ 38</a:t>
                      </a:r>
                    </a:p>
                    <a:p>
                      <a:r>
                        <a:rPr lang="en-US" sz="1400" noProof="0" dirty="0"/>
                        <a:t>New Center 2 ≈ 78</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99937765"/>
                  </a:ext>
                </a:extLst>
              </a:tr>
              <a:tr h="392539">
                <a:tc>
                  <a:txBody>
                    <a:bodyPr/>
                    <a:lstStyle/>
                    <a:p>
                      <a:r>
                        <a:rPr lang="en-US" sz="1400" noProof="0" dirty="0"/>
                        <a:t>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400" noProof="0" dirty="0"/>
                        <a:t>Repeat and stop when clusters do not change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400" noProof="0" dirty="0"/>
                        <a:t>NA</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749385012"/>
                  </a:ext>
                </a:extLst>
              </a:tr>
            </a:tbl>
          </a:graphicData>
        </a:graphic>
      </p:graphicFrame>
      <p:sp>
        <p:nvSpPr>
          <p:cNvPr id="8" name="Arrow: Up 7">
            <a:extLst>
              <a:ext uri="{FF2B5EF4-FFF2-40B4-BE49-F238E27FC236}">
                <a16:creationId xmlns:a16="http://schemas.microsoft.com/office/drawing/2014/main" id="{CB75DFAE-608E-916A-54BC-0FB7F7E2FA33}"/>
              </a:ext>
            </a:extLst>
          </p:cNvPr>
          <p:cNvSpPr/>
          <p:nvPr/>
        </p:nvSpPr>
        <p:spPr>
          <a:xfrm rot="5400000">
            <a:off x="9798679" y="1300239"/>
            <a:ext cx="502571" cy="425790"/>
          </a:xfrm>
          <a:prstGeom prst="upArrow">
            <a:avLst/>
          </a:prstGeom>
          <a:solidFill>
            <a:schemeClr val="accent2">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9" name="TextBox 8">
            <a:extLst>
              <a:ext uri="{FF2B5EF4-FFF2-40B4-BE49-F238E27FC236}">
                <a16:creationId xmlns:a16="http://schemas.microsoft.com/office/drawing/2014/main" id="{8504CE9F-DFE5-01C3-D3FC-ECFA7909E1AD}"/>
              </a:ext>
            </a:extLst>
          </p:cNvPr>
          <p:cNvSpPr txBox="1"/>
          <p:nvPr/>
        </p:nvSpPr>
        <p:spPr>
          <a:xfrm>
            <a:off x="10349240" y="928359"/>
            <a:ext cx="1668257" cy="1169551"/>
          </a:xfrm>
          <a:prstGeom prst="rect">
            <a:avLst/>
          </a:prstGeom>
          <a:solidFill>
            <a:schemeClr val="accent6"/>
          </a:solidFill>
        </p:spPr>
        <p:txBody>
          <a:bodyPr wrap="square" rtlCol="0">
            <a:spAutoFit/>
          </a:bodyPr>
          <a:lstStyle/>
          <a:p>
            <a:pPr algn="ctr"/>
            <a:r>
              <a:rPr lang="en-US" sz="1400" noProof="0" dirty="0"/>
              <a:t>Final result: </a:t>
            </a:r>
          </a:p>
          <a:p>
            <a:pPr marL="342900" indent="-342900" algn="ctr">
              <a:buAutoNum type="arabicParenBoth"/>
            </a:pPr>
            <a:r>
              <a:rPr lang="en-US" sz="1400" noProof="0" dirty="0"/>
              <a:t>Low scores cluster and </a:t>
            </a:r>
          </a:p>
          <a:p>
            <a:pPr marL="342900" indent="-342900" algn="ctr">
              <a:buAutoNum type="arabicParenBoth"/>
            </a:pPr>
            <a:r>
              <a:rPr lang="en-US" sz="1400" noProof="0" dirty="0"/>
              <a:t>High scores cluster</a:t>
            </a:r>
          </a:p>
        </p:txBody>
      </p:sp>
      <p:graphicFrame>
        <p:nvGraphicFramePr>
          <p:cNvPr id="11" name="Table 10">
            <a:extLst>
              <a:ext uri="{FF2B5EF4-FFF2-40B4-BE49-F238E27FC236}">
                <a16:creationId xmlns:a16="http://schemas.microsoft.com/office/drawing/2014/main" id="{A8ACE88B-B161-DDE9-D8E0-687862BAC8AE}"/>
              </a:ext>
            </a:extLst>
          </p:cNvPr>
          <p:cNvGraphicFramePr>
            <a:graphicFrameLocks noGrp="1"/>
          </p:cNvGraphicFramePr>
          <p:nvPr>
            <p:extLst>
              <p:ext uri="{D42A27DB-BD31-4B8C-83A1-F6EECF244321}">
                <p14:modId xmlns:p14="http://schemas.microsoft.com/office/powerpoint/2010/main" val="1988583223"/>
              </p:ext>
            </p:extLst>
          </p:nvPr>
        </p:nvGraphicFramePr>
        <p:xfrm>
          <a:off x="3315573" y="3510291"/>
          <a:ext cx="1926522" cy="1920240"/>
        </p:xfrm>
        <a:graphic>
          <a:graphicData uri="http://schemas.openxmlformats.org/drawingml/2006/table">
            <a:tbl>
              <a:tblPr firstRow="1">
                <a:tableStyleId>{7E9639D4-E3E2-4D34-9284-5A2195B3D0D7}</a:tableStyleId>
              </a:tblPr>
              <a:tblGrid>
                <a:gridCol w="605008">
                  <a:extLst>
                    <a:ext uri="{9D8B030D-6E8A-4147-A177-3AD203B41FA5}">
                      <a16:colId xmlns:a16="http://schemas.microsoft.com/office/drawing/2014/main" val="2819539552"/>
                    </a:ext>
                  </a:extLst>
                </a:gridCol>
                <a:gridCol w="1321514">
                  <a:extLst>
                    <a:ext uri="{9D8B030D-6E8A-4147-A177-3AD203B41FA5}">
                      <a16:colId xmlns:a16="http://schemas.microsoft.com/office/drawing/2014/main" val="101988369"/>
                    </a:ext>
                  </a:extLst>
                </a:gridCol>
              </a:tblGrid>
              <a:tr h="203089">
                <a:tc>
                  <a:txBody>
                    <a:bodyPr/>
                    <a:lstStyle/>
                    <a:p>
                      <a:pPr>
                        <a:buNone/>
                      </a:pPr>
                      <a:r>
                        <a:rPr lang="en-US" sz="1200" noProof="0" dirty="0"/>
                        <a:t>Marks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US" sz="1200" noProof="0" dirty="0"/>
                        <a:t>Far from center?</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94159930"/>
                  </a:ext>
                </a:extLst>
              </a:tr>
              <a:tr h="203089">
                <a:tc>
                  <a:txBody>
                    <a:bodyPr/>
                    <a:lstStyle/>
                    <a:p>
                      <a:pPr>
                        <a:buNone/>
                      </a:pPr>
                      <a:r>
                        <a:rPr lang="en-US" sz="1200" noProof="0" dirty="0"/>
                        <a:t>35</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US" sz="1200" noProof="0" dirty="0"/>
                        <a:t>very far</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879839080"/>
                  </a:ext>
                </a:extLst>
              </a:tr>
              <a:tr h="203089">
                <a:tc>
                  <a:txBody>
                    <a:bodyPr/>
                    <a:lstStyle/>
                    <a:p>
                      <a:pPr>
                        <a:buNone/>
                      </a:pPr>
                      <a:r>
                        <a:rPr lang="en-US" sz="1200" noProof="0" dirty="0"/>
                        <a:t>38</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US" sz="1200" noProof="0" dirty="0"/>
                        <a:t>far</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420620501"/>
                  </a:ext>
                </a:extLst>
              </a:tr>
              <a:tr h="203089">
                <a:tc>
                  <a:txBody>
                    <a:bodyPr/>
                    <a:lstStyle/>
                    <a:p>
                      <a:pPr>
                        <a:buNone/>
                      </a:pPr>
                      <a:r>
                        <a:rPr lang="en-US" sz="1200" noProof="0" dirty="0"/>
                        <a:t>40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US" sz="1200" noProof="0" dirty="0"/>
                        <a:t>far</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154133116"/>
                  </a:ext>
                </a:extLst>
              </a:tr>
              <a:tr h="203089">
                <a:tc>
                  <a:txBody>
                    <a:bodyPr/>
                    <a:lstStyle/>
                    <a:p>
                      <a:pPr>
                        <a:buNone/>
                      </a:pPr>
                      <a:r>
                        <a:rPr lang="en-US" sz="1200" noProof="0" dirty="0"/>
                        <a:t>75</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US" sz="1200" noProof="0" dirty="0"/>
                        <a:t>far</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93845385"/>
                  </a:ext>
                </a:extLst>
              </a:tr>
              <a:tr h="203089">
                <a:tc>
                  <a:txBody>
                    <a:bodyPr/>
                    <a:lstStyle/>
                    <a:p>
                      <a:pPr>
                        <a:buNone/>
                      </a:pPr>
                      <a:r>
                        <a:rPr lang="en-US" sz="1200" noProof="0" dirty="0"/>
                        <a:t>78</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US" sz="1200" noProof="0" dirty="0"/>
                        <a:t>far</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586383940"/>
                  </a:ext>
                </a:extLst>
              </a:tr>
              <a:tr h="203089">
                <a:tc>
                  <a:txBody>
                    <a:bodyPr/>
                    <a:lstStyle/>
                    <a:p>
                      <a:pPr>
                        <a:buNone/>
                      </a:pPr>
                      <a:r>
                        <a:rPr lang="en-US" sz="1200" noProof="0" dirty="0"/>
                        <a:t>82</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US" sz="1200" noProof="0" dirty="0"/>
                        <a:t>far</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54260809"/>
                  </a:ext>
                </a:extLst>
              </a:tr>
            </a:tbl>
          </a:graphicData>
        </a:graphic>
      </p:graphicFrame>
      <p:sp>
        <p:nvSpPr>
          <p:cNvPr id="12" name="TextBox 11">
            <a:extLst>
              <a:ext uri="{FF2B5EF4-FFF2-40B4-BE49-F238E27FC236}">
                <a16:creationId xmlns:a16="http://schemas.microsoft.com/office/drawing/2014/main" id="{24B5F2EE-5DD6-4106-221B-9D8D64B95309}"/>
              </a:ext>
            </a:extLst>
          </p:cNvPr>
          <p:cNvSpPr txBox="1"/>
          <p:nvPr/>
        </p:nvSpPr>
        <p:spPr>
          <a:xfrm>
            <a:off x="3315573" y="3090446"/>
            <a:ext cx="1926522" cy="338554"/>
          </a:xfrm>
          <a:prstGeom prst="rect">
            <a:avLst/>
          </a:prstGeom>
          <a:solidFill>
            <a:schemeClr val="bg2">
              <a:lumMod val="90000"/>
            </a:schemeClr>
          </a:solidFill>
        </p:spPr>
        <p:txBody>
          <a:bodyPr wrap="square" rtlCol="0">
            <a:spAutoFit/>
          </a:bodyPr>
          <a:lstStyle/>
          <a:p>
            <a:pPr algn="ctr"/>
            <a:r>
              <a:rPr lang="en-US" sz="1600" noProof="0" dirty="0"/>
              <a:t>K = 1, Center = 58</a:t>
            </a:r>
          </a:p>
        </p:txBody>
      </p:sp>
      <p:sp>
        <p:nvSpPr>
          <p:cNvPr id="13" name="TextBox 12">
            <a:extLst>
              <a:ext uri="{FF2B5EF4-FFF2-40B4-BE49-F238E27FC236}">
                <a16:creationId xmlns:a16="http://schemas.microsoft.com/office/drawing/2014/main" id="{56EC6D72-F337-953F-45A0-19812230CFDD}"/>
              </a:ext>
            </a:extLst>
          </p:cNvPr>
          <p:cNvSpPr txBox="1"/>
          <p:nvPr/>
        </p:nvSpPr>
        <p:spPr>
          <a:xfrm>
            <a:off x="3315573" y="5511822"/>
            <a:ext cx="1926522" cy="584775"/>
          </a:xfrm>
          <a:prstGeom prst="rect">
            <a:avLst/>
          </a:prstGeom>
          <a:solidFill>
            <a:schemeClr val="bg2">
              <a:lumMod val="90000"/>
            </a:schemeClr>
          </a:solidFill>
        </p:spPr>
        <p:txBody>
          <a:bodyPr wrap="square" rtlCol="0">
            <a:spAutoFit/>
          </a:bodyPr>
          <a:lstStyle/>
          <a:p>
            <a:pPr algn="ctr"/>
            <a:r>
              <a:rPr lang="en-US" sz="1600" noProof="0" dirty="0">
                <a:solidFill>
                  <a:srgbClr val="FF0000"/>
                </a:solidFill>
              </a:rPr>
              <a:t>Very bad grouping</a:t>
            </a:r>
          </a:p>
          <a:p>
            <a:pPr algn="ctr"/>
            <a:r>
              <a:rPr lang="en-US" sz="1600" noProof="0" dirty="0">
                <a:solidFill>
                  <a:srgbClr val="FF0000"/>
                </a:solidFill>
              </a:rPr>
              <a:t>Very high error</a:t>
            </a:r>
          </a:p>
        </p:txBody>
      </p:sp>
      <p:sp>
        <p:nvSpPr>
          <p:cNvPr id="14" name="TextBox 13">
            <a:extLst>
              <a:ext uri="{FF2B5EF4-FFF2-40B4-BE49-F238E27FC236}">
                <a16:creationId xmlns:a16="http://schemas.microsoft.com/office/drawing/2014/main" id="{B924CB65-F64F-3029-208E-A1769E51B9A8}"/>
              </a:ext>
            </a:extLst>
          </p:cNvPr>
          <p:cNvSpPr txBox="1"/>
          <p:nvPr/>
        </p:nvSpPr>
        <p:spPr>
          <a:xfrm>
            <a:off x="5310734" y="3090446"/>
            <a:ext cx="1926522" cy="338554"/>
          </a:xfrm>
          <a:prstGeom prst="rect">
            <a:avLst/>
          </a:prstGeom>
          <a:solidFill>
            <a:schemeClr val="bg2">
              <a:lumMod val="90000"/>
            </a:schemeClr>
          </a:solidFill>
        </p:spPr>
        <p:txBody>
          <a:bodyPr wrap="square" rtlCol="0">
            <a:spAutoFit/>
          </a:bodyPr>
          <a:lstStyle/>
          <a:p>
            <a:pPr algn="ctr"/>
            <a:r>
              <a:rPr lang="en-US" sz="1600" noProof="0" dirty="0"/>
              <a:t>K = 2 (2 groups)</a:t>
            </a:r>
          </a:p>
        </p:txBody>
      </p:sp>
      <p:graphicFrame>
        <p:nvGraphicFramePr>
          <p:cNvPr id="15" name="Table 14">
            <a:extLst>
              <a:ext uri="{FF2B5EF4-FFF2-40B4-BE49-F238E27FC236}">
                <a16:creationId xmlns:a16="http://schemas.microsoft.com/office/drawing/2014/main" id="{8AEE772E-28A2-2EF7-0201-FF2BD777480C}"/>
              </a:ext>
            </a:extLst>
          </p:cNvPr>
          <p:cNvGraphicFramePr>
            <a:graphicFrameLocks noGrp="1"/>
          </p:cNvGraphicFramePr>
          <p:nvPr>
            <p:extLst>
              <p:ext uri="{D42A27DB-BD31-4B8C-83A1-F6EECF244321}">
                <p14:modId xmlns:p14="http://schemas.microsoft.com/office/powerpoint/2010/main" val="4215360044"/>
              </p:ext>
            </p:extLst>
          </p:nvPr>
        </p:nvGraphicFramePr>
        <p:xfrm>
          <a:off x="5325855" y="3503311"/>
          <a:ext cx="1926522" cy="1188720"/>
        </p:xfrm>
        <a:graphic>
          <a:graphicData uri="http://schemas.openxmlformats.org/drawingml/2006/table">
            <a:tbl>
              <a:tblPr firstRow="1">
                <a:tableStyleId>{7E9639D4-E3E2-4D34-9284-5A2195B3D0D7}</a:tableStyleId>
              </a:tblPr>
              <a:tblGrid>
                <a:gridCol w="677076">
                  <a:extLst>
                    <a:ext uri="{9D8B030D-6E8A-4147-A177-3AD203B41FA5}">
                      <a16:colId xmlns:a16="http://schemas.microsoft.com/office/drawing/2014/main" val="2819539552"/>
                    </a:ext>
                  </a:extLst>
                </a:gridCol>
                <a:gridCol w="1249446">
                  <a:extLst>
                    <a:ext uri="{9D8B030D-6E8A-4147-A177-3AD203B41FA5}">
                      <a16:colId xmlns:a16="http://schemas.microsoft.com/office/drawing/2014/main" val="101988369"/>
                    </a:ext>
                  </a:extLst>
                </a:gridCol>
              </a:tblGrid>
              <a:tr h="203089">
                <a:tc>
                  <a:txBody>
                    <a:bodyPr/>
                    <a:lstStyle/>
                    <a:p>
                      <a:pPr>
                        <a:buNone/>
                      </a:pPr>
                      <a:r>
                        <a:rPr lang="en-US" sz="1200" noProof="0" dirty="0"/>
                        <a:t>Cluster</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US" sz="1200" noProof="0" dirty="0"/>
                        <a:t>Marks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94159930"/>
                  </a:ext>
                </a:extLst>
              </a:tr>
              <a:tr h="203089">
                <a:tc>
                  <a:txBody>
                    <a:bodyPr/>
                    <a:lstStyle/>
                    <a:p>
                      <a:pPr>
                        <a:buNone/>
                      </a:pPr>
                      <a:r>
                        <a:rPr lang="en-US" sz="1200" noProof="0" dirty="0"/>
                        <a:t>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US" sz="1200" noProof="0" dirty="0"/>
                        <a:t>35, 38, 40 (Center = 38)</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879839080"/>
                  </a:ext>
                </a:extLst>
              </a:tr>
              <a:tr h="203089">
                <a:tc>
                  <a:txBody>
                    <a:bodyPr/>
                    <a:lstStyle/>
                    <a:p>
                      <a:pPr>
                        <a:buNone/>
                      </a:pPr>
                      <a:r>
                        <a:rPr lang="en-US" sz="1200" noProof="0" dirty="0"/>
                        <a:t>2</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US" sz="1200" noProof="0" dirty="0"/>
                        <a:t>75, 78, 82 (Center = 78)</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420620501"/>
                  </a:ext>
                </a:extLst>
              </a:tr>
            </a:tbl>
          </a:graphicData>
        </a:graphic>
      </p:graphicFrame>
      <p:graphicFrame>
        <p:nvGraphicFramePr>
          <p:cNvPr id="16" name="Table 15">
            <a:extLst>
              <a:ext uri="{FF2B5EF4-FFF2-40B4-BE49-F238E27FC236}">
                <a16:creationId xmlns:a16="http://schemas.microsoft.com/office/drawing/2014/main" id="{2387F385-08FA-0229-2FA4-CA9F05399181}"/>
              </a:ext>
            </a:extLst>
          </p:cNvPr>
          <p:cNvGraphicFramePr>
            <a:graphicFrameLocks noGrp="1"/>
          </p:cNvGraphicFramePr>
          <p:nvPr>
            <p:extLst>
              <p:ext uri="{D42A27DB-BD31-4B8C-83A1-F6EECF244321}">
                <p14:modId xmlns:p14="http://schemas.microsoft.com/office/powerpoint/2010/main" val="992985150"/>
              </p:ext>
            </p:extLst>
          </p:nvPr>
        </p:nvGraphicFramePr>
        <p:xfrm>
          <a:off x="5325855" y="4761107"/>
          <a:ext cx="1926522" cy="1188720"/>
        </p:xfrm>
        <a:graphic>
          <a:graphicData uri="http://schemas.openxmlformats.org/drawingml/2006/table">
            <a:tbl>
              <a:tblPr firstRow="1">
                <a:tableStyleId>{8FD4443E-F989-4FC4-A0C8-D5A2AF1F390B}</a:tableStyleId>
              </a:tblPr>
              <a:tblGrid>
                <a:gridCol w="963261">
                  <a:extLst>
                    <a:ext uri="{9D8B030D-6E8A-4147-A177-3AD203B41FA5}">
                      <a16:colId xmlns:a16="http://schemas.microsoft.com/office/drawing/2014/main" val="1959647254"/>
                    </a:ext>
                  </a:extLst>
                </a:gridCol>
                <a:gridCol w="963261">
                  <a:extLst>
                    <a:ext uri="{9D8B030D-6E8A-4147-A177-3AD203B41FA5}">
                      <a16:colId xmlns:a16="http://schemas.microsoft.com/office/drawing/2014/main" val="4113927373"/>
                    </a:ext>
                  </a:extLst>
                </a:gridCol>
              </a:tblGrid>
              <a:tr h="0">
                <a:tc>
                  <a:txBody>
                    <a:bodyPr/>
                    <a:lstStyle/>
                    <a:p>
                      <a:pPr>
                        <a:buNone/>
                      </a:pPr>
                      <a:r>
                        <a:rPr lang="en-US" sz="1200" noProof="0" dirty="0"/>
                        <a:t>Cluster</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US" sz="1200" noProof="0" dirty="0"/>
                        <a:t>Are points close to center?</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31727199"/>
                  </a:ext>
                </a:extLst>
              </a:tr>
              <a:tr h="0">
                <a:tc>
                  <a:txBody>
                    <a:bodyPr/>
                    <a:lstStyle/>
                    <a:p>
                      <a:pPr>
                        <a:buNone/>
                      </a:pPr>
                      <a:r>
                        <a:rPr lang="en-US" sz="1200" noProof="0" dirty="0"/>
                        <a:t>Low marks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US" sz="1200" noProof="0" dirty="0"/>
                        <a:t>YES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434869840"/>
                  </a:ext>
                </a:extLst>
              </a:tr>
              <a:tr h="0">
                <a:tc>
                  <a:txBody>
                    <a:bodyPr/>
                    <a:lstStyle/>
                    <a:p>
                      <a:pPr>
                        <a:buNone/>
                      </a:pPr>
                      <a:r>
                        <a:rPr lang="en-US" sz="1200" noProof="0" dirty="0"/>
                        <a:t>High marks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US" sz="1200" noProof="0" dirty="0"/>
                        <a:t>YES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238327533"/>
                  </a:ext>
                </a:extLst>
              </a:tr>
            </a:tbl>
          </a:graphicData>
        </a:graphic>
      </p:graphicFrame>
      <p:sp>
        <p:nvSpPr>
          <p:cNvPr id="17" name="TextBox 16">
            <a:extLst>
              <a:ext uri="{FF2B5EF4-FFF2-40B4-BE49-F238E27FC236}">
                <a16:creationId xmlns:a16="http://schemas.microsoft.com/office/drawing/2014/main" id="{E650301C-9B2F-3EC6-C266-152C74DCDA23}"/>
              </a:ext>
            </a:extLst>
          </p:cNvPr>
          <p:cNvSpPr txBox="1"/>
          <p:nvPr/>
        </p:nvSpPr>
        <p:spPr>
          <a:xfrm>
            <a:off x="5325855" y="6018903"/>
            <a:ext cx="1926522" cy="584775"/>
          </a:xfrm>
          <a:prstGeom prst="rect">
            <a:avLst/>
          </a:prstGeom>
          <a:solidFill>
            <a:schemeClr val="bg2">
              <a:lumMod val="90000"/>
            </a:schemeClr>
          </a:solidFill>
        </p:spPr>
        <p:txBody>
          <a:bodyPr wrap="square" rtlCol="0">
            <a:spAutoFit/>
          </a:bodyPr>
          <a:lstStyle/>
          <a:p>
            <a:pPr algn="ctr"/>
            <a:r>
              <a:rPr lang="en-US" sz="1600" noProof="0" dirty="0">
                <a:solidFill>
                  <a:srgbClr val="FF0000"/>
                </a:solidFill>
              </a:rPr>
              <a:t>Huge improvement – Error drops a lot</a:t>
            </a:r>
          </a:p>
        </p:txBody>
      </p:sp>
      <p:sp>
        <p:nvSpPr>
          <p:cNvPr id="18" name="TextBox 17">
            <a:extLst>
              <a:ext uri="{FF2B5EF4-FFF2-40B4-BE49-F238E27FC236}">
                <a16:creationId xmlns:a16="http://schemas.microsoft.com/office/drawing/2014/main" id="{684CDF3D-7755-9C46-29B0-3474A0AB019F}"/>
              </a:ext>
            </a:extLst>
          </p:cNvPr>
          <p:cNvSpPr txBox="1"/>
          <p:nvPr/>
        </p:nvSpPr>
        <p:spPr>
          <a:xfrm>
            <a:off x="7305895" y="3083458"/>
            <a:ext cx="1926522" cy="338554"/>
          </a:xfrm>
          <a:prstGeom prst="rect">
            <a:avLst/>
          </a:prstGeom>
          <a:solidFill>
            <a:schemeClr val="bg2">
              <a:lumMod val="90000"/>
            </a:schemeClr>
          </a:solidFill>
        </p:spPr>
        <p:txBody>
          <a:bodyPr wrap="square" rtlCol="0">
            <a:spAutoFit/>
          </a:bodyPr>
          <a:lstStyle/>
          <a:p>
            <a:pPr algn="ctr"/>
            <a:r>
              <a:rPr lang="en-US" sz="1600" noProof="0" dirty="0"/>
              <a:t>K = 3 (3 groups)</a:t>
            </a:r>
          </a:p>
        </p:txBody>
      </p:sp>
      <p:graphicFrame>
        <p:nvGraphicFramePr>
          <p:cNvPr id="19" name="Table 18">
            <a:extLst>
              <a:ext uri="{FF2B5EF4-FFF2-40B4-BE49-F238E27FC236}">
                <a16:creationId xmlns:a16="http://schemas.microsoft.com/office/drawing/2014/main" id="{E1FD4B26-CA38-2B7D-B167-84EE3164E26B}"/>
              </a:ext>
            </a:extLst>
          </p:cNvPr>
          <p:cNvGraphicFramePr>
            <a:graphicFrameLocks noGrp="1"/>
          </p:cNvGraphicFramePr>
          <p:nvPr>
            <p:extLst>
              <p:ext uri="{D42A27DB-BD31-4B8C-83A1-F6EECF244321}">
                <p14:modId xmlns:p14="http://schemas.microsoft.com/office/powerpoint/2010/main" val="17962190"/>
              </p:ext>
            </p:extLst>
          </p:nvPr>
        </p:nvGraphicFramePr>
        <p:xfrm>
          <a:off x="7321016" y="3496323"/>
          <a:ext cx="1926522" cy="1645920"/>
        </p:xfrm>
        <a:graphic>
          <a:graphicData uri="http://schemas.openxmlformats.org/drawingml/2006/table">
            <a:tbl>
              <a:tblPr firstRow="1">
                <a:tableStyleId>{7E9639D4-E3E2-4D34-9284-5A2195B3D0D7}</a:tableStyleId>
              </a:tblPr>
              <a:tblGrid>
                <a:gridCol w="677076">
                  <a:extLst>
                    <a:ext uri="{9D8B030D-6E8A-4147-A177-3AD203B41FA5}">
                      <a16:colId xmlns:a16="http://schemas.microsoft.com/office/drawing/2014/main" val="2819539552"/>
                    </a:ext>
                  </a:extLst>
                </a:gridCol>
                <a:gridCol w="1249446">
                  <a:extLst>
                    <a:ext uri="{9D8B030D-6E8A-4147-A177-3AD203B41FA5}">
                      <a16:colId xmlns:a16="http://schemas.microsoft.com/office/drawing/2014/main" val="101988369"/>
                    </a:ext>
                  </a:extLst>
                </a:gridCol>
              </a:tblGrid>
              <a:tr h="203089">
                <a:tc>
                  <a:txBody>
                    <a:bodyPr/>
                    <a:lstStyle/>
                    <a:p>
                      <a:pPr>
                        <a:buNone/>
                      </a:pPr>
                      <a:r>
                        <a:rPr lang="en-US" sz="1200" noProof="0" dirty="0"/>
                        <a:t>Cluster</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US" sz="1200" noProof="0" dirty="0"/>
                        <a:t>Marks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94159930"/>
                  </a:ext>
                </a:extLst>
              </a:tr>
              <a:tr h="203089">
                <a:tc>
                  <a:txBody>
                    <a:bodyPr/>
                    <a:lstStyle/>
                    <a:p>
                      <a:pPr>
                        <a:buNone/>
                      </a:pPr>
                      <a:r>
                        <a:rPr lang="en-US" sz="1200" noProof="0" dirty="0"/>
                        <a:t>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US" sz="1200" noProof="0" dirty="0"/>
                        <a:t>35, 38 </a:t>
                      </a:r>
                    </a:p>
                    <a:p>
                      <a:pPr>
                        <a:buNone/>
                      </a:pPr>
                      <a:r>
                        <a:rPr lang="en-US" sz="1200" noProof="0" dirty="0"/>
                        <a:t>(Center = 36.5)</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879839080"/>
                  </a:ext>
                </a:extLst>
              </a:tr>
              <a:tr h="203089">
                <a:tc>
                  <a:txBody>
                    <a:bodyPr/>
                    <a:lstStyle/>
                    <a:p>
                      <a:pPr>
                        <a:buNone/>
                      </a:pPr>
                      <a:r>
                        <a:rPr lang="en-US" sz="1200" noProof="0" dirty="0"/>
                        <a:t>2</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US" sz="1200" noProof="0" dirty="0"/>
                        <a:t>40</a:t>
                      </a:r>
                    </a:p>
                    <a:p>
                      <a:pPr>
                        <a:buNone/>
                      </a:pPr>
                      <a:r>
                        <a:rPr lang="en-US" sz="1200" noProof="0" dirty="0"/>
                        <a:t>(Center = 40)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420620501"/>
                  </a:ext>
                </a:extLst>
              </a:tr>
              <a:tr h="203089">
                <a:tc>
                  <a:txBody>
                    <a:bodyPr/>
                    <a:lstStyle/>
                    <a:p>
                      <a:pPr>
                        <a:buNone/>
                      </a:pPr>
                      <a:r>
                        <a:rPr lang="en-US" sz="1200" noProof="0" dirty="0"/>
                        <a:t>3</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US" sz="1200" noProof="0" dirty="0"/>
                        <a:t>75, 78, 82</a:t>
                      </a:r>
                    </a:p>
                    <a:p>
                      <a:pPr>
                        <a:buNone/>
                      </a:pPr>
                      <a:r>
                        <a:rPr lang="en-US" sz="1200" noProof="0" dirty="0"/>
                        <a:t>(Center = 78)</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206600728"/>
                  </a:ext>
                </a:extLst>
              </a:tr>
            </a:tbl>
          </a:graphicData>
        </a:graphic>
      </p:graphicFrame>
      <p:sp>
        <p:nvSpPr>
          <p:cNvPr id="20" name="TextBox 19">
            <a:extLst>
              <a:ext uri="{FF2B5EF4-FFF2-40B4-BE49-F238E27FC236}">
                <a16:creationId xmlns:a16="http://schemas.microsoft.com/office/drawing/2014/main" id="{0DC1EE68-9C6E-449C-8E58-FC7EE9B13D7B}"/>
              </a:ext>
            </a:extLst>
          </p:cNvPr>
          <p:cNvSpPr txBox="1"/>
          <p:nvPr/>
        </p:nvSpPr>
        <p:spPr>
          <a:xfrm>
            <a:off x="7321016" y="5250731"/>
            <a:ext cx="1926522" cy="830997"/>
          </a:xfrm>
          <a:prstGeom prst="rect">
            <a:avLst/>
          </a:prstGeom>
          <a:solidFill>
            <a:schemeClr val="bg2">
              <a:lumMod val="90000"/>
            </a:schemeClr>
          </a:solidFill>
        </p:spPr>
        <p:txBody>
          <a:bodyPr wrap="square" rtlCol="0">
            <a:spAutoFit/>
          </a:bodyPr>
          <a:lstStyle/>
          <a:p>
            <a:pPr algn="ctr"/>
            <a:r>
              <a:rPr lang="en-US" sz="1600" noProof="0" dirty="0">
                <a:solidFill>
                  <a:srgbClr val="FF0000"/>
                </a:solidFill>
              </a:rPr>
              <a:t>Only a small improvement – Error drops a little</a:t>
            </a:r>
          </a:p>
        </p:txBody>
      </p:sp>
      <p:sp>
        <p:nvSpPr>
          <p:cNvPr id="21" name="TextBox 20">
            <a:extLst>
              <a:ext uri="{FF2B5EF4-FFF2-40B4-BE49-F238E27FC236}">
                <a16:creationId xmlns:a16="http://schemas.microsoft.com/office/drawing/2014/main" id="{67285A0C-BEDE-21AB-EDAE-EEED3351B22E}"/>
              </a:ext>
            </a:extLst>
          </p:cNvPr>
          <p:cNvSpPr txBox="1"/>
          <p:nvPr/>
        </p:nvSpPr>
        <p:spPr>
          <a:xfrm>
            <a:off x="9299599" y="3069489"/>
            <a:ext cx="1926522" cy="338554"/>
          </a:xfrm>
          <a:prstGeom prst="rect">
            <a:avLst/>
          </a:prstGeom>
          <a:solidFill>
            <a:schemeClr val="bg2">
              <a:lumMod val="90000"/>
            </a:schemeClr>
          </a:solidFill>
        </p:spPr>
        <p:txBody>
          <a:bodyPr wrap="square" rtlCol="0">
            <a:spAutoFit/>
          </a:bodyPr>
          <a:lstStyle/>
          <a:p>
            <a:pPr algn="ctr"/>
            <a:r>
              <a:rPr lang="en-US" sz="1600" noProof="0" dirty="0"/>
              <a:t>K = 4 (4 groups)</a:t>
            </a:r>
          </a:p>
        </p:txBody>
      </p:sp>
      <p:graphicFrame>
        <p:nvGraphicFramePr>
          <p:cNvPr id="22" name="Table 21">
            <a:extLst>
              <a:ext uri="{FF2B5EF4-FFF2-40B4-BE49-F238E27FC236}">
                <a16:creationId xmlns:a16="http://schemas.microsoft.com/office/drawing/2014/main" id="{7B2D3B04-B059-7F9E-1722-F5C683AA9B03}"/>
              </a:ext>
            </a:extLst>
          </p:cNvPr>
          <p:cNvGraphicFramePr>
            <a:graphicFrameLocks noGrp="1"/>
          </p:cNvGraphicFramePr>
          <p:nvPr>
            <p:extLst>
              <p:ext uri="{D42A27DB-BD31-4B8C-83A1-F6EECF244321}">
                <p14:modId xmlns:p14="http://schemas.microsoft.com/office/powerpoint/2010/main" val="2423936759"/>
              </p:ext>
            </p:extLst>
          </p:nvPr>
        </p:nvGraphicFramePr>
        <p:xfrm>
          <a:off x="9314720" y="3482354"/>
          <a:ext cx="1926522" cy="2103120"/>
        </p:xfrm>
        <a:graphic>
          <a:graphicData uri="http://schemas.openxmlformats.org/drawingml/2006/table">
            <a:tbl>
              <a:tblPr firstRow="1">
                <a:tableStyleId>{7E9639D4-E3E2-4D34-9284-5A2195B3D0D7}</a:tableStyleId>
              </a:tblPr>
              <a:tblGrid>
                <a:gridCol w="677076">
                  <a:extLst>
                    <a:ext uri="{9D8B030D-6E8A-4147-A177-3AD203B41FA5}">
                      <a16:colId xmlns:a16="http://schemas.microsoft.com/office/drawing/2014/main" val="2819539552"/>
                    </a:ext>
                  </a:extLst>
                </a:gridCol>
                <a:gridCol w="1249446">
                  <a:extLst>
                    <a:ext uri="{9D8B030D-6E8A-4147-A177-3AD203B41FA5}">
                      <a16:colId xmlns:a16="http://schemas.microsoft.com/office/drawing/2014/main" val="101988369"/>
                    </a:ext>
                  </a:extLst>
                </a:gridCol>
              </a:tblGrid>
              <a:tr h="203089">
                <a:tc>
                  <a:txBody>
                    <a:bodyPr/>
                    <a:lstStyle/>
                    <a:p>
                      <a:pPr>
                        <a:buNone/>
                      </a:pPr>
                      <a:r>
                        <a:rPr lang="en-US" sz="1200" noProof="0" dirty="0"/>
                        <a:t>Cluster</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US" sz="1200" noProof="0" dirty="0"/>
                        <a:t>Marks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94159930"/>
                  </a:ext>
                </a:extLst>
              </a:tr>
              <a:tr h="203089">
                <a:tc>
                  <a:txBody>
                    <a:bodyPr/>
                    <a:lstStyle/>
                    <a:p>
                      <a:pPr>
                        <a:buNone/>
                      </a:pPr>
                      <a:r>
                        <a:rPr lang="en-US" sz="1200" noProof="0" dirty="0"/>
                        <a:t>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US" sz="1200" noProof="0" dirty="0"/>
                        <a:t>35</a:t>
                      </a:r>
                    </a:p>
                    <a:p>
                      <a:pPr>
                        <a:buNone/>
                      </a:pPr>
                      <a:r>
                        <a:rPr lang="en-US" sz="1200" noProof="0" dirty="0"/>
                        <a:t>(Center = 36.5)</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879839080"/>
                  </a:ext>
                </a:extLst>
              </a:tr>
              <a:tr h="203089">
                <a:tc>
                  <a:txBody>
                    <a:bodyPr/>
                    <a:lstStyle/>
                    <a:p>
                      <a:pPr>
                        <a:buNone/>
                      </a:pPr>
                      <a:r>
                        <a:rPr lang="en-US" sz="1200" noProof="0" dirty="0"/>
                        <a:t>2</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US" sz="1200" noProof="0" dirty="0"/>
                        <a:t>38, 40</a:t>
                      </a:r>
                    </a:p>
                    <a:p>
                      <a:pPr>
                        <a:buNone/>
                      </a:pPr>
                      <a:r>
                        <a:rPr lang="en-US" sz="1200" noProof="0" dirty="0"/>
                        <a:t>(Center = 39)</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420620501"/>
                  </a:ext>
                </a:extLst>
              </a:tr>
              <a:tr h="203089">
                <a:tc>
                  <a:txBody>
                    <a:bodyPr/>
                    <a:lstStyle/>
                    <a:p>
                      <a:pPr>
                        <a:buNone/>
                      </a:pPr>
                      <a:r>
                        <a:rPr lang="en-US" sz="1200" noProof="0" dirty="0"/>
                        <a:t>3</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US" sz="1200" noProof="0" dirty="0"/>
                        <a:t>75, 78</a:t>
                      </a:r>
                    </a:p>
                    <a:p>
                      <a:pPr>
                        <a:buNone/>
                      </a:pPr>
                      <a:r>
                        <a:rPr lang="en-US" sz="1200" noProof="0" dirty="0"/>
                        <a:t>(Center = 76.5)</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206600728"/>
                  </a:ext>
                </a:extLst>
              </a:tr>
              <a:tr h="203089">
                <a:tc>
                  <a:txBody>
                    <a:bodyPr/>
                    <a:lstStyle/>
                    <a:p>
                      <a:pPr>
                        <a:buNone/>
                      </a:pPr>
                      <a:r>
                        <a:rPr lang="en-US" sz="1200" noProof="0" dirty="0"/>
                        <a:t>4</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US" sz="1200" noProof="0" dirty="0"/>
                        <a:t>82</a:t>
                      </a:r>
                    </a:p>
                    <a:p>
                      <a:pPr>
                        <a:buNone/>
                      </a:pPr>
                      <a:r>
                        <a:rPr lang="en-US" sz="1200" noProof="0" dirty="0"/>
                        <a:t>(Center = 82)</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780323615"/>
                  </a:ext>
                </a:extLst>
              </a:tr>
            </a:tbl>
          </a:graphicData>
        </a:graphic>
      </p:graphicFrame>
      <p:sp>
        <p:nvSpPr>
          <p:cNvPr id="23" name="TextBox 22">
            <a:extLst>
              <a:ext uri="{FF2B5EF4-FFF2-40B4-BE49-F238E27FC236}">
                <a16:creationId xmlns:a16="http://schemas.microsoft.com/office/drawing/2014/main" id="{139300AB-E303-4A00-F6B8-A9BA0F2CA21D}"/>
              </a:ext>
            </a:extLst>
          </p:cNvPr>
          <p:cNvSpPr txBox="1"/>
          <p:nvPr/>
        </p:nvSpPr>
        <p:spPr>
          <a:xfrm>
            <a:off x="9331298" y="5666229"/>
            <a:ext cx="1926522" cy="584775"/>
          </a:xfrm>
          <a:prstGeom prst="rect">
            <a:avLst/>
          </a:prstGeom>
          <a:solidFill>
            <a:schemeClr val="bg2">
              <a:lumMod val="90000"/>
            </a:schemeClr>
          </a:solidFill>
        </p:spPr>
        <p:txBody>
          <a:bodyPr wrap="square" rtlCol="0">
            <a:spAutoFit/>
          </a:bodyPr>
          <a:lstStyle/>
          <a:p>
            <a:pPr algn="ctr"/>
            <a:r>
              <a:rPr lang="en-US" sz="1600" noProof="0" dirty="0">
                <a:solidFill>
                  <a:srgbClr val="FF0000"/>
                </a:solidFill>
              </a:rPr>
              <a:t>No real improvement</a:t>
            </a:r>
          </a:p>
        </p:txBody>
      </p:sp>
      <p:graphicFrame>
        <p:nvGraphicFramePr>
          <p:cNvPr id="24" name="Table 23">
            <a:extLst>
              <a:ext uri="{FF2B5EF4-FFF2-40B4-BE49-F238E27FC236}">
                <a16:creationId xmlns:a16="http://schemas.microsoft.com/office/drawing/2014/main" id="{E7730BA9-8DA2-2936-7B27-82A35994B537}"/>
              </a:ext>
            </a:extLst>
          </p:cNvPr>
          <p:cNvGraphicFramePr>
            <a:graphicFrameLocks noGrp="1"/>
          </p:cNvGraphicFramePr>
          <p:nvPr>
            <p:extLst>
              <p:ext uri="{D42A27DB-BD31-4B8C-83A1-F6EECF244321}">
                <p14:modId xmlns:p14="http://schemas.microsoft.com/office/powerpoint/2010/main" val="2579033674"/>
              </p:ext>
            </p:extLst>
          </p:nvPr>
        </p:nvGraphicFramePr>
        <p:xfrm>
          <a:off x="174503" y="5036834"/>
          <a:ext cx="2533795" cy="1097280"/>
        </p:xfrm>
        <a:graphic>
          <a:graphicData uri="http://schemas.openxmlformats.org/drawingml/2006/table">
            <a:tbl>
              <a:tblPr firstRow="1">
                <a:tableStyleId>{72833802-FEF1-4C79-8D5D-14CF1EAF98D9}</a:tableStyleId>
              </a:tblPr>
              <a:tblGrid>
                <a:gridCol w="698015">
                  <a:extLst>
                    <a:ext uri="{9D8B030D-6E8A-4147-A177-3AD203B41FA5}">
                      <a16:colId xmlns:a16="http://schemas.microsoft.com/office/drawing/2014/main" val="3557043851"/>
                    </a:ext>
                  </a:extLst>
                </a:gridCol>
                <a:gridCol w="1835780">
                  <a:extLst>
                    <a:ext uri="{9D8B030D-6E8A-4147-A177-3AD203B41FA5}">
                      <a16:colId xmlns:a16="http://schemas.microsoft.com/office/drawing/2014/main" val="1052069830"/>
                    </a:ext>
                  </a:extLst>
                </a:gridCol>
              </a:tblGrid>
              <a:tr h="201885">
                <a:tc>
                  <a:txBody>
                    <a:bodyPr/>
                    <a:lstStyle/>
                    <a:p>
                      <a:pPr>
                        <a:buNone/>
                      </a:pPr>
                      <a:r>
                        <a:rPr lang="en-US" sz="1200" noProof="0" dirty="0"/>
                        <a:t>K</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US" sz="1200" noProof="0" dirty="0"/>
                        <a:t>Improvement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195787440"/>
                  </a:ext>
                </a:extLst>
              </a:tr>
              <a:tr h="201885">
                <a:tc>
                  <a:txBody>
                    <a:bodyPr/>
                    <a:lstStyle/>
                    <a:p>
                      <a:pPr>
                        <a:buNone/>
                      </a:pPr>
                      <a:r>
                        <a:rPr lang="en-US" sz="1200" noProof="0" dirty="0"/>
                        <a:t>1 → 2</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US" sz="1200" noProof="0" dirty="0"/>
                        <a:t>BIG improvement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407442905"/>
                  </a:ext>
                </a:extLst>
              </a:tr>
              <a:tr h="201885">
                <a:tc>
                  <a:txBody>
                    <a:bodyPr/>
                    <a:lstStyle/>
                    <a:p>
                      <a:pPr>
                        <a:buNone/>
                      </a:pPr>
                      <a:r>
                        <a:rPr lang="en-US" sz="1200" noProof="0" dirty="0"/>
                        <a:t>2 → 3</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US" sz="1200" noProof="0" dirty="0"/>
                        <a:t>small improvement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71368495"/>
                  </a:ext>
                </a:extLst>
              </a:tr>
              <a:tr h="201885">
                <a:tc>
                  <a:txBody>
                    <a:bodyPr/>
                    <a:lstStyle/>
                    <a:p>
                      <a:pPr>
                        <a:buNone/>
                      </a:pPr>
                      <a:r>
                        <a:rPr lang="en-US" sz="1200" noProof="0" dirty="0"/>
                        <a:t>3 → 4</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US" sz="1200" noProof="0" dirty="0"/>
                        <a:t>very tiny improvement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07413745"/>
                  </a:ext>
                </a:extLst>
              </a:tr>
            </a:tbl>
          </a:graphicData>
        </a:graphic>
      </p:graphicFrame>
      <p:sp>
        <p:nvSpPr>
          <p:cNvPr id="25" name="Arrow: Striped Right 24">
            <a:extLst>
              <a:ext uri="{FF2B5EF4-FFF2-40B4-BE49-F238E27FC236}">
                <a16:creationId xmlns:a16="http://schemas.microsoft.com/office/drawing/2014/main" id="{AD0DFFC4-422F-D945-E1BE-916545ADAC9F}"/>
              </a:ext>
            </a:extLst>
          </p:cNvPr>
          <p:cNvSpPr/>
          <p:nvPr/>
        </p:nvSpPr>
        <p:spPr>
          <a:xfrm rot="10800000">
            <a:off x="2760358" y="5585474"/>
            <a:ext cx="395833" cy="283598"/>
          </a:xfrm>
          <a:prstGeom prst="stripedRightArrow">
            <a:avLst/>
          </a:prstGeom>
          <a:solidFill>
            <a:schemeClr val="accent2">
              <a:lumMod val="5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6" name="TextBox 25">
            <a:extLst>
              <a:ext uri="{FF2B5EF4-FFF2-40B4-BE49-F238E27FC236}">
                <a16:creationId xmlns:a16="http://schemas.microsoft.com/office/drawing/2014/main" id="{3462D381-9580-075F-D7BE-B8114FA76801}"/>
              </a:ext>
            </a:extLst>
          </p:cNvPr>
          <p:cNvSpPr txBox="1"/>
          <p:nvPr/>
        </p:nvSpPr>
        <p:spPr>
          <a:xfrm>
            <a:off x="174503" y="6173345"/>
            <a:ext cx="2533794" cy="461665"/>
          </a:xfrm>
          <a:prstGeom prst="rect">
            <a:avLst/>
          </a:prstGeom>
          <a:solidFill>
            <a:schemeClr val="accent2">
              <a:lumMod val="20000"/>
              <a:lumOff val="80000"/>
            </a:schemeClr>
          </a:solidFill>
        </p:spPr>
        <p:txBody>
          <a:bodyPr wrap="square" rtlCol="0">
            <a:spAutoFit/>
          </a:bodyPr>
          <a:lstStyle/>
          <a:p>
            <a:pPr algn="ctr"/>
            <a:r>
              <a:rPr lang="en-US" sz="1200" noProof="0" dirty="0"/>
              <a:t>The point where improvement suddenly slows down = </a:t>
            </a:r>
            <a:r>
              <a:rPr lang="en-US" sz="1200" b="1" noProof="0" dirty="0"/>
              <a:t>Elbow</a:t>
            </a:r>
          </a:p>
        </p:txBody>
      </p:sp>
    </p:spTree>
    <p:extLst>
      <p:ext uri="{BB962C8B-B14F-4D97-AF65-F5344CB8AC3E}">
        <p14:creationId xmlns:p14="http://schemas.microsoft.com/office/powerpoint/2010/main" val="1121964197"/>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E121E0DA-3E3E-98DD-0465-F32692EAAA6F}"/>
              </a:ext>
            </a:extLst>
          </p:cNvPr>
          <p:cNvSpPr>
            <a:spLocks noGrp="1"/>
          </p:cNvSpPr>
          <p:nvPr>
            <p:ph type="title"/>
          </p:nvPr>
        </p:nvSpPr>
        <p:spPr>
          <a:xfrm>
            <a:off x="91324" y="120820"/>
            <a:ext cx="3840443" cy="807539"/>
          </a:xfrm>
        </p:spPr>
        <p:txBody>
          <a:bodyPr>
            <a:normAutofit fontScale="90000"/>
          </a:bodyPr>
          <a:lstStyle/>
          <a:p>
            <a:r>
              <a:rPr lang="en-US" sz="3200" noProof="0" dirty="0"/>
              <a:t>Reinforcement Learning</a:t>
            </a:r>
          </a:p>
        </p:txBody>
      </p:sp>
      <p:sp>
        <p:nvSpPr>
          <p:cNvPr id="5" name="TextBox 4">
            <a:extLst>
              <a:ext uri="{FF2B5EF4-FFF2-40B4-BE49-F238E27FC236}">
                <a16:creationId xmlns:a16="http://schemas.microsoft.com/office/drawing/2014/main" id="{2A99DE18-DCB9-28B2-6DC6-E5E0441C6B75}"/>
              </a:ext>
            </a:extLst>
          </p:cNvPr>
          <p:cNvSpPr txBox="1"/>
          <p:nvPr/>
        </p:nvSpPr>
        <p:spPr>
          <a:xfrm>
            <a:off x="174504" y="1086961"/>
            <a:ext cx="3148050" cy="1384995"/>
          </a:xfrm>
          <a:prstGeom prst="rect">
            <a:avLst/>
          </a:prstGeom>
          <a:solidFill>
            <a:schemeClr val="accent4">
              <a:lumMod val="40000"/>
              <a:lumOff val="60000"/>
            </a:schemeClr>
          </a:solidFill>
        </p:spPr>
        <p:txBody>
          <a:bodyPr wrap="square" rtlCol="0">
            <a:spAutoFit/>
          </a:bodyPr>
          <a:lstStyle/>
          <a:p>
            <a:pPr marL="285750" indent="-285750">
              <a:buFont typeface="Arial" panose="020B0604020202020204" pitchFamily="34" charset="0"/>
              <a:buChar char="•"/>
            </a:pPr>
            <a:r>
              <a:rPr lang="en-US" sz="1400" noProof="0" dirty="0"/>
              <a:t>Learning by Interaction with Environment</a:t>
            </a:r>
          </a:p>
          <a:p>
            <a:pPr marL="285750" indent="-285750">
              <a:buFont typeface="Arial" panose="020B0604020202020204" pitchFamily="34" charset="0"/>
              <a:buChar char="•"/>
            </a:pPr>
            <a:r>
              <a:rPr lang="en-US" sz="1400" noProof="0" dirty="0"/>
              <a:t>A type of Machine Learning</a:t>
            </a:r>
          </a:p>
          <a:p>
            <a:pPr marL="285750" indent="-285750">
              <a:buFont typeface="Arial" panose="020B0604020202020204" pitchFamily="34" charset="0"/>
              <a:buChar char="•"/>
            </a:pPr>
            <a:r>
              <a:rPr lang="en-US" sz="1400" noProof="0" dirty="0"/>
              <a:t>Agent learns by </a:t>
            </a:r>
            <a:r>
              <a:rPr lang="en-US" sz="1400" b="1" noProof="0" dirty="0"/>
              <a:t>trial and error</a:t>
            </a:r>
          </a:p>
          <a:p>
            <a:pPr marL="285750" indent="-285750">
              <a:buFont typeface="Arial" panose="020B0604020202020204" pitchFamily="34" charset="0"/>
              <a:buChar char="•"/>
            </a:pPr>
            <a:r>
              <a:rPr lang="en-US" sz="1400" noProof="0" dirty="0"/>
              <a:t>Uses </a:t>
            </a:r>
            <a:r>
              <a:rPr lang="en-US" sz="1400" b="1" noProof="0" dirty="0"/>
              <a:t>rewards </a:t>
            </a:r>
            <a:r>
              <a:rPr lang="en-US" sz="1400" noProof="0" dirty="0"/>
              <a:t>and </a:t>
            </a:r>
            <a:r>
              <a:rPr lang="en-US" sz="1400" b="1" noProof="0" dirty="0"/>
              <a:t>penalties</a:t>
            </a:r>
          </a:p>
          <a:p>
            <a:pPr marL="285750" indent="-285750">
              <a:buFont typeface="Arial" panose="020B0604020202020204" pitchFamily="34" charset="0"/>
              <a:buChar char="•"/>
            </a:pPr>
            <a:r>
              <a:rPr lang="en-US" sz="1400" noProof="0" dirty="0"/>
              <a:t>Goal: maximize </a:t>
            </a:r>
            <a:r>
              <a:rPr lang="en-US" sz="1400" b="1" noProof="0" dirty="0"/>
              <a:t>cumulative reward</a:t>
            </a:r>
          </a:p>
        </p:txBody>
      </p:sp>
      <p:graphicFrame>
        <p:nvGraphicFramePr>
          <p:cNvPr id="6" name="Table 5">
            <a:extLst>
              <a:ext uri="{FF2B5EF4-FFF2-40B4-BE49-F238E27FC236}">
                <a16:creationId xmlns:a16="http://schemas.microsoft.com/office/drawing/2014/main" id="{19CCBAF2-1F79-2A16-2E0E-6BC7AB385F2A}"/>
              </a:ext>
            </a:extLst>
          </p:cNvPr>
          <p:cNvGraphicFramePr>
            <a:graphicFrameLocks noGrp="1"/>
          </p:cNvGraphicFramePr>
          <p:nvPr>
            <p:extLst>
              <p:ext uri="{D42A27DB-BD31-4B8C-83A1-F6EECF244321}">
                <p14:modId xmlns:p14="http://schemas.microsoft.com/office/powerpoint/2010/main" val="3410293889"/>
              </p:ext>
            </p:extLst>
          </p:nvPr>
        </p:nvGraphicFramePr>
        <p:xfrm>
          <a:off x="174503" y="2694609"/>
          <a:ext cx="3016589" cy="2408777"/>
        </p:xfrm>
        <a:graphic>
          <a:graphicData uri="http://schemas.openxmlformats.org/drawingml/2006/table">
            <a:tbl>
              <a:tblPr firstRow="1">
                <a:tableStyleId>{69012ECD-51FC-41F1-AA8D-1B2483CD663E}</a:tableStyleId>
              </a:tblPr>
              <a:tblGrid>
                <a:gridCol w="1047024">
                  <a:extLst>
                    <a:ext uri="{9D8B030D-6E8A-4147-A177-3AD203B41FA5}">
                      <a16:colId xmlns:a16="http://schemas.microsoft.com/office/drawing/2014/main" val="1410182320"/>
                    </a:ext>
                  </a:extLst>
                </a:gridCol>
                <a:gridCol w="1969565">
                  <a:extLst>
                    <a:ext uri="{9D8B030D-6E8A-4147-A177-3AD203B41FA5}">
                      <a16:colId xmlns:a16="http://schemas.microsoft.com/office/drawing/2014/main" val="1006641074"/>
                    </a:ext>
                  </a:extLst>
                </a:gridCol>
              </a:tblGrid>
              <a:tr h="328803">
                <a:tc>
                  <a:txBody>
                    <a:bodyPr/>
                    <a:lstStyle/>
                    <a:p>
                      <a:pPr>
                        <a:buNone/>
                      </a:pPr>
                      <a:r>
                        <a:rPr lang="en-US" sz="1400" noProof="0" dirty="0"/>
                        <a:t>Component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US" sz="1400" noProof="0" dirty="0"/>
                        <a:t>Description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830081520"/>
                  </a:ext>
                </a:extLst>
              </a:tr>
              <a:tr h="575405">
                <a:tc>
                  <a:txBody>
                    <a:bodyPr/>
                    <a:lstStyle/>
                    <a:p>
                      <a:pPr>
                        <a:buNone/>
                      </a:pPr>
                      <a:r>
                        <a:rPr lang="en-US" sz="1400" noProof="0" dirty="0"/>
                        <a:t>Agent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US" sz="1400" noProof="0" dirty="0"/>
                        <a:t>Learner/decision maker</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646735921"/>
                  </a:ext>
                </a:extLst>
              </a:tr>
              <a:tr h="328803">
                <a:tc>
                  <a:txBody>
                    <a:bodyPr/>
                    <a:lstStyle/>
                    <a:p>
                      <a:pPr>
                        <a:buNone/>
                      </a:pPr>
                      <a:r>
                        <a:rPr lang="en-US" sz="1400" noProof="0" dirty="0"/>
                        <a:t>Environment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US" sz="1400" noProof="0" dirty="0"/>
                        <a:t>Where agent operates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352275597"/>
                  </a:ext>
                </a:extLst>
              </a:tr>
              <a:tr h="328803">
                <a:tc>
                  <a:txBody>
                    <a:bodyPr/>
                    <a:lstStyle/>
                    <a:p>
                      <a:pPr>
                        <a:buNone/>
                      </a:pPr>
                      <a:r>
                        <a:rPr lang="en-US" sz="1400" noProof="0" dirty="0"/>
                        <a:t>State (S)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US" sz="1400" noProof="0" dirty="0"/>
                        <a:t>Current situation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335647571"/>
                  </a:ext>
                </a:extLst>
              </a:tr>
              <a:tr h="328803">
                <a:tc>
                  <a:txBody>
                    <a:bodyPr/>
                    <a:lstStyle/>
                    <a:p>
                      <a:pPr>
                        <a:buNone/>
                      </a:pPr>
                      <a:r>
                        <a:rPr lang="en-US" sz="1400" noProof="0" dirty="0"/>
                        <a:t>Action (A)</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US" sz="1400" noProof="0" dirty="0"/>
                        <a:t>Choice made by agent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650562259"/>
                  </a:ext>
                </a:extLst>
              </a:tr>
              <a:tr h="328803">
                <a:tc>
                  <a:txBody>
                    <a:bodyPr/>
                    <a:lstStyle/>
                    <a:p>
                      <a:pPr>
                        <a:buNone/>
                      </a:pPr>
                      <a:r>
                        <a:rPr lang="en-US" sz="1400" noProof="0" dirty="0"/>
                        <a:t>Reward (R)</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US" sz="1400" noProof="0" dirty="0"/>
                        <a:t>Feedback signal</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369877913"/>
                  </a:ext>
                </a:extLst>
              </a:tr>
            </a:tbl>
          </a:graphicData>
        </a:graphic>
      </p:graphicFrame>
      <p:sp>
        <p:nvSpPr>
          <p:cNvPr id="7" name="TextBox 6">
            <a:extLst>
              <a:ext uri="{FF2B5EF4-FFF2-40B4-BE49-F238E27FC236}">
                <a16:creationId xmlns:a16="http://schemas.microsoft.com/office/drawing/2014/main" id="{0F26F02B-03B5-21B2-72C6-743B6F8DDDEA}"/>
              </a:ext>
            </a:extLst>
          </p:cNvPr>
          <p:cNvSpPr txBox="1"/>
          <p:nvPr/>
        </p:nvSpPr>
        <p:spPr>
          <a:xfrm>
            <a:off x="174502" y="5136682"/>
            <a:ext cx="2324393" cy="1384995"/>
          </a:xfrm>
          <a:prstGeom prst="rect">
            <a:avLst/>
          </a:prstGeom>
          <a:solidFill>
            <a:schemeClr val="accent4">
              <a:lumMod val="40000"/>
              <a:lumOff val="60000"/>
            </a:schemeClr>
          </a:solidFill>
        </p:spPr>
        <p:txBody>
          <a:bodyPr wrap="square" rtlCol="0">
            <a:spAutoFit/>
          </a:bodyPr>
          <a:lstStyle/>
          <a:p>
            <a:r>
              <a:rPr lang="en-US" sz="1400" b="1" noProof="0" dirty="0"/>
              <a:t>RL process</a:t>
            </a:r>
          </a:p>
          <a:p>
            <a:pPr marL="285750" indent="-285750">
              <a:buFont typeface="Arial" panose="020B0604020202020204" pitchFamily="34" charset="0"/>
              <a:buChar char="•"/>
            </a:pPr>
            <a:r>
              <a:rPr lang="en-US" sz="1400" noProof="0" dirty="0"/>
              <a:t>Agent observes state</a:t>
            </a:r>
          </a:p>
          <a:p>
            <a:pPr marL="285750" indent="-285750">
              <a:buFont typeface="Arial" panose="020B0604020202020204" pitchFamily="34" charset="0"/>
              <a:buChar char="•"/>
            </a:pPr>
            <a:r>
              <a:rPr lang="en-US" sz="1400" noProof="0" dirty="0"/>
              <a:t>Takes action</a:t>
            </a:r>
          </a:p>
          <a:p>
            <a:pPr marL="285750" indent="-285750">
              <a:buFont typeface="Arial" panose="020B0604020202020204" pitchFamily="34" charset="0"/>
              <a:buChar char="•"/>
            </a:pPr>
            <a:r>
              <a:rPr lang="en-US" sz="1400" noProof="0" dirty="0"/>
              <a:t>Environment responds</a:t>
            </a:r>
          </a:p>
          <a:p>
            <a:pPr marL="285750" indent="-285750">
              <a:buFont typeface="Arial" panose="020B0604020202020204" pitchFamily="34" charset="0"/>
              <a:buChar char="•"/>
            </a:pPr>
            <a:r>
              <a:rPr lang="en-US" sz="1400" noProof="0" dirty="0"/>
              <a:t>Agent receives reward</a:t>
            </a:r>
          </a:p>
          <a:p>
            <a:pPr marL="285750" indent="-285750">
              <a:buFont typeface="Arial" panose="020B0604020202020204" pitchFamily="34" charset="0"/>
              <a:buChar char="•"/>
            </a:pPr>
            <a:r>
              <a:rPr lang="en-US" sz="1400" noProof="0" dirty="0"/>
              <a:t>Updates policy</a:t>
            </a:r>
            <a:endParaRPr lang="en-US" sz="1400" b="1" noProof="0" dirty="0"/>
          </a:p>
        </p:txBody>
      </p:sp>
      <p:sp>
        <p:nvSpPr>
          <p:cNvPr id="9" name="TextBox 8">
            <a:extLst>
              <a:ext uri="{FF2B5EF4-FFF2-40B4-BE49-F238E27FC236}">
                <a16:creationId xmlns:a16="http://schemas.microsoft.com/office/drawing/2014/main" id="{85185634-AD16-8026-A718-445DBF9A8E47}"/>
              </a:ext>
            </a:extLst>
          </p:cNvPr>
          <p:cNvSpPr txBox="1"/>
          <p:nvPr/>
        </p:nvSpPr>
        <p:spPr>
          <a:xfrm>
            <a:off x="2588471" y="5136682"/>
            <a:ext cx="2324393" cy="1600438"/>
          </a:xfrm>
          <a:prstGeom prst="rect">
            <a:avLst/>
          </a:prstGeom>
          <a:solidFill>
            <a:schemeClr val="accent4">
              <a:lumMod val="40000"/>
              <a:lumOff val="60000"/>
            </a:schemeClr>
          </a:solidFill>
        </p:spPr>
        <p:txBody>
          <a:bodyPr wrap="square" rtlCol="0">
            <a:spAutoFit/>
          </a:bodyPr>
          <a:lstStyle/>
          <a:p>
            <a:r>
              <a:rPr lang="en-US" sz="1400" b="1" noProof="0" dirty="0"/>
              <a:t>Policy</a:t>
            </a:r>
          </a:p>
          <a:p>
            <a:pPr marL="285750" indent="-285750">
              <a:buFont typeface="Arial" panose="020B0604020202020204" pitchFamily="34" charset="0"/>
              <a:buChar char="•"/>
            </a:pPr>
            <a:r>
              <a:rPr lang="en-US" sz="1400" noProof="0" dirty="0"/>
              <a:t>Strategy followed by agent</a:t>
            </a:r>
          </a:p>
          <a:p>
            <a:pPr marL="285750" indent="-285750">
              <a:buFont typeface="Arial" panose="020B0604020202020204" pitchFamily="34" charset="0"/>
              <a:buChar char="•"/>
            </a:pPr>
            <a:r>
              <a:rPr lang="en-US" sz="1400" noProof="0" dirty="0"/>
              <a:t>Mapping: State → Action</a:t>
            </a:r>
          </a:p>
          <a:p>
            <a:pPr marL="285750" indent="-285750">
              <a:buFont typeface="Arial" panose="020B0604020202020204" pitchFamily="34" charset="0"/>
              <a:buChar char="•"/>
            </a:pPr>
            <a:r>
              <a:rPr lang="en-US" sz="1400" noProof="0" dirty="0"/>
              <a:t>Types:</a:t>
            </a:r>
          </a:p>
          <a:p>
            <a:pPr marL="742950" lvl="1" indent="-285750">
              <a:buFont typeface="Arial" panose="020B0604020202020204" pitchFamily="34" charset="0"/>
              <a:buChar char="•"/>
            </a:pPr>
            <a:r>
              <a:rPr lang="en-US" sz="1400" noProof="0" dirty="0"/>
              <a:t>Deterministic</a:t>
            </a:r>
          </a:p>
          <a:p>
            <a:pPr marL="742950" lvl="1" indent="-285750">
              <a:buFont typeface="Arial" panose="020B0604020202020204" pitchFamily="34" charset="0"/>
              <a:buChar char="•"/>
            </a:pPr>
            <a:r>
              <a:rPr lang="en-US" sz="1400" noProof="0" dirty="0"/>
              <a:t>Stochastic</a:t>
            </a:r>
            <a:endParaRPr lang="en-US" sz="1400" b="1" noProof="0" dirty="0"/>
          </a:p>
        </p:txBody>
      </p:sp>
      <p:sp>
        <p:nvSpPr>
          <p:cNvPr id="11" name="TextBox 10">
            <a:extLst>
              <a:ext uri="{FF2B5EF4-FFF2-40B4-BE49-F238E27FC236}">
                <a16:creationId xmlns:a16="http://schemas.microsoft.com/office/drawing/2014/main" id="{C5E9B475-BA0A-D1F3-8A62-F73D5FDCD5D2}"/>
              </a:ext>
            </a:extLst>
          </p:cNvPr>
          <p:cNvSpPr txBox="1"/>
          <p:nvPr/>
        </p:nvSpPr>
        <p:spPr>
          <a:xfrm>
            <a:off x="3431907" y="871518"/>
            <a:ext cx="3448196" cy="1384995"/>
          </a:xfrm>
          <a:prstGeom prst="rect">
            <a:avLst/>
          </a:prstGeom>
          <a:solidFill>
            <a:schemeClr val="accent4">
              <a:lumMod val="40000"/>
              <a:lumOff val="60000"/>
            </a:schemeClr>
          </a:solidFill>
        </p:spPr>
        <p:txBody>
          <a:bodyPr wrap="square" rtlCol="0">
            <a:spAutoFit/>
          </a:bodyPr>
          <a:lstStyle/>
          <a:p>
            <a:r>
              <a:rPr lang="en-US" sz="1400" b="1" noProof="0" dirty="0"/>
              <a:t>Learning formula</a:t>
            </a:r>
          </a:p>
          <a:p>
            <a:endParaRPr lang="en-US" sz="1400" b="1" noProof="0" dirty="0"/>
          </a:p>
          <a:p>
            <a:r>
              <a:rPr lang="en-US" sz="1400" noProof="0" dirty="0"/>
              <a:t>Q(</a:t>
            </a:r>
            <a:r>
              <a:rPr lang="en-US" sz="1400" noProof="0" dirty="0" err="1"/>
              <a:t>s,a</a:t>
            </a:r>
            <a:r>
              <a:rPr lang="en-US" sz="1400" noProof="0" dirty="0"/>
              <a:t>) = Q(</a:t>
            </a:r>
            <a:r>
              <a:rPr lang="en-US" sz="1400" noProof="0" dirty="0" err="1"/>
              <a:t>s,a</a:t>
            </a:r>
            <a:r>
              <a:rPr lang="en-US" sz="1400" noProof="0" dirty="0"/>
              <a:t>) + α[r + </a:t>
            </a:r>
            <a:r>
              <a:rPr lang="en-US" sz="1400" noProof="0" dirty="0" err="1"/>
              <a:t>γmax</a:t>
            </a:r>
            <a:r>
              <a:rPr lang="en-US" sz="1400" noProof="0" dirty="0"/>
              <a:t> Q(</a:t>
            </a:r>
            <a:r>
              <a:rPr lang="en-US" sz="1400" noProof="0" dirty="0" err="1"/>
              <a:t>s′,a</a:t>
            </a:r>
            <a:r>
              <a:rPr lang="en-US" sz="1400" noProof="0" dirty="0"/>
              <a:t>′) − Q(</a:t>
            </a:r>
            <a:r>
              <a:rPr lang="en-US" sz="1400" noProof="0" dirty="0" err="1"/>
              <a:t>s,a</a:t>
            </a:r>
            <a:r>
              <a:rPr lang="en-US" sz="1400" noProof="0" dirty="0"/>
              <a:t>)]</a:t>
            </a:r>
          </a:p>
          <a:p>
            <a:endParaRPr lang="en-US" sz="1400" noProof="0" dirty="0"/>
          </a:p>
          <a:p>
            <a:r>
              <a:rPr lang="en-US" sz="1400" noProof="0" dirty="0"/>
              <a:t>α = Learning rate</a:t>
            </a:r>
          </a:p>
          <a:p>
            <a:r>
              <a:rPr lang="en-US" sz="1400" noProof="0" dirty="0"/>
              <a:t>γ = Discount factor</a:t>
            </a:r>
          </a:p>
        </p:txBody>
      </p:sp>
      <p:sp>
        <p:nvSpPr>
          <p:cNvPr id="12" name="TextBox 11">
            <a:extLst>
              <a:ext uri="{FF2B5EF4-FFF2-40B4-BE49-F238E27FC236}">
                <a16:creationId xmlns:a16="http://schemas.microsoft.com/office/drawing/2014/main" id="{44D3913A-43A8-C4B0-986C-1C20196828E4}"/>
              </a:ext>
            </a:extLst>
          </p:cNvPr>
          <p:cNvSpPr txBox="1"/>
          <p:nvPr/>
        </p:nvSpPr>
        <p:spPr>
          <a:xfrm>
            <a:off x="3431907" y="2347003"/>
            <a:ext cx="3016589" cy="523220"/>
          </a:xfrm>
          <a:prstGeom prst="rect">
            <a:avLst/>
          </a:prstGeom>
          <a:solidFill>
            <a:schemeClr val="accent4">
              <a:lumMod val="40000"/>
              <a:lumOff val="60000"/>
            </a:schemeClr>
          </a:solidFill>
        </p:spPr>
        <p:txBody>
          <a:bodyPr wrap="square" rtlCol="0">
            <a:spAutoFit/>
          </a:bodyPr>
          <a:lstStyle/>
          <a:p>
            <a:r>
              <a:rPr lang="en-US" sz="1400" b="1" noProof="0" dirty="0"/>
              <a:t>Example: </a:t>
            </a:r>
            <a:r>
              <a:rPr lang="en-US" sz="1400" noProof="0" dirty="0"/>
              <a:t>Robot finding food</a:t>
            </a:r>
          </a:p>
          <a:p>
            <a:r>
              <a:rPr lang="en-US" sz="1400" noProof="0" dirty="0"/>
              <a:t>Dataset = Experience table – Not fixed!</a:t>
            </a:r>
          </a:p>
        </p:txBody>
      </p:sp>
      <p:graphicFrame>
        <p:nvGraphicFramePr>
          <p:cNvPr id="13" name="Table 12">
            <a:extLst>
              <a:ext uri="{FF2B5EF4-FFF2-40B4-BE49-F238E27FC236}">
                <a16:creationId xmlns:a16="http://schemas.microsoft.com/office/drawing/2014/main" id="{8C5AE67E-5DBB-10BD-CB04-0E962A47AD88}"/>
              </a:ext>
            </a:extLst>
          </p:cNvPr>
          <p:cNvGraphicFramePr>
            <a:graphicFrameLocks noGrp="1"/>
          </p:cNvGraphicFramePr>
          <p:nvPr>
            <p:extLst>
              <p:ext uri="{D42A27DB-BD31-4B8C-83A1-F6EECF244321}">
                <p14:modId xmlns:p14="http://schemas.microsoft.com/office/powerpoint/2010/main" val="1181713828"/>
              </p:ext>
            </p:extLst>
          </p:nvPr>
        </p:nvGraphicFramePr>
        <p:xfrm>
          <a:off x="3431907" y="2934598"/>
          <a:ext cx="3451102" cy="1524000"/>
        </p:xfrm>
        <a:graphic>
          <a:graphicData uri="http://schemas.openxmlformats.org/drawingml/2006/table">
            <a:tbl>
              <a:tblPr firstRow="1">
                <a:tableStyleId>{72833802-FEF1-4C79-8D5D-14CF1EAF98D9}</a:tableStyleId>
              </a:tblPr>
              <a:tblGrid>
                <a:gridCol w="512310">
                  <a:extLst>
                    <a:ext uri="{9D8B030D-6E8A-4147-A177-3AD203B41FA5}">
                      <a16:colId xmlns:a16="http://schemas.microsoft.com/office/drawing/2014/main" val="3907471340"/>
                    </a:ext>
                  </a:extLst>
                </a:gridCol>
                <a:gridCol w="992018">
                  <a:extLst>
                    <a:ext uri="{9D8B030D-6E8A-4147-A177-3AD203B41FA5}">
                      <a16:colId xmlns:a16="http://schemas.microsoft.com/office/drawing/2014/main" val="461016748"/>
                    </a:ext>
                  </a:extLst>
                </a:gridCol>
                <a:gridCol w="873255">
                  <a:extLst>
                    <a:ext uri="{9D8B030D-6E8A-4147-A177-3AD203B41FA5}">
                      <a16:colId xmlns:a16="http://schemas.microsoft.com/office/drawing/2014/main" val="3238500093"/>
                    </a:ext>
                  </a:extLst>
                </a:gridCol>
                <a:gridCol w="1073519">
                  <a:extLst>
                    <a:ext uri="{9D8B030D-6E8A-4147-A177-3AD203B41FA5}">
                      <a16:colId xmlns:a16="http://schemas.microsoft.com/office/drawing/2014/main" val="791898635"/>
                    </a:ext>
                  </a:extLst>
                </a:gridCol>
              </a:tblGrid>
              <a:tr h="261711">
                <a:tc>
                  <a:txBody>
                    <a:bodyPr/>
                    <a:lstStyle/>
                    <a:p>
                      <a:pPr>
                        <a:buNone/>
                      </a:pPr>
                      <a:r>
                        <a:rPr lang="en-US" sz="1400" noProof="0" dirty="0"/>
                        <a:t>Step</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US" sz="1400" noProof="0" dirty="0"/>
                        <a:t>State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US" sz="1400" noProof="0" dirty="0"/>
                        <a:t>Action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US" sz="1400" noProof="0" dirty="0"/>
                        <a:t>Reward</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13962366"/>
                  </a:ext>
                </a:extLst>
              </a:tr>
              <a:tr h="261711">
                <a:tc>
                  <a:txBody>
                    <a:bodyPr/>
                    <a:lstStyle/>
                    <a:p>
                      <a:pPr>
                        <a:buNone/>
                      </a:pPr>
                      <a:r>
                        <a:rPr lang="en-US" sz="1400" noProof="0" dirty="0"/>
                        <a:t>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US" sz="1400" noProof="0" dirty="0"/>
                        <a:t>Start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US" sz="1400" noProof="0" dirty="0"/>
                        <a:t>Right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US" sz="1400" noProof="0" dirty="0"/>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526827298"/>
                  </a:ext>
                </a:extLst>
              </a:tr>
              <a:tr h="261711">
                <a:tc>
                  <a:txBody>
                    <a:bodyPr/>
                    <a:lstStyle/>
                    <a:p>
                      <a:pPr>
                        <a:buNone/>
                      </a:pPr>
                      <a:r>
                        <a:rPr lang="en-US" sz="1400" noProof="0" dirty="0"/>
                        <a:t>2</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US" sz="1400" noProof="0" dirty="0"/>
                        <a:t>Middle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US" sz="1400" noProof="0" dirty="0"/>
                        <a:t>Right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US" sz="1400" noProof="0" dirty="0"/>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964304980"/>
                  </a:ext>
                </a:extLst>
              </a:tr>
              <a:tr h="261711">
                <a:tc>
                  <a:txBody>
                    <a:bodyPr/>
                    <a:lstStyle/>
                    <a:p>
                      <a:pPr>
                        <a:buNone/>
                      </a:pPr>
                      <a:r>
                        <a:rPr lang="en-US" sz="1400" noProof="0" dirty="0"/>
                        <a:t>3</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US" sz="1400" noProof="0" dirty="0"/>
                        <a:t>Near Food</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US" sz="1400" noProof="0" dirty="0"/>
                        <a:t>Right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US" sz="1400" noProof="0" dirty="0"/>
                        <a:t>+10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911842390"/>
                  </a:ext>
                </a:extLst>
              </a:tr>
              <a:tr h="261711">
                <a:tc>
                  <a:txBody>
                    <a:bodyPr/>
                    <a:lstStyle/>
                    <a:p>
                      <a:pPr>
                        <a:buNone/>
                      </a:pPr>
                      <a:r>
                        <a:rPr lang="en-US" sz="1400" noProof="0" dirty="0"/>
                        <a:t>4</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US" sz="1400" noProof="0" dirty="0"/>
                        <a:t>Start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US" sz="1400" noProof="0" dirty="0"/>
                        <a:t>Left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US" sz="1400" noProof="0" dirty="0"/>
                        <a:t>-5</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527874687"/>
                  </a:ext>
                </a:extLst>
              </a:tr>
            </a:tbl>
          </a:graphicData>
        </a:graphic>
      </p:graphicFrame>
      <p:sp>
        <p:nvSpPr>
          <p:cNvPr id="14" name="TextBox 13">
            <a:extLst>
              <a:ext uri="{FF2B5EF4-FFF2-40B4-BE49-F238E27FC236}">
                <a16:creationId xmlns:a16="http://schemas.microsoft.com/office/drawing/2014/main" id="{80135A9C-5E57-4147-8EE2-95A9BFA4040F}"/>
              </a:ext>
            </a:extLst>
          </p:cNvPr>
          <p:cNvSpPr txBox="1"/>
          <p:nvPr/>
        </p:nvSpPr>
        <p:spPr>
          <a:xfrm>
            <a:off x="3427254" y="4536030"/>
            <a:ext cx="3448196" cy="307777"/>
          </a:xfrm>
          <a:prstGeom prst="rect">
            <a:avLst/>
          </a:prstGeom>
          <a:solidFill>
            <a:schemeClr val="accent4">
              <a:lumMod val="40000"/>
              <a:lumOff val="60000"/>
            </a:schemeClr>
          </a:solidFill>
        </p:spPr>
        <p:txBody>
          <a:bodyPr wrap="square" rtlCol="0">
            <a:spAutoFit/>
          </a:bodyPr>
          <a:lstStyle/>
          <a:p>
            <a:r>
              <a:rPr lang="en-US" sz="1400" noProof="0" dirty="0"/>
              <a:t>Unlike ML, data is generated by interaction</a:t>
            </a:r>
          </a:p>
        </p:txBody>
      </p:sp>
      <p:graphicFrame>
        <p:nvGraphicFramePr>
          <p:cNvPr id="15" name="Table 14">
            <a:extLst>
              <a:ext uri="{FF2B5EF4-FFF2-40B4-BE49-F238E27FC236}">
                <a16:creationId xmlns:a16="http://schemas.microsoft.com/office/drawing/2014/main" id="{9EA92979-F22A-8E2C-FB9B-3910ECC74C74}"/>
              </a:ext>
            </a:extLst>
          </p:cNvPr>
          <p:cNvGraphicFramePr>
            <a:graphicFrameLocks noGrp="1"/>
          </p:cNvGraphicFramePr>
          <p:nvPr>
            <p:extLst>
              <p:ext uri="{D42A27DB-BD31-4B8C-83A1-F6EECF244321}">
                <p14:modId xmlns:p14="http://schemas.microsoft.com/office/powerpoint/2010/main" val="3823964838"/>
              </p:ext>
            </p:extLst>
          </p:nvPr>
        </p:nvGraphicFramePr>
        <p:xfrm>
          <a:off x="7014470" y="566698"/>
          <a:ext cx="2269713" cy="1219200"/>
        </p:xfrm>
        <a:graphic>
          <a:graphicData uri="http://schemas.openxmlformats.org/drawingml/2006/table">
            <a:tbl>
              <a:tblPr firstRow="1">
                <a:tableStyleId>{912C8C85-51F0-491E-9774-3900AFEF0FD7}</a:tableStyleId>
              </a:tblPr>
              <a:tblGrid>
                <a:gridCol w="999326">
                  <a:extLst>
                    <a:ext uri="{9D8B030D-6E8A-4147-A177-3AD203B41FA5}">
                      <a16:colId xmlns:a16="http://schemas.microsoft.com/office/drawing/2014/main" val="2696897547"/>
                    </a:ext>
                  </a:extLst>
                </a:gridCol>
                <a:gridCol w="621233">
                  <a:extLst>
                    <a:ext uri="{9D8B030D-6E8A-4147-A177-3AD203B41FA5}">
                      <a16:colId xmlns:a16="http://schemas.microsoft.com/office/drawing/2014/main" val="914288890"/>
                    </a:ext>
                  </a:extLst>
                </a:gridCol>
                <a:gridCol w="649154">
                  <a:extLst>
                    <a:ext uri="{9D8B030D-6E8A-4147-A177-3AD203B41FA5}">
                      <a16:colId xmlns:a16="http://schemas.microsoft.com/office/drawing/2014/main" val="2465607308"/>
                    </a:ext>
                  </a:extLst>
                </a:gridCol>
              </a:tblGrid>
              <a:tr h="239792">
                <a:tc>
                  <a:txBody>
                    <a:bodyPr/>
                    <a:lstStyle/>
                    <a:p>
                      <a:pPr>
                        <a:buNone/>
                      </a:pPr>
                      <a:r>
                        <a:rPr lang="en-US" sz="1400" noProof="0" dirty="0"/>
                        <a:t>State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US" sz="1400" noProof="0" dirty="0"/>
                        <a:t>Left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US" sz="1400" noProof="0" dirty="0"/>
                        <a:t>Right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397179753"/>
                  </a:ext>
                </a:extLst>
              </a:tr>
              <a:tr h="239792">
                <a:tc>
                  <a:txBody>
                    <a:bodyPr/>
                    <a:lstStyle/>
                    <a:p>
                      <a:pPr>
                        <a:buNone/>
                      </a:pPr>
                      <a:r>
                        <a:rPr lang="en-US" sz="1400" noProof="0" dirty="0"/>
                        <a:t>Start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US" sz="1400" noProof="0" dirty="0"/>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US" sz="1400" noProof="0" dirty="0"/>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04647594"/>
                  </a:ext>
                </a:extLst>
              </a:tr>
              <a:tr h="239792">
                <a:tc>
                  <a:txBody>
                    <a:bodyPr/>
                    <a:lstStyle/>
                    <a:p>
                      <a:pPr>
                        <a:buNone/>
                      </a:pPr>
                      <a:r>
                        <a:rPr lang="en-US" sz="1400" noProof="0" dirty="0"/>
                        <a:t>Middle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US" sz="1400" noProof="0" dirty="0"/>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US" sz="1400" noProof="0" dirty="0"/>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235979799"/>
                  </a:ext>
                </a:extLst>
              </a:tr>
              <a:tr h="239792">
                <a:tc>
                  <a:txBody>
                    <a:bodyPr/>
                    <a:lstStyle/>
                    <a:p>
                      <a:pPr>
                        <a:buNone/>
                      </a:pPr>
                      <a:r>
                        <a:rPr lang="en-US" sz="1400" noProof="0" dirty="0"/>
                        <a:t>Near Food</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US" sz="1400" noProof="0" dirty="0"/>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US" sz="1400" noProof="0" dirty="0"/>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747728633"/>
                  </a:ext>
                </a:extLst>
              </a:tr>
            </a:tbl>
          </a:graphicData>
        </a:graphic>
      </p:graphicFrame>
      <p:sp>
        <p:nvSpPr>
          <p:cNvPr id="16" name="TextBox 15">
            <a:extLst>
              <a:ext uri="{FF2B5EF4-FFF2-40B4-BE49-F238E27FC236}">
                <a16:creationId xmlns:a16="http://schemas.microsoft.com/office/drawing/2014/main" id="{8E0D95F0-7C3B-F5B9-19F3-34F79BF3BC62}"/>
              </a:ext>
            </a:extLst>
          </p:cNvPr>
          <p:cNvSpPr txBox="1"/>
          <p:nvPr/>
        </p:nvSpPr>
        <p:spPr>
          <a:xfrm>
            <a:off x="6966192" y="13960"/>
            <a:ext cx="2380231" cy="523220"/>
          </a:xfrm>
          <a:prstGeom prst="rect">
            <a:avLst/>
          </a:prstGeom>
          <a:solidFill>
            <a:schemeClr val="accent4">
              <a:lumMod val="40000"/>
              <a:lumOff val="60000"/>
            </a:schemeClr>
          </a:solidFill>
        </p:spPr>
        <p:txBody>
          <a:bodyPr wrap="square" rtlCol="0">
            <a:spAutoFit/>
          </a:bodyPr>
          <a:lstStyle/>
          <a:p>
            <a:r>
              <a:rPr lang="en-US" sz="1400" noProof="0" dirty="0"/>
              <a:t>Step 1: Initialize Q-Values (Starting with No Knowledge)</a:t>
            </a:r>
          </a:p>
        </p:txBody>
      </p:sp>
      <p:sp>
        <p:nvSpPr>
          <p:cNvPr id="17" name="TextBox 16">
            <a:extLst>
              <a:ext uri="{FF2B5EF4-FFF2-40B4-BE49-F238E27FC236}">
                <a16:creationId xmlns:a16="http://schemas.microsoft.com/office/drawing/2014/main" id="{9E99A48A-B62C-3DD5-4FDD-876EE0A69A04}"/>
              </a:ext>
            </a:extLst>
          </p:cNvPr>
          <p:cNvSpPr txBox="1"/>
          <p:nvPr/>
        </p:nvSpPr>
        <p:spPr>
          <a:xfrm>
            <a:off x="7014470" y="1929953"/>
            <a:ext cx="2380231" cy="1600438"/>
          </a:xfrm>
          <a:prstGeom prst="rect">
            <a:avLst/>
          </a:prstGeom>
          <a:solidFill>
            <a:schemeClr val="accent4">
              <a:lumMod val="40000"/>
              <a:lumOff val="60000"/>
            </a:schemeClr>
          </a:solidFill>
        </p:spPr>
        <p:txBody>
          <a:bodyPr wrap="square" rtlCol="0">
            <a:spAutoFit/>
          </a:bodyPr>
          <a:lstStyle/>
          <a:p>
            <a:r>
              <a:rPr lang="en-US" sz="1400" noProof="0" dirty="0"/>
              <a:t>Step 2: Take Action, Observe Reward</a:t>
            </a:r>
          </a:p>
          <a:p>
            <a:r>
              <a:rPr lang="en-US" sz="1400" noProof="0" dirty="0"/>
              <a:t>Example Episode</a:t>
            </a:r>
          </a:p>
          <a:p>
            <a:pPr marL="285750" indent="-285750">
              <a:buFont typeface="Arial" panose="020B0604020202020204" pitchFamily="34" charset="0"/>
              <a:buChar char="•"/>
            </a:pPr>
            <a:r>
              <a:rPr lang="en-US" sz="1400" noProof="0" dirty="0"/>
              <a:t>State = Start</a:t>
            </a:r>
          </a:p>
          <a:p>
            <a:pPr marL="285750" indent="-285750">
              <a:buFont typeface="Arial" panose="020B0604020202020204" pitchFamily="34" charset="0"/>
              <a:buChar char="•"/>
            </a:pPr>
            <a:r>
              <a:rPr lang="en-US" sz="1400" noProof="0" dirty="0"/>
              <a:t>Action = Right</a:t>
            </a:r>
          </a:p>
          <a:p>
            <a:pPr marL="285750" indent="-285750">
              <a:buFont typeface="Arial" panose="020B0604020202020204" pitchFamily="34" charset="0"/>
              <a:buChar char="•"/>
            </a:pPr>
            <a:r>
              <a:rPr lang="en-US" sz="1400" noProof="0" dirty="0"/>
              <a:t>Reward = 0</a:t>
            </a:r>
          </a:p>
          <a:p>
            <a:pPr marL="285750" indent="-285750">
              <a:buFont typeface="Arial" panose="020B0604020202020204" pitchFamily="34" charset="0"/>
              <a:buChar char="•"/>
            </a:pPr>
            <a:r>
              <a:rPr lang="en-US" sz="1400" noProof="0" dirty="0"/>
              <a:t>Next State = Middle</a:t>
            </a:r>
          </a:p>
        </p:txBody>
      </p:sp>
      <p:sp>
        <p:nvSpPr>
          <p:cNvPr id="18" name="TextBox 17">
            <a:extLst>
              <a:ext uri="{FF2B5EF4-FFF2-40B4-BE49-F238E27FC236}">
                <a16:creationId xmlns:a16="http://schemas.microsoft.com/office/drawing/2014/main" id="{D71A0493-F224-1C14-7591-7E5D9D47506B}"/>
              </a:ext>
            </a:extLst>
          </p:cNvPr>
          <p:cNvSpPr txBox="1"/>
          <p:nvPr/>
        </p:nvSpPr>
        <p:spPr>
          <a:xfrm>
            <a:off x="7026394" y="3553390"/>
            <a:ext cx="2380231" cy="3323987"/>
          </a:xfrm>
          <a:prstGeom prst="rect">
            <a:avLst/>
          </a:prstGeom>
          <a:solidFill>
            <a:schemeClr val="accent4">
              <a:lumMod val="40000"/>
              <a:lumOff val="60000"/>
            </a:schemeClr>
          </a:solidFill>
        </p:spPr>
        <p:txBody>
          <a:bodyPr wrap="square" rtlCol="0">
            <a:spAutoFit/>
          </a:bodyPr>
          <a:lstStyle/>
          <a:p>
            <a:r>
              <a:rPr lang="en-US" sz="1400" noProof="0" dirty="0"/>
              <a:t>Step 3: Update Q-Value (Learning Step)</a:t>
            </a:r>
          </a:p>
          <a:p>
            <a:endParaRPr lang="en-US" sz="1400" noProof="0" dirty="0"/>
          </a:p>
          <a:p>
            <a:r>
              <a:rPr lang="en-US" sz="1400" noProof="0" dirty="0"/>
              <a:t>Q(</a:t>
            </a:r>
            <a:r>
              <a:rPr lang="en-US" sz="1400" noProof="0" dirty="0" err="1"/>
              <a:t>s,a</a:t>
            </a:r>
            <a:r>
              <a:rPr lang="en-US" sz="1400" noProof="0" dirty="0"/>
              <a:t>) = Q(</a:t>
            </a:r>
            <a:r>
              <a:rPr lang="en-US" sz="1400" noProof="0" dirty="0" err="1"/>
              <a:t>s,a</a:t>
            </a:r>
            <a:r>
              <a:rPr lang="en-US" sz="1400" noProof="0" dirty="0"/>
              <a:t>) + α[r + </a:t>
            </a:r>
            <a:r>
              <a:rPr lang="en-US" sz="1400" noProof="0" dirty="0" err="1"/>
              <a:t>γmax</a:t>
            </a:r>
            <a:r>
              <a:rPr lang="en-US" sz="1400" noProof="0" dirty="0"/>
              <a:t> Q(</a:t>
            </a:r>
            <a:r>
              <a:rPr lang="en-US" sz="1400" noProof="0" dirty="0" err="1"/>
              <a:t>s′,a</a:t>
            </a:r>
            <a:r>
              <a:rPr lang="en-US" sz="1400" noProof="0" dirty="0"/>
              <a:t>′) − Q(</a:t>
            </a:r>
            <a:r>
              <a:rPr lang="en-US" sz="1400" noProof="0" dirty="0" err="1"/>
              <a:t>s,a</a:t>
            </a:r>
            <a:r>
              <a:rPr lang="en-US" sz="1400" noProof="0" dirty="0"/>
              <a:t>)]</a:t>
            </a:r>
          </a:p>
          <a:p>
            <a:endParaRPr lang="en-US" sz="1400" noProof="0" dirty="0"/>
          </a:p>
          <a:p>
            <a:r>
              <a:rPr lang="en-US" sz="1400" noProof="0" dirty="0"/>
              <a:t>Assume</a:t>
            </a:r>
          </a:p>
          <a:p>
            <a:r>
              <a:rPr lang="en-US" sz="1400" noProof="0" dirty="0"/>
              <a:t>α = </a:t>
            </a:r>
            <a:r>
              <a:rPr lang="en-US" sz="1400" noProof="0" dirty="0" err="1"/>
              <a:t>Lerning</a:t>
            </a:r>
            <a:r>
              <a:rPr lang="en-US" sz="1400" noProof="0" dirty="0"/>
              <a:t> rate = 0.5</a:t>
            </a:r>
          </a:p>
          <a:p>
            <a:r>
              <a:rPr lang="en-US" sz="1400" noProof="0" dirty="0"/>
              <a:t>γ = Discount factor = 0.9</a:t>
            </a:r>
          </a:p>
          <a:p>
            <a:endParaRPr lang="en-US" sz="1400" noProof="0" dirty="0"/>
          </a:p>
          <a:p>
            <a:r>
              <a:rPr lang="en-US" sz="1400" noProof="0" dirty="0"/>
              <a:t>Update:</a:t>
            </a:r>
          </a:p>
          <a:p>
            <a:r>
              <a:rPr lang="en-US" sz="1400" noProof="0" dirty="0"/>
              <a:t>Q(Start, Right) = 0 + 0.5[0 + 0.9 x 0 – 0] = 0</a:t>
            </a:r>
          </a:p>
          <a:p>
            <a:pPr marL="285750" indent="-285750">
              <a:buFont typeface="Wingdings" panose="05000000000000000000" pitchFamily="2" charset="2"/>
              <a:buChar char="v"/>
            </a:pPr>
            <a:r>
              <a:rPr lang="en-US" sz="1400" noProof="0" dirty="0"/>
              <a:t>No reward yet -&gt; No learning</a:t>
            </a:r>
          </a:p>
        </p:txBody>
      </p:sp>
      <p:sp>
        <p:nvSpPr>
          <p:cNvPr id="19" name="TextBox 18">
            <a:extLst>
              <a:ext uri="{FF2B5EF4-FFF2-40B4-BE49-F238E27FC236}">
                <a16:creationId xmlns:a16="http://schemas.microsoft.com/office/drawing/2014/main" id="{D94A5CE7-004C-32D8-5DDB-6BC7100263B4}"/>
              </a:ext>
            </a:extLst>
          </p:cNvPr>
          <p:cNvSpPr txBox="1"/>
          <p:nvPr/>
        </p:nvSpPr>
        <p:spPr>
          <a:xfrm>
            <a:off x="9418550" y="13960"/>
            <a:ext cx="2380231" cy="2308324"/>
          </a:xfrm>
          <a:prstGeom prst="rect">
            <a:avLst/>
          </a:prstGeom>
          <a:solidFill>
            <a:schemeClr val="accent4">
              <a:lumMod val="40000"/>
              <a:lumOff val="60000"/>
            </a:schemeClr>
          </a:solidFill>
        </p:spPr>
        <p:txBody>
          <a:bodyPr wrap="square" rtlCol="0">
            <a:spAutoFit/>
          </a:bodyPr>
          <a:lstStyle/>
          <a:p>
            <a:r>
              <a:rPr lang="en-US" sz="1200" noProof="0" dirty="0"/>
              <a:t>Step 4: Reach Reward State</a:t>
            </a:r>
          </a:p>
          <a:p>
            <a:endParaRPr lang="en-US" sz="1200" noProof="0" dirty="0"/>
          </a:p>
          <a:p>
            <a:r>
              <a:rPr lang="en-US" sz="1200" noProof="0" dirty="0"/>
              <a:t>State = Near food</a:t>
            </a:r>
          </a:p>
          <a:p>
            <a:r>
              <a:rPr lang="en-US" sz="1200" noProof="0" dirty="0"/>
              <a:t>Action = Right</a:t>
            </a:r>
          </a:p>
          <a:p>
            <a:r>
              <a:rPr lang="en-US" sz="1200" noProof="0" dirty="0"/>
              <a:t>Reward = +10</a:t>
            </a:r>
          </a:p>
          <a:p>
            <a:endParaRPr lang="en-US" sz="1200" noProof="0" dirty="0"/>
          </a:p>
          <a:p>
            <a:r>
              <a:rPr lang="en-US" sz="1200" noProof="0" dirty="0"/>
              <a:t>Update:</a:t>
            </a:r>
          </a:p>
          <a:p>
            <a:endParaRPr lang="en-US" sz="1200" noProof="0" dirty="0"/>
          </a:p>
          <a:p>
            <a:r>
              <a:rPr lang="en-US" sz="1200" noProof="0" dirty="0"/>
              <a:t>Q(Near Food, Right) = 0 + 0.5[10 + 0 – 0] = 5</a:t>
            </a:r>
          </a:p>
          <a:p>
            <a:pPr marL="285750" indent="-285750">
              <a:buFont typeface="Wingdings" panose="05000000000000000000" pitchFamily="2" charset="2"/>
              <a:buChar char="v"/>
            </a:pPr>
            <a:r>
              <a:rPr lang="en-US" sz="1200" noProof="0" dirty="0"/>
              <a:t>Agent learns: Right is good near food</a:t>
            </a:r>
          </a:p>
        </p:txBody>
      </p:sp>
      <p:sp>
        <p:nvSpPr>
          <p:cNvPr id="20" name="TextBox 19">
            <a:extLst>
              <a:ext uri="{FF2B5EF4-FFF2-40B4-BE49-F238E27FC236}">
                <a16:creationId xmlns:a16="http://schemas.microsoft.com/office/drawing/2014/main" id="{775C0B12-DD6C-A039-F947-8871024ECBBD}"/>
              </a:ext>
            </a:extLst>
          </p:cNvPr>
          <p:cNvSpPr txBox="1"/>
          <p:nvPr/>
        </p:nvSpPr>
        <p:spPr>
          <a:xfrm>
            <a:off x="9418550" y="2379007"/>
            <a:ext cx="2380231" cy="1200329"/>
          </a:xfrm>
          <a:prstGeom prst="rect">
            <a:avLst/>
          </a:prstGeom>
          <a:solidFill>
            <a:schemeClr val="accent4">
              <a:lumMod val="40000"/>
              <a:lumOff val="60000"/>
            </a:schemeClr>
          </a:solidFill>
        </p:spPr>
        <p:txBody>
          <a:bodyPr wrap="square" rtlCol="0">
            <a:spAutoFit/>
          </a:bodyPr>
          <a:lstStyle/>
          <a:p>
            <a:r>
              <a:rPr lang="en-US" sz="1200" noProof="0" dirty="0"/>
              <a:t>Step 5: Backpropagate Learning</a:t>
            </a:r>
          </a:p>
          <a:p>
            <a:endParaRPr lang="en-US" sz="1200" noProof="0" dirty="0"/>
          </a:p>
          <a:p>
            <a:r>
              <a:rPr lang="en-US" sz="1200" noProof="0" dirty="0"/>
              <a:t>Q(Middle, Right) = 0 + 0.5[0 + 0.9 x  5 - 0] = 2.25</a:t>
            </a:r>
          </a:p>
          <a:p>
            <a:r>
              <a:rPr lang="en-US" sz="1200" noProof="0" dirty="0"/>
              <a:t>Q(Start, Right) = 0 + 0.5[0 + 0.9 x  2.25 - 0] = 1.0125</a:t>
            </a:r>
          </a:p>
        </p:txBody>
      </p:sp>
      <p:graphicFrame>
        <p:nvGraphicFramePr>
          <p:cNvPr id="21" name="Table 20">
            <a:extLst>
              <a:ext uri="{FF2B5EF4-FFF2-40B4-BE49-F238E27FC236}">
                <a16:creationId xmlns:a16="http://schemas.microsoft.com/office/drawing/2014/main" id="{20FD40BA-BF08-EF76-54BB-EA2F7E6D3689}"/>
              </a:ext>
            </a:extLst>
          </p:cNvPr>
          <p:cNvGraphicFramePr>
            <a:graphicFrameLocks noGrp="1"/>
          </p:cNvGraphicFramePr>
          <p:nvPr>
            <p:extLst>
              <p:ext uri="{D42A27DB-BD31-4B8C-83A1-F6EECF244321}">
                <p14:modId xmlns:p14="http://schemas.microsoft.com/office/powerpoint/2010/main" val="2986652725"/>
              </p:ext>
            </p:extLst>
          </p:nvPr>
        </p:nvGraphicFramePr>
        <p:xfrm>
          <a:off x="9440363" y="4000559"/>
          <a:ext cx="2550377" cy="1219200"/>
        </p:xfrm>
        <a:graphic>
          <a:graphicData uri="http://schemas.openxmlformats.org/drawingml/2006/table">
            <a:tbl>
              <a:tblPr firstRow="1">
                <a:tableStyleId>{72833802-FEF1-4C79-8D5D-14CF1EAF98D9}</a:tableStyleId>
              </a:tblPr>
              <a:tblGrid>
                <a:gridCol w="995170">
                  <a:extLst>
                    <a:ext uri="{9D8B030D-6E8A-4147-A177-3AD203B41FA5}">
                      <a16:colId xmlns:a16="http://schemas.microsoft.com/office/drawing/2014/main" val="1546285522"/>
                    </a:ext>
                  </a:extLst>
                </a:gridCol>
                <a:gridCol w="705081">
                  <a:extLst>
                    <a:ext uri="{9D8B030D-6E8A-4147-A177-3AD203B41FA5}">
                      <a16:colId xmlns:a16="http://schemas.microsoft.com/office/drawing/2014/main" val="416442752"/>
                    </a:ext>
                  </a:extLst>
                </a:gridCol>
                <a:gridCol w="850126">
                  <a:extLst>
                    <a:ext uri="{9D8B030D-6E8A-4147-A177-3AD203B41FA5}">
                      <a16:colId xmlns:a16="http://schemas.microsoft.com/office/drawing/2014/main" val="406276969"/>
                    </a:ext>
                  </a:extLst>
                </a:gridCol>
              </a:tblGrid>
              <a:tr h="272493">
                <a:tc>
                  <a:txBody>
                    <a:bodyPr/>
                    <a:lstStyle/>
                    <a:p>
                      <a:pPr>
                        <a:buNone/>
                      </a:pPr>
                      <a:r>
                        <a:rPr lang="en-US" sz="1400" noProof="0" dirty="0"/>
                        <a:t>State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US" sz="1400" noProof="0" dirty="0"/>
                        <a:t>Left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US" sz="1400" noProof="0" dirty="0"/>
                        <a:t>Right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164824472"/>
                  </a:ext>
                </a:extLst>
              </a:tr>
              <a:tr h="272493">
                <a:tc>
                  <a:txBody>
                    <a:bodyPr/>
                    <a:lstStyle/>
                    <a:p>
                      <a:pPr>
                        <a:buNone/>
                      </a:pPr>
                      <a:r>
                        <a:rPr lang="en-US" sz="1400" noProof="0" dirty="0"/>
                        <a:t>Start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US" sz="1400" noProof="0" dirty="0"/>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US" sz="1400" noProof="0" dirty="0"/>
                        <a:t>1.01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256198291"/>
                  </a:ext>
                </a:extLst>
              </a:tr>
              <a:tr h="272493">
                <a:tc>
                  <a:txBody>
                    <a:bodyPr/>
                    <a:lstStyle/>
                    <a:p>
                      <a:pPr>
                        <a:buNone/>
                      </a:pPr>
                      <a:r>
                        <a:rPr lang="en-US" sz="1400" noProof="0" dirty="0"/>
                        <a:t>Middle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US" sz="1400" noProof="0" dirty="0"/>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US" sz="1400" noProof="0" dirty="0"/>
                        <a:t>2.25</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896618519"/>
                  </a:ext>
                </a:extLst>
              </a:tr>
              <a:tr h="272493">
                <a:tc>
                  <a:txBody>
                    <a:bodyPr/>
                    <a:lstStyle/>
                    <a:p>
                      <a:pPr>
                        <a:buNone/>
                      </a:pPr>
                      <a:r>
                        <a:rPr lang="en-US" sz="1400" noProof="0" dirty="0"/>
                        <a:t>Near Food</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US" sz="1400" noProof="0" dirty="0"/>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US" sz="1400" noProof="0" dirty="0"/>
                        <a:t>5</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824237894"/>
                  </a:ext>
                </a:extLst>
              </a:tr>
            </a:tbl>
          </a:graphicData>
        </a:graphic>
      </p:graphicFrame>
      <p:sp>
        <p:nvSpPr>
          <p:cNvPr id="22" name="TextBox 21">
            <a:extLst>
              <a:ext uri="{FF2B5EF4-FFF2-40B4-BE49-F238E27FC236}">
                <a16:creationId xmlns:a16="http://schemas.microsoft.com/office/drawing/2014/main" id="{591AFC58-62D9-0D2D-DF0D-8889E8AEB7BB}"/>
              </a:ext>
            </a:extLst>
          </p:cNvPr>
          <p:cNvSpPr txBox="1"/>
          <p:nvPr/>
        </p:nvSpPr>
        <p:spPr>
          <a:xfrm>
            <a:off x="9530812" y="3636059"/>
            <a:ext cx="2322373" cy="307777"/>
          </a:xfrm>
          <a:prstGeom prst="rect">
            <a:avLst/>
          </a:prstGeom>
          <a:solidFill>
            <a:schemeClr val="bg1"/>
          </a:solidFill>
        </p:spPr>
        <p:txBody>
          <a:bodyPr wrap="square" rtlCol="0">
            <a:spAutoFit/>
          </a:bodyPr>
          <a:lstStyle/>
          <a:p>
            <a:r>
              <a:rPr lang="en-US" sz="1400" noProof="0" dirty="0"/>
              <a:t>Updated Table and Policy</a:t>
            </a:r>
          </a:p>
        </p:txBody>
      </p:sp>
      <p:graphicFrame>
        <p:nvGraphicFramePr>
          <p:cNvPr id="23" name="Table 22">
            <a:extLst>
              <a:ext uri="{FF2B5EF4-FFF2-40B4-BE49-F238E27FC236}">
                <a16:creationId xmlns:a16="http://schemas.microsoft.com/office/drawing/2014/main" id="{B54D9F54-6F47-2455-BB69-BB18CCD71831}"/>
              </a:ext>
            </a:extLst>
          </p:cNvPr>
          <p:cNvGraphicFramePr>
            <a:graphicFrameLocks noGrp="1"/>
          </p:cNvGraphicFramePr>
          <p:nvPr>
            <p:extLst>
              <p:ext uri="{D42A27DB-BD31-4B8C-83A1-F6EECF244321}">
                <p14:modId xmlns:p14="http://schemas.microsoft.com/office/powerpoint/2010/main" val="2151547202"/>
              </p:ext>
            </p:extLst>
          </p:nvPr>
        </p:nvGraphicFramePr>
        <p:xfrm>
          <a:off x="9440363" y="5276482"/>
          <a:ext cx="2577136" cy="1219200"/>
        </p:xfrm>
        <a:graphic>
          <a:graphicData uri="http://schemas.openxmlformats.org/drawingml/2006/table">
            <a:tbl>
              <a:tblPr firstRow="1">
                <a:tableStyleId>{69012ECD-51FC-41F1-AA8D-1B2483CD663E}</a:tableStyleId>
              </a:tblPr>
              <a:tblGrid>
                <a:gridCol w="1288568">
                  <a:extLst>
                    <a:ext uri="{9D8B030D-6E8A-4147-A177-3AD203B41FA5}">
                      <a16:colId xmlns:a16="http://schemas.microsoft.com/office/drawing/2014/main" val="3205538248"/>
                    </a:ext>
                  </a:extLst>
                </a:gridCol>
                <a:gridCol w="1288568">
                  <a:extLst>
                    <a:ext uri="{9D8B030D-6E8A-4147-A177-3AD203B41FA5}">
                      <a16:colId xmlns:a16="http://schemas.microsoft.com/office/drawing/2014/main" val="1460761945"/>
                    </a:ext>
                  </a:extLst>
                </a:gridCol>
              </a:tblGrid>
              <a:tr h="279265">
                <a:tc>
                  <a:txBody>
                    <a:bodyPr/>
                    <a:lstStyle/>
                    <a:p>
                      <a:pPr>
                        <a:buNone/>
                      </a:pPr>
                      <a:r>
                        <a:rPr lang="en-US" sz="1400" noProof="0" dirty="0"/>
                        <a:t>State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US" sz="1400" noProof="0" dirty="0"/>
                        <a:t>Best Action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784145334"/>
                  </a:ext>
                </a:extLst>
              </a:tr>
              <a:tr h="279265">
                <a:tc>
                  <a:txBody>
                    <a:bodyPr/>
                    <a:lstStyle/>
                    <a:p>
                      <a:pPr>
                        <a:buNone/>
                      </a:pPr>
                      <a:r>
                        <a:rPr lang="en-US" sz="1400" noProof="0" dirty="0"/>
                        <a:t>Start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US" sz="1400" noProof="0" dirty="0"/>
                        <a:t>Right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358853316"/>
                  </a:ext>
                </a:extLst>
              </a:tr>
              <a:tr h="279265">
                <a:tc>
                  <a:txBody>
                    <a:bodyPr/>
                    <a:lstStyle/>
                    <a:p>
                      <a:pPr>
                        <a:buNone/>
                      </a:pPr>
                      <a:r>
                        <a:rPr lang="en-US" sz="1400" noProof="0" dirty="0"/>
                        <a:t>Middle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US" sz="1400" noProof="0" dirty="0"/>
                        <a:t>Right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901678049"/>
                  </a:ext>
                </a:extLst>
              </a:tr>
              <a:tr h="279265">
                <a:tc>
                  <a:txBody>
                    <a:bodyPr/>
                    <a:lstStyle/>
                    <a:p>
                      <a:pPr>
                        <a:buNone/>
                      </a:pPr>
                      <a:r>
                        <a:rPr lang="en-US" sz="1400" noProof="0" dirty="0"/>
                        <a:t>Near Food</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US" sz="1400" noProof="0" dirty="0"/>
                        <a:t>Right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371165455"/>
                  </a:ext>
                </a:extLst>
              </a:tr>
            </a:tbl>
          </a:graphicData>
        </a:graphic>
      </p:graphicFrame>
    </p:spTree>
    <p:extLst>
      <p:ext uri="{BB962C8B-B14F-4D97-AF65-F5344CB8AC3E}">
        <p14:creationId xmlns:p14="http://schemas.microsoft.com/office/powerpoint/2010/main" val="3266133354"/>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5478AF-194F-9A3E-38A7-E3025EDB0E33}"/>
              </a:ext>
            </a:extLst>
          </p:cNvPr>
          <p:cNvSpPr>
            <a:spLocks noGrp="1"/>
          </p:cNvSpPr>
          <p:nvPr>
            <p:ph type="title"/>
          </p:nvPr>
        </p:nvSpPr>
        <p:spPr/>
        <p:txBody>
          <a:bodyPr/>
          <a:lstStyle/>
          <a:p>
            <a:r>
              <a:rPr lang="en-US" noProof="0" dirty="0"/>
              <a:t>Deep Learning</a:t>
            </a:r>
          </a:p>
        </p:txBody>
      </p:sp>
      <p:sp>
        <p:nvSpPr>
          <p:cNvPr id="3" name="Content Placeholder 2">
            <a:extLst>
              <a:ext uri="{FF2B5EF4-FFF2-40B4-BE49-F238E27FC236}">
                <a16:creationId xmlns:a16="http://schemas.microsoft.com/office/drawing/2014/main" id="{A3A4BBCD-BAFF-A251-0824-28EFF1C0D4C5}"/>
              </a:ext>
            </a:extLst>
          </p:cNvPr>
          <p:cNvSpPr>
            <a:spLocks noGrp="1"/>
          </p:cNvSpPr>
          <p:nvPr>
            <p:ph idx="1"/>
          </p:nvPr>
        </p:nvSpPr>
        <p:spPr/>
        <p:txBody>
          <a:bodyPr>
            <a:normAutofit/>
          </a:bodyPr>
          <a:lstStyle/>
          <a:p>
            <a:r>
              <a:rPr lang="en-US" noProof="0" dirty="0"/>
              <a:t>Subset of Machine Learning</a:t>
            </a:r>
          </a:p>
          <a:p>
            <a:r>
              <a:rPr lang="en-US" noProof="0" dirty="0"/>
              <a:t>Uses </a:t>
            </a:r>
            <a:r>
              <a:rPr lang="en-US" b="1" noProof="0" dirty="0"/>
              <a:t>Neural Networks </a:t>
            </a:r>
            <a:r>
              <a:rPr lang="en-US" noProof="0" dirty="0"/>
              <a:t>with multiple layers</a:t>
            </a:r>
          </a:p>
          <a:p>
            <a:r>
              <a:rPr lang="en-US" noProof="0" dirty="0"/>
              <a:t>Learns </a:t>
            </a:r>
            <a:r>
              <a:rPr lang="en-US" b="1" noProof="0" dirty="0"/>
              <a:t>complex patterns automatically</a:t>
            </a:r>
          </a:p>
          <a:p>
            <a:r>
              <a:rPr lang="en-US" noProof="0" dirty="0"/>
              <a:t>Inspired by the human brain</a:t>
            </a:r>
          </a:p>
          <a:p>
            <a:r>
              <a:rPr lang="en-US" noProof="0" dirty="0"/>
              <a:t>Made of neurons (nodes)</a:t>
            </a:r>
          </a:p>
          <a:p>
            <a:r>
              <a:rPr lang="en-US" noProof="0" dirty="0"/>
              <a:t>Organized in layers</a:t>
            </a:r>
          </a:p>
          <a:p>
            <a:pPr lvl="1"/>
            <a:r>
              <a:rPr lang="en-US" noProof="0" dirty="0"/>
              <a:t>Input Layer</a:t>
            </a:r>
          </a:p>
          <a:p>
            <a:pPr lvl="1"/>
            <a:r>
              <a:rPr lang="en-US" noProof="0" dirty="0"/>
              <a:t>Hidden Layers</a:t>
            </a:r>
          </a:p>
          <a:p>
            <a:pPr lvl="1"/>
            <a:r>
              <a:rPr lang="en-US" noProof="0" dirty="0"/>
              <a:t>Output Layer</a:t>
            </a:r>
          </a:p>
        </p:txBody>
      </p:sp>
      <p:pic>
        <p:nvPicPr>
          <p:cNvPr id="2050" name="Picture 2" descr="Scheme of neural networks with signatures. Input, hidden and output layers, fully connected and partially connected layers.">
            <a:extLst>
              <a:ext uri="{FF2B5EF4-FFF2-40B4-BE49-F238E27FC236}">
                <a16:creationId xmlns:a16="http://schemas.microsoft.com/office/drawing/2014/main" id="{711FBB25-0A22-9451-AD87-16FAB8869F4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760517" y="3266661"/>
            <a:ext cx="4929778" cy="359133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752052799"/>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B05535-8B5E-7C38-AF45-D84D301A9123}"/>
              </a:ext>
            </a:extLst>
          </p:cNvPr>
          <p:cNvSpPr>
            <a:spLocks noGrp="1"/>
          </p:cNvSpPr>
          <p:nvPr>
            <p:ph type="title"/>
          </p:nvPr>
        </p:nvSpPr>
        <p:spPr/>
        <p:txBody>
          <a:bodyPr/>
          <a:lstStyle/>
          <a:p>
            <a:r>
              <a:rPr lang="en-US" noProof="0" dirty="0"/>
              <a:t>Artificial Neuron and Activation Function</a:t>
            </a:r>
          </a:p>
        </p:txBody>
      </p:sp>
      <p:sp>
        <p:nvSpPr>
          <p:cNvPr id="3" name="Content Placeholder 2">
            <a:extLst>
              <a:ext uri="{FF2B5EF4-FFF2-40B4-BE49-F238E27FC236}">
                <a16:creationId xmlns:a16="http://schemas.microsoft.com/office/drawing/2014/main" id="{FA822914-7458-64AF-4AE2-B51453DAC5E4}"/>
              </a:ext>
            </a:extLst>
          </p:cNvPr>
          <p:cNvSpPr>
            <a:spLocks noGrp="1"/>
          </p:cNvSpPr>
          <p:nvPr>
            <p:ph idx="1"/>
          </p:nvPr>
        </p:nvSpPr>
        <p:spPr/>
        <p:txBody>
          <a:bodyPr>
            <a:normAutofit/>
          </a:bodyPr>
          <a:lstStyle/>
          <a:p>
            <a:r>
              <a:rPr lang="en-US" noProof="0" dirty="0"/>
              <a:t>Each neuron computes</a:t>
            </a:r>
          </a:p>
          <a:p>
            <a:pPr lvl="2"/>
            <a:r>
              <a:rPr lang="en-US" noProof="0" dirty="0"/>
              <a:t>Weighted sum of inputs</a:t>
            </a:r>
          </a:p>
          <a:p>
            <a:pPr lvl="2"/>
            <a:r>
              <a:rPr lang="en-US" noProof="0" dirty="0"/>
              <a:t>Adds bias</a:t>
            </a:r>
          </a:p>
          <a:p>
            <a:pPr lvl="2"/>
            <a:r>
              <a:rPr lang="en-US" noProof="0" dirty="0"/>
              <a:t>Applies activation function</a:t>
            </a:r>
          </a:p>
          <a:p>
            <a:pPr lvl="1"/>
            <a:r>
              <a:rPr lang="en-US" noProof="0" dirty="0"/>
              <a:t>Neuron formula: z = w</a:t>
            </a:r>
            <a:r>
              <a:rPr lang="en-US" baseline="-25000" noProof="0" dirty="0"/>
              <a:t>1</a:t>
            </a:r>
            <a:r>
              <a:rPr lang="en-US" noProof="0" dirty="0"/>
              <a:t>x</a:t>
            </a:r>
            <a:r>
              <a:rPr lang="en-US" baseline="-25000" noProof="0" dirty="0"/>
              <a:t>1</a:t>
            </a:r>
            <a:r>
              <a:rPr lang="en-US" noProof="0" dirty="0"/>
              <a:t> + w</a:t>
            </a:r>
            <a:r>
              <a:rPr lang="en-US" baseline="-25000" noProof="0" dirty="0"/>
              <a:t>2</a:t>
            </a:r>
            <a:r>
              <a:rPr lang="en-US" noProof="0" dirty="0"/>
              <a:t>x</a:t>
            </a:r>
            <a:r>
              <a:rPr lang="en-US" baseline="-25000" noProof="0" dirty="0"/>
              <a:t>2</a:t>
            </a:r>
            <a:r>
              <a:rPr lang="en-US" noProof="0" dirty="0"/>
              <a:t> + … + b</a:t>
            </a:r>
          </a:p>
          <a:p>
            <a:r>
              <a:rPr lang="en-US" noProof="0" dirty="0"/>
              <a:t>Activation function adds </a:t>
            </a:r>
            <a:r>
              <a:rPr lang="en-US" b="1" noProof="0" dirty="0"/>
              <a:t>non-linearity</a:t>
            </a:r>
          </a:p>
          <a:p>
            <a:pPr lvl="1"/>
            <a:r>
              <a:rPr lang="en-US" noProof="0" dirty="0"/>
              <a:t>Common types</a:t>
            </a:r>
          </a:p>
          <a:p>
            <a:pPr lvl="2"/>
            <a:r>
              <a:rPr lang="en-US" noProof="0" dirty="0"/>
              <a:t>Sigmoid</a:t>
            </a:r>
          </a:p>
          <a:p>
            <a:pPr lvl="2"/>
            <a:r>
              <a:rPr lang="en-US" noProof="0" dirty="0" err="1"/>
              <a:t>ReLU</a:t>
            </a:r>
            <a:endParaRPr lang="en-US" noProof="0" dirty="0"/>
          </a:p>
          <a:p>
            <a:pPr lvl="2"/>
            <a:r>
              <a:rPr lang="en-US" noProof="0" dirty="0"/>
              <a:t>Tanh</a:t>
            </a:r>
          </a:p>
          <a:p>
            <a:pPr marL="0" indent="0">
              <a:buNone/>
            </a:pPr>
            <a:endParaRPr lang="en-US" noProof="0" dirty="0"/>
          </a:p>
        </p:txBody>
      </p:sp>
      <p:pic>
        <p:nvPicPr>
          <p:cNvPr id="5" name="Picture 4">
            <a:extLst>
              <a:ext uri="{FF2B5EF4-FFF2-40B4-BE49-F238E27FC236}">
                <a16:creationId xmlns:a16="http://schemas.microsoft.com/office/drawing/2014/main" id="{A7184C89-C5C7-8BEA-2EE9-0282A683231C}"/>
              </a:ext>
            </a:extLst>
          </p:cNvPr>
          <p:cNvPicPr>
            <a:picLocks noChangeAspect="1"/>
          </p:cNvPicPr>
          <p:nvPr/>
        </p:nvPicPr>
        <p:blipFill>
          <a:blip r:embed="rId2"/>
          <a:stretch>
            <a:fillRect/>
          </a:stretch>
        </p:blipFill>
        <p:spPr>
          <a:xfrm>
            <a:off x="3730487" y="4667796"/>
            <a:ext cx="2153478" cy="936295"/>
          </a:xfrm>
          <a:prstGeom prst="rect">
            <a:avLst/>
          </a:prstGeom>
        </p:spPr>
      </p:pic>
    </p:spTree>
    <p:extLst>
      <p:ext uri="{BB962C8B-B14F-4D97-AF65-F5344CB8AC3E}">
        <p14:creationId xmlns:p14="http://schemas.microsoft.com/office/powerpoint/2010/main" val="3039138074"/>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CE725D-2502-7222-969A-BABD46E99BC7}"/>
              </a:ext>
            </a:extLst>
          </p:cNvPr>
          <p:cNvSpPr>
            <a:spLocks noGrp="1"/>
          </p:cNvSpPr>
          <p:nvPr>
            <p:ph type="title"/>
          </p:nvPr>
        </p:nvSpPr>
        <p:spPr/>
        <p:txBody>
          <a:bodyPr/>
          <a:lstStyle/>
          <a:p>
            <a:r>
              <a:rPr lang="en-US" noProof="0" dirty="0"/>
              <a:t>Forward Pass (Prediction Step)</a:t>
            </a:r>
          </a:p>
        </p:txBody>
      </p:sp>
      <p:sp>
        <p:nvSpPr>
          <p:cNvPr id="3" name="Content Placeholder 2">
            <a:extLst>
              <a:ext uri="{FF2B5EF4-FFF2-40B4-BE49-F238E27FC236}">
                <a16:creationId xmlns:a16="http://schemas.microsoft.com/office/drawing/2014/main" id="{1108B814-09BB-9F9E-147E-1B1ADC5D889F}"/>
              </a:ext>
            </a:extLst>
          </p:cNvPr>
          <p:cNvSpPr>
            <a:spLocks noGrp="1"/>
          </p:cNvSpPr>
          <p:nvPr>
            <p:ph idx="1"/>
          </p:nvPr>
        </p:nvSpPr>
        <p:spPr/>
        <p:txBody>
          <a:bodyPr/>
          <a:lstStyle/>
          <a:p>
            <a:r>
              <a:rPr lang="en-US" noProof="0" dirty="0"/>
              <a:t>Input features go to network</a:t>
            </a:r>
          </a:p>
          <a:p>
            <a:r>
              <a:rPr lang="en-US" noProof="0" dirty="0"/>
              <a:t>Each layer computes weighted sum</a:t>
            </a:r>
          </a:p>
          <a:p>
            <a:r>
              <a:rPr lang="en-US" noProof="0" dirty="0"/>
              <a:t>Activation applied</a:t>
            </a:r>
          </a:p>
          <a:p>
            <a:r>
              <a:rPr lang="en-US" noProof="0" dirty="0"/>
              <a:t>Final output produced</a:t>
            </a:r>
          </a:p>
          <a:p>
            <a:r>
              <a:rPr lang="en-US" noProof="0" dirty="0"/>
              <a:t>Example</a:t>
            </a:r>
          </a:p>
          <a:p>
            <a:pPr lvl="1"/>
            <a:r>
              <a:rPr lang="en-US" noProof="0" dirty="0"/>
              <a:t>Input = 2, Weight = 0.5, Bias = 1</a:t>
            </a:r>
          </a:p>
          <a:p>
            <a:pPr lvl="1"/>
            <a:r>
              <a:rPr lang="en-US" noProof="0" dirty="0"/>
              <a:t>Step 1: z = 0.5 x 2 + 1 = 2</a:t>
            </a:r>
          </a:p>
          <a:p>
            <a:pPr lvl="1"/>
            <a:r>
              <a:rPr lang="en-US" noProof="0" dirty="0"/>
              <a:t>Step 2: Output = </a:t>
            </a:r>
            <a:r>
              <a:rPr lang="en-US" noProof="0" dirty="0">
                <a:latin typeface="Cambria Math" panose="02040503050406030204" pitchFamily="18" charset="0"/>
                <a:ea typeface="Cambria Math" panose="02040503050406030204" pitchFamily="18" charset="0"/>
              </a:rPr>
              <a:t>𝞼</a:t>
            </a:r>
            <a:r>
              <a:rPr lang="en-US" noProof="0" dirty="0">
                <a:ea typeface="Cambria Math" panose="02040503050406030204" pitchFamily="18" charset="0"/>
              </a:rPr>
              <a:t>(2) ≈ 0.88</a:t>
            </a:r>
          </a:p>
          <a:p>
            <a:pPr lvl="1"/>
            <a:r>
              <a:rPr lang="en-US" noProof="0" dirty="0">
                <a:ea typeface="Cambria Math" panose="02040503050406030204" pitchFamily="18" charset="0"/>
              </a:rPr>
              <a:t>Prediction = 0.88</a:t>
            </a:r>
            <a:endParaRPr lang="en-US" noProof="0" dirty="0"/>
          </a:p>
        </p:txBody>
      </p:sp>
      <p:pic>
        <p:nvPicPr>
          <p:cNvPr id="3074" name="Picture 2" descr="What is Forward Propagation in Neural Networks - GeeksforGeeks">
            <a:extLst>
              <a:ext uri="{FF2B5EF4-FFF2-40B4-BE49-F238E27FC236}">
                <a16:creationId xmlns:a16="http://schemas.microsoft.com/office/drawing/2014/main" id="{252620F5-0367-0E1E-5366-B2E312780A7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976041" y="2888974"/>
            <a:ext cx="6123194" cy="306159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926040269"/>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809D863-BE70-923C-D808-C913ECBED561}"/>
              </a:ext>
            </a:extLst>
          </p:cNvPr>
          <p:cNvSpPr>
            <a:spLocks noGrp="1"/>
          </p:cNvSpPr>
          <p:nvPr>
            <p:ph type="title"/>
          </p:nvPr>
        </p:nvSpPr>
        <p:spPr/>
        <p:txBody>
          <a:bodyPr/>
          <a:lstStyle/>
          <a:p>
            <a:r>
              <a:rPr lang="en-US" noProof="0" dirty="0"/>
              <a:t>Loss Function and Backpropagation</a:t>
            </a:r>
          </a:p>
        </p:txBody>
      </p:sp>
      <p:sp>
        <p:nvSpPr>
          <p:cNvPr id="3" name="Content Placeholder 2">
            <a:extLst>
              <a:ext uri="{FF2B5EF4-FFF2-40B4-BE49-F238E27FC236}">
                <a16:creationId xmlns:a16="http://schemas.microsoft.com/office/drawing/2014/main" id="{A861B760-6563-4052-45A7-CCD99333EEE9}"/>
              </a:ext>
            </a:extLst>
          </p:cNvPr>
          <p:cNvSpPr>
            <a:spLocks noGrp="1"/>
          </p:cNvSpPr>
          <p:nvPr>
            <p:ph idx="1"/>
          </p:nvPr>
        </p:nvSpPr>
        <p:spPr/>
        <p:txBody>
          <a:bodyPr/>
          <a:lstStyle/>
          <a:p>
            <a:r>
              <a:rPr lang="en-US" noProof="0" dirty="0"/>
              <a:t>Loss function measures </a:t>
            </a:r>
            <a:r>
              <a:rPr lang="en-US" b="1" noProof="0" dirty="0"/>
              <a:t>error between prediction and actual</a:t>
            </a:r>
          </a:p>
          <a:p>
            <a:pPr lvl="1"/>
            <a:r>
              <a:rPr lang="en-US" noProof="0" dirty="0"/>
              <a:t>Common measures</a:t>
            </a:r>
          </a:p>
          <a:p>
            <a:pPr lvl="2"/>
            <a:r>
              <a:rPr lang="en-US" noProof="0" dirty="0"/>
              <a:t>Mean Square Error (MSE)</a:t>
            </a:r>
          </a:p>
          <a:p>
            <a:pPr lvl="2"/>
            <a:r>
              <a:rPr lang="en-US" noProof="0" dirty="0"/>
              <a:t>Binary Cross Entropy</a:t>
            </a:r>
          </a:p>
          <a:p>
            <a:r>
              <a:rPr lang="en-US" noProof="0" dirty="0"/>
              <a:t>Backpropagation = Learning step</a:t>
            </a:r>
          </a:p>
          <a:p>
            <a:pPr lvl="1"/>
            <a:r>
              <a:rPr lang="en-US" noProof="0" dirty="0"/>
              <a:t>Adjusts weights to reduce error</a:t>
            </a:r>
          </a:p>
          <a:p>
            <a:pPr lvl="2"/>
            <a:r>
              <a:rPr lang="en-US" noProof="0" dirty="0"/>
              <a:t>Compare prediction vs actual</a:t>
            </a:r>
          </a:p>
          <a:p>
            <a:pPr lvl="2"/>
            <a:r>
              <a:rPr lang="en-US" noProof="0" dirty="0"/>
              <a:t>Calculate error</a:t>
            </a:r>
          </a:p>
          <a:p>
            <a:pPr lvl="2"/>
            <a:r>
              <a:rPr lang="en-US" noProof="0" dirty="0"/>
              <a:t>Send error backward</a:t>
            </a:r>
          </a:p>
          <a:p>
            <a:pPr lvl="2"/>
            <a:r>
              <a:rPr lang="en-US" noProof="0" dirty="0"/>
              <a:t>Update weights</a:t>
            </a:r>
          </a:p>
        </p:txBody>
      </p:sp>
      <p:graphicFrame>
        <p:nvGraphicFramePr>
          <p:cNvPr id="18" name="Table 17">
            <a:extLst>
              <a:ext uri="{FF2B5EF4-FFF2-40B4-BE49-F238E27FC236}">
                <a16:creationId xmlns:a16="http://schemas.microsoft.com/office/drawing/2014/main" id="{6BFB3FE9-D3B5-8B41-A8CD-6E563ECE3A86}"/>
              </a:ext>
            </a:extLst>
          </p:cNvPr>
          <p:cNvGraphicFramePr>
            <a:graphicFrameLocks noGrp="1"/>
          </p:cNvGraphicFramePr>
          <p:nvPr>
            <p:extLst>
              <p:ext uri="{D42A27DB-BD31-4B8C-83A1-F6EECF244321}">
                <p14:modId xmlns:p14="http://schemas.microsoft.com/office/powerpoint/2010/main" val="4131107447"/>
              </p:ext>
            </p:extLst>
          </p:nvPr>
        </p:nvGraphicFramePr>
        <p:xfrm>
          <a:off x="7769553" y="3104312"/>
          <a:ext cx="3474917" cy="2560320"/>
        </p:xfrm>
        <a:graphic>
          <a:graphicData uri="http://schemas.openxmlformats.org/drawingml/2006/table">
            <a:tbl>
              <a:tblPr firstRow="1">
                <a:tableStyleId>{72833802-FEF1-4C79-8D5D-14CF1EAF98D9}</a:tableStyleId>
              </a:tblPr>
              <a:tblGrid>
                <a:gridCol w="700170">
                  <a:extLst>
                    <a:ext uri="{9D8B030D-6E8A-4147-A177-3AD203B41FA5}">
                      <a16:colId xmlns:a16="http://schemas.microsoft.com/office/drawing/2014/main" val="3116137284"/>
                    </a:ext>
                  </a:extLst>
                </a:gridCol>
                <a:gridCol w="2774747">
                  <a:extLst>
                    <a:ext uri="{9D8B030D-6E8A-4147-A177-3AD203B41FA5}">
                      <a16:colId xmlns:a16="http://schemas.microsoft.com/office/drawing/2014/main" val="2628948254"/>
                    </a:ext>
                  </a:extLst>
                </a:gridCol>
              </a:tblGrid>
              <a:tr h="340298">
                <a:tc>
                  <a:txBody>
                    <a:bodyPr/>
                    <a:lstStyle/>
                    <a:p>
                      <a:pPr>
                        <a:buNone/>
                      </a:pPr>
                      <a:r>
                        <a:rPr lang="en-US" sz="1800" noProof="0" dirty="0"/>
                        <a:t>Step</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US" sz="1800" noProof="0" dirty="0"/>
                        <a:t>Neural Network</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102968429"/>
                  </a:ext>
                </a:extLst>
              </a:tr>
              <a:tr h="340298">
                <a:tc>
                  <a:txBody>
                    <a:bodyPr/>
                    <a:lstStyle/>
                    <a:p>
                      <a:pPr>
                        <a:buNone/>
                      </a:pPr>
                      <a:r>
                        <a:rPr lang="en-US" sz="1800" noProof="0" dirty="0"/>
                        <a:t>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US" sz="1800" noProof="0" dirty="0"/>
                        <a:t>Linear score (z)</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897432654"/>
                  </a:ext>
                </a:extLst>
              </a:tr>
              <a:tr h="340298">
                <a:tc>
                  <a:txBody>
                    <a:bodyPr/>
                    <a:lstStyle/>
                    <a:p>
                      <a:pPr>
                        <a:buNone/>
                      </a:pPr>
                      <a:r>
                        <a:rPr lang="en-US" sz="1800" noProof="0" dirty="0"/>
                        <a:t>2</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US" sz="1800" noProof="0" dirty="0"/>
                        <a:t>Activation (probability)</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186420031"/>
                  </a:ext>
                </a:extLst>
              </a:tr>
              <a:tr h="340298">
                <a:tc>
                  <a:txBody>
                    <a:bodyPr/>
                    <a:lstStyle/>
                    <a:p>
                      <a:pPr>
                        <a:buNone/>
                      </a:pPr>
                      <a:r>
                        <a:rPr lang="en-US" sz="1800" noProof="0" dirty="0"/>
                        <a:t>3</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US" sz="1800" noProof="0" dirty="0"/>
                        <a:t>Compute error</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863660890"/>
                  </a:ext>
                </a:extLst>
              </a:tr>
              <a:tr h="340298">
                <a:tc>
                  <a:txBody>
                    <a:bodyPr/>
                    <a:lstStyle/>
                    <a:p>
                      <a:pPr>
                        <a:buNone/>
                      </a:pPr>
                      <a:r>
                        <a:rPr lang="en-US" sz="1800" noProof="0" dirty="0"/>
                        <a:t>4</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US" sz="1800" noProof="0" dirty="0"/>
                        <a:t>Backprop (gradient)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18433466"/>
                  </a:ext>
                </a:extLst>
              </a:tr>
              <a:tr h="340298">
                <a:tc>
                  <a:txBody>
                    <a:bodyPr/>
                    <a:lstStyle/>
                    <a:p>
                      <a:pPr>
                        <a:buNone/>
                      </a:pPr>
                      <a:r>
                        <a:rPr lang="en-US" sz="1800" noProof="0" dirty="0"/>
                        <a:t>5</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US" sz="1800" noProof="0" dirty="0"/>
                        <a:t>Update weights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221382133"/>
                  </a:ext>
                </a:extLst>
              </a:tr>
              <a:tr h="340298">
                <a:tc>
                  <a:txBody>
                    <a:bodyPr/>
                    <a:lstStyle/>
                    <a:p>
                      <a:pPr>
                        <a:buNone/>
                      </a:pPr>
                      <a:r>
                        <a:rPr lang="en-US" sz="1800" noProof="0" dirty="0"/>
                        <a:t>6</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US" sz="1800" noProof="0" dirty="0"/>
                        <a:t>Repeat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515894533"/>
                  </a:ext>
                </a:extLst>
              </a:tr>
            </a:tbl>
          </a:graphicData>
        </a:graphic>
      </p:graphicFrame>
    </p:spTree>
    <p:extLst>
      <p:ext uri="{BB962C8B-B14F-4D97-AF65-F5344CB8AC3E}">
        <p14:creationId xmlns:p14="http://schemas.microsoft.com/office/powerpoint/2010/main" val="478099830"/>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1477F6DC-3B8D-BB12-7686-D240B699950F}"/>
              </a:ext>
            </a:extLst>
          </p:cNvPr>
          <p:cNvSpPr>
            <a:spLocks noGrp="1"/>
          </p:cNvSpPr>
          <p:nvPr>
            <p:ph type="title"/>
          </p:nvPr>
        </p:nvSpPr>
        <p:spPr>
          <a:xfrm>
            <a:off x="91324" y="120820"/>
            <a:ext cx="3840443" cy="807539"/>
          </a:xfrm>
        </p:spPr>
        <p:txBody>
          <a:bodyPr>
            <a:noAutofit/>
          </a:bodyPr>
          <a:lstStyle/>
          <a:p>
            <a:r>
              <a:rPr lang="en-US" sz="2000" noProof="0" dirty="0"/>
              <a:t>Neural Network</a:t>
            </a:r>
            <a:br>
              <a:rPr lang="en-US" sz="2000" noProof="0" dirty="0"/>
            </a:br>
            <a:r>
              <a:rPr lang="en-US" sz="2000" noProof="0" dirty="0"/>
              <a:t>Predict Student Pass(1)/Fail(0)</a:t>
            </a:r>
          </a:p>
        </p:txBody>
      </p:sp>
      <p:graphicFrame>
        <p:nvGraphicFramePr>
          <p:cNvPr id="5" name="Table 4">
            <a:extLst>
              <a:ext uri="{FF2B5EF4-FFF2-40B4-BE49-F238E27FC236}">
                <a16:creationId xmlns:a16="http://schemas.microsoft.com/office/drawing/2014/main" id="{5A179B67-60DB-530F-82AC-828C6B486C33}"/>
              </a:ext>
            </a:extLst>
          </p:cNvPr>
          <p:cNvGraphicFramePr>
            <a:graphicFrameLocks noGrp="1"/>
          </p:cNvGraphicFramePr>
          <p:nvPr>
            <p:extLst>
              <p:ext uri="{D42A27DB-BD31-4B8C-83A1-F6EECF244321}">
                <p14:modId xmlns:p14="http://schemas.microsoft.com/office/powerpoint/2010/main" val="3109257767"/>
              </p:ext>
            </p:extLst>
          </p:nvPr>
        </p:nvGraphicFramePr>
        <p:xfrm>
          <a:off x="184089" y="848846"/>
          <a:ext cx="2631998" cy="1645920"/>
        </p:xfrm>
        <a:graphic>
          <a:graphicData uri="http://schemas.openxmlformats.org/drawingml/2006/table">
            <a:tbl>
              <a:tblPr firstRow="1">
                <a:tableStyleId>{69012ECD-51FC-41F1-AA8D-1B2483CD663E}</a:tableStyleId>
              </a:tblPr>
              <a:tblGrid>
                <a:gridCol w="727183">
                  <a:extLst>
                    <a:ext uri="{9D8B030D-6E8A-4147-A177-3AD203B41FA5}">
                      <a16:colId xmlns:a16="http://schemas.microsoft.com/office/drawing/2014/main" val="1744315953"/>
                    </a:ext>
                  </a:extLst>
                </a:gridCol>
                <a:gridCol w="1091783">
                  <a:extLst>
                    <a:ext uri="{9D8B030D-6E8A-4147-A177-3AD203B41FA5}">
                      <a16:colId xmlns:a16="http://schemas.microsoft.com/office/drawing/2014/main" val="2044460357"/>
                    </a:ext>
                  </a:extLst>
                </a:gridCol>
                <a:gridCol w="813032">
                  <a:extLst>
                    <a:ext uri="{9D8B030D-6E8A-4147-A177-3AD203B41FA5}">
                      <a16:colId xmlns:a16="http://schemas.microsoft.com/office/drawing/2014/main" val="637551877"/>
                    </a:ext>
                  </a:extLst>
                </a:gridCol>
              </a:tblGrid>
              <a:tr h="196456">
                <a:tc>
                  <a:txBody>
                    <a:bodyPr/>
                    <a:lstStyle/>
                    <a:p>
                      <a:pPr>
                        <a:buNone/>
                      </a:pPr>
                      <a:r>
                        <a:rPr lang="en-US" sz="1200" noProof="0" dirty="0"/>
                        <a:t>Student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US" sz="1200" noProof="0" dirty="0"/>
                        <a:t>Study Hours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US" sz="1200" noProof="0" dirty="0"/>
                        <a:t>Actual (y)</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524980017"/>
                  </a:ext>
                </a:extLst>
              </a:tr>
              <a:tr h="196456">
                <a:tc>
                  <a:txBody>
                    <a:bodyPr/>
                    <a:lstStyle/>
                    <a:p>
                      <a:pPr>
                        <a:buNone/>
                      </a:pPr>
                      <a:r>
                        <a:rPr lang="en-US" sz="1200" noProof="0" dirty="0"/>
                        <a:t>S1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US" sz="1200" noProof="0" dirty="0"/>
                        <a:t>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US" sz="1200" noProof="0" dirty="0"/>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518931284"/>
                  </a:ext>
                </a:extLst>
              </a:tr>
              <a:tr h="196456">
                <a:tc>
                  <a:txBody>
                    <a:bodyPr/>
                    <a:lstStyle/>
                    <a:p>
                      <a:pPr>
                        <a:buNone/>
                      </a:pPr>
                      <a:r>
                        <a:rPr lang="en-US" sz="1200" noProof="0" dirty="0"/>
                        <a:t>S2</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US" sz="1200" noProof="0" dirty="0"/>
                        <a:t>2</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US" sz="1200" noProof="0" dirty="0"/>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221706133"/>
                  </a:ext>
                </a:extLst>
              </a:tr>
              <a:tr h="196456">
                <a:tc>
                  <a:txBody>
                    <a:bodyPr/>
                    <a:lstStyle/>
                    <a:p>
                      <a:pPr>
                        <a:buNone/>
                      </a:pPr>
                      <a:r>
                        <a:rPr lang="en-US" sz="1200" noProof="0" dirty="0"/>
                        <a:t>S3</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US" sz="1200" noProof="0" dirty="0"/>
                        <a:t>3</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US" sz="1200" noProof="0" dirty="0"/>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481908797"/>
                  </a:ext>
                </a:extLst>
              </a:tr>
              <a:tr h="196456">
                <a:tc>
                  <a:txBody>
                    <a:bodyPr/>
                    <a:lstStyle/>
                    <a:p>
                      <a:pPr>
                        <a:buNone/>
                      </a:pPr>
                      <a:r>
                        <a:rPr lang="en-US" sz="1200" noProof="0" dirty="0"/>
                        <a:t>S4</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US" sz="1200" noProof="0" dirty="0"/>
                        <a:t>5</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US" sz="1200" noProof="0" dirty="0"/>
                        <a:t>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713339787"/>
                  </a:ext>
                </a:extLst>
              </a:tr>
              <a:tr h="196456">
                <a:tc>
                  <a:txBody>
                    <a:bodyPr/>
                    <a:lstStyle/>
                    <a:p>
                      <a:pPr>
                        <a:buNone/>
                      </a:pPr>
                      <a:r>
                        <a:rPr lang="en-US" sz="1200" noProof="0" dirty="0"/>
                        <a:t>S5</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US" sz="1200" noProof="0" dirty="0"/>
                        <a:t>6</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US" sz="1200" noProof="0" dirty="0"/>
                        <a:t>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788364884"/>
                  </a:ext>
                </a:extLst>
              </a:tr>
            </a:tbl>
          </a:graphicData>
        </a:graphic>
      </p:graphicFrame>
      <p:sp>
        <p:nvSpPr>
          <p:cNvPr id="6" name="TextBox 5">
            <a:extLst>
              <a:ext uri="{FF2B5EF4-FFF2-40B4-BE49-F238E27FC236}">
                <a16:creationId xmlns:a16="http://schemas.microsoft.com/office/drawing/2014/main" id="{47D62281-3DEC-BC7C-A9E8-8D880E0371AF}"/>
              </a:ext>
            </a:extLst>
          </p:cNvPr>
          <p:cNvSpPr txBox="1"/>
          <p:nvPr/>
        </p:nvSpPr>
        <p:spPr>
          <a:xfrm>
            <a:off x="184089" y="2594588"/>
            <a:ext cx="1691094" cy="1169551"/>
          </a:xfrm>
          <a:prstGeom prst="rect">
            <a:avLst/>
          </a:prstGeom>
          <a:solidFill>
            <a:schemeClr val="accent4">
              <a:lumMod val="40000"/>
              <a:lumOff val="60000"/>
            </a:schemeClr>
          </a:solidFill>
        </p:spPr>
        <p:txBody>
          <a:bodyPr wrap="square" rtlCol="0">
            <a:spAutoFit/>
          </a:bodyPr>
          <a:lstStyle/>
          <a:p>
            <a:r>
              <a:rPr lang="en-US" sz="1400" b="1" noProof="0" dirty="0"/>
              <a:t>Model</a:t>
            </a:r>
          </a:p>
          <a:p>
            <a:endParaRPr lang="en-US" sz="1400" noProof="0" dirty="0"/>
          </a:p>
          <a:p>
            <a:r>
              <a:rPr lang="en-US" sz="1400" noProof="0" dirty="0"/>
              <a:t>Assume</a:t>
            </a:r>
          </a:p>
          <a:p>
            <a:pPr marL="285750" indent="-285750">
              <a:buFont typeface="Arial" panose="020B0604020202020204" pitchFamily="34" charset="0"/>
              <a:buChar char="•"/>
            </a:pPr>
            <a:r>
              <a:rPr lang="en-US" sz="1400" noProof="0" dirty="0"/>
              <a:t>Weight (w) = 0.5</a:t>
            </a:r>
          </a:p>
          <a:p>
            <a:pPr marL="285750" indent="-285750">
              <a:buFont typeface="Arial" panose="020B0604020202020204" pitchFamily="34" charset="0"/>
              <a:buChar char="•"/>
            </a:pPr>
            <a:r>
              <a:rPr lang="en-US" sz="1400" noProof="0" dirty="0"/>
              <a:t>Bias (b) = 0</a:t>
            </a:r>
          </a:p>
        </p:txBody>
      </p:sp>
      <p:sp>
        <p:nvSpPr>
          <p:cNvPr id="7" name="TextBox 6">
            <a:extLst>
              <a:ext uri="{FF2B5EF4-FFF2-40B4-BE49-F238E27FC236}">
                <a16:creationId xmlns:a16="http://schemas.microsoft.com/office/drawing/2014/main" id="{3E9B6BE9-D791-9FE6-C95E-5E946DF2FB41}"/>
              </a:ext>
            </a:extLst>
          </p:cNvPr>
          <p:cNvSpPr txBox="1"/>
          <p:nvPr/>
        </p:nvSpPr>
        <p:spPr>
          <a:xfrm>
            <a:off x="184088" y="3863961"/>
            <a:ext cx="1797111" cy="738664"/>
          </a:xfrm>
          <a:prstGeom prst="rect">
            <a:avLst/>
          </a:prstGeom>
          <a:solidFill>
            <a:schemeClr val="accent4">
              <a:lumMod val="40000"/>
              <a:lumOff val="60000"/>
            </a:schemeClr>
          </a:solidFill>
        </p:spPr>
        <p:txBody>
          <a:bodyPr wrap="square" rtlCol="0">
            <a:spAutoFit/>
          </a:bodyPr>
          <a:lstStyle/>
          <a:p>
            <a:r>
              <a:rPr lang="en-US" sz="1400" b="1" noProof="0" dirty="0"/>
              <a:t>Step 1: Forward Pass</a:t>
            </a:r>
          </a:p>
          <a:p>
            <a:endParaRPr lang="en-US" sz="1400" noProof="0" dirty="0"/>
          </a:p>
          <a:p>
            <a:r>
              <a:rPr lang="en-US" sz="1400" noProof="0" dirty="0"/>
              <a:t>z = </a:t>
            </a:r>
            <a:r>
              <a:rPr lang="en-US" sz="1400" noProof="0" dirty="0" err="1"/>
              <a:t>wx</a:t>
            </a:r>
            <a:r>
              <a:rPr lang="en-US" sz="1400" noProof="0" dirty="0"/>
              <a:t> + b</a:t>
            </a:r>
          </a:p>
        </p:txBody>
      </p:sp>
      <p:sp>
        <p:nvSpPr>
          <p:cNvPr id="8" name="TextBox 7">
            <a:extLst>
              <a:ext uri="{FF2B5EF4-FFF2-40B4-BE49-F238E27FC236}">
                <a16:creationId xmlns:a16="http://schemas.microsoft.com/office/drawing/2014/main" id="{1851D598-9AB1-08B1-4866-F655C1D050E6}"/>
              </a:ext>
            </a:extLst>
          </p:cNvPr>
          <p:cNvSpPr txBox="1"/>
          <p:nvPr/>
        </p:nvSpPr>
        <p:spPr>
          <a:xfrm>
            <a:off x="184088" y="4661443"/>
            <a:ext cx="2194676" cy="1169551"/>
          </a:xfrm>
          <a:prstGeom prst="rect">
            <a:avLst/>
          </a:prstGeom>
          <a:solidFill>
            <a:schemeClr val="accent4">
              <a:lumMod val="40000"/>
              <a:lumOff val="60000"/>
            </a:schemeClr>
          </a:solidFill>
        </p:spPr>
        <p:txBody>
          <a:bodyPr wrap="square" rtlCol="0">
            <a:spAutoFit/>
          </a:bodyPr>
          <a:lstStyle/>
          <a:p>
            <a:r>
              <a:rPr lang="en-US" sz="1400" b="1" noProof="0" dirty="0"/>
              <a:t>Step 2: Activation Function</a:t>
            </a:r>
          </a:p>
          <a:p>
            <a:endParaRPr lang="en-US" sz="1400" noProof="0" dirty="0"/>
          </a:p>
          <a:p>
            <a:endParaRPr lang="en-US" sz="1400" noProof="0" dirty="0"/>
          </a:p>
          <a:p>
            <a:endParaRPr lang="en-US" sz="1400" noProof="0" dirty="0"/>
          </a:p>
          <a:p>
            <a:endParaRPr lang="en-US" sz="1400" noProof="0" dirty="0"/>
          </a:p>
        </p:txBody>
      </p:sp>
      <p:pic>
        <p:nvPicPr>
          <p:cNvPr id="12" name="Picture 11">
            <a:extLst>
              <a:ext uri="{FF2B5EF4-FFF2-40B4-BE49-F238E27FC236}">
                <a16:creationId xmlns:a16="http://schemas.microsoft.com/office/drawing/2014/main" id="{5E0803D1-F831-30DB-3CF4-9F41D0711E51}"/>
              </a:ext>
            </a:extLst>
          </p:cNvPr>
          <p:cNvPicPr>
            <a:picLocks noChangeAspect="1"/>
          </p:cNvPicPr>
          <p:nvPr/>
        </p:nvPicPr>
        <p:blipFill>
          <a:blip r:embed="rId2"/>
          <a:stretch>
            <a:fillRect/>
          </a:stretch>
        </p:blipFill>
        <p:spPr>
          <a:xfrm>
            <a:off x="290244" y="5016650"/>
            <a:ext cx="1209844" cy="666843"/>
          </a:xfrm>
          <a:prstGeom prst="rect">
            <a:avLst/>
          </a:prstGeom>
        </p:spPr>
      </p:pic>
      <mc:AlternateContent xmlns:mc="http://schemas.openxmlformats.org/markup-compatibility/2006">
        <mc:Choice xmlns:a14="http://schemas.microsoft.com/office/drawing/2010/main" Requires="a14">
          <p:sp>
            <p:nvSpPr>
              <p:cNvPr id="13" name="TextBox 12">
                <a:extLst>
                  <a:ext uri="{FF2B5EF4-FFF2-40B4-BE49-F238E27FC236}">
                    <a16:creationId xmlns:a16="http://schemas.microsoft.com/office/drawing/2014/main" id="{42AD11F0-482C-1800-9387-9F7E46D58460}"/>
                  </a:ext>
                </a:extLst>
              </p:cNvPr>
              <p:cNvSpPr txBox="1"/>
              <p:nvPr/>
            </p:nvSpPr>
            <p:spPr>
              <a:xfrm>
                <a:off x="3427990" y="21429"/>
                <a:ext cx="2734271" cy="6986528"/>
              </a:xfrm>
              <a:prstGeom prst="rect">
                <a:avLst/>
              </a:prstGeom>
              <a:solidFill>
                <a:schemeClr val="accent4">
                  <a:lumMod val="40000"/>
                  <a:lumOff val="60000"/>
                </a:schemeClr>
              </a:solidFill>
            </p:spPr>
            <p:txBody>
              <a:bodyPr wrap="square" rtlCol="0">
                <a:spAutoFit/>
              </a:bodyPr>
              <a:lstStyle/>
              <a:p>
                <a:r>
                  <a:rPr lang="en-US" sz="1400" b="1" noProof="0" dirty="0"/>
                  <a:t>Forward Pass: An Example</a:t>
                </a:r>
              </a:p>
              <a:p>
                <a:endParaRPr lang="en-US" sz="1400" noProof="0" dirty="0"/>
              </a:p>
              <a:p>
                <a:r>
                  <a:rPr lang="en-US" sz="1400" noProof="0" dirty="0"/>
                  <a:t>Student S3: x = 3, Actual y = 0</a:t>
                </a:r>
              </a:p>
              <a:p>
                <a:pPr marL="342900" indent="-342900">
                  <a:buAutoNum type="arabicPeriod"/>
                </a:pPr>
                <a:r>
                  <a:rPr lang="en-US" sz="1400" noProof="0" dirty="0"/>
                  <a:t>z = 0.5 x 3 + 0 = 1.5</a:t>
                </a:r>
              </a:p>
              <a:p>
                <a:pPr marL="342900" indent="-342900">
                  <a:buAutoNum type="arabicPeriod"/>
                </a:pPr>
                <a:r>
                  <a:rPr lang="en-US" sz="1400" noProof="0" dirty="0"/>
                  <a:t>ŷ ≈ 0.82</a:t>
                </a:r>
              </a:p>
              <a:p>
                <a:pPr marL="285750" indent="-285750">
                  <a:buFont typeface="Wingdings" panose="05000000000000000000" pitchFamily="2" charset="2"/>
                  <a:buChar char="v"/>
                </a:pPr>
                <a:r>
                  <a:rPr lang="en-US" sz="1400" noProof="0" dirty="0"/>
                  <a:t>Model says 82% pass</a:t>
                </a:r>
              </a:p>
              <a:p>
                <a:pPr marL="285750" indent="-285750">
                  <a:buFont typeface="Wingdings" panose="05000000000000000000" pitchFamily="2" charset="2"/>
                  <a:buChar char="v"/>
                </a:pPr>
                <a:r>
                  <a:rPr lang="en-US" sz="1400" noProof="0" dirty="0"/>
                  <a:t>WRONG!</a:t>
                </a:r>
              </a:p>
              <a:p>
                <a:pPr marL="285750" indent="-285750">
                  <a:buFont typeface="Wingdings" panose="05000000000000000000" pitchFamily="2" charset="2"/>
                  <a:buChar char="v"/>
                </a:pPr>
                <a:endParaRPr lang="en-US" sz="1400" noProof="0" dirty="0"/>
              </a:p>
              <a:p>
                <a:r>
                  <a:rPr lang="en-US" sz="1400" b="1" noProof="0" dirty="0"/>
                  <a:t>Compute Loss (Error)</a:t>
                </a:r>
                <a:endParaRPr lang="en-US" sz="1400" noProof="0" dirty="0"/>
              </a:p>
              <a:p>
                <a:r>
                  <a:rPr lang="en-US" sz="1400" noProof="0" dirty="0"/>
                  <a:t>Using Simple Squared Error</a:t>
                </a:r>
              </a:p>
              <a:p>
                <a:r>
                  <a:rPr lang="en-US" sz="1400" noProof="0" dirty="0"/>
                  <a:t>L = (y – ŷ)</a:t>
                </a:r>
                <a:r>
                  <a:rPr lang="en-US" sz="1400" baseline="30000" noProof="0" dirty="0"/>
                  <a:t>2</a:t>
                </a:r>
                <a:r>
                  <a:rPr lang="en-US" sz="1400" noProof="0" dirty="0"/>
                  <a:t> = (0 – 0.82)</a:t>
                </a:r>
                <a:r>
                  <a:rPr lang="en-US" sz="1400" baseline="30000" noProof="0" dirty="0"/>
                  <a:t>2</a:t>
                </a:r>
                <a:r>
                  <a:rPr lang="en-US" sz="1400" noProof="0" dirty="0"/>
                  <a:t> ≈ 0.67</a:t>
                </a:r>
              </a:p>
              <a:p>
                <a:pPr marL="285750" indent="-285750">
                  <a:buFont typeface="Wingdings" panose="05000000000000000000" pitchFamily="2" charset="2"/>
                  <a:buChar char="v"/>
                </a:pPr>
                <a:r>
                  <a:rPr lang="en-US" sz="1400" noProof="0" dirty="0"/>
                  <a:t>High error</a:t>
                </a:r>
              </a:p>
              <a:p>
                <a:pPr marL="285750" indent="-285750">
                  <a:buFont typeface="Wingdings" panose="05000000000000000000" pitchFamily="2" charset="2"/>
                  <a:buChar char="v"/>
                </a:pPr>
                <a:endParaRPr lang="en-US" sz="1400" noProof="0" dirty="0"/>
              </a:p>
              <a:p>
                <a:r>
                  <a:rPr lang="en-US" sz="1400" b="1" noProof="0" dirty="0"/>
                  <a:t>Backpropagation (Find Gradient)</a:t>
                </a:r>
                <a:endParaRPr lang="en-US" sz="1400" noProof="0" dirty="0"/>
              </a:p>
              <a:p>
                <a:r>
                  <a:rPr lang="en-US" sz="1400" noProof="0" dirty="0"/>
                  <a:t>Compute how much </a:t>
                </a:r>
                <a:r>
                  <a:rPr lang="en-US" sz="1400" b="1" noProof="0" dirty="0"/>
                  <a:t>w</a:t>
                </a:r>
                <a:r>
                  <a:rPr lang="en-US" sz="1400" noProof="0" dirty="0"/>
                  <a:t> caused the error: </a:t>
                </a:r>
                <a14:m>
                  <m:oMath xmlns:m="http://schemas.openxmlformats.org/officeDocument/2006/math">
                    <m:f>
                      <m:fPr>
                        <m:ctrlPr>
                          <a:rPr lang="en-US" sz="1400" i="1" noProof="0">
                            <a:latin typeface="Cambria Math" panose="02040503050406030204" pitchFamily="18" charset="0"/>
                          </a:rPr>
                        </m:ctrlPr>
                      </m:fPr>
                      <m:num>
                        <m:r>
                          <a:rPr lang="en-US" sz="1400" i="1" noProof="0">
                            <a:latin typeface="Cambria Math" panose="02040503050406030204" pitchFamily="18" charset="0"/>
                          </a:rPr>
                          <m:t>𝜕</m:t>
                        </m:r>
                        <m:r>
                          <a:rPr lang="en-US" sz="1400" i="1" noProof="0" smtClean="0">
                            <a:latin typeface="Cambria Math" panose="02040503050406030204" pitchFamily="18" charset="0"/>
                          </a:rPr>
                          <m:t>𝐿</m:t>
                        </m:r>
                      </m:num>
                      <m:den>
                        <m:r>
                          <a:rPr lang="en-US" sz="1400" i="1" noProof="0">
                            <a:latin typeface="Cambria Math" panose="02040503050406030204" pitchFamily="18" charset="0"/>
                          </a:rPr>
                          <m:t>𝜕</m:t>
                        </m:r>
                        <m:r>
                          <a:rPr lang="en-US" sz="1400" i="1" noProof="0" smtClean="0">
                            <a:latin typeface="Cambria Math" panose="02040503050406030204" pitchFamily="18" charset="0"/>
                          </a:rPr>
                          <m:t>𝑤</m:t>
                        </m:r>
                      </m:den>
                    </m:f>
                  </m:oMath>
                </a14:m>
                <a:r>
                  <a:rPr lang="en-US" sz="1400" noProof="0" dirty="0"/>
                  <a:t> ≈ 0.726*</a:t>
                </a:r>
              </a:p>
              <a:p>
                <a:endParaRPr lang="en-US" sz="1400" noProof="0" dirty="0"/>
              </a:p>
              <a:p>
                <a:endParaRPr lang="en-US" sz="1400" noProof="0" dirty="0"/>
              </a:p>
              <a:p>
                <a:r>
                  <a:rPr lang="en-US" sz="1400" b="1" noProof="0" dirty="0"/>
                  <a:t>Update weight</a:t>
                </a:r>
              </a:p>
              <a:p>
                <a:r>
                  <a:rPr lang="en-US" sz="1400" noProof="0" dirty="0"/>
                  <a:t>Suppose η = 0.1</a:t>
                </a:r>
              </a:p>
              <a:p>
                <a:r>
                  <a:rPr lang="en-US" sz="1400" noProof="0" dirty="0"/>
                  <a:t>w = 0.5 – 0.1 x 0.726 = 0.4274</a:t>
                </a:r>
              </a:p>
              <a:p>
                <a:pPr marL="285750" indent="-285750">
                  <a:buFont typeface="Wingdings" panose="05000000000000000000" pitchFamily="2" charset="2"/>
                  <a:buChar char="v"/>
                </a:pPr>
                <a:r>
                  <a:rPr lang="en-US" sz="1400" noProof="0" dirty="0"/>
                  <a:t>Weight reduced -&gt; Model becomes less confident</a:t>
                </a:r>
              </a:p>
              <a:p>
                <a:endParaRPr lang="en-US" sz="1400" noProof="0" dirty="0"/>
              </a:p>
              <a:p>
                <a:endParaRPr lang="en-US" sz="1400" noProof="0" dirty="0"/>
              </a:p>
              <a:p>
                <a:endParaRPr lang="en-US" sz="1400" noProof="0" dirty="0"/>
              </a:p>
              <a:p>
                <a:r>
                  <a:rPr lang="en-US" sz="1400" b="1" noProof="0" dirty="0"/>
                  <a:t>Next forward pass </a:t>
                </a:r>
              </a:p>
              <a:p>
                <a:r>
                  <a:rPr lang="en-US" sz="1400" noProof="0" dirty="0"/>
                  <a:t>z = 0.4274 x 3 = 1.2822</a:t>
                </a:r>
              </a:p>
              <a:p>
                <a:r>
                  <a:rPr lang="en-US" sz="1400" noProof="0" dirty="0"/>
                  <a:t>ŷ ≈ 0.783</a:t>
                </a:r>
              </a:p>
              <a:p>
                <a:pPr marL="285750" indent="-285750">
                  <a:buFont typeface="Wingdings" panose="05000000000000000000" pitchFamily="2" charset="2"/>
                  <a:buChar char="v"/>
                </a:pPr>
                <a:r>
                  <a:rPr lang="en-US" sz="1400" noProof="0" dirty="0"/>
                  <a:t>Prediction improved slightly</a:t>
                </a:r>
              </a:p>
              <a:p>
                <a:pPr marL="285750" indent="-285750">
                  <a:buFont typeface="Wingdings" panose="05000000000000000000" pitchFamily="2" charset="2"/>
                  <a:buChar char="v"/>
                </a:pPr>
                <a:r>
                  <a:rPr lang="en-US" sz="1400" noProof="0" dirty="0"/>
                  <a:t>Moving towards 0</a:t>
                </a:r>
              </a:p>
            </p:txBody>
          </p:sp>
        </mc:Choice>
        <mc:Fallback>
          <p:sp>
            <p:nvSpPr>
              <p:cNvPr id="13" name="TextBox 12">
                <a:extLst>
                  <a:ext uri="{FF2B5EF4-FFF2-40B4-BE49-F238E27FC236}">
                    <a16:creationId xmlns:a16="http://schemas.microsoft.com/office/drawing/2014/main" id="{42AD11F0-482C-1800-9387-9F7E46D58460}"/>
                  </a:ext>
                </a:extLst>
              </p:cNvPr>
              <p:cNvSpPr txBox="1">
                <a:spLocks noRot="1" noChangeAspect="1" noMove="1" noResize="1" noEditPoints="1" noAdjustHandles="1" noChangeArrowheads="1" noChangeShapeType="1" noTextEdit="1"/>
              </p:cNvSpPr>
              <p:nvPr/>
            </p:nvSpPr>
            <p:spPr>
              <a:xfrm>
                <a:off x="3427990" y="21429"/>
                <a:ext cx="2734271" cy="6986528"/>
              </a:xfrm>
              <a:prstGeom prst="rect">
                <a:avLst/>
              </a:prstGeom>
              <a:blipFill>
                <a:blip r:embed="rId3"/>
                <a:stretch>
                  <a:fillRect l="-668" t="-175"/>
                </a:stretch>
              </a:blipFill>
            </p:spPr>
            <p:txBody>
              <a:bodyPr/>
              <a:lstStyle/>
              <a:p>
                <a:r>
                  <a:rPr lang="en-GB">
                    <a:noFill/>
                  </a:rPr>
                  <a:t> </a:t>
                </a:r>
              </a:p>
            </p:txBody>
          </p:sp>
        </mc:Fallback>
      </mc:AlternateContent>
      <p:pic>
        <p:nvPicPr>
          <p:cNvPr id="17" name="Picture 16">
            <a:extLst>
              <a:ext uri="{FF2B5EF4-FFF2-40B4-BE49-F238E27FC236}">
                <a16:creationId xmlns:a16="http://schemas.microsoft.com/office/drawing/2014/main" id="{FBE133CB-397C-37B2-76A1-D5F44A7B52FD}"/>
              </a:ext>
            </a:extLst>
          </p:cNvPr>
          <p:cNvPicPr>
            <a:picLocks noChangeAspect="1"/>
          </p:cNvPicPr>
          <p:nvPr/>
        </p:nvPicPr>
        <p:blipFill>
          <a:blip r:embed="rId4"/>
          <a:stretch>
            <a:fillRect/>
          </a:stretch>
        </p:blipFill>
        <p:spPr>
          <a:xfrm>
            <a:off x="3503505" y="5128060"/>
            <a:ext cx="1399799" cy="444022"/>
          </a:xfrm>
          <a:prstGeom prst="rect">
            <a:avLst/>
          </a:prstGeom>
        </p:spPr>
      </p:pic>
      <mc:AlternateContent xmlns:mc="http://schemas.openxmlformats.org/markup-compatibility/2006">
        <mc:Choice xmlns:a14="http://schemas.microsoft.com/office/drawing/2010/main" Requires="a14">
          <p:sp>
            <p:nvSpPr>
              <p:cNvPr id="19" name="TextBox 18">
                <a:extLst>
                  <a:ext uri="{FF2B5EF4-FFF2-40B4-BE49-F238E27FC236}">
                    <a16:creationId xmlns:a16="http://schemas.microsoft.com/office/drawing/2014/main" id="{8DE19AD1-EE4A-4E37-7775-0CDBE8AB9B80}"/>
                  </a:ext>
                </a:extLst>
              </p:cNvPr>
              <p:cNvSpPr txBox="1"/>
              <p:nvPr/>
            </p:nvSpPr>
            <p:spPr>
              <a:xfrm>
                <a:off x="6224524" y="29785"/>
                <a:ext cx="4079041" cy="3447739"/>
              </a:xfrm>
              <a:prstGeom prst="rect">
                <a:avLst/>
              </a:prstGeom>
              <a:solidFill>
                <a:schemeClr val="accent4">
                  <a:lumMod val="40000"/>
                  <a:lumOff val="60000"/>
                </a:schemeClr>
              </a:solidFill>
            </p:spPr>
            <p:txBody>
              <a:bodyPr wrap="square" rtlCol="0">
                <a:spAutoFit/>
              </a:bodyPr>
              <a:lstStyle/>
              <a:p>
                <a:r>
                  <a:rPr lang="en-US" sz="1400" b="1" noProof="0" dirty="0"/>
                  <a:t>Backpropagation Chain Rule</a:t>
                </a:r>
              </a:p>
              <a:p>
                <a:endParaRPr lang="en-US" sz="1400" noProof="0" dirty="0"/>
              </a:p>
              <a:p>
                <a:r>
                  <a:rPr lang="en-US" sz="1400" noProof="0" dirty="0"/>
                  <a:t>We want: </a:t>
                </a:r>
                <a14:m>
                  <m:oMath xmlns:m="http://schemas.openxmlformats.org/officeDocument/2006/math">
                    <m:f>
                      <m:fPr>
                        <m:ctrlPr>
                          <a:rPr lang="en-US" sz="1400" i="1" noProof="0" smtClean="0">
                            <a:latin typeface="Cambria Math" panose="02040503050406030204" pitchFamily="18" charset="0"/>
                          </a:rPr>
                        </m:ctrlPr>
                      </m:fPr>
                      <m:num>
                        <m:r>
                          <a:rPr lang="en-US" sz="1400" i="1" noProof="0" smtClean="0">
                            <a:latin typeface="Cambria Math" panose="02040503050406030204" pitchFamily="18" charset="0"/>
                          </a:rPr>
                          <m:t>𝜕</m:t>
                        </m:r>
                        <m:r>
                          <a:rPr lang="en-US" sz="1400" b="0" i="1" noProof="0" smtClean="0">
                            <a:latin typeface="Cambria Math" panose="02040503050406030204" pitchFamily="18" charset="0"/>
                          </a:rPr>
                          <m:t>𝐿</m:t>
                        </m:r>
                      </m:num>
                      <m:den>
                        <m:r>
                          <a:rPr lang="en-US" sz="1400" i="1" noProof="0" smtClean="0">
                            <a:latin typeface="Cambria Math" panose="02040503050406030204" pitchFamily="18" charset="0"/>
                          </a:rPr>
                          <m:t>𝜕</m:t>
                        </m:r>
                        <m:r>
                          <a:rPr lang="en-US" sz="1400" b="0" i="1" noProof="0" smtClean="0">
                            <a:latin typeface="Cambria Math" panose="02040503050406030204" pitchFamily="18" charset="0"/>
                          </a:rPr>
                          <m:t>𝑤</m:t>
                        </m:r>
                      </m:den>
                    </m:f>
                  </m:oMath>
                </a14:m>
                <a:endParaRPr lang="en-US" sz="1400" noProof="0" dirty="0"/>
              </a:p>
              <a:p>
                <a:endParaRPr lang="en-US" sz="1400" noProof="0" dirty="0"/>
              </a:p>
              <a:p>
                <a:r>
                  <a:rPr lang="en-US" sz="1400" noProof="0" dirty="0"/>
                  <a:t>Chain Rule: </a:t>
                </a:r>
                <a14:m>
                  <m:oMath xmlns:m="http://schemas.openxmlformats.org/officeDocument/2006/math">
                    <m:f>
                      <m:fPr>
                        <m:ctrlPr>
                          <a:rPr lang="en-US" sz="1400" i="1" noProof="0">
                            <a:latin typeface="Cambria Math" panose="02040503050406030204" pitchFamily="18" charset="0"/>
                          </a:rPr>
                        </m:ctrlPr>
                      </m:fPr>
                      <m:num>
                        <m:r>
                          <a:rPr lang="en-US" sz="1400" i="1" noProof="0">
                            <a:latin typeface="Cambria Math" panose="02040503050406030204" pitchFamily="18" charset="0"/>
                          </a:rPr>
                          <m:t>𝜕</m:t>
                        </m:r>
                        <m:r>
                          <a:rPr lang="en-US" sz="1400" i="1" noProof="0" smtClean="0">
                            <a:latin typeface="Cambria Math" panose="02040503050406030204" pitchFamily="18" charset="0"/>
                          </a:rPr>
                          <m:t>𝐿</m:t>
                        </m:r>
                      </m:num>
                      <m:den>
                        <m:r>
                          <a:rPr lang="en-US" sz="1400" i="1" noProof="0">
                            <a:latin typeface="Cambria Math" panose="02040503050406030204" pitchFamily="18" charset="0"/>
                          </a:rPr>
                          <m:t>𝜕</m:t>
                        </m:r>
                        <m:r>
                          <a:rPr lang="en-US" sz="1400" i="1" noProof="0" smtClean="0">
                            <a:latin typeface="Cambria Math" panose="02040503050406030204" pitchFamily="18" charset="0"/>
                          </a:rPr>
                          <m:t>𝑤</m:t>
                        </m:r>
                      </m:den>
                    </m:f>
                  </m:oMath>
                </a14:m>
                <a:r>
                  <a:rPr lang="en-US" sz="1400" noProof="0" dirty="0"/>
                  <a:t> = </a:t>
                </a:r>
                <a14:m>
                  <m:oMath xmlns:m="http://schemas.openxmlformats.org/officeDocument/2006/math">
                    <m:f>
                      <m:fPr>
                        <m:ctrlPr>
                          <a:rPr lang="en-US" sz="1400" i="1" noProof="0">
                            <a:latin typeface="Cambria Math" panose="02040503050406030204" pitchFamily="18" charset="0"/>
                          </a:rPr>
                        </m:ctrlPr>
                      </m:fPr>
                      <m:num>
                        <m:r>
                          <a:rPr lang="en-US" sz="1400" i="1" noProof="0">
                            <a:latin typeface="Cambria Math" panose="02040503050406030204" pitchFamily="18" charset="0"/>
                          </a:rPr>
                          <m:t>𝜕</m:t>
                        </m:r>
                        <m:r>
                          <a:rPr lang="en-US" sz="1400" i="1" noProof="0" smtClean="0">
                            <a:latin typeface="Cambria Math" panose="02040503050406030204" pitchFamily="18" charset="0"/>
                          </a:rPr>
                          <m:t>𝐿</m:t>
                        </m:r>
                      </m:num>
                      <m:den>
                        <m:r>
                          <a:rPr lang="en-US" sz="1400" i="1" noProof="0">
                            <a:latin typeface="Cambria Math" panose="02040503050406030204" pitchFamily="18" charset="0"/>
                          </a:rPr>
                          <m:t>𝜕</m:t>
                        </m:r>
                        <m:r>
                          <m:rPr>
                            <m:nor/>
                          </m:rPr>
                          <a:rPr lang="en-US" sz="1400" noProof="0" smtClean="0"/>
                          <m:t>ŷ</m:t>
                        </m:r>
                      </m:den>
                    </m:f>
                  </m:oMath>
                </a14:m>
                <a:r>
                  <a:rPr lang="en-US" sz="1400" noProof="0" dirty="0"/>
                  <a:t> . </a:t>
                </a:r>
                <a14:m>
                  <m:oMath xmlns:m="http://schemas.openxmlformats.org/officeDocument/2006/math">
                    <m:f>
                      <m:fPr>
                        <m:ctrlPr>
                          <a:rPr lang="en-US" sz="1400" i="1" noProof="0">
                            <a:latin typeface="Cambria Math" panose="02040503050406030204" pitchFamily="18" charset="0"/>
                          </a:rPr>
                        </m:ctrlPr>
                      </m:fPr>
                      <m:num>
                        <m:r>
                          <a:rPr lang="en-US" sz="1400" i="1" noProof="0">
                            <a:latin typeface="Cambria Math" panose="02040503050406030204" pitchFamily="18" charset="0"/>
                          </a:rPr>
                          <m:t>𝜕</m:t>
                        </m:r>
                        <m:r>
                          <m:rPr>
                            <m:nor/>
                          </m:rPr>
                          <a:rPr lang="en-US" sz="1400" noProof="0" smtClean="0"/>
                          <m:t>ŷ</m:t>
                        </m:r>
                      </m:num>
                      <m:den>
                        <m:r>
                          <a:rPr lang="en-US" sz="1400" i="1" noProof="0">
                            <a:latin typeface="Cambria Math" panose="02040503050406030204" pitchFamily="18" charset="0"/>
                          </a:rPr>
                          <m:t>𝜕</m:t>
                        </m:r>
                        <m:r>
                          <a:rPr lang="en-US" sz="1400" b="0" i="1" noProof="0" smtClean="0">
                            <a:latin typeface="Cambria Math" panose="02040503050406030204" pitchFamily="18" charset="0"/>
                          </a:rPr>
                          <m:t>𝑧</m:t>
                        </m:r>
                      </m:den>
                    </m:f>
                  </m:oMath>
                </a14:m>
                <a:r>
                  <a:rPr lang="en-US" sz="1400" noProof="0" dirty="0"/>
                  <a:t> . </a:t>
                </a:r>
                <a14:m>
                  <m:oMath xmlns:m="http://schemas.openxmlformats.org/officeDocument/2006/math">
                    <m:f>
                      <m:fPr>
                        <m:ctrlPr>
                          <a:rPr lang="en-US" sz="1400" i="1" noProof="0">
                            <a:latin typeface="Cambria Math" panose="02040503050406030204" pitchFamily="18" charset="0"/>
                          </a:rPr>
                        </m:ctrlPr>
                      </m:fPr>
                      <m:num>
                        <m:r>
                          <a:rPr lang="en-US" sz="1400" i="1" noProof="0">
                            <a:latin typeface="Cambria Math" panose="02040503050406030204" pitchFamily="18" charset="0"/>
                          </a:rPr>
                          <m:t>𝜕</m:t>
                        </m:r>
                        <m:r>
                          <a:rPr lang="en-US" sz="1400" b="0" i="1" noProof="0" smtClean="0">
                            <a:latin typeface="Cambria Math" panose="02040503050406030204" pitchFamily="18" charset="0"/>
                          </a:rPr>
                          <m:t>𝑧</m:t>
                        </m:r>
                      </m:num>
                      <m:den>
                        <m:r>
                          <a:rPr lang="en-US" sz="1400" i="1" noProof="0">
                            <a:latin typeface="Cambria Math" panose="02040503050406030204" pitchFamily="18" charset="0"/>
                          </a:rPr>
                          <m:t>𝜕</m:t>
                        </m:r>
                        <m:r>
                          <a:rPr lang="en-US" sz="1400" i="1" noProof="0" smtClean="0">
                            <a:latin typeface="Cambria Math" panose="02040503050406030204" pitchFamily="18" charset="0"/>
                          </a:rPr>
                          <m:t>𝑤</m:t>
                        </m:r>
                      </m:den>
                    </m:f>
                  </m:oMath>
                </a14:m>
                <a:endParaRPr lang="en-US" sz="1400" noProof="0" dirty="0"/>
              </a:p>
              <a:p>
                <a:endParaRPr lang="en-US" sz="1400" noProof="0" dirty="0"/>
              </a:p>
              <a:p>
                <a:r>
                  <a:rPr lang="en-US" sz="1400" noProof="0" dirty="0"/>
                  <a:t>First term: </a:t>
                </a:r>
                <a14:m>
                  <m:oMath xmlns:m="http://schemas.openxmlformats.org/officeDocument/2006/math">
                    <m:f>
                      <m:fPr>
                        <m:ctrlPr>
                          <a:rPr lang="en-US" sz="1400" i="1" noProof="0">
                            <a:latin typeface="Cambria Math" panose="02040503050406030204" pitchFamily="18" charset="0"/>
                          </a:rPr>
                        </m:ctrlPr>
                      </m:fPr>
                      <m:num>
                        <m:r>
                          <a:rPr lang="en-US" sz="1400" i="1" noProof="0">
                            <a:latin typeface="Cambria Math" panose="02040503050406030204" pitchFamily="18" charset="0"/>
                          </a:rPr>
                          <m:t>𝜕</m:t>
                        </m:r>
                        <m:r>
                          <a:rPr lang="en-US" sz="1400" i="1" noProof="0" smtClean="0">
                            <a:latin typeface="Cambria Math" panose="02040503050406030204" pitchFamily="18" charset="0"/>
                          </a:rPr>
                          <m:t>𝐿</m:t>
                        </m:r>
                      </m:num>
                      <m:den>
                        <m:r>
                          <a:rPr lang="en-US" sz="1400" i="1" noProof="0">
                            <a:latin typeface="Cambria Math" panose="02040503050406030204" pitchFamily="18" charset="0"/>
                          </a:rPr>
                          <m:t>𝜕</m:t>
                        </m:r>
                        <m:r>
                          <a:rPr lang="en-US" sz="1400" i="1" noProof="0" smtClean="0">
                            <a:latin typeface="Cambria Math" panose="02040503050406030204" pitchFamily="18" charset="0"/>
                          </a:rPr>
                          <m:t>𝑦</m:t>
                        </m:r>
                      </m:den>
                    </m:f>
                  </m:oMath>
                </a14:m>
                <a:r>
                  <a:rPr lang="en-US" sz="1400" noProof="0" dirty="0"/>
                  <a:t>  = 2 (ŷ - y) = 2(0.82 - 0) = 1.64</a:t>
                </a:r>
              </a:p>
              <a:p>
                <a:endParaRPr lang="en-US" sz="1400" noProof="0" dirty="0"/>
              </a:p>
              <a:p>
                <a:r>
                  <a:rPr lang="en-US" sz="1400" noProof="0" dirty="0"/>
                  <a:t>Second term: </a:t>
                </a:r>
                <a14:m>
                  <m:oMath xmlns:m="http://schemas.openxmlformats.org/officeDocument/2006/math">
                    <m:f>
                      <m:fPr>
                        <m:ctrlPr>
                          <a:rPr lang="en-US" sz="1400" i="1" noProof="0">
                            <a:latin typeface="Cambria Math" panose="02040503050406030204" pitchFamily="18" charset="0"/>
                          </a:rPr>
                        </m:ctrlPr>
                      </m:fPr>
                      <m:num>
                        <m:r>
                          <a:rPr lang="en-US" sz="1400" i="1" noProof="0">
                            <a:latin typeface="Cambria Math" panose="02040503050406030204" pitchFamily="18" charset="0"/>
                          </a:rPr>
                          <m:t>𝜕</m:t>
                        </m:r>
                        <m:r>
                          <a:rPr lang="en-US" sz="1400" i="1" noProof="0" smtClean="0">
                            <a:latin typeface="Cambria Math" panose="02040503050406030204" pitchFamily="18" charset="0"/>
                          </a:rPr>
                          <m:t>𝑦</m:t>
                        </m:r>
                      </m:num>
                      <m:den>
                        <m:r>
                          <a:rPr lang="en-US" sz="1400" i="1" noProof="0">
                            <a:latin typeface="Cambria Math" panose="02040503050406030204" pitchFamily="18" charset="0"/>
                          </a:rPr>
                          <m:t>𝜕</m:t>
                        </m:r>
                        <m:r>
                          <a:rPr lang="en-US" sz="1400" i="1" noProof="0" smtClean="0">
                            <a:latin typeface="Cambria Math" panose="02040503050406030204" pitchFamily="18" charset="0"/>
                          </a:rPr>
                          <m:t>𝑧</m:t>
                        </m:r>
                      </m:den>
                    </m:f>
                  </m:oMath>
                </a14:m>
                <a:r>
                  <a:rPr lang="en-US" sz="1400" noProof="0" dirty="0"/>
                  <a:t> = ŷ(1 - ŷ) = 0.82 x (1 – 0.82) = 0.1476</a:t>
                </a:r>
              </a:p>
              <a:p>
                <a:endParaRPr lang="en-US" sz="1400" noProof="0" dirty="0"/>
              </a:p>
              <a:p>
                <a:r>
                  <a:rPr lang="en-US" sz="1400" noProof="0" dirty="0"/>
                  <a:t>Third term: </a:t>
                </a:r>
                <a14:m>
                  <m:oMath xmlns:m="http://schemas.openxmlformats.org/officeDocument/2006/math">
                    <m:f>
                      <m:fPr>
                        <m:ctrlPr>
                          <a:rPr lang="en-US" sz="1400" i="1" noProof="0">
                            <a:latin typeface="Cambria Math" panose="02040503050406030204" pitchFamily="18" charset="0"/>
                          </a:rPr>
                        </m:ctrlPr>
                      </m:fPr>
                      <m:num>
                        <m:r>
                          <a:rPr lang="en-US" sz="1400" i="1" noProof="0">
                            <a:latin typeface="Cambria Math" panose="02040503050406030204" pitchFamily="18" charset="0"/>
                          </a:rPr>
                          <m:t>𝜕</m:t>
                        </m:r>
                        <m:r>
                          <a:rPr lang="en-US" sz="1400" b="0" i="1" noProof="0" smtClean="0">
                            <a:latin typeface="Cambria Math" panose="02040503050406030204" pitchFamily="18" charset="0"/>
                          </a:rPr>
                          <m:t>𝑧</m:t>
                        </m:r>
                      </m:num>
                      <m:den>
                        <m:r>
                          <a:rPr lang="en-US" sz="1400" i="1" noProof="0">
                            <a:latin typeface="Cambria Math" panose="02040503050406030204" pitchFamily="18" charset="0"/>
                          </a:rPr>
                          <m:t>𝜕</m:t>
                        </m:r>
                        <m:r>
                          <a:rPr lang="en-US" sz="1400" b="0" i="1" noProof="0" smtClean="0">
                            <a:latin typeface="Cambria Math" panose="02040503050406030204" pitchFamily="18" charset="0"/>
                          </a:rPr>
                          <m:t>𝑤</m:t>
                        </m:r>
                      </m:den>
                    </m:f>
                  </m:oMath>
                </a14:m>
                <a:r>
                  <a:rPr lang="en-US" sz="1400" noProof="0" dirty="0"/>
                  <a:t> = x = 3</a:t>
                </a:r>
              </a:p>
              <a:p>
                <a:endParaRPr lang="en-US" sz="1400" noProof="0" dirty="0"/>
              </a:p>
              <a:p>
                <a:r>
                  <a:rPr lang="en-US" sz="1400" noProof="0" dirty="0"/>
                  <a:t>Final Gradient = 1.64 x 0.1476 x 3 ≈ 0.726*</a:t>
                </a:r>
              </a:p>
            </p:txBody>
          </p:sp>
        </mc:Choice>
        <mc:Fallback>
          <p:sp>
            <p:nvSpPr>
              <p:cNvPr id="19" name="TextBox 18">
                <a:extLst>
                  <a:ext uri="{FF2B5EF4-FFF2-40B4-BE49-F238E27FC236}">
                    <a16:creationId xmlns:a16="http://schemas.microsoft.com/office/drawing/2014/main" id="{8DE19AD1-EE4A-4E37-7775-0CDBE8AB9B80}"/>
                  </a:ext>
                </a:extLst>
              </p:cNvPr>
              <p:cNvSpPr txBox="1">
                <a:spLocks noRot="1" noChangeAspect="1" noMove="1" noResize="1" noEditPoints="1" noAdjustHandles="1" noChangeArrowheads="1" noChangeShapeType="1" noTextEdit="1"/>
              </p:cNvSpPr>
              <p:nvPr/>
            </p:nvSpPr>
            <p:spPr>
              <a:xfrm>
                <a:off x="6224524" y="29785"/>
                <a:ext cx="4079041" cy="3447739"/>
              </a:xfrm>
              <a:prstGeom prst="rect">
                <a:avLst/>
              </a:prstGeom>
              <a:blipFill>
                <a:blip r:embed="rId5"/>
                <a:stretch>
                  <a:fillRect l="-448" t="-354" b="-1062"/>
                </a:stretch>
              </a:blipFill>
            </p:spPr>
            <p:txBody>
              <a:bodyPr/>
              <a:lstStyle/>
              <a:p>
                <a:r>
                  <a:rPr lang="en-GB">
                    <a:noFill/>
                  </a:rPr>
                  <a:t> </a:t>
                </a:r>
              </a:p>
            </p:txBody>
          </p:sp>
        </mc:Fallback>
      </mc:AlternateContent>
      <mc:AlternateContent xmlns:mc="http://schemas.openxmlformats.org/markup-compatibility/2006">
        <mc:Choice xmlns:a14="http://schemas.microsoft.com/office/drawing/2010/main" Requires="a14">
          <p:sp>
            <p:nvSpPr>
              <p:cNvPr id="20" name="TextBox 19">
                <a:extLst>
                  <a:ext uri="{FF2B5EF4-FFF2-40B4-BE49-F238E27FC236}">
                    <a16:creationId xmlns:a16="http://schemas.microsoft.com/office/drawing/2014/main" id="{4DDC0546-44B6-5D43-EADA-12642E576FCF}"/>
                  </a:ext>
                </a:extLst>
              </p:cNvPr>
              <p:cNvSpPr txBox="1"/>
              <p:nvPr/>
            </p:nvSpPr>
            <p:spPr>
              <a:xfrm>
                <a:off x="6237776" y="3560218"/>
                <a:ext cx="4788033" cy="2348079"/>
              </a:xfrm>
              <a:prstGeom prst="rect">
                <a:avLst/>
              </a:prstGeom>
              <a:solidFill>
                <a:schemeClr val="accent4">
                  <a:lumMod val="40000"/>
                  <a:lumOff val="60000"/>
                </a:schemeClr>
              </a:solidFill>
            </p:spPr>
            <p:txBody>
              <a:bodyPr wrap="square" rtlCol="0">
                <a:spAutoFit/>
              </a:bodyPr>
              <a:lstStyle/>
              <a:p>
                <a:r>
                  <a:rPr lang="en-US" sz="1400" b="1" noProof="0" dirty="0"/>
                  <a:t>Backpropagation Intuition </a:t>
                </a:r>
              </a:p>
              <a:p>
                <a:endParaRPr lang="en-US" sz="1400" noProof="0" dirty="0"/>
              </a:p>
              <a:p>
                <a:r>
                  <a:rPr lang="en-US" sz="1400" noProof="0" dirty="0"/>
                  <a:t>Model predicted 82% chance of passing, actual = 0</a:t>
                </a:r>
              </a:p>
              <a:p>
                <a:r>
                  <a:rPr lang="en-US" sz="1400" noProof="0" dirty="0"/>
                  <a:t>Model was confidently wrong =&gt; Error was high (L = 0.67)</a:t>
                </a:r>
              </a:p>
              <a:p>
                <a:endParaRPr lang="en-US" sz="1400" noProof="0" dirty="0"/>
              </a:p>
              <a:p>
                <a:r>
                  <a:rPr lang="en-US" sz="1400" noProof="0" dirty="0"/>
                  <a:t>If we change the weight a little bit, how will this error change?</a:t>
                </a:r>
              </a:p>
              <a:p>
                <a14:m>
                  <m:oMath xmlns:m="http://schemas.openxmlformats.org/officeDocument/2006/math">
                    <m:f>
                      <m:fPr>
                        <m:ctrlPr>
                          <a:rPr lang="en-US" sz="1400" i="1" noProof="0">
                            <a:latin typeface="Cambria Math" panose="02040503050406030204" pitchFamily="18" charset="0"/>
                          </a:rPr>
                        </m:ctrlPr>
                      </m:fPr>
                      <m:num>
                        <m:r>
                          <a:rPr lang="en-US" sz="1400" i="1" noProof="0">
                            <a:latin typeface="Cambria Math" panose="02040503050406030204" pitchFamily="18" charset="0"/>
                          </a:rPr>
                          <m:t>𝜕</m:t>
                        </m:r>
                        <m:r>
                          <a:rPr lang="en-US" sz="1400" i="1" noProof="0" smtClean="0">
                            <a:latin typeface="Cambria Math" panose="02040503050406030204" pitchFamily="18" charset="0"/>
                          </a:rPr>
                          <m:t>𝐿</m:t>
                        </m:r>
                      </m:num>
                      <m:den>
                        <m:r>
                          <a:rPr lang="en-US" sz="1400" i="1" noProof="0">
                            <a:latin typeface="Cambria Math" panose="02040503050406030204" pitchFamily="18" charset="0"/>
                          </a:rPr>
                          <m:t>𝜕</m:t>
                        </m:r>
                        <m:r>
                          <a:rPr lang="en-US" sz="1400" i="1" noProof="0" smtClean="0">
                            <a:latin typeface="Cambria Math" panose="02040503050406030204" pitchFamily="18" charset="0"/>
                          </a:rPr>
                          <m:t>𝑤</m:t>
                        </m:r>
                      </m:den>
                    </m:f>
                  </m:oMath>
                </a14:m>
                <a:r>
                  <a:rPr lang="en-US" sz="1400" noProof="0" dirty="0"/>
                  <a:t>  here tells us that as weight increases, error increases</a:t>
                </a:r>
              </a:p>
              <a:p>
                <a:r>
                  <a:rPr lang="en-US" sz="1400" noProof="0" dirty="0"/>
                  <a:t>So, w needs to be reduced to fix the problem</a:t>
                </a:r>
              </a:p>
              <a:p>
                <a:endParaRPr lang="en-US" sz="1400" noProof="0" dirty="0"/>
              </a:p>
              <a:p>
                <a:r>
                  <a:rPr lang="en-US" sz="1400" noProof="0" dirty="0"/>
                  <a:t>Formula explanation: Next slide</a:t>
                </a:r>
              </a:p>
            </p:txBody>
          </p:sp>
        </mc:Choice>
        <mc:Fallback>
          <p:sp>
            <p:nvSpPr>
              <p:cNvPr id="20" name="TextBox 19">
                <a:extLst>
                  <a:ext uri="{FF2B5EF4-FFF2-40B4-BE49-F238E27FC236}">
                    <a16:creationId xmlns:a16="http://schemas.microsoft.com/office/drawing/2014/main" id="{4DDC0546-44B6-5D43-EADA-12642E576FCF}"/>
                  </a:ext>
                </a:extLst>
              </p:cNvPr>
              <p:cNvSpPr txBox="1">
                <a:spLocks noRot="1" noChangeAspect="1" noMove="1" noResize="1" noEditPoints="1" noAdjustHandles="1" noChangeArrowheads="1" noChangeShapeType="1" noTextEdit="1"/>
              </p:cNvSpPr>
              <p:nvPr/>
            </p:nvSpPr>
            <p:spPr>
              <a:xfrm>
                <a:off x="6237776" y="3560218"/>
                <a:ext cx="4788033" cy="2348079"/>
              </a:xfrm>
              <a:prstGeom prst="rect">
                <a:avLst/>
              </a:prstGeom>
              <a:blipFill>
                <a:blip r:embed="rId6"/>
                <a:stretch>
                  <a:fillRect l="-382" t="-519" b="-2078"/>
                </a:stretch>
              </a:blipFill>
            </p:spPr>
            <p:txBody>
              <a:bodyPr/>
              <a:lstStyle/>
              <a:p>
                <a:r>
                  <a:rPr lang="en-GB">
                    <a:noFill/>
                  </a:rPr>
                  <a:t> </a:t>
                </a:r>
              </a:p>
            </p:txBody>
          </p:sp>
        </mc:Fallback>
      </mc:AlternateContent>
      <p:sp>
        <p:nvSpPr>
          <p:cNvPr id="2" name="TextBox 1">
            <a:extLst>
              <a:ext uri="{FF2B5EF4-FFF2-40B4-BE49-F238E27FC236}">
                <a16:creationId xmlns:a16="http://schemas.microsoft.com/office/drawing/2014/main" id="{A5A87AAC-4B9B-C475-7D64-0C0174328887}"/>
              </a:ext>
            </a:extLst>
          </p:cNvPr>
          <p:cNvSpPr txBox="1"/>
          <p:nvPr/>
        </p:nvSpPr>
        <p:spPr>
          <a:xfrm>
            <a:off x="7341705" y="440190"/>
            <a:ext cx="2855844" cy="461665"/>
          </a:xfrm>
          <a:prstGeom prst="rect">
            <a:avLst/>
          </a:prstGeom>
          <a:solidFill>
            <a:schemeClr val="accent3">
              <a:lumMod val="60000"/>
              <a:lumOff val="40000"/>
            </a:schemeClr>
          </a:solidFill>
        </p:spPr>
        <p:txBody>
          <a:bodyPr wrap="square" rtlCol="0">
            <a:spAutoFit/>
          </a:bodyPr>
          <a:lstStyle/>
          <a:p>
            <a:r>
              <a:rPr lang="en-US" sz="1200" noProof="0" dirty="0"/>
              <a:t>If I change the weight w a tiny bit, how much will the loss L change?</a:t>
            </a:r>
          </a:p>
        </p:txBody>
      </p:sp>
      <mc:AlternateContent xmlns:mc="http://schemas.openxmlformats.org/markup-compatibility/2006">
        <mc:Choice xmlns:a14="http://schemas.microsoft.com/office/drawing/2010/main" Requires="a14">
          <p:sp>
            <p:nvSpPr>
              <p:cNvPr id="9" name="TextBox 8">
                <a:extLst>
                  <a:ext uri="{FF2B5EF4-FFF2-40B4-BE49-F238E27FC236}">
                    <a16:creationId xmlns:a16="http://schemas.microsoft.com/office/drawing/2014/main" id="{63BBD664-253B-DF1C-3276-269A18BC3DFE}"/>
                  </a:ext>
                </a:extLst>
              </p:cNvPr>
              <p:cNvSpPr txBox="1"/>
              <p:nvPr/>
            </p:nvSpPr>
            <p:spPr>
              <a:xfrm>
                <a:off x="10303565" y="231913"/>
                <a:ext cx="1888435" cy="2025876"/>
              </a:xfrm>
              <a:prstGeom prst="rect">
                <a:avLst/>
              </a:prstGeom>
              <a:solidFill>
                <a:schemeClr val="accent6">
                  <a:lumMod val="20000"/>
                  <a:lumOff val="80000"/>
                </a:schemeClr>
              </a:solidFill>
            </p:spPr>
            <p:txBody>
              <a:bodyPr wrap="square" rtlCol="0">
                <a:spAutoFit/>
              </a:bodyPr>
              <a:lstStyle/>
              <a:p>
                <a:r>
                  <a:rPr lang="en-US" sz="1200" noProof="0" dirty="0"/>
                  <a:t>Suppose </a:t>
                </a:r>
              </a:p>
              <a:p>
                <a:pPr marL="171450" indent="-171450">
                  <a:buFont typeface="Arial" panose="020B0604020202020204" pitchFamily="34" charset="0"/>
                  <a:buChar char="•"/>
                </a:pPr>
                <a:r>
                  <a:rPr lang="en-US" sz="1200" noProof="0" dirty="0"/>
                  <a:t>Current w = 0.5 -&gt; L = 0.67</a:t>
                </a:r>
              </a:p>
              <a:p>
                <a:pPr marL="171450" indent="-171450">
                  <a:buFont typeface="Arial" panose="020B0604020202020204" pitchFamily="34" charset="0"/>
                  <a:buChar char="•"/>
                </a:pPr>
                <a:r>
                  <a:rPr lang="en-US" sz="1200" noProof="0" dirty="0"/>
                  <a:t>Increased w = 0.51 -&gt; L = 0.70</a:t>
                </a:r>
              </a:p>
              <a:p>
                <a:endParaRPr lang="en-US" sz="1200" noProof="0" dirty="0"/>
              </a:p>
              <a:p>
                <a:r>
                  <a:rPr lang="en-US" sz="1200" noProof="0" dirty="0"/>
                  <a:t>So, </a:t>
                </a:r>
                <a14:m>
                  <m:oMath xmlns:m="http://schemas.openxmlformats.org/officeDocument/2006/math">
                    <m:f>
                      <m:fPr>
                        <m:ctrlPr>
                          <a:rPr lang="en-US" sz="1200" i="1" noProof="0">
                            <a:latin typeface="Cambria Math" panose="02040503050406030204" pitchFamily="18" charset="0"/>
                          </a:rPr>
                        </m:ctrlPr>
                      </m:fPr>
                      <m:num>
                        <m:r>
                          <a:rPr lang="en-US" sz="1200" i="1" noProof="0">
                            <a:latin typeface="Cambria Math" panose="02040503050406030204" pitchFamily="18" charset="0"/>
                          </a:rPr>
                          <m:t>𝜕</m:t>
                        </m:r>
                        <m:r>
                          <a:rPr lang="en-US" sz="1200" i="1" noProof="0" smtClean="0">
                            <a:latin typeface="Cambria Math" panose="02040503050406030204" pitchFamily="18" charset="0"/>
                          </a:rPr>
                          <m:t>𝐿</m:t>
                        </m:r>
                      </m:num>
                      <m:den>
                        <m:r>
                          <a:rPr lang="en-US" sz="1200" i="1" noProof="0">
                            <a:latin typeface="Cambria Math" panose="02040503050406030204" pitchFamily="18" charset="0"/>
                          </a:rPr>
                          <m:t>𝜕</m:t>
                        </m:r>
                        <m:r>
                          <a:rPr lang="en-US" sz="1200" i="1" noProof="0" smtClean="0">
                            <a:latin typeface="Cambria Math" panose="02040503050406030204" pitchFamily="18" charset="0"/>
                          </a:rPr>
                          <m:t>𝑤</m:t>
                        </m:r>
                      </m:den>
                    </m:f>
                  </m:oMath>
                </a14:m>
                <a:r>
                  <a:rPr lang="en-US" sz="1200" noProof="0" dirty="0"/>
                  <a:t> = How much is the error affected if we slightly change the importance of study hours?</a:t>
                </a:r>
              </a:p>
            </p:txBody>
          </p:sp>
        </mc:Choice>
        <mc:Fallback>
          <p:sp>
            <p:nvSpPr>
              <p:cNvPr id="9" name="TextBox 8">
                <a:extLst>
                  <a:ext uri="{FF2B5EF4-FFF2-40B4-BE49-F238E27FC236}">
                    <a16:creationId xmlns:a16="http://schemas.microsoft.com/office/drawing/2014/main" id="{63BBD664-253B-DF1C-3276-269A18BC3DFE}"/>
                  </a:ext>
                </a:extLst>
              </p:cNvPr>
              <p:cNvSpPr txBox="1">
                <a:spLocks noRot="1" noChangeAspect="1" noMove="1" noResize="1" noEditPoints="1" noAdjustHandles="1" noChangeArrowheads="1" noChangeShapeType="1" noTextEdit="1"/>
              </p:cNvSpPr>
              <p:nvPr/>
            </p:nvSpPr>
            <p:spPr>
              <a:xfrm>
                <a:off x="10303565" y="231913"/>
                <a:ext cx="1888435" cy="2025876"/>
              </a:xfrm>
              <a:prstGeom prst="rect">
                <a:avLst/>
              </a:prstGeom>
              <a:blipFill>
                <a:blip r:embed="rId7"/>
                <a:stretch>
                  <a:fillRect r="-1613" b="-1807"/>
                </a:stretch>
              </a:blipFill>
            </p:spPr>
            <p:txBody>
              <a:bodyPr/>
              <a:lstStyle/>
              <a:p>
                <a:r>
                  <a:rPr lang="en-GB">
                    <a:noFill/>
                  </a:rPr>
                  <a:t> </a:t>
                </a:r>
              </a:p>
            </p:txBody>
          </p:sp>
        </mc:Fallback>
      </mc:AlternateContent>
    </p:spTree>
    <p:extLst>
      <p:ext uri="{BB962C8B-B14F-4D97-AF65-F5344CB8AC3E}">
        <p14:creationId xmlns:p14="http://schemas.microsoft.com/office/powerpoint/2010/main" val="751394566"/>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87A64A-8FBC-C1DD-234A-EC20581DB868}"/>
              </a:ext>
            </a:extLst>
          </p:cNvPr>
          <p:cNvSpPr>
            <a:spLocks noGrp="1"/>
          </p:cNvSpPr>
          <p:nvPr>
            <p:ph type="title"/>
          </p:nvPr>
        </p:nvSpPr>
        <p:spPr/>
        <p:txBody>
          <a:bodyPr/>
          <a:lstStyle/>
          <a:p>
            <a:r>
              <a:rPr lang="en-US" noProof="0" dirty="0"/>
              <a:t>Backpropagation Formula Constituents</a:t>
            </a:r>
          </a:p>
        </p:txBody>
      </p:sp>
      <p:sp>
        <p:nvSpPr>
          <p:cNvPr id="4" name="TextBox 3">
            <a:extLst>
              <a:ext uri="{FF2B5EF4-FFF2-40B4-BE49-F238E27FC236}">
                <a16:creationId xmlns:a16="http://schemas.microsoft.com/office/drawing/2014/main" id="{B4FEB476-13A9-17D5-026B-6ADF5CA215A5}"/>
              </a:ext>
            </a:extLst>
          </p:cNvPr>
          <p:cNvSpPr txBox="1"/>
          <p:nvPr/>
        </p:nvSpPr>
        <p:spPr>
          <a:xfrm>
            <a:off x="192157" y="1497496"/>
            <a:ext cx="2040834" cy="1477328"/>
          </a:xfrm>
          <a:prstGeom prst="rect">
            <a:avLst/>
          </a:prstGeom>
          <a:solidFill>
            <a:schemeClr val="accent4">
              <a:lumMod val="20000"/>
              <a:lumOff val="80000"/>
            </a:schemeClr>
          </a:solidFill>
        </p:spPr>
        <p:txBody>
          <a:bodyPr wrap="square" rtlCol="0">
            <a:spAutoFit/>
          </a:bodyPr>
          <a:lstStyle/>
          <a:p>
            <a:r>
              <a:rPr lang="en-US" b="1" noProof="0" dirty="0"/>
              <a:t>Inputs</a:t>
            </a:r>
          </a:p>
          <a:p>
            <a:endParaRPr lang="en-US" noProof="0" dirty="0"/>
          </a:p>
          <a:p>
            <a:r>
              <a:rPr lang="en-US" noProof="0" dirty="0"/>
              <a:t>x = 3 hours</a:t>
            </a:r>
          </a:p>
          <a:p>
            <a:r>
              <a:rPr lang="en-US" noProof="0" dirty="0"/>
              <a:t>ŷ = 0.82 (Predicted)</a:t>
            </a:r>
          </a:p>
          <a:p>
            <a:r>
              <a:rPr lang="en-US" noProof="0" dirty="0"/>
              <a:t>y = 0 (Actual)</a:t>
            </a:r>
          </a:p>
        </p:txBody>
      </p:sp>
      <mc:AlternateContent xmlns:mc="http://schemas.openxmlformats.org/markup-compatibility/2006">
        <mc:Choice xmlns:a14="http://schemas.microsoft.com/office/drawing/2010/main" Requires="a14">
          <p:graphicFrame>
            <p:nvGraphicFramePr>
              <p:cNvPr id="5" name="Table 4">
                <a:extLst>
                  <a:ext uri="{FF2B5EF4-FFF2-40B4-BE49-F238E27FC236}">
                    <a16:creationId xmlns:a16="http://schemas.microsoft.com/office/drawing/2014/main" id="{A0DF49F4-F057-343D-2142-4CDA8A97946D}"/>
                  </a:ext>
                </a:extLst>
              </p:cNvPr>
              <p:cNvGraphicFramePr>
                <a:graphicFrameLocks noGrp="1"/>
              </p:cNvGraphicFramePr>
              <p:nvPr>
                <p:extLst>
                  <p:ext uri="{D42A27DB-BD31-4B8C-83A1-F6EECF244321}">
                    <p14:modId xmlns:p14="http://schemas.microsoft.com/office/powerpoint/2010/main" val="2404933098"/>
                  </p:ext>
                </p:extLst>
              </p:nvPr>
            </p:nvGraphicFramePr>
            <p:xfrm>
              <a:off x="2309191" y="1336282"/>
              <a:ext cx="8186532" cy="2035112"/>
            </p:xfrm>
            <a:graphic>
              <a:graphicData uri="http://schemas.openxmlformats.org/drawingml/2006/table">
                <a:tbl>
                  <a:tblPr firstRow="1">
                    <a:tableStyleId>{72833802-FEF1-4C79-8D5D-14CF1EAF98D9}</a:tableStyleId>
                  </a:tblPr>
                  <a:tblGrid>
                    <a:gridCol w="831574">
                      <a:extLst>
                        <a:ext uri="{9D8B030D-6E8A-4147-A177-3AD203B41FA5}">
                          <a16:colId xmlns:a16="http://schemas.microsoft.com/office/drawing/2014/main" val="44960719"/>
                        </a:ext>
                      </a:extLst>
                    </a:gridCol>
                    <a:gridCol w="2014331">
                      <a:extLst>
                        <a:ext uri="{9D8B030D-6E8A-4147-A177-3AD203B41FA5}">
                          <a16:colId xmlns:a16="http://schemas.microsoft.com/office/drawing/2014/main" val="2144787795"/>
                        </a:ext>
                      </a:extLst>
                    </a:gridCol>
                    <a:gridCol w="1305339">
                      <a:extLst>
                        <a:ext uri="{9D8B030D-6E8A-4147-A177-3AD203B41FA5}">
                          <a16:colId xmlns:a16="http://schemas.microsoft.com/office/drawing/2014/main" val="2416021430"/>
                        </a:ext>
                      </a:extLst>
                    </a:gridCol>
                    <a:gridCol w="4035288">
                      <a:extLst>
                        <a:ext uri="{9D8B030D-6E8A-4147-A177-3AD203B41FA5}">
                          <a16:colId xmlns:a16="http://schemas.microsoft.com/office/drawing/2014/main" val="3476934793"/>
                        </a:ext>
                      </a:extLst>
                    </a:gridCol>
                  </a:tblGrid>
                  <a:tr h="281183">
                    <a:tc>
                      <a:txBody>
                        <a:bodyPr/>
                        <a:lstStyle/>
                        <a:p>
                          <a:pPr>
                            <a:buNone/>
                          </a:pPr>
                          <a:r>
                            <a:rPr lang="en-US" sz="1600" noProof="0" dirty="0"/>
                            <a:t>Step</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US" sz="1600" noProof="0" dirty="0"/>
                            <a:t>Term</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US" sz="1600" noProof="0" dirty="0"/>
                            <a:t>Value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US" sz="1600" noProof="0" dirty="0"/>
                            <a:t>Meaning in Student Example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167524226"/>
                      </a:ext>
                    </a:extLst>
                  </a:tr>
                  <a:tr h="485680">
                    <a:tc>
                      <a:txBody>
                        <a:bodyPr/>
                        <a:lstStyle/>
                        <a:p>
                          <a:pPr>
                            <a:buNone/>
                          </a:pPr>
                          <a:r>
                            <a:rPr lang="en-US" sz="1600" noProof="0" dirty="0"/>
                            <a:t>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14:m>
                            <m:oMathPara xmlns:m="http://schemas.openxmlformats.org/officeDocument/2006/math">
                              <m:oMathParaPr>
                                <m:jc m:val="centerGroup"/>
                              </m:oMathParaPr>
                              <m:oMath xmlns:m="http://schemas.openxmlformats.org/officeDocument/2006/math">
                                <m:f>
                                  <m:fPr>
                                    <m:ctrlPr>
                                      <a:rPr lang="en-US" sz="1600" i="1" noProof="0" smtClean="0">
                                        <a:latin typeface="Cambria Math" panose="02040503050406030204" pitchFamily="18" charset="0"/>
                                      </a:rPr>
                                    </m:ctrlPr>
                                  </m:fPr>
                                  <m:num>
                                    <m:r>
                                      <a:rPr lang="en-US" sz="1600" i="1" noProof="0">
                                        <a:latin typeface="Cambria Math" panose="02040503050406030204" pitchFamily="18" charset="0"/>
                                      </a:rPr>
                                      <m:t>𝜕</m:t>
                                    </m:r>
                                    <m:r>
                                      <a:rPr lang="en-US" sz="1600" i="1" noProof="0" smtClean="0">
                                        <a:latin typeface="Cambria Math" panose="02040503050406030204" pitchFamily="18" charset="0"/>
                                      </a:rPr>
                                      <m:t>𝐿</m:t>
                                    </m:r>
                                  </m:num>
                                  <m:den>
                                    <m:r>
                                      <a:rPr lang="en-US" sz="1600" i="1" noProof="0">
                                        <a:latin typeface="Cambria Math" panose="02040503050406030204" pitchFamily="18" charset="0"/>
                                      </a:rPr>
                                      <m:t>𝜕</m:t>
                                    </m:r>
                                    <m:r>
                                      <m:rPr>
                                        <m:nor/>
                                      </m:rPr>
                                      <a:rPr lang="en-US" sz="1600" noProof="0" smtClean="0"/>
                                      <m:t>ŷ</m:t>
                                    </m:r>
                                  </m:den>
                                </m:f>
                              </m:oMath>
                            </m:oMathPara>
                          </a14:m>
                          <a:endParaRPr lang="en-US" sz="1600" noProof="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US" sz="1600" noProof="0" dirty="0"/>
                            <a:t>1.64</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noProof="0" dirty="0"/>
                            <a:t>Prediction error (0.82 vs 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395431192"/>
                      </a:ext>
                    </a:extLst>
                  </a:tr>
                  <a:tr h="485680">
                    <a:tc>
                      <a:txBody>
                        <a:bodyPr/>
                        <a:lstStyle/>
                        <a:p>
                          <a:pPr>
                            <a:buNone/>
                          </a:pPr>
                          <a:r>
                            <a:rPr lang="en-US" sz="1600" noProof="0" dirty="0"/>
                            <a:t>2</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14:m>
                            <m:oMathPara xmlns:m="http://schemas.openxmlformats.org/officeDocument/2006/math">
                              <m:oMathParaPr>
                                <m:jc m:val="centerGroup"/>
                              </m:oMathParaPr>
                              <m:oMath xmlns:m="http://schemas.openxmlformats.org/officeDocument/2006/math">
                                <m:f>
                                  <m:fPr>
                                    <m:ctrlPr>
                                      <a:rPr lang="en-US" sz="1600" i="1" noProof="0" smtClean="0">
                                        <a:latin typeface="Cambria Math" panose="02040503050406030204" pitchFamily="18" charset="0"/>
                                      </a:rPr>
                                    </m:ctrlPr>
                                  </m:fPr>
                                  <m:num>
                                    <m:r>
                                      <a:rPr lang="en-US" sz="1600" i="1" noProof="0">
                                        <a:latin typeface="Cambria Math" panose="02040503050406030204" pitchFamily="18" charset="0"/>
                                      </a:rPr>
                                      <m:t>𝜕</m:t>
                                    </m:r>
                                    <m:r>
                                      <m:rPr>
                                        <m:nor/>
                                      </m:rPr>
                                      <a:rPr lang="en-US" sz="1600" noProof="0" smtClean="0"/>
                                      <m:t>ŷ</m:t>
                                    </m:r>
                                  </m:num>
                                  <m:den>
                                    <m:r>
                                      <a:rPr lang="en-US" sz="1600" i="1" noProof="0">
                                        <a:latin typeface="Cambria Math" panose="02040503050406030204" pitchFamily="18" charset="0"/>
                                      </a:rPr>
                                      <m:t>𝜕</m:t>
                                    </m:r>
                                    <m:r>
                                      <a:rPr lang="en-US" sz="1600" b="0" i="1" noProof="0" smtClean="0">
                                        <a:latin typeface="Cambria Math" panose="02040503050406030204" pitchFamily="18" charset="0"/>
                                      </a:rPr>
                                      <m:t>𝑧</m:t>
                                    </m:r>
                                  </m:den>
                                </m:f>
                              </m:oMath>
                            </m:oMathPara>
                          </a14:m>
                          <a:endParaRPr lang="en-US" sz="1600" noProof="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US" sz="1600" noProof="0" dirty="0"/>
                            <a:t>0.1476</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US" sz="1600" noProof="0" dirty="0"/>
                            <a:t>Model confidence sensitivity (sigmoid slope)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181752385"/>
                      </a:ext>
                    </a:extLst>
                  </a:tr>
                  <a:tr h="485680">
                    <a:tc>
                      <a:txBody>
                        <a:bodyPr/>
                        <a:lstStyle/>
                        <a:p>
                          <a:pPr>
                            <a:buNone/>
                          </a:pPr>
                          <a:r>
                            <a:rPr lang="en-US" sz="1600" noProof="0" dirty="0"/>
                            <a:t>3</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14:m>
                            <m:oMathPara xmlns:m="http://schemas.openxmlformats.org/officeDocument/2006/math">
                              <m:oMathParaPr>
                                <m:jc m:val="centerGroup"/>
                              </m:oMathParaPr>
                              <m:oMath xmlns:m="http://schemas.openxmlformats.org/officeDocument/2006/math">
                                <m:f>
                                  <m:fPr>
                                    <m:ctrlPr>
                                      <a:rPr lang="en-US" sz="1600" i="1" noProof="0">
                                        <a:latin typeface="Cambria Math" panose="02040503050406030204" pitchFamily="18" charset="0"/>
                                      </a:rPr>
                                    </m:ctrlPr>
                                  </m:fPr>
                                  <m:num>
                                    <m:r>
                                      <a:rPr lang="en-US" sz="1600" i="1" noProof="0">
                                        <a:latin typeface="Cambria Math" panose="02040503050406030204" pitchFamily="18" charset="0"/>
                                      </a:rPr>
                                      <m:t>𝜕</m:t>
                                    </m:r>
                                    <m:r>
                                      <a:rPr lang="en-US" sz="1600" b="0" i="1" noProof="0" smtClean="0">
                                        <a:latin typeface="Cambria Math" panose="02040503050406030204" pitchFamily="18" charset="0"/>
                                      </a:rPr>
                                      <m:t>𝑧</m:t>
                                    </m:r>
                                  </m:num>
                                  <m:den>
                                    <m:r>
                                      <a:rPr lang="en-US" sz="1600" i="1" noProof="0">
                                        <a:latin typeface="Cambria Math" panose="02040503050406030204" pitchFamily="18" charset="0"/>
                                      </a:rPr>
                                      <m:t>𝜕</m:t>
                                    </m:r>
                                    <m:r>
                                      <a:rPr lang="en-US" sz="1600" i="1" noProof="0" smtClean="0">
                                        <a:latin typeface="Cambria Math" panose="02040503050406030204" pitchFamily="18" charset="0"/>
                                      </a:rPr>
                                      <m:t>𝑤</m:t>
                                    </m:r>
                                  </m:den>
                                </m:f>
                              </m:oMath>
                            </m:oMathPara>
                          </a14:m>
                          <a:endParaRPr lang="en-US" sz="1600" noProof="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US" sz="1600" noProof="0" dirty="0"/>
                            <a:t>3</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US" sz="1600" noProof="0" dirty="0"/>
                            <a:t>Prediction error (0.82 vs 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251819361"/>
                      </a:ext>
                    </a:extLst>
                  </a:tr>
                </a:tbl>
              </a:graphicData>
            </a:graphic>
          </p:graphicFrame>
        </mc:Choice>
        <mc:Fallback>
          <p:graphicFrame>
            <p:nvGraphicFramePr>
              <p:cNvPr id="5" name="Table 4">
                <a:extLst>
                  <a:ext uri="{FF2B5EF4-FFF2-40B4-BE49-F238E27FC236}">
                    <a16:creationId xmlns:a16="http://schemas.microsoft.com/office/drawing/2014/main" id="{A0DF49F4-F057-343D-2142-4CDA8A97946D}"/>
                  </a:ext>
                </a:extLst>
              </p:cNvPr>
              <p:cNvGraphicFramePr>
                <a:graphicFrameLocks noGrp="1"/>
              </p:cNvGraphicFramePr>
              <p:nvPr>
                <p:extLst>
                  <p:ext uri="{D42A27DB-BD31-4B8C-83A1-F6EECF244321}">
                    <p14:modId xmlns:p14="http://schemas.microsoft.com/office/powerpoint/2010/main" val="2404933098"/>
                  </p:ext>
                </p:extLst>
              </p:nvPr>
            </p:nvGraphicFramePr>
            <p:xfrm>
              <a:off x="2309191" y="1336282"/>
              <a:ext cx="8186532" cy="2035112"/>
            </p:xfrm>
            <a:graphic>
              <a:graphicData uri="http://schemas.openxmlformats.org/drawingml/2006/table">
                <a:tbl>
                  <a:tblPr firstRow="1">
                    <a:tableStyleId>{72833802-FEF1-4C79-8D5D-14CF1EAF98D9}</a:tableStyleId>
                  </a:tblPr>
                  <a:tblGrid>
                    <a:gridCol w="831574">
                      <a:extLst>
                        <a:ext uri="{9D8B030D-6E8A-4147-A177-3AD203B41FA5}">
                          <a16:colId xmlns:a16="http://schemas.microsoft.com/office/drawing/2014/main" val="44960719"/>
                        </a:ext>
                      </a:extLst>
                    </a:gridCol>
                    <a:gridCol w="2014331">
                      <a:extLst>
                        <a:ext uri="{9D8B030D-6E8A-4147-A177-3AD203B41FA5}">
                          <a16:colId xmlns:a16="http://schemas.microsoft.com/office/drawing/2014/main" val="2144787795"/>
                        </a:ext>
                      </a:extLst>
                    </a:gridCol>
                    <a:gridCol w="1305339">
                      <a:extLst>
                        <a:ext uri="{9D8B030D-6E8A-4147-A177-3AD203B41FA5}">
                          <a16:colId xmlns:a16="http://schemas.microsoft.com/office/drawing/2014/main" val="2416021430"/>
                        </a:ext>
                      </a:extLst>
                    </a:gridCol>
                    <a:gridCol w="4035288">
                      <a:extLst>
                        <a:ext uri="{9D8B030D-6E8A-4147-A177-3AD203B41FA5}">
                          <a16:colId xmlns:a16="http://schemas.microsoft.com/office/drawing/2014/main" val="3476934793"/>
                        </a:ext>
                      </a:extLst>
                    </a:gridCol>
                  </a:tblGrid>
                  <a:tr h="335280">
                    <a:tc>
                      <a:txBody>
                        <a:bodyPr/>
                        <a:lstStyle/>
                        <a:p>
                          <a:pPr>
                            <a:buNone/>
                          </a:pPr>
                          <a:r>
                            <a:rPr lang="en-US" sz="1600" noProof="0" dirty="0"/>
                            <a:t>Step</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US" sz="1600" noProof="0" dirty="0"/>
                            <a:t>Term</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US" sz="1600" noProof="0" dirty="0"/>
                            <a:t>Value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US" sz="1600" noProof="0" dirty="0"/>
                            <a:t>Meaning in Student Example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167524226"/>
                      </a:ext>
                    </a:extLst>
                  </a:tr>
                  <a:tr h="589598">
                    <a:tc>
                      <a:txBody>
                        <a:bodyPr/>
                        <a:lstStyle/>
                        <a:p>
                          <a:pPr>
                            <a:buNone/>
                          </a:pPr>
                          <a:r>
                            <a:rPr lang="en-US" sz="1600" noProof="0" dirty="0"/>
                            <a:t>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2"/>
                          <a:stretch>
                            <a:fillRect l="-41818" t="-59794" r="-266364" b="-190722"/>
                          </a:stretch>
                        </a:blipFill>
                      </a:tcPr>
                    </a:tc>
                    <a:tc>
                      <a:txBody>
                        <a:bodyPr/>
                        <a:lstStyle/>
                        <a:p>
                          <a:pPr>
                            <a:buNone/>
                          </a:pPr>
                          <a:r>
                            <a:rPr lang="en-US" sz="1600" noProof="0" dirty="0"/>
                            <a:t>1.64</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noProof="0" dirty="0"/>
                            <a:t>Prediction error (0.82 vs 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395431192"/>
                      </a:ext>
                    </a:extLst>
                  </a:tr>
                  <a:tr h="555117">
                    <a:tc>
                      <a:txBody>
                        <a:bodyPr/>
                        <a:lstStyle/>
                        <a:p>
                          <a:pPr>
                            <a:buNone/>
                          </a:pPr>
                          <a:r>
                            <a:rPr lang="en-US" sz="1600" noProof="0" dirty="0"/>
                            <a:t>2</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2"/>
                          <a:stretch>
                            <a:fillRect l="-41818" t="-168478" r="-266364" b="-101087"/>
                          </a:stretch>
                        </a:blipFill>
                      </a:tcPr>
                    </a:tc>
                    <a:tc>
                      <a:txBody>
                        <a:bodyPr/>
                        <a:lstStyle/>
                        <a:p>
                          <a:pPr>
                            <a:buNone/>
                          </a:pPr>
                          <a:r>
                            <a:rPr lang="en-US" sz="1600" noProof="0" dirty="0"/>
                            <a:t>0.1476</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US" sz="1600" noProof="0" dirty="0"/>
                            <a:t>Model confidence sensitivity (sigmoid slope)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181752385"/>
                      </a:ext>
                    </a:extLst>
                  </a:tr>
                  <a:tr h="555117">
                    <a:tc>
                      <a:txBody>
                        <a:bodyPr/>
                        <a:lstStyle/>
                        <a:p>
                          <a:pPr>
                            <a:buNone/>
                          </a:pPr>
                          <a:r>
                            <a:rPr lang="en-US" sz="1600" noProof="0" dirty="0"/>
                            <a:t>3</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2"/>
                          <a:stretch>
                            <a:fillRect l="-41818" t="-271429" r="-266364" b="-2198"/>
                          </a:stretch>
                        </a:blipFill>
                      </a:tcPr>
                    </a:tc>
                    <a:tc>
                      <a:txBody>
                        <a:bodyPr/>
                        <a:lstStyle/>
                        <a:p>
                          <a:pPr>
                            <a:buNone/>
                          </a:pPr>
                          <a:r>
                            <a:rPr lang="en-US" sz="1600" noProof="0" dirty="0"/>
                            <a:t>3</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US" sz="1600" noProof="0" dirty="0"/>
                            <a:t>Prediction error (0.82 vs 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251819361"/>
                      </a:ext>
                    </a:extLst>
                  </a:tr>
                </a:tbl>
              </a:graphicData>
            </a:graphic>
          </p:graphicFrame>
        </mc:Fallback>
      </mc:AlternateContent>
      <mc:AlternateContent xmlns:mc="http://schemas.openxmlformats.org/markup-compatibility/2006">
        <mc:Choice xmlns:a14="http://schemas.microsoft.com/office/drawing/2010/main" Requires="a14">
          <p:sp>
            <p:nvSpPr>
              <p:cNvPr id="3" name="TextBox 2">
                <a:extLst>
                  <a:ext uri="{FF2B5EF4-FFF2-40B4-BE49-F238E27FC236}">
                    <a16:creationId xmlns:a16="http://schemas.microsoft.com/office/drawing/2014/main" id="{BF4667DF-3A36-4CF4-26A2-689378A12537}"/>
                  </a:ext>
                </a:extLst>
              </p:cNvPr>
              <p:cNvSpPr txBox="1"/>
              <p:nvPr/>
            </p:nvSpPr>
            <p:spPr>
              <a:xfrm>
                <a:off x="2309191" y="4943062"/>
                <a:ext cx="8186532" cy="1370119"/>
              </a:xfrm>
              <a:prstGeom prst="rect">
                <a:avLst/>
              </a:prstGeom>
              <a:solidFill>
                <a:schemeClr val="accent6">
                  <a:lumMod val="20000"/>
                  <a:lumOff val="80000"/>
                </a:schemeClr>
              </a:solidFill>
            </p:spPr>
            <p:txBody>
              <a:bodyPr wrap="square" rtlCol="0">
                <a:spAutoFit/>
              </a:bodyPr>
              <a:lstStyle/>
              <a:p>
                <a:r>
                  <a:rPr lang="en-US" noProof="0" dirty="0"/>
                  <a:t>Gradient Calculation</a:t>
                </a:r>
              </a:p>
              <a:p>
                <a:endParaRPr lang="en-US" noProof="0" dirty="0"/>
              </a:p>
              <a:p>
                <a:r>
                  <a:rPr lang="en-US" noProof="0" dirty="0"/>
                  <a:t>Chain Rule: </a:t>
                </a:r>
                <a14:m>
                  <m:oMath xmlns:m="http://schemas.openxmlformats.org/officeDocument/2006/math">
                    <m:f>
                      <m:fPr>
                        <m:ctrlPr>
                          <a:rPr lang="en-US" i="1" noProof="0">
                            <a:latin typeface="Cambria Math" panose="02040503050406030204" pitchFamily="18" charset="0"/>
                          </a:rPr>
                        </m:ctrlPr>
                      </m:fPr>
                      <m:num>
                        <m:r>
                          <a:rPr lang="en-US" i="1" noProof="0">
                            <a:latin typeface="Cambria Math" panose="02040503050406030204" pitchFamily="18" charset="0"/>
                          </a:rPr>
                          <m:t>𝜕</m:t>
                        </m:r>
                        <m:r>
                          <a:rPr lang="en-US" i="1" noProof="0" smtClean="0">
                            <a:latin typeface="Cambria Math" panose="02040503050406030204" pitchFamily="18" charset="0"/>
                          </a:rPr>
                          <m:t>𝐿</m:t>
                        </m:r>
                      </m:num>
                      <m:den>
                        <m:r>
                          <a:rPr lang="en-US" i="1" noProof="0">
                            <a:latin typeface="Cambria Math" panose="02040503050406030204" pitchFamily="18" charset="0"/>
                          </a:rPr>
                          <m:t>𝜕</m:t>
                        </m:r>
                        <m:r>
                          <a:rPr lang="en-US" i="1" noProof="0" smtClean="0">
                            <a:latin typeface="Cambria Math" panose="02040503050406030204" pitchFamily="18" charset="0"/>
                          </a:rPr>
                          <m:t>𝑤</m:t>
                        </m:r>
                      </m:den>
                    </m:f>
                  </m:oMath>
                </a14:m>
                <a:r>
                  <a:rPr lang="en-US" noProof="0" dirty="0"/>
                  <a:t> = </a:t>
                </a:r>
                <a14:m>
                  <m:oMath xmlns:m="http://schemas.openxmlformats.org/officeDocument/2006/math">
                    <m:f>
                      <m:fPr>
                        <m:ctrlPr>
                          <a:rPr lang="en-US" i="1" noProof="0">
                            <a:latin typeface="Cambria Math" panose="02040503050406030204" pitchFamily="18" charset="0"/>
                          </a:rPr>
                        </m:ctrlPr>
                      </m:fPr>
                      <m:num>
                        <m:r>
                          <a:rPr lang="en-US" i="1" noProof="0">
                            <a:latin typeface="Cambria Math" panose="02040503050406030204" pitchFamily="18" charset="0"/>
                          </a:rPr>
                          <m:t>𝜕</m:t>
                        </m:r>
                        <m:r>
                          <a:rPr lang="en-US" i="1" noProof="0" smtClean="0">
                            <a:latin typeface="Cambria Math" panose="02040503050406030204" pitchFamily="18" charset="0"/>
                          </a:rPr>
                          <m:t>𝐿</m:t>
                        </m:r>
                      </m:num>
                      <m:den>
                        <m:r>
                          <a:rPr lang="en-US" i="1" noProof="0">
                            <a:latin typeface="Cambria Math" panose="02040503050406030204" pitchFamily="18" charset="0"/>
                          </a:rPr>
                          <m:t>𝜕</m:t>
                        </m:r>
                        <m:r>
                          <m:rPr>
                            <m:nor/>
                          </m:rPr>
                          <a:rPr lang="en-US" noProof="0" smtClean="0"/>
                          <m:t>ŷ</m:t>
                        </m:r>
                      </m:den>
                    </m:f>
                  </m:oMath>
                </a14:m>
                <a:r>
                  <a:rPr lang="en-US" noProof="0" dirty="0"/>
                  <a:t> . </a:t>
                </a:r>
                <a14:m>
                  <m:oMath xmlns:m="http://schemas.openxmlformats.org/officeDocument/2006/math">
                    <m:f>
                      <m:fPr>
                        <m:ctrlPr>
                          <a:rPr lang="en-US" i="1" noProof="0">
                            <a:latin typeface="Cambria Math" panose="02040503050406030204" pitchFamily="18" charset="0"/>
                          </a:rPr>
                        </m:ctrlPr>
                      </m:fPr>
                      <m:num>
                        <m:r>
                          <a:rPr lang="en-US" i="1" noProof="0">
                            <a:latin typeface="Cambria Math" panose="02040503050406030204" pitchFamily="18" charset="0"/>
                          </a:rPr>
                          <m:t>𝜕</m:t>
                        </m:r>
                        <m:r>
                          <m:rPr>
                            <m:nor/>
                          </m:rPr>
                          <a:rPr lang="en-US" noProof="0" smtClean="0"/>
                          <m:t>ŷ</m:t>
                        </m:r>
                      </m:num>
                      <m:den>
                        <m:r>
                          <a:rPr lang="en-US" i="1" noProof="0">
                            <a:latin typeface="Cambria Math" panose="02040503050406030204" pitchFamily="18" charset="0"/>
                          </a:rPr>
                          <m:t>𝜕</m:t>
                        </m:r>
                        <m:r>
                          <a:rPr lang="en-US" i="1" noProof="0" smtClean="0">
                            <a:latin typeface="Cambria Math" panose="02040503050406030204" pitchFamily="18" charset="0"/>
                          </a:rPr>
                          <m:t>𝑧</m:t>
                        </m:r>
                      </m:den>
                    </m:f>
                  </m:oMath>
                </a14:m>
                <a:r>
                  <a:rPr lang="en-US" noProof="0" dirty="0"/>
                  <a:t> . </a:t>
                </a:r>
                <a14:m>
                  <m:oMath xmlns:m="http://schemas.openxmlformats.org/officeDocument/2006/math">
                    <m:f>
                      <m:fPr>
                        <m:ctrlPr>
                          <a:rPr lang="en-US" i="1" noProof="0">
                            <a:latin typeface="Cambria Math" panose="02040503050406030204" pitchFamily="18" charset="0"/>
                          </a:rPr>
                        </m:ctrlPr>
                      </m:fPr>
                      <m:num>
                        <m:r>
                          <a:rPr lang="en-US" i="1" noProof="0">
                            <a:latin typeface="Cambria Math" panose="02040503050406030204" pitchFamily="18" charset="0"/>
                          </a:rPr>
                          <m:t>𝜕</m:t>
                        </m:r>
                        <m:r>
                          <a:rPr lang="en-US" i="1" noProof="0" smtClean="0">
                            <a:latin typeface="Cambria Math" panose="02040503050406030204" pitchFamily="18" charset="0"/>
                          </a:rPr>
                          <m:t>𝑧</m:t>
                        </m:r>
                      </m:num>
                      <m:den>
                        <m:r>
                          <a:rPr lang="en-US" i="1" noProof="0">
                            <a:latin typeface="Cambria Math" panose="02040503050406030204" pitchFamily="18" charset="0"/>
                          </a:rPr>
                          <m:t>𝜕</m:t>
                        </m:r>
                        <m:r>
                          <a:rPr lang="en-US" i="1" noProof="0" smtClean="0">
                            <a:latin typeface="Cambria Math" panose="02040503050406030204" pitchFamily="18" charset="0"/>
                          </a:rPr>
                          <m:t>𝑤</m:t>
                        </m:r>
                      </m:den>
                    </m:f>
                  </m:oMath>
                </a14:m>
                <a:r>
                  <a:rPr lang="en-US" noProof="0" dirty="0"/>
                  <a:t> = 1.64 x 0.1476 x 3 = 0.726</a:t>
                </a:r>
              </a:p>
              <a:p>
                <a:endParaRPr lang="en-US" noProof="0" dirty="0"/>
              </a:p>
            </p:txBody>
          </p:sp>
        </mc:Choice>
        <mc:Fallback>
          <p:sp>
            <p:nvSpPr>
              <p:cNvPr id="3" name="TextBox 2">
                <a:extLst>
                  <a:ext uri="{FF2B5EF4-FFF2-40B4-BE49-F238E27FC236}">
                    <a16:creationId xmlns:a16="http://schemas.microsoft.com/office/drawing/2014/main" id="{BF4667DF-3A36-4CF4-26A2-689378A12537}"/>
                  </a:ext>
                </a:extLst>
              </p:cNvPr>
              <p:cNvSpPr txBox="1">
                <a:spLocks noRot="1" noChangeAspect="1" noMove="1" noResize="1" noEditPoints="1" noAdjustHandles="1" noChangeArrowheads="1" noChangeShapeType="1" noTextEdit="1"/>
              </p:cNvSpPr>
              <p:nvPr/>
            </p:nvSpPr>
            <p:spPr>
              <a:xfrm>
                <a:off x="2309191" y="4943062"/>
                <a:ext cx="8186532" cy="1370119"/>
              </a:xfrm>
              <a:prstGeom prst="rect">
                <a:avLst/>
              </a:prstGeom>
              <a:blipFill>
                <a:blip r:embed="rId3"/>
                <a:stretch>
                  <a:fillRect l="-670" t="-2667"/>
                </a:stretch>
              </a:blipFill>
            </p:spPr>
            <p:txBody>
              <a:bodyPr/>
              <a:lstStyle/>
              <a:p>
                <a:r>
                  <a:rPr lang="en-GB">
                    <a:noFill/>
                  </a:rPr>
                  <a:t> </a:t>
                </a:r>
              </a:p>
            </p:txBody>
          </p:sp>
        </mc:Fallback>
      </mc:AlternateContent>
      <p:graphicFrame>
        <p:nvGraphicFramePr>
          <p:cNvPr id="6" name="Table 5">
            <a:extLst>
              <a:ext uri="{FF2B5EF4-FFF2-40B4-BE49-F238E27FC236}">
                <a16:creationId xmlns:a16="http://schemas.microsoft.com/office/drawing/2014/main" id="{C8F88AEB-F80C-FD1A-1F79-C1B55703F5A5}"/>
              </a:ext>
            </a:extLst>
          </p:cNvPr>
          <p:cNvGraphicFramePr>
            <a:graphicFrameLocks noGrp="1"/>
          </p:cNvGraphicFramePr>
          <p:nvPr>
            <p:extLst>
              <p:ext uri="{D42A27DB-BD31-4B8C-83A1-F6EECF244321}">
                <p14:modId xmlns:p14="http://schemas.microsoft.com/office/powerpoint/2010/main" val="1620229778"/>
              </p:ext>
            </p:extLst>
          </p:nvPr>
        </p:nvGraphicFramePr>
        <p:xfrm>
          <a:off x="2309191" y="3429000"/>
          <a:ext cx="8186532" cy="1341120"/>
        </p:xfrm>
        <a:graphic>
          <a:graphicData uri="http://schemas.openxmlformats.org/drawingml/2006/table">
            <a:tbl>
              <a:tblPr firstRow="1">
                <a:tableStyleId>{69012ECD-51FC-41F1-AA8D-1B2483CD663E}</a:tableStyleId>
              </a:tblPr>
              <a:tblGrid>
                <a:gridCol w="3130826">
                  <a:extLst>
                    <a:ext uri="{9D8B030D-6E8A-4147-A177-3AD203B41FA5}">
                      <a16:colId xmlns:a16="http://schemas.microsoft.com/office/drawing/2014/main" val="3183401497"/>
                    </a:ext>
                  </a:extLst>
                </a:gridCol>
                <a:gridCol w="5055706">
                  <a:extLst>
                    <a:ext uri="{9D8B030D-6E8A-4147-A177-3AD203B41FA5}">
                      <a16:colId xmlns:a16="http://schemas.microsoft.com/office/drawing/2014/main" val="2551554253"/>
                    </a:ext>
                  </a:extLst>
                </a:gridCol>
              </a:tblGrid>
              <a:tr h="0">
                <a:tc>
                  <a:txBody>
                    <a:bodyPr/>
                    <a:lstStyle/>
                    <a:p>
                      <a:pPr>
                        <a:buNone/>
                      </a:pPr>
                      <a:r>
                        <a:rPr lang="en-US" sz="1600" noProof="0" dirty="0"/>
                        <a:t>Factor</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US" sz="1600" noProof="0" dirty="0"/>
                        <a:t>What it tells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826005002"/>
                  </a:ext>
                </a:extLst>
              </a:tr>
              <a:tr h="0">
                <a:tc>
                  <a:txBody>
                    <a:bodyPr/>
                    <a:lstStyle/>
                    <a:p>
                      <a:pPr>
                        <a:buNone/>
                      </a:pPr>
                      <a:r>
                        <a:rPr lang="en-US" sz="1600" noProof="0" dirty="0"/>
                        <a:t>Error is high (1.64)</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US" sz="1600" noProof="0" dirty="0"/>
                        <a:t>Model prediction is very wrong</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669561761"/>
                  </a:ext>
                </a:extLst>
              </a:tr>
              <a:tr h="0">
                <a:tc>
                  <a:txBody>
                    <a:bodyPr/>
                    <a:lstStyle/>
                    <a:p>
                      <a:pPr>
                        <a:buNone/>
                      </a:pPr>
                      <a:r>
                        <a:rPr lang="en-US" sz="1600" noProof="0" dirty="0"/>
                        <a:t>Sigmoid slope is moderate (0.1476)</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US" sz="1600" noProof="0" dirty="0"/>
                        <a:t>Model can still adjust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941973092"/>
                  </a:ext>
                </a:extLst>
              </a:tr>
              <a:tr h="0">
                <a:tc>
                  <a:txBody>
                    <a:bodyPr/>
                    <a:lstStyle/>
                    <a:p>
                      <a:pPr>
                        <a:buNone/>
                      </a:pPr>
                      <a:r>
                        <a:rPr lang="en-US" sz="1600" noProof="0" dirty="0"/>
                        <a:t>Input is 3</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US" sz="1600" noProof="0" dirty="0"/>
                        <a:t>Study hours influenced prediction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612566165"/>
                  </a:ext>
                </a:extLst>
              </a:tr>
            </a:tbl>
          </a:graphicData>
        </a:graphic>
      </p:graphicFrame>
    </p:spTree>
    <p:extLst>
      <p:ext uri="{BB962C8B-B14F-4D97-AF65-F5344CB8AC3E}">
        <p14:creationId xmlns:p14="http://schemas.microsoft.com/office/powerpoint/2010/main" val="2683530381"/>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A4B69F-C635-1682-AEE0-CA1229AE7BE9}"/>
              </a:ext>
            </a:extLst>
          </p:cNvPr>
          <p:cNvSpPr>
            <a:spLocks noGrp="1"/>
          </p:cNvSpPr>
          <p:nvPr>
            <p:ph type="title"/>
          </p:nvPr>
        </p:nvSpPr>
        <p:spPr>
          <a:xfrm>
            <a:off x="838200" y="1"/>
            <a:ext cx="10515600" cy="589721"/>
          </a:xfrm>
        </p:spPr>
        <p:txBody>
          <a:bodyPr>
            <a:normAutofit fontScale="90000"/>
          </a:bodyPr>
          <a:lstStyle/>
          <a:p>
            <a:r>
              <a:rPr lang="en-US" noProof="0" dirty="0"/>
              <a:t>LLM Architecture</a:t>
            </a:r>
          </a:p>
        </p:txBody>
      </p:sp>
      <p:sp>
        <p:nvSpPr>
          <p:cNvPr id="3" name="Content Placeholder 2">
            <a:extLst>
              <a:ext uri="{FF2B5EF4-FFF2-40B4-BE49-F238E27FC236}">
                <a16:creationId xmlns:a16="http://schemas.microsoft.com/office/drawing/2014/main" id="{DC010A8B-F90B-5BEC-FBBA-6F4A65E09B10}"/>
              </a:ext>
            </a:extLst>
          </p:cNvPr>
          <p:cNvSpPr>
            <a:spLocks noGrp="1"/>
          </p:cNvSpPr>
          <p:nvPr>
            <p:ph idx="1"/>
          </p:nvPr>
        </p:nvSpPr>
        <p:spPr>
          <a:xfrm>
            <a:off x="838200" y="675861"/>
            <a:ext cx="10515600" cy="5501102"/>
          </a:xfrm>
        </p:spPr>
        <p:txBody>
          <a:bodyPr/>
          <a:lstStyle/>
          <a:p>
            <a:r>
              <a:rPr lang="en-US" b="1" noProof="0" dirty="0"/>
              <a:t>Large Language Model </a:t>
            </a:r>
            <a:r>
              <a:rPr lang="en-US" noProof="0" dirty="0"/>
              <a:t>(Examples: GPT, BERT)</a:t>
            </a:r>
          </a:p>
          <a:p>
            <a:r>
              <a:rPr lang="en-US" noProof="0" dirty="0"/>
              <a:t>Predicts next word/token: Sequence → Probability → Next Token</a:t>
            </a:r>
          </a:p>
          <a:p>
            <a:r>
              <a:rPr lang="en-US" noProof="0" dirty="0"/>
              <a:t>Trained on massive text data</a:t>
            </a:r>
          </a:p>
          <a:p>
            <a:endParaRPr lang="en-US" noProof="0" dirty="0"/>
          </a:p>
        </p:txBody>
      </p:sp>
      <p:graphicFrame>
        <p:nvGraphicFramePr>
          <p:cNvPr id="4" name="Table 3">
            <a:extLst>
              <a:ext uri="{FF2B5EF4-FFF2-40B4-BE49-F238E27FC236}">
                <a16:creationId xmlns:a16="http://schemas.microsoft.com/office/drawing/2014/main" id="{EB7D08A7-3FD5-6A44-7DA6-2927700D6ABC}"/>
              </a:ext>
            </a:extLst>
          </p:cNvPr>
          <p:cNvGraphicFramePr>
            <a:graphicFrameLocks noGrp="1"/>
          </p:cNvGraphicFramePr>
          <p:nvPr>
            <p:extLst>
              <p:ext uri="{D42A27DB-BD31-4B8C-83A1-F6EECF244321}">
                <p14:modId xmlns:p14="http://schemas.microsoft.com/office/powerpoint/2010/main" val="316662561"/>
              </p:ext>
            </p:extLst>
          </p:nvPr>
        </p:nvGraphicFramePr>
        <p:xfrm>
          <a:off x="897836" y="2230141"/>
          <a:ext cx="10515600" cy="4297680"/>
        </p:xfrm>
        <a:graphic>
          <a:graphicData uri="http://schemas.openxmlformats.org/drawingml/2006/table">
            <a:tbl>
              <a:tblPr firstRow="1">
                <a:tableStyleId>{793D81CF-94F2-401A-BA57-92F5A7B2D0C5}</a:tableStyleId>
              </a:tblPr>
              <a:tblGrid>
                <a:gridCol w="2628900">
                  <a:extLst>
                    <a:ext uri="{9D8B030D-6E8A-4147-A177-3AD203B41FA5}">
                      <a16:colId xmlns:a16="http://schemas.microsoft.com/office/drawing/2014/main" val="3701894476"/>
                    </a:ext>
                  </a:extLst>
                </a:gridCol>
                <a:gridCol w="2628900">
                  <a:extLst>
                    <a:ext uri="{9D8B030D-6E8A-4147-A177-3AD203B41FA5}">
                      <a16:colId xmlns:a16="http://schemas.microsoft.com/office/drawing/2014/main" val="2735911667"/>
                    </a:ext>
                  </a:extLst>
                </a:gridCol>
                <a:gridCol w="2628900">
                  <a:extLst>
                    <a:ext uri="{9D8B030D-6E8A-4147-A177-3AD203B41FA5}">
                      <a16:colId xmlns:a16="http://schemas.microsoft.com/office/drawing/2014/main" val="3480026921"/>
                    </a:ext>
                  </a:extLst>
                </a:gridCol>
                <a:gridCol w="2628900">
                  <a:extLst>
                    <a:ext uri="{9D8B030D-6E8A-4147-A177-3AD203B41FA5}">
                      <a16:colId xmlns:a16="http://schemas.microsoft.com/office/drawing/2014/main" val="3921831591"/>
                    </a:ext>
                  </a:extLst>
                </a:gridCol>
              </a:tblGrid>
              <a:tr h="0">
                <a:tc>
                  <a:txBody>
                    <a:bodyPr/>
                    <a:lstStyle/>
                    <a:p>
                      <a:pPr>
                        <a:buNone/>
                      </a:pPr>
                      <a:r>
                        <a:rPr lang="en-US" noProof="0" dirty="0"/>
                        <a:t>Concept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US" noProof="0" dirty="0"/>
                        <a:t>What it is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US" noProof="0" dirty="0"/>
                        <a:t>How it works (simple)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US" noProof="0" dirty="0"/>
                        <a:t>Key Point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465800542"/>
                  </a:ext>
                </a:extLst>
              </a:tr>
              <a:tr h="0">
                <a:tc>
                  <a:txBody>
                    <a:bodyPr/>
                    <a:lstStyle/>
                    <a:p>
                      <a:pPr>
                        <a:buNone/>
                      </a:pPr>
                      <a:r>
                        <a:rPr lang="en-US" b="1" noProof="0" dirty="0"/>
                        <a:t>Tokens</a:t>
                      </a:r>
                      <a:endParaRPr lang="en-US" noProof="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US" noProof="0" dirty="0"/>
                        <a:t>Small units of text converted to numbers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US" noProof="0" dirty="0"/>
                        <a:t>Text → split into tokens → each token gets an ID → converted to vectors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US" noProof="0" dirty="0"/>
                        <a:t>Model understands </a:t>
                      </a:r>
                      <a:r>
                        <a:rPr lang="en-US" b="1" noProof="0" dirty="0"/>
                        <a:t>numbers, not words</a:t>
                      </a:r>
                      <a:endParaRPr lang="en-US" noProof="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395468110"/>
                  </a:ext>
                </a:extLst>
              </a:tr>
              <a:tr h="0">
                <a:tc>
                  <a:txBody>
                    <a:bodyPr/>
                    <a:lstStyle/>
                    <a:p>
                      <a:pPr>
                        <a:buNone/>
                      </a:pPr>
                      <a:r>
                        <a:rPr lang="en-US" b="1" noProof="0" dirty="0"/>
                        <a:t>Context Window</a:t>
                      </a:r>
                      <a:endParaRPr lang="en-US" noProof="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US" noProof="0" dirty="0"/>
                        <a:t>Maximum number of tokens model can process at once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US" noProof="0" dirty="0"/>
                        <a:t>Model reads only a fixed number of tokens at a time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US" noProof="0" dirty="0"/>
                        <a:t>Older tokens are </a:t>
                      </a:r>
                      <a:r>
                        <a:rPr lang="en-US" b="1" noProof="0" dirty="0"/>
                        <a:t>dropped when limit is exceeded</a:t>
                      </a:r>
                      <a:endParaRPr lang="en-US" noProof="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95917296"/>
                  </a:ext>
                </a:extLst>
              </a:tr>
              <a:tr h="0">
                <a:tc>
                  <a:txBody>
                    <a:bodyPr/>
                    <a:lstStyle/>
                    <a:p>
                      <a:pPr>
                        <a:buNone/>
                      </a:pPr>
                      <a:r>
                        <a:rPr lang="en-US" b="1" noProof="0" dirty="0"/>
                        <a:t>Attention (Self-Attention)</a:t>
                      </a:r>
                      <a:endParaRPr lang="en-US" noProof="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US" noProof="0" dirty="0"/>
                        <a:t>Mechanism to find relationships between tokens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US" noProof="0" dirty="0"/>
                        <a:t>Each token compares itself with all other tokens and assigns importance (weights)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US" noProof="0" dirty="0"/>
                        <a:t>Helps model understand </a:t>
                      </a:r>
                      <a:r>
                        <a:rPr lang="en-US" b="1" noProof="0" dirty="0"/>
                        <a:t>context and meaning</a:t>
                      </a:r>
                      <a:endParaRPr lang="en-US" noProof="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249881184"/>
                  </a:ext>
                </a:extLst>
              </a:tr>
              <a:tr h="0">
                <a:tc>
                  <a:txBody>
                    <a:bodyPr/>
                    <a:lstStyle/>
                    <a:p>
                      <a:pPr>
                        <a:buNone/>
                      </a:pPr>
                      <a:r>
                        <a:rPr lang="en-US" b="1" noProof="0" dirty="0"/>
                        <a:t>Transformers</a:t>
                      </a:r>
                      <a:endParaRPr lang="en-US" noProof="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US" noProof="0" dirty="0"/>
                        <a:t>Architecture that processes tokens using attention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US" noProof="0" dirty="0"/>
                        <a:t>All tokens are processed </a:t>
                      </a:r>
                      <a:r>
                        <a:rPr lang="en-US" b="1" noProof="0" dirty="0"/>
                        <a:t>in parallel</a:t>
                      </a:r>
                      <a:r>
                        <a:rPr lang="en-US" noProof="0" dirty="0"/>
                        <a:t> using attention layers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US" noProof="0" dirty="0"/>
                        <a:t>Enables </a:t>
                      </a:r>
                      <a:r>
                        <a:rPr lang="en-US" b="1" noProof="0" dirty="0"/>
                        <a:t>fast and long-context understanding</a:t>
                      </a:r>
                      <a:endParaRPr lang="en-US" noProof="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517770787"/>
                  </a:ext>
                </a:extLst>
              </a:tr>
            </a:tbl>
          </a:graphicData>
        </a:graphic>
      </p:graphicFrame>
    </p:spTree>
    <p:extLst>
      <p:ext uri="{BB962C8B-B14F-4D97-AF65-F5344CB8AC3E}">
        <p14:creationId xmlns:p14="http://schemas.microsoft.com/office/powerpoint/2010/main" val="1489439113"/>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797F9E5-D014-0ED8-587B-BB078DBA9ECB}"/>
              </a:ext>
            </a:extLst>
          </p:cNvPr>
          <p:cNvSpPr>
            <a:spLocks noGrp="1"/>
          </p:cNvSpPr>
          <p:nvPr>
            <p:ph type="title"/>
          </p:nvPr>
        </p:nvSpPr>
        <p:spPr/>
        <p:txBody>
          <a:bodyPr/>
          <a:lstStyle/>
          <a:p>
            <a:r>
              <a:rPr lang="en-US" noProof="0" dirty="0"/>
              <a:t>Example</a:t>
            </a:r>
          </a:p>
        </p:txBody>
      </p:sp>
      <p:graphicFrame>
        <p:nvGraphicFramePr>
          <p:cNvPr id="4" name="Content Placeholder 3">
            <a:extLst>
              <a:ext uri="{FF2B5EF4-FFF2-40B4-BE49-F238E27FC236}">
                <a16:creationId xmlns:a16="http://schemas.microsoft.com/office/drawing/2014/main" id="{ED1347C7-C621-ACF6-C3BA-E4520FD01747}"/>
              </a:ext>
            </a:extLst>
          </p:cNvPr>
          <p:cNvGraphicFramePr>
            <a:graphicFrameLocks noGrp="1"/>
          </p:cNvGraphicFramePr>
          <p:nvPr>
            <p:ph idx="1"/>
            <p:extLst>
              <p:ext uri="{D42A27DB-BD31-4B8C-83A1-F6EECF244321}">
                <p14:modId xmlns:p14="http://schemas.microsoft.com/office/powerpoint/2010/main" val="172634663"/>
              </p:ext>
            </p:extLst>
          </p:nvPr>
        </p:nvGraphicFramePr>
        <p:xfrm>
          <a:off x="725556" y="1594699"/>
          <a:ext cx="10515600" cy="2560320"/>
        </p:xfrm>
        <a:graphic>
          <a:graphicData uri="http://schemas.openxmlformats.org/drawingml/2006/table">
            <a:tbl>
              <a:tblPr firstRow="1">
                <a:tableStyleId>{69012ECD-51FC-41F1-AA8D-1B2483CD663E}</a:tableStyleId>
              </a:tblPr>
              <a:tblGrid>
                <a:gridCol w="3505200">
                  <a:extLst>
                    <a:ext uri="{9D8B030D-6E8A-4147-A177-3AD203B41FA5}">
                      <a16:colId xmlns:a16="http://schemas.microsoft.com/office/drawing/2014/main" val="3405262550"/>
                    </a:ext>
                  </a:extLst>
                </a:gridCol>
                <a:gridCol w="3505200">
                  <a:extLst>
                    <a:ext uri="{9D8B030D-6E8A-4147-A177-3AD203B41FA5}">
                      <a16:colId xmlns:a16="http://schemas.microsoft.com/office/drawing/2014/main" val="757564102"/>
                    </a:ext>
                  </a:extLst>
                </a:gridCol>
                <a:gridCol w="3505200">
                  <a:extLst>
                    <a:ext uri="{9D8B030D-6E8A-4147-A177-3AD203B41FA5}">
                      <a16:colId xmlns:a16="http://schemas.microsoft.com/office/drawing/2014/main" val="1642886716"/>
                    </a:ext>
                  </a:extLst>
                </a:gridCol>
              </a:tblGrid>
              <a:tr h="0">
                <a:tc>
                  <a:txBody>
                    <a:bodyPr/>
                    <a:lstStyle/>
                    <a:p>
                      <a:pPr>
                        <a:buNone/>
                      </a:pPr>
                      <a:r>
                        <a:rPr lang="en-US" noProof="0" dirty="0"/>
                        <a:t>Step</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US" noProof="0" dirty="0"/>
                        <a:t>Process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US" noProof="0" dirty="0"/>
                        <a:t>What Happens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480886772"/>
                  </a:ext>
                </a:extLst>
              </a:tr>
              <a:tr h="0">
                <a:tc>
                  <a:txBody>
                    <a:bodyPr/>
                    <a:lstStyle/>
                    <a:p>
                      <a:pPr>
                        <a:buNone/>
                      </a:pPr>
                      <a:r>
                        <a:rPr lang="en-US" noProof="0" dirty="0"/>
                        <a:t>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US" noProof="0" dirty="0"/>
                        <a:t>Input text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US" noProof="0" dirty="0"/>
                        <a:t>“The dog barked loudly”</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956008206"/>
                  </a:ext>
                </a:extLst>
              </a:tr>
              <a:tr h="0">
                <a:tc>
                  <a:txBody>
                    <a:bodyPr/>
                    <a:lstStyle/>
                    <a:p>
                      <a:pPr>
                        <a:buNone/>
                      </a:pPr>
                      <a:r>
                        <a:rPr lang="en-US" noProof="0" dirty="0"/>
                        <a:t>2</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US" noProof="0" dirty="0"/>
                        <a:t>Tokenization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US" noProof="0" dirty="0"/>
                        <a:t>[The, dog, barked, loudly]</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143181327"/>
                  </a:ext>
                </a:extLst>
              </a:tr>
              <a:tr h="0">
                <a:tc>
                  <a:txBody>
                    <a:bodyPr/>
                    <a:lstStyle/>
                    <a:p>
                      <a:pPr>
                        <a:buNone/>
                      </a:pPr>
                      <a:r>
                        <a:rPr lang="en-US" noProof="0" dirty="0"/>
                        <a:t>3</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US" noProof="0" dirty="0"/>
                        <a:t>Context Window</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US" noProof="0" dirty="0"/>
                        <a:t>All tokens loaded (if within limit)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619655290"/>
                  </a:ext>
                </a:extLst>
              </a:tr>
              <a:tr h="0">
                <a:tc>
                  <a:txBody>
                    <a:bodyPr/>
                    <a:lstStyle/>
                    <a:p>
                      <a:pPr>
                        <a:buNone/>
                      </a:pPr>
                      <a:r>
                        <a:rPr lang="en-US" noProof="0" dirty="0"/>
                        <a:t>4</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US" noProof="0" dirty="0"/>
                        <a:t>Attention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US" noProof="0" dirty="0"/>
                        <a:t>Model links “dog” ↔ “barked”</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949991715"/>
                  </a:ext>
                </a:extLst>
              </a:tr>
              <a:tr h="0">
                <a:tc>
                  <a:txBody>
                    <a:bodyPr/>
                    <a:lstStyle/>
                    <a:p>
                      <a:pPr>
                        <a:buNone/>
                      </a:pPr>
                      <a:r>
                        <a:rPr lang="en-US" noProof="0" dirty="0"/>
                        <a:t>5</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US" noProof="0" dirty="0"/>
                        <a:t>Transformer</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US" noProof="0" dirty="0"/>
                        <a:t>Processes all tokens together</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930429976"/>
                  </a:ext>
                </a:extLst>
              </a:tr>
              <a:tr h="0">
                <a:tc>
                  <a:txBody>
                    <a:bodyPr/>
                    <a:lstStyle/>
                    <a:p>
                      <a:pPr>
                        <a:buNone/>
                      </a:pPr>
                      <a:r>
                        <a:rPr lang="en-US" noProof="0" dirty="0"/>
                        <a:t>6</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US" noProof="0" dirty="0"/>
                        <a:t>Output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US" noProof="0" dirty="0"/>
                        <a:t>Predicts next token (e.g., “at”)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672755834"/>
                  </a:ext>
                </a:extLst>
              </a:tr>
            </a:tbl>
          </a:graphicData>
        </a:graphic>
      </p:graphicFrame>
    </p:spTree>
    <p:extLst>
      <p:ext uri="{BB962C8B-B14F-4D97-AF65-F5344CB8AC3E}">
        <p14:creationId xmlns:p14="http://schemas.microsoft.com/office/powerpoint/2010/main" val="1118167225"/>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6FA0D64E-AFE1-1167-6E01-642781F0E3CB}"/>
              </a:ext>
            </a:extLst>
          </p:cNvPr>
          <p:cNvSpPr>
            <a:spLocks noGrp="1"/>
          </p:cNvSpPr>
          <p:nvPr>
            <p:ph type="title"/>
          </p:nvPr>
        </p:nvSpPr>
        <p:spPr>
          <a:xfrm>
            <a:off x="91324" y="120820"/>
            <a:ext cx="2300693" cy="422519"/>
          </a:xfrm>
        </p:spPr>
        <p:txBody>
          <a:bodyPr>
            <a:noAutofit/>
          </a:bodyPr>
          <a:lstStyle/>
          <a:p>
            <a:r>
              <a:rPr lang="en-US" sz="1800" noProof="0" dirty="0"/>
              <a:t>The dog barked loudly</a:t>
            </a:r>
          </a:p>
        </p:txBody>
      </p:sp>
      <p:graphicFrame>
        <p:nvGraphicFramePr>
          <p:cNvPr id="5" name="Table 4">
            <a:extLst>
              <a:ext uri="{FF2B5EF4-FFF2-40B4-BE49-F238E27FC236}">
                <a16:creationId xmlns:a16="http://schemas.microsoft.com/office/drawing/2014/main" id="{31D1C851-F01F-F04F-D268-E5128B3647B5}"/>
              </a:ext>
            </a:extLst>
          </p:cNvPr>
          <p:cNvGraphicFramePr>
            <a:graphicFrameLocks noGrp="1"/>
          </p:cNvGraphicFramePr>
          <p:nvPr>
            <p:extLst>
              <p:ext uri="{D42A27DB-BD31-4B8C-83A1-F6EECF244321}">
                <p14:modId xmlns:p14="http://schemas.microsoft.com/office/powerpoint/2010/main" val="2065058894"/>
              </p:ext>
            </p:extLst>
          </p:nvPr>
        </p:nvGraphicFramePr>
        <p:xfrm>
          <a:off x="91324" y="958370"/>
          <a:ext cx="2950050" cy="1371600"/>
        </p:xfrm>
        <a:graphic>
          <a:graphicData uri="http://schemas.openxmlformats.org/drawingml/2006/table">
            <a:tbl>
              <a:tblPr firstRow="1">
                <a:tableStyleId>{69012ECD-51FC-41F1-AA8D-1B2483CD663E}</a:tableStyleId>
              </a:tblPr>
              <a:tblGrid>
                <a:gridCol w="1475025">
                  <a:extLst>
                    <a:ext uri="{9D8B030D-6E8A-4147-A177-3AD203B41FA5}">
                      <a16:colId xmlns:a16="http://schemas.microsoft.com/office/drawing/2014/main" val="3846488130"/>
                    </a:ext>
                  </a:extLst>
                </a:gridCol>
                <a:gridCol w="1475025">
                  <a:extLst>
                    <a:ext uri="{9D8B030D-6E8A-4147-A177-3AD203B41FA5}">
                      <a16:colId xmlns:a16="http://schemas.microsoft.com/office/drawing/2014/main" val="796169453"/>
                    </a:ext>
                  </a:extLst>
                </a:gridCol>
              </a:tblGrid>
              <a:tr h="224134">
                <a:tc>
                  <a:txBody>
                    <a:bodyPr/>
                    <a:lstStyle/>
                    <a:p>
                      <a:pPr>
                        <a:buNone/>
                      </a:pPr>
                      <a:r>
                        <a:rPr lang="en-US" sz="1200" noProof="0" dirty="0"/>
                        <a:t>Word</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US" sz="1200" noProof="0" dirty="0"/>
                        <a:t>Token ID (example)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664807080"/>
                  </a:ext>
                </a:extLst>
              </a:tr>
              <a:tr h="224134">
                <a:tc>
                  <a:txBody>
                    <a:bodyPr/>
                    <a:lstStyle/>
                    <a:p>
                      <a:pPr>
                        <a:buNone/>
                      </a:pPr>
                      <a:r>
                        <a:rPr lang="en-US" sz="1200" noProof="0" dirty="0"/>
                        <a:t>The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US" sz="1200" noProof="0" dirty="0"/>
                        <a:t>101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589392181"/>
                  </a:ext>
                </a:extLst>
              </a:tr>
              <a:tr h="224134">
                <a:tc>
                  <a:txBody>
                    <a:bodyPr/>
                    <a:lstStyle/>
                    <a:p>
                      <a:pPr>
                        <a:buNone/>
                      </a:pPr>
                      <a:r>
                        <a:rPr lang="en-US" sz="1200" noProof="0" dirty="0"/>
                        <a:t>dog</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US" sz="1200" noProof="0" dirty="0"/>
                        <a:t>205</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199600068"/>
                  </a:ext>
                </a:extLst>
              </a:tr>
              <a:tr h="224134">
                <a:tc>
                  <a:txBody>
                    <a:bodyPr/>
                    <a:lstStyle/>
                    <a:p>
                      <a:pPr>
                        <a:buNone/>
                      </a:pPr>
                      <a:r>
                        <a:rPr lang="en-US" sz="1200" noProof="0" dirty="0"/>
                        <a:t>barked</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US" sz="1200" noProof="0" dirty="0"/>
                        <a:t>876</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983778790"/>
                  </a:ext>
                </a:extLst>
              </a:tr>
              <a:tr h="224134">
                <a:tc>
                  <a:txBody>
                    <a:bodyPr/>
                    <a:lstStyle/>
                    <a:p>
                      <a:pPr>
                        <a:buNone/>
                      </a:pPr>
                      <a:r>
                        <a:rPr lang="en-US" sz="1200" noProof="0" dirty="0"/>
                        <a:t>loudly</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US" sz="1200" noProof="0" dirty="0"/>
                        <a:t>432</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139916518"/>
                  </a:ext>
                </a:extLst>
              </a:tr>
            </a:tbl>
          </a:graphicData>
        </a:graphic>
      </p:graphicFrame>
      <p:sp>
        <p:nvSpPr>
          <p:cNvPr id="6" name="TextBox 5">
            <a:extLst>
              <a:ext uri="{FF2B5EF4-FFF2-40B4-BE49-F238E27FC236}">
                <a16:creationId xmlns:a16="http://schemas.microsoft.com/office/drawing/2014/main" id="{2BEEE466-902B-3E32-AD21-101393FA74FD}"/>
              </a:ext>
            </a:extLst>
          </p:cNvPr>
          <p:cNvSpPr txBox="1"/>
          <p:nvPr/>
        </p:nvSpPr>
        <p:spPr>
          <a:xfrm>
            <a:off x="91324" y="650593"/>
            <a:ext cx="1623391" cy="307777"/>
          </a:xfrm>
          <a:prstGeom prst="rect">
            <a:avLst/>
          </a:prstGeom>
          <a:noFill/>
        </p:spPr>
        <p:txBody>
          <a:bodyPr wrap="square" rtlCol="0">
            <a:spAutoFit/>
          </a:bodyPr>
          <a:lstStyle/>
          <a:p>
            <a:r>
              <a:rPr lang="en-US" sz="1400" b="1" noProof="0" dirty="0"/>
              <a:t>Step 1: Tokens</a:t>
            </a:r>
          </a:p>
        </p:txBody>
      </p:sp>
      <p:sp>
        <p:nvSpPr>
          <p:cNvPr id="7" name="TextBox 6">
            <a:extLst>
              <a:ext uri="{FF2B5EF4-FFF2-40B4-BE49-F238E27FC236}">
                <a16:creationId xmlns:a16="http://schemas.microsoft.com/office/drawing/2014/main" id="{7F92D86F-34F4-DC56-4698-42BFCE54A29C}"/>
              </a:ext>
            </a:extLst>
          </p:cNvPr>
          <p:cNvSpPr txBox="1"/>
          <p:nvPr/>
        </p:nvSpPr>
        <p:spPr>
          <a:xfrm>
            <a:off x="91324" y="2359559"/>
            <a:ext cx="2950050" cy="276999"/>
          </a:xfrm>
          <a:prstGeom prst="rect">
            <a:avLst/>
          </a:prstGeom>
          <a:noFill/>
        </p:spPr>
        <p:txBody>
          <a:bodyPr wrap="square" rtlCol="0">
            <a:spAutoFit/>
          </a:bodyPr>
          <a:lstStyle/>
          <a:p>
            <a:r>
              <a:rPr lang="en-US" sz="1200" noProof="0" dirty="0"/>
              <a:t>Model sees: </a:t>
            </a:r>
            <a:r>
              <a:rPr lang="en-US" sz="1200" b="1" noProof="0" dirty="0"/>
              <a:t>[101, 205, 876, 432]</a:t>
            </a:r>
            <a:endParaRPr lang="en-US" sz="1200" noProof="0" dirty="0"/>
          </a:p>
        </p:txBody>
      </p:sp>
      <p:sp>
        <p:nvSpPr>
          <p:cNvPr id="8" name="TextBox 7">
            <a:extLst>
              <a:ext uri="{FF2B5EF4-FFF2-40B4-BE49-F238E27FC236}">
                <a16:creationId xmlns:a16="http://schemas.microsoft.com/office/drawing/2014/main" id="{73B1C0A9-185C-F9EE-09EA-2D9A86B95A80}"/>
              </a:ext>
            </a:extLst>
          </p:cNvPr>
          <p:cNvSpPr txBox="1"/>
          <p:nvPr/>
        </p:nvSpPr>
        <p:spPr>
          <a:xfrm>
            <a:off x="91324" y="2778538"/>
            <a:ext cx="3102450" cy="307777"/>
          </a:xfrm>
          <a:prstGeom prst="rect">
            <a:avLst/>
          </a:prstGeom>
          <a:noFill/>
        </p:spPr>
        <p:txBody>
          <a:bodyPr wrap="square" rtlCol="0">
            <a:spAutoFit/>
          </a:bodyPr>
          <a:lstStyle/>
          <a:p>
            <a:r>
              <a:rPr lang="en-US" sz="1400" b="1" noProof="0" dirty="0"/>
              <a:t>Step 2: Convert to Vectors (Embedding)</a:t>
            </a:r>
          </a:p>
        </p:txBody>
      </p:sp>
      <p:graphicFrame>
        <p:nvGraphicFramePr>
          <p:cNvPr id="9" name="Table 8">
            <a:extLst>
              <a:ext uri="{FF2B5EF4-FFF2-40B4-BE49-F238E27FC236}">
                <a16:creationId xmlns:a16="http://schemas.microsoft.com/office/drawing/2014/main" id="{591B7553-DFE9-D796-9FB2-9769AD0599A3}"/>
              </a:ext>
            </a:extLst>
          </p:cNvPr>
          <p:cNvGraphicFramePr>
            <a:graphicFrameLocks noGrp="1"/>
          </p:cNvGraphicFramePr>
          <p:nvPr>
            <p:extLst>
              <p:ext uri="{D42A27DB-BD31-4B8C-83A1-F6EECF244321}">
                <p14:modId xmlns:p14="http://schemas.microsoft.com/office/powerpoint/2010/main" val="3727532914"/>
              </p:ext>
            </p:extLst>
          </p:nvPr>
        </p:nvGraphicFramePr>
        <p:xfrm>
          <a:off x="91324" y="3095918"/>
          <a:ext cx="2950050" cy="1816220"/>
        </p:xfrm>
        <a:graphic>
          <a:graphicData uri="http://schemas.openxmlformats.org/drawingml/2006/table">
            <a:tbl>
              <a:tblPr firstRow="1">
                <a:tableStyleId>{69012ECD-51FC-41F1-AA8D-1B2483CD663E}</a:tableStyleId>
              </a:tblPr>
              <a:tblGrid>
                <a:gridCol w="1475025">
                  <a:extLst>
                    <a:ext uri="{9D8B030D-6E8A-4147-A177-3AD203B41FA5}">
                      <a16:colId xmlns:a16="http://schemas.microsoft.com/office/drawing/2014/main" val="9083071"/>
                    </a:ext>
                  </a:extLst>
                </a:gridCol>
                <a:gridCol w="1475025">
                  <a:extLst>
                    <a:ext uri="{9D8B030D-6E8A-4147-A177-3AD203B41FA5}">
                      <a16:colId xmlns:a16="http://schemas.microsoft.com/office/drawing/2014/main" val="2514644243"/>
                    </a:ext>
                  </a:extLst>
                </a:gridCol>
              </a:tblGrid>
              <a:tr h="363244">
                <a:tc>
                  <a:txBody>
                    <a:bodyPr/>
                    <a:lstStyle/>
                    <a:p>
                      <a:pPr>
                        <a:buNone/>
                      </a:pPr>
                      <a:r>
                        <a:rPr lang="en-US" sz="1200" noProof="0" dirty="0"/>
                        <a:t>Token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US" sz="1200" noProof="0" dirty="0"/>
                        <a:t>Vector</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91675797"/>
                  </a:ext>
                </a:extLst>
              </a:tr>
              <a:tr h="363244">
                <a:tc>
                  <a:txBody>
                    <a:bodyPr/>
                    <a:lstStyle/>
                    <a:p>
                      <a:pPr>
                        <a:buNone/>
                      </a:pPr>
                      <a:r>
                        <a:rPr lang="en-US" sz="1200" noProof="0" dirty="0"/>
                        <a:t>The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US" sz="1200" noProof="0" dirty="0"/>
                        <a:t>[1, 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145188383"/>
                  </a:ext>
                </a:extLst>
              </a:tr>
              <a:tr h="363244">
                <a:tc>
                  <a:txBody>
                    <a:bodyPr/>
                    <a:lstStyle/>
                    <a:p>
                      <a:pPr>
                        <a:buNone/>
                      </a:pPr>
                      <a:r>
                        <a:rPr lang="en-US" sz="1200" noProof="0" dirty="0"/>
                        <a:t>dog</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US" sz="1200" noProof="0" dirty="0"/>
                        <a:t>[0, 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456219275"/>
                  </a:ext>
                </a:extLst>
              </a:tr>
              <a:tr h="363244">
                <a:tc>
                  <a:txBody>
                    <a:bodyPr/>
                    <a:lstStyle/>
                    <a:p>
                      <a:pPr>
                        <a:buNone/>
                      </a:pPr>
                      <a:r>
                        <a:rPr lang="en-US" sz="1200" noProof="0" dirty="0"/>
                        <a:t>barked</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US" sz="1200" noProof="0" dirty="0"/>
                        <a:t>[1, 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779170947"/>
                  </a:ext>
                </a:extLst>
              </a:tr>
              <a:tr h="363244">
                <a:tc>
                  <a:txBody>
                    <a:bodyPr/>
                    <a:lstStyle/>
                    <a:p>
                      <a:pPr>
                        <a:buNone/>
                      </a:pPr>
                      <a:r>
                        <a:rPr lang="en-US" sz="1200" noProof="0" dirty="0"/>
                        <a:t>loudly</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US" sz="1200" noProof="0" dirty="0"/>
                        <a:t>[0, 2]</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89543308"/>
                  </a:ext>
                </a:extLst>
              </a:tr>
            </a:tbl>
          </a:graphicData>
        </a:graphic>
      </p:graphicFrame>
      <p:sp>
        <p:nvSpPr>
          <p:cNvPr id="10" name="TextBox 9">
            <a:extLst>
              <a:ext uri="{FF2B5EF4-FFF2-40B4-BE49-F238E27FC236}">
                <a16:creationId xmlns:a16="http://schemas.microsoft.com/office/drawing/2014/main" id="{45C483B6-3898-9844-3A79-562C9EA2757C}"/>
              </a:ext>
            </a:extLst>
          </p:cNvPr>
          <p:cNvSpPr txBox="1"/>
          <p:nvPr/>
        </p:nvSpPr>
        <p:spPr>
          <a:xfrm>
            <a:off x="91324" y="4912138"/>
            <a:ext cx="2950050" cy="276999"/>
          </a:xfrm>
          <a:prstGeom prst="rect">
            <a:avLst/>
          </a:prstGeom>
          <a:noFill/>
        </p:spPr>
        <p:txBody>
          <a:bodyPr wrap="square" rtlCol="0">
            <a:spAutoFit/>
          </a:bodyPr>
          <a:lstStyle/>
          <a:p>
            <a:r>
              <a:rPr lang="en-US" sz="1200" noProof="0" dirty="0"/>
              <a:t>For simplicity, we consider 2D vectors here</a:t>
            </a:r>
          </a:p>
        </p:txBody>
      </p:sp>
      <p:sp>
        <p:nvSpPr>
          <p:cNvPr id="11" name="TextBox 10">
            <a:extLst>
              <a:ext uri="{FF2B5EF4-FFF2-40B4-BE49-F238E27FC236}">
                <a16:creationId xmlns:a16="http://schemas.microsoft.com/office/drawing/2014/main" id="{22B165A6-DD4A-7C64-C099-9A25919264D7}"/>
              </a:ext>
            </a:extLst>
          </p:cNvPr>
          <p:cNvSpPr txBox="1"/>
          <p:nvPr/>
        </p:nvSpPr>
        <p:spPr>
          <a:xfrm>
            <a:off x="15124" y="5276825"/>
            <a:ext cx="3102450" cy="307777"/>
          </a:xfrm>
          <a:prstGeom prst="rect">
            <a:avLst/>
          </a:prstGeom>
          <a:noFill/>
        </p:spPr>
        <p:txBody>
          <a:bodyPr wrap="square" rtlCol="0">
            <a:spAutoFit/>
          </a:bodyPr>
          <a:lstStyle/>
          <a:p>
            <a:r>
              <a:rPr lang="en-US" sz="1400" b="1" noProof="0" dirty="0"/>
              <a:t>Step 3: Attention goal</a:t>
            </a:r>
          </a:p>
        </p:txBody>
      </p:sp>
      <p:sp>
        <p:nvSpPr>
          <p:cNvPr id="12" name="TextBox 11">
            <a:extLst>
              <a:ext uri="{FF2B5EF4-FFF2-40B4-BE49-F238E27FC236}">
                <a16:creationId xmlns:a16="http://schemas.microsoft.com/office/drawing/2014/main" id="{E4813E0F-4F33-0040-4E96-C4E7F710F4DA}"/>
              </a:ext>
            </a:extLst>
          </p:cNvPr>
          <p:cNvSpPr txBox="1"/>
          <p:nvPr/>
        </p:nvSpPr>
        <p:spPr>
          <a:xfrm>
            <a:off x="91324" y="5672290"/>
            <a:ext cx="2950050" cy="830997"/>
          </a:xfrm>
          <a:prstGeom prst="rect">
            <a:avLst/>
          </a:prstGeom>
          <a:noFill/>
        </p:spPr>
        <p:txBody>
          <a:bodyPr wrap="square" rtlCol="0">
            <a:spAutoFit/>
          </a:bodyPr>
          <a:lstStyle/>
          <a:p>
            <a:r>
              <a:rPr lang="en-US" sz="1200" noProof="0" dirty="0"/>
              <a:t>For each word, find </a:t>
            </a:r>
            <a:r>
              <a:rPr lang="en-US" sz="1200" i="1" noProof="0" dirty="0"/>
              <a:t>which other words are important?</a:t>
            </a:r>
            <a:endParaRPr lang="en-US" sz="1200" noProof="0" dirty="0"/>
          </a:p>
          <a:p>
            <a:endParaRPr lang="en-US" sz="1200" noProof="0" dirty="0"/>
          </a:p>
          <a:p>
            <a:r>
              <a:rPr lang="en-US" sz="1200" noProof="0" dirty="0"/>
              <a:t>As an example, let us take </a:t>
            </a:r>
            <a:r>
              <a:rPr lang="en-US" sz="1200" i="1" noProof="0" dirty="0"/>
              <a:t>barked</a:t>
            </a:r>
            <a:endParaRPr lang="en-US" sz="1200" noProof="0" dirty="0"/>
          </a:p>
        </p:txBody>
      </p:sp>
      <p:sp>
        <p:nvSpPr>
          <p:cNvPr id="13" name="TextBox 12">
            <a:extLst>
              <a:ext uri="{FF2B5EF4-FFF2-40B4-BE49-F238E27FC236}">
                <a16:creationId xmlns:a16="http://schemas.microsoft.com/office/drawing/2014/main" id="{B5A15A31-D5E6-B900-2BB7-F6742B568875}"/>
              </a:ext>
            </a:extLst>
          </p:cNvPr>
          <p:cNvSpPr txBox="1"/>
          <p:nvPr/>
        </p:nvSpPr>
        <p:spPr>
          <a:xfrm>
            <a:off x="3427559" y="697227"/>
            <a:ext cx="3102450" cy="307777"/>
          </a:xfrm>
          <a:prstGeom prst="rect">
            <a:avLst/>
          </a:prstGeom>
          <a:noFill/>
        </p:spPr>
        <p:txBody>
          <a:bodyPr wrap="square" rtlCol="0">
            <a:spAutoFit/>
          </a:bodyPr>
          <a:lstStyle/>
          <a:p>
            <a:r>
              <a:rPr lang="en-US" sz="1400" b="1" noProof="0" dirty="0"/>
              <a:t>Step 4: Create Q, K, V</a:t>
            </a:r>
          </a:p>
        </p:txBody>
      </p:sp>
      <p:sp>
        <p:nvSpPr>
          <p:cNvPr id="14" name="TextBox 13">
            <a:extLst>
              <a:ext uri="{FF2B5EF4-FFF2-40B4-BE49-F238E27FC236}">
                <a16:creationId xmlns:a16="http://schemas.microsoft.com/office/drawing/2014/main" id="{B6458A2F-AC94-261E-5CDB-1764044CD70F}"/>
              </a:ext>
            </a:extLst>
          </p:cNvPr>
          <p:cNvSpPr txBox="1"/>
          <p:nvPr/>
        </p:nvSpPr>
        <p:spPr>
          <a:xfrm>
            <a:off x="3503759" y="938804"/>
            <a:ext cx="2950050" cy="646331"/>
          </a:xfrm>
          <a:prstGeom prst="rect">
            <a:avLst/>
          </a:prstGeom>
          <a:noFill/>
        </p:spPr>
        <p:txBody>
          <a:bodyPr wrap="square" rtlCol="0">
            <a:spAutoFit/>
          </a:bodyPr>
          <a:lstStyle/>
          <a:p>
            <a:r>
              <a:rPr lang="en-US" sz="1200" noProof="0" dirty="0"/>
              <a:t>For simplicity: Q = K = V = Embeddings</a:t>
            </a:r>
          </a:p>
          <a:p>
            <a:r>
              <a:rPr lang="en-US" sz="1200" noProof="0" dirty="0"/>
              <a:t>So, barked (Q) = [1, 1]</a:t>
            </a:r>
          </a:p>
          <a:p>
            <a:r>
              <a:rPr lang="en-US" sz="1200" noProof="0" dirty="0"/>
              <a:t>See next slide</a:t>
            </a:r>
          </a:p>
        </p:txBody>
      </p:sp>
      <p:sp>
        <p:nvSpPr>
          <p:cNvPr id="15" name="TextBox 14">
            <a:extLst>
              <a:ext uri="{FF2B5EF4-FFF2-40B4-BE49-F238E27FC236}">
                <a16:creationId xmlns:a16="http://schemas.microsoft.com/office/drawing/2014/main" id="{8CFF0D4E-3FCD-629E-60BF-780D1092A7FE}"/>
              </a:ext>
            </a:extLst>
          </p:cNvPr>
          <p:cNvSpPr txBox="1"/>
          <p:nvPr/>
        </p:nvSpPr>
        <p:spPr>
          <a:xfrm>
            <a:off x="3427559" y="1713259"/>
            <a:ext cx="3102450" cy="307777"/>
          </a:xfrm>
          <a:prstGeom prst="rect">
            <a:avLst/>
          </a:prstGeom>
          <a:noFill/>
        </p:spPr>
        <p:txBody>
          <a:bodyPr wrap="square" rtlCol="0">
            <a:spAutoFit/>
          </a:bodyPr>
          <a:lstStyle/>
          <a:p>
            <a:r>
              <a:rPr lang="en-US" sz="1400" b="1" noProof="0" dirty="0"/>
              <a:t>Step 5: Compute Scores (Dot Product)</a:t>
            </a:r>
          </a:p>
        </p:txBody>
      </p:sp>
      <p:sp>
        <p:nvSpPr>
          <p:cNvPr id="16" name="TextBox 15">
            <a:extLst>
              <a:ext uri="{FF2B5EF4-FFF2-40B4-BE49-F238E27FC236}">
                <a16:creationId xmlns:a16="http://schemas.microsoft.com/office/drawing/2014/main" id="{0982F0F3-3AB9-C9C4-FA48-067BEFC86504}"/>
              </a:ext>
            </a:extLst>
          </p:cNvPr>
          <p:cNvSpPr txBox="1"/>
          <p:nvPr/>
        </p:nvSpPr>
        <p:spPr>
          <a:xfrm>
            <a:off x="3503759" y="1959222"/>
            <a:ext cx="2950050" cy="276999"/>
          </a:xfrm>
          <a:prstGeom prst="rect">
            <a:avLst/>
          </a:prstGeom>
          <a:noFill/>
        </p:spPr>
        <p:txBody>
          <a:bodyPr wrap="square" rtlCol="0">
            <a:spAutoFit/>
          </a:bodyPr>
          <a:lstStyle/>
          <a:p>
            <a:r>
              <a:rPr lang="en-US" sz="1200" noProof="0" dirty="0"/>
              <a:t>Score = Q . K</a:t>
            </a:r>
          </a:p>
        </p:txBody>
      </p:sp>
      <p:graphicFrame>
        <p:nvGraphicFramePr>
          <p:cNvPr id="17" name="Table 16">
            <a:extLst>
              <a:ext uri="{FF2B5EF4-FFF2-40B4-BE49-F238E27FC236}">
                <a16:creationId xmlns:a16="http://schemas.microsoft.com/office/drawing/2014/main" id="{5BB202F0-1D85-0FA4-30BC-68395FF80983}"/>
              </a:ext>
            </a:extLst>
          </p:cNvPr>
          <p:cNvGraphicFramePr>
            <a:graphicFrameLocks noGrp="1"/>
          </p:cNvGraphicFramePr>
          <p:nvPr>
            <p:extLst>
              <p:ext uri="{D42A27DB-BD31-4B8C-83A1-F6EECF244321}">
                <p14:modId xmlns:p14="http://schemas.microsoft.com/office/powerpoint/2010/main" val="2817274520"/>
              </p:ext>
            </p:extLst>
          </p:nvPr>
        </p:nvGraphicFramePr>
        <p:xfrm>
          <a:off x="3503760" y="2307260"/>
          <a:ext cx="3314484" cy="1371600"/>
        </p:xfrm>
        <a:graphic>
          <a:graphicData uri="http://schemas.openxmlformats.org/drawingml/2006/table">
            <a:tbl>
              <a:tblPr firstRow="1">
                <a:tableStyleId>{69012ECD-51FC-41F1-AA8D-1B2483CD663E}</a:tableStyleId>
              </a:tblPr>
              <a:tblGrid>
                <a:gridCol w="769917">
                  <a:extLst>
                    <a:ext uri="{9D8B030D-6E8A-4147-A177-3AD203B41FA5}">
                      <a16:colId xmlns:a16="http://schemas.microsoft.com/office/drawing/2014/main" val="2631439905"/>
                    </a:ext>
                  </a:extLst>
                </a:gridCol>
                <a:gridCol w="745542">
                  <a:extLst>
                    <a:ext uri="{9D8B030D-6E8A-4147-A177-3AD203B41FA5}">
                      <a16:colId xmlns:a16="http://schemas.microsoft.com/office/drawing/2014/main" val="2701070717"/>
                    </a:ext>
                  </a:extLst>
                </a:gridCol>
                <a:gridCol w="1799025">
                  <a:extLst>
                    <a:ext uri="{9D8B030D-6E8A-4147-A177-3AD203B41FA5}">
                      <a16:colId xmlns:a16="http://schemas.microsoft.com/office/drawing/2014/main" val="2994840010"/>
                    </a:ext>
                  </a:extLst>
                </a:gridCol>
              </a:tblGrid>
              <a:tr h="211859">
                <a:tc>
                  <a:txBody>
                    <a:bodyPr/>
                    <a:lstStyle/>
                    <a:p>
                      <a:pPr>
                        <a:buNone/>
                      </a:pPr>
                      <a:r>
                        <a:rPr lang="en-US" sz="1200" noProof="0" dirty="0"/>
                        <a:t>Word</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US" sz="1200" noProof="0" dirty="0"/>
                        <a:t>K</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US" sz="1200" noProof="0" dirty="0"/>
                        <a:t>Score with “barked”</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519997711"/>
                  </a:ext>
                </a:extLst>
              </a:tr>
              <a:tr h="211859">
                <a:tc>
                  <a:txBody>
                    <a:bodyPr/>
                    <a:lstStyle/>
                    <a:p>
                      <a:pPr>
                        <a:buNone/>
                      </a:pPr>
                      <a:r>
                        <a:rPr lang="en-US" sz="1200" noProof="0" dirty="0"/>
                        <a:t>The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US" sz="1200" noProof="0" dirty="0"/>
                        <a:t>[1,0]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US" sz="1200" noProof="0" dirty="0"/>
                        <a:t>(1×1 + 1×0) = 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64525132"/>
                  </a:ext>
                </a:extLst>
              </a:tr>
              <a:tr h="211859">
                <a:tc>
                  <a:txBody>
                    <a:bodyPr/>
                    <a:lstStyle/>
                    <a:p>
                      <a:pPr>
                        <a:buNone/>
                      </a:pPr>
                      <a:r>
                        <a:rPr lang="en-US" sz="1200" noProof="0" dirty="0"/>
                        <a:t>dog</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US" sz="1200" noProof="0" dirty="0"/>
                        <a:t>[0,1]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US" sz="1200" noProof="0" dirty="0"/>
                        <a:t>(1×0 + 1×1) = 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912662820"/>
                  </a:ext>
                </a:extLst>
              </a:tr>
              <a:tr h="211859">
                <a:tc>
                  <a:txBody>
                    <a:bodyPr/>
                    <a:lstStyle/>
                    <a:p>
                      <a:pPr>
                        <a:buNone/>
                      </a:pPr>
                      <a:r>
                        <a:rPr lang="en-US" sz="1200" noProof="0" dirty="0"/>
                        <a:t>barked</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US" sz="1200" noProof="0" dirty="0"/>
                        <a:t>[1,1]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US" sz="1200" noProof="0" dirty="0"/>
                        <a:t>2</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033398966"/>
                  </a:ext>
                </a:extLst>
              </a:tr>
              <a:tr h="211859">
                <a:tc>
                  <a:txBody>
                    <a:bodyPr/>
                    <a:lstStyle/>
                    <a:p>
                      <a:pPr>
                        <a:buNone/>
                      </a:pPr>
                      <a:r>
                        <a:rPr lang="en-US" sz="1200" noProof="0" dirty="0"/>
                        <a:t>loudly</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US" sz="1200" noProof="0" dirty="0"/>
                        <a:t>[0,2]</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US" sz="1200" noProof="0" dirty="0"/>
                        <a:t>2</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661628722"/>
                  </a:ext>
                </a:extLst>
              </a:tr>
            </a:tbl>
          </a:graphicData>
        </a:graphic>
      </p:graphicFrame>
      <p:sp>
        <p:nvSpPr>
          <p:cNvPr id="18" name="TextBox 17">
            <a:extLst>
              <a:ext uri="{FF2B5EF4-FFF2-40B4-BE49-F238E27FC236}">
                <a16:creationId xmlns:a16="http://schemas.microsoft.com/office/drawing/2014/main" id="{DA7C2D42-528C-11DD-C2BC-64A3F1470653}"/>
              </a:ext>
            </a:extLst>
          </p:cNvPr>
          <p:cNvSpPr txBox="1"/>
          <p:nvPr/>
        </p:nvSpPr>
        <p:spPr>
          <a:xfrm>
            <a:off x="3460689" y="3912827"/>
            <a:ext cx="3390685" cy="307777"/>
          </a:xfrm>
          <a:prstGeom prst="rect">
            <a:avLst/>
          </a:prstGeom>
          <a:noFill/>
        </p:spPr>
        <p:txBody>
          <a:bodyPr wrap="square" rtlCol="0">
            <a:spAutoFit/>
          </a:bodyPr>
          <a:lstStyle/>
          <a:p>
            <a:r>
              <a:rPr lang="en-US" sz="1400" b="1" noProof="0" dirty="0"/>
              <a:t>Step 6: Apply </a:t>
            </a:r>
            <a:r>
              <a:rPr lang="en-US" sz="1400" b="1" noProof="0" dirty="0" err="1"/>
              <a:t>Softmax</a:t>
            </a:r>
            <a:r>
              <a:rPr lang="en-US" sz="1400" b="1" noProof="0" dirty="0"/>
              <a:t> (Convert to Weights)</a:t>
            </a:r>
          </a:p>
        </p:txBody>
      </p:sp>
      <p:graphicFrame>
        <p:nvGraphicFramePr>
          <p:cNvPr id="20" name="Table 19">
            <a:extLst>
              <a:ext uri="{FF2B5EF4-FFF2-40B4-BE49-F238E27FC236}">
                <a16:creationId xmlns:a16="http://schemas.microsoft.com/office/drawing/2014/main" id="{F5505015-7CAF-86B1-21F1-C0CB6EC71DC2}"/>
              </a:ext>
            </a:extLst>
          </p:cNvPr>
          <p:cNvGraphicFramePr>
            <a:graphicFrameLocks noGrp="1"/>
          </p:cNvGraphicFramePr>
          <p:nvPr>
            <p:extLst>
              <p:ext uri="{D42A27DB-BD31-4B8C-83A1-F6EECF244321}">
                <p14:modId xmlns:p14="http://schemas.microsoft.com/office/powerpoint/2010/main" val="1765709410"/>
              </p:ext>
            </p:extLst>
          </p:nvPr>
        </p:nvGraphicFramePr>
        <p:xfrm>
          <a:off x="3503760" y="4220604"/>
          <a:ext cx="3314484" cy="1504335"/>
        </p:xfrm>
        <a:graphic>
          <a:graphicData uri="http://schemas.openxmlformats.org/drawingml/2006/table">
            <a:tbl>
              <a:tblPr firstRow="1">
                <a:tableStyleId>{69012ECD-51FC-41F1-AA8D-1B2483CD663E}</a:tableStyleId>
              </a:tblPr>
              <a:tblGrid>
                <a:gridCol w="1104828">
                  <a:extLst>
                    <a:ext uri="{9D8B030D-6E8A-4147-A177-3AD203B41FA5}">
                      <a16:colId xmlns:a16="http://schemas.microsoft.com/office/drawing/2014/main" val="747283740"/>
                    </a:ext>
                  </a:extLst>
                </a:gridCol>
                <a:gridCol w="1104828">
                  <a:extLst>
                    <a:ext uri="{9D8B030D-6E8A-4147-A177-3AD203B41FA5}">
                      <a16:colId xmlns:a16="http://schemas.microsoft.com/office/drawing/2014/main" val="1988162263"/>
                    </a:ext>
                  </a:extLst>
                </a:gridCol>
                <a:gridCol w="1104828">
                  <a:extLst>
                    <a:ext uri="{9D8B030D-6E8A-4147-A177-3AD203B41FA5}">
                      <a16:colId xmlns:a16="http://schemas.microsoft.com/office/drawing/2014/main" val="701149640"/>
                    </a:ext>
                  </a:extLst>
                </a:gridCol>
              </a:tblGrid>
              <a:tr h="300867">
                <a:tc>
                  <a:txBody>
                    <a:bodyPr/>
                    <a:lstStyle/>
                    <a:p>
                      <a:pPr>
                        <a:buNone/>
                      </a:pPr>
                      <a:r>
                        <a:rPr lang="en-US" sz="1200" noProof="0" dirty="0"/>
                        <a:t>Word</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US" sz="1200" noProof="0" dirty="0"/>
                        <a:t>Score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US" sz="1200" noProof="0" dirty="0"/>
                        <a:t>Weight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418760751"/>
                  </a:ext>
                </a:extLst>
              </a:tr>
              <a:tr h="300867">
                <a:tc>
                  <a:txBody>
                    <a:bodyPr/>
                    <a:lstStyle/>
                    <a:p>
                      <a:pPr>
                        <a:buNone/>
                      </a:pPr>
                      <a:r>
                        <a:rPr lang="en-US" sz="1200" noProof="0" dirty="0"/>
                        <a:t>The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US" sz="1200" noProof="0" dirty="0"/>
                        <a:t>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US" sz="1200" noProof="0" dirty="0"/>
                        <a:t>0.13</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243786710"/>
                  </a:ext>
                </a:extLst>
              </a:tr>
              <a:tr h="300867">
                <a:tc>
                  <a:txBody>
                    <a:bodyPr/>
                    <a:lstStyle/>
                    <a:p>
                      <a:pPr>
                        <a:buNone/>
                      </a:pPr>
                      <a:r>
                        <a:rPr lang="en-US" sz="1200" noProof="0" dirty="0"/>
                        <a:t>dog</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US" sz="1200" noProof="0" dirty="0"/>
                        <a:t>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US" sz="1200" noProof="0" dirty="0"/>
                        <a:t>0.13</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598293949"/>
                  </a:ext>
                </a:extLst>
              </a:tr>
              <a:tr h="300867">
                <a:tc>
                  <a:txBody>
                    <a:bodyPr/>
                    <a:lstStyle/>
                    <a:p>
                      <a:pPr>
                        <a:buNone/>
                      </a:pPr>
                      <a:r>
                        <a:rPr lang="en-US" sz="1200" noProof="0" dirty="0"/>
                        <a:t>barked</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US" sz="1200" noProof="0" dirty="0"/>
                        <a:t>2</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US" sz="1200" noProof="0" dirty="0"/>
                        <a:t>0.37</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471996731"/>
                  </a:ext>
                </a:extLst>
              </a:tr>
              <a:tr h="300867">
                <a:tc>
                  <a:txBody>
                    <a:bodyPr/>
                    <a:lstStyle/>
                    <a:p>
                      <a:pPr>
                        <a:buNone/>
                      </a:pPr>
                      <a:r>
                        <a:rPr lang="en-US" sz="1200" noProof="0" dirty="0"/>
                        <a:t>loudly</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US" sz="1200" noProof="0" dirty="0"/>
                        <a:t>2</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US" sz="1200" noProof="0" dirty="0"/>
                        <a:t>0.37</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489230418"/>
                  </a:ext>
                </a:extLst>
              </a:tr>
            </a:tbl>
          </a:graphicData>
        </a:graphic>
      </p:graphicFrame>
      <p:sp>
        <p:nvSpPr>
          <p:cNvPr id="21" name="TextBox 20">
            <a:extLst>
              <a:ext uri="{FF2B5EF4-FFF2-40B4-BE49-F238E27FC236}">
                <a16:creationId xmlns:a16="http://schemas.microsoft.com/office/drawing/2014/main" id="{271BF60B-612A-D174-EF11-8B4620C258A5}"/>
              </a:ext>
            </a:extLst>
          </p:cNvPr>
          <p:cNvSpPr txBox="1"/>
          <p:nvPr/>
        </p:nvSpPr>
        <p:spPr>
          <a:xfrm>
            <a:off x="3647875" y="5797574"/>
            <a:ext cx="2950050" cy="276999"/>
          </a:xfrm>
          <a:prstGeom prst="rect">
            <a:avLst/>
          </a:prstGeom>
          <a:noFill/>
        </p:spPr>
        <p:txBody>
          <a:bodyPr wrap="square" rtlCol="0">
            <a:spAutoFit/>
          </a:bodyPr>
          <a:lstStyle/>
          <a:p>
            <a:r>
              <a:rPr lang="en-US" sz="1200" noProof="0" dirty="0"/>
              <a:t>Sum = 1</a:t>
            </a:r>
          </a:p>
        </p:txBody>
      </p:sp>
      <p:sp>
        <p:nvSpPr>
          <p:cNvPr id="22" name="TextBox 21">
            <a:extLst>
              <a:ext uri="{FF2B5EF4-FFF2-40B4-BE49-F238E27FC236}">
                <a16:creationId xmlns:a16="http://schemas.microsoft.com/office/drawing/2014/main" id="{FFCDF1FC-E4F6-F224-2021-0719A9ABB2F2}"/>
              </a:ext>
            </a:extLst>
          </p:cNvPr>
          <p:cNvSpPr txBox="1"/>
          <p:nvPr/>
        </p:nvSpPr>
        <p:spPr>
          <a:xfrm>
            <a:off x="7370080" y="692421"/>
            <a:ext cx="3695485" cy="307777"/>
          </a:xfrm>
          <a:prstGeom prst="rect">
            <a:avLst/>
          </a:prstGeom>
          <a:noFill/>
        </p:spPr>
        <p:txBody>
          <a:bodyPr wrap="square" rtlCol="0">
            <a:spAutoFit/>
          </a:bodyPr>
          <a:lstStyle/>
          <a:p>
            <a:r>
              <a:rPr lang="en-US" sz="1400" b="1" noProof="0" dirty="0"/>
              <a:t>Step 7: Weighted Sum (Final Representation)</a:t>
            </a:r>
          </a:p>
        </p:txBody>
      </p:sp>
      <p:sp>
        <p:nvSpPr>
          <p:cNvPr id="23" name="TextBox 22">
            <a:extLst>
              <a:ext uri="{FF2B5EF4-FFF2-40B4-BE49-F238E27FC236}">
                <a16:creationId xmlns:a16="http://schemas.microsoft.com/office/drawing/2014/main" id="{DFFBF66D-F8BE-8DB9-1BF8-66ECE6D2B7EC}"/>
              </a:ext>
            </a:extLst>
          </p:cNvPr>
          <p:cNvSpPr txBox="1"/>
          <p:nvPr/>
        </p:nvSpPr>
        <p:spPr>
          <a:xfrm>
            <a:off x="7433028" y="938804"/>
            <a:ext cx="2950050" cy="276999"/>
          </a:xfrm>
          <a:prstGeom prst="rect">
            <a:avLst/>
          </a:prstGeom>
          <a:noFill/>
        </p:spPr>
        <p:txBody>
          <a:bodyPr wrap="square" rtlCol="0">
            <a:spAutoFit/>
          </a:bodyPr>
          <a:lstStyle/>
          <a:p>
            <a:r>
              <a:rPr lang="en-US" sz="1200" noProof="0" dirty="0"/>
              <a:t>Output = Sum (weight . V)</a:t>
            </a:r>
          </a:p>
        </p:txBody>
      </p:sp>
      <p:graphicFrame>
        <p:nvGraphicFramePr>
          <p:cNvPr id="24" name="Table 23">
            <a:extLst>
              <a:ext uri="{FF2B5EF4-FFF2-40B4-BE49-F238E27FC236}">
                <a16:creationId xmlns:a16="http://schemas.microsoft.com/office/drawing/2014/main" id="{19474FFE-E10D-7EDA-C8BF-63ECA1C4E56D}"/>
              </a:ext>
            </a:extLst>
          </p:cNvPr>
          <p:cNvGraphicFramePr>
            <a:graphicFrameLocks noGrp="1"/>
          </p:cNvGraphicFramePr>
          <p:nvPr>
            <p:extLst>
              <p:ext uri="{D42A27DB-BD31-4B8C-83A1-F6EECF244321}">
                <p14:modId xmlns:p14="http://schemas.microsoft.com/office/powerpoint/2010/main" val="3809412915"/>
              </p:ext>
            </p:extLst>
          </p:nvPr>
        </p:nvGraphicFramePr>
        <p:xfrm>
          <a:off x="7433028" y="1192959"/>
          <a:ext cx="3886200" cy="1737360"/>
        </p:xfrm>
        <a:graphic>
          <a:graphicData uri="http://schemas.openxmlformats.org/drawingml/2006/table">
            <a:tbl>
              <a:tblPr firstRow="1">
                <a:tableStyleId>{69012ECD-51FC-41F1-AA8D-1B2483CD663E}</a:tableStyleId>
              </a:tblPr>
              <a:tblGrid>
                <a:gridCol w="971550">
                  <a:extLst>
                    <a:ext uri="{9D8B030D-6E8A-4147-A177-3AD203B41FA5}">
                      <a16:colId xmlns:a16="http://schemas.microsoft.com/office/drawing/2014/main" val="1053954976"/>
                    </a:ext>
                  </a:extLst>
                </a:gridCol>
                <a:gridCol w="971550">
                  <a:extLst>
                    <a:ext uri="{9D8B030D-6E8A-4147-A177-3AD203B41FA5}">
                      <a16:colId xmlns:a16="http://schemas.microsoft.com/office/drawing/2014/main" val="1734384694"/>
                    </a:ext>
                  </a:extLst>
                </a:gridCol>
                <a:gridCol w="971550">
                  <a:extLst>
                    <a:ext uri="{9D8B030D-6E8A-4147-A177-3AD203B41FA5}">
                      <a16:colId xmlns:a16="http://schemas.microsoft.com/office/drawing/2014/main" val="217793436"/>
                    </a:ext>
                  </a:extLst>
                </a:gridCol>
                <a:gridCol w="971550">
                  <a:extLst>
                    <a:ext uri="{9D8B030D-6E8A-4147-A177-3AD203B41FA5}">
                      <a16:colId xmlns:a16="http://schemas.microsoft.com/office/drawing/2014/main" val="3116557577"/>
                    </a:ext>
                  </a:extLst>
                </a:gridCol>
              </a:tblGrid>
              <a:tr h="371625">
                <a:tc>
                  <a:txBody>
                    <a:bodyPr/>
                    <a:lstStyle/>
                    <a:p>
                      <a:pPr>
                        <a:buNone/>
                      </a:pPr>
                      <a:r>
                        <a:rPr lang="en-US" sz="1200" noProof="0" dirty="0"/>
                        <a:t>Token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US" sz="1200" noProof="0" dirty="0"/>
                        <a:t>Weight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US" sz="1200" noProof="0" dirty="0"/>
                        <a:t>Value Vector (V)</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US" sz="1200" noProof="0" dirty="0"/>
                        <a:t>Weighted Vector (Weight × V)</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420152771"/>
                  </a:ext>
                </a:extLst>
              </a:tr>
              <a:tr h="212357">
                <a:tc>
                  <a:txBody>
                    <a:bodyPr/>
                    <a:lstStyle/>
                    <a:p>
                      <a:pPr>
                        <a:buNone/>
                      </a:pPr>
                      <a:r>
                        <a:rPr lang="en-US" sz="1200" noProof="0" dirty="0"/>
                        <a:t>The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US" sz="1200" noProof="0" dirty="0"/>
                        <a:t>0.13</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US" sz="1200" noProof="0" dirty="0"/>
                        <a:t>[1, 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US" sz="1200" noProof="0" dirty="0"/>
                        <a:t>[0.13, 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955872882"/>
                  </a:ext>
                </a:extLst>
              </a:tr>
              <a:tr h="212357">
                <a:tc>
                  <a:txBody>
                    <a:bodyPr/>
                    <a:lstStyle/>
                    <a:p>
                      <a:pPr>
                        <a:buNone/>
                      </a:pPr>
                      <a:r>
                        <a:rPr lang="en-US" sz="1200" noProof="0" dirty="0"/>
                        <a:t>dog</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US" sz="1200" noProof="0" dirty="0"/>
                        <a:t>0.13</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US" sz="1200" noProof="0" dirty="0"/>
                        <a:t>[0, 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US" sz="1200" noProof="0" dirty="0"/>
                        <a:t>[0, 0.13]</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794013142"/>
                  </a:ext>
                </a:extLst>
              </a:tr>
              <a:tr h="212357">
                <a:tc>
                  <a:txBody>
                    <a:bodyPr/>
                    <a:lstStyle/>
                    <a:p>
                      <a:pPr>
                        <a:buNone/>
                      </a:pPr>
                      <a:r>
                        <a:rPr lang="en-US" sz="1200" noProof="0" dirty="0"/>
                        <a:t>barked</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US" sz="1200" noProof="0" dirty="0"/>
                        <a:t>0.37</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US" sz="1200" noProof="0" dirty="0"/>
                        <a:t>[1, 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US" sz="1200" noProof="0" dirty="0"/>
                        <a:t>[0.37, 0.37]</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768712008"/>
                  </a:ext>
                </a:extLst>
              </a:tr>
              <a:tr h="212357">
                <a:tc>
                  <a:txBody>
                    <a:bodyPr/>
                    <a:lstStyle/>
                    <a:p>
                      <a:pPr>
                        <a:buNone/>
                      </a:pPr>
                      <a:r>
                        <a:rPr lang="en-US" sz="1200" noProof="0" dirty="0"/>
                        <a:t>loudly</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US" sz="1200" noProof="0" dirty="0"/>
                        <a:t>0.37</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US" sz="1200" noProof="0" dirty="0"/>
                        <a:t>[0, 2]</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US" sz="1200" noProof="0" dirty="0"/>
                        <a:t>[0, 0.74]</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579377803"/>
                  </a:ext>
                </a:extLst>
              </a:tr>
            </a:tbl>
          </a:graphicData>
        </a:graphic>
      </p:graphicFrame>
      <p:graphicFrame>
        <p:nvGraphicFramePr>
          <p:cNvPr id="25" name="Table 24">
            <a:extLst>
              <a:ext uri="{FF2B5EF4-FFF2-40B4-BE49-F238E27FC236}">
                <a16:creationId xmlns:a16="http://schemas.microsoft.com/office/drawing/2014/main" id="{F3E64317-DC50-1EDC-3C74-B02BB7C582F5}"/>
              </a:ext>
            </a:extLst>
          </p:cNvPr>
          <p:cNvGraphicFramePr>
            <a:graphicFrameLocks noGrp="1"/>
          </p:cNvGraphicFramePr>
          <p:nvPr>
            <p:extLst>
              <p:ext uri="{D42A27DB-BD31-4B8C-83A1-F6EECF244321}">
                <p14:modId xmlns:p14="http://schemas.microsoft.com/office/powerpoint/2010/main" val="1652332878"/>
              </p:ext>
            </p:extLst>
          </p:nvPr>
        </p:nvGraphicFramePr>
        <p:xfrm>
          <a:off x="7433028" y="3492139"/>
          <a:ext cx="3886200" cy="822960"/>
        </p:xfrm>
        <a:graphic>
          <a:graphicData uri="http://schemas.openxmlformats.org/drawingml/2006/table">
            <a:tbl>
              <a:tblPr firstRow="1">
                <a:tableStyleId>{69012ECD-51FC-41F1-AA8D-1B2483CD663E}</a:tableStyleId>
              </a:tblPr>
              <a:tblGrid>
                <a:gridCol w="1074868">
                  <a:extLst>
                    <a:ext uri="{9D8B030D-6E8A-4147-A177-3AD203B41FA5}">
                      <a16:colId xmlns:a16="http://schemas.microsoft.com/office/drawing/2014/main" val="797950190"/>
                    </a:ext>
                  </a:extLst>
                </a:gridCol>
                <a:gridCol w="1515932">
                  <a:extLst>
                    <a:ext uri="{9D8B030D-6E8A-4147-A177-3AD203B41FA5}">
                      <a16:colId xmlns:a16="http://schemas.microsoft.com/office/drawing/2014/main" val="1015638872"/>
                    </a:ext>
                  </a:extLst>
                </a:gridCol>
                <a:gridCol w="1295400">
                  <a:extLst>
                    <a:ext uri="{9D8B030D-6E8A-4147-A177-3AD203B41FA5}">
                      <a16:colId xmlns:a16="http://schemas.microsoft.com/office/drawing/2014/main" val="976405573"/>
                    </a:ext>
                  </a:extLst>
                </a:gridCol>
              </a:tblGrid>
              <a:tr h="255983">
                <a:tc>
                  <a:txBody>
                    <a:bodyPr/>
                    <a:lstStyle/>
                    <a:p>
                      <a:pPr>
                        <a:buNone/>
                      </a:pPr>
                      <a:r>
                        <a:rPr lang="en-US" sz="1200" noProof="0" dirty="0"/>
                        <a:t>Dimension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US" sz="1200" noProof="0" dirty="0"/>
                        <a:t>Calculation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US" sz="1200" noProof="0" dirty="0"/>
                        <a:t>Result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490721314"/>
                  </a:ext>
                </a:extLst>
              </a:tr>
              <a:tr h="255983">
                <a:tc>
                  <a:txBody>
                    <a:bodyPr/>
                    <a:lstStyle/>
                    <a:p>
                      <a:pPr>
                        <a:buNone/>
                      </a:pPr>
                      <a:r>
                        <a:rPr lang="en-US" sz="1200" noProof="0" dirty="0"/>
                        <a:t>First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US" sz="1200" noProof="0" dirty="0"/>
                        <a:t>0.13 + 0 + 0.37 + 0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US" sz="1200" noProof="0" dirty="0"/>
                        <a:t>0.50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109953797"/>
                  </a:ext>
                </a:extLst>
              </a:tr>
              <a:tr h="255983">
                <a:tc>
                  <a:txBody>
                    <a:bodyPr/>
                    <a:lstStyle/>
                    <a:p>
                      <a:pPr>
                        <a:buNone/>
                      </a:pPr>
                      <a:r>
                        <a:rPr lang="en-US" sz="1200" noProof="0" dirty="0"/>
                        <a:t>Second</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US" sz="1200" noProof="0" dirty="0"/>
                        <a:t>0 + 0.13 + 0.37 + 0.74</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US" sz="1200" noProof="0" dirty="0"/>
                        <a:t>1.24</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929315528"/>
                  </a:ext>
                </a:extLst>
              </a:tr>
            </a:tbl>
          </a:graphicData>
        </a:graphic>
      </p:graphicFrame>
      <p:sp>
        <p:nvSpPr>
          <p:cNvPr id="26" name="TextBox 25">
            <a:extLst>
              <a:ext uri="{FF2B5EF4-FFF2-40B4-BE49-F238E27FC236}">
                <a16:creationId xmlns:a16="http://schemas.microsoft.com/office/drawing/2014/main" id="{6EC6FEB3-6BBF-0047-AAF2-E21D46B89E17}"/>
              </a:ext>
            </a:extLst>
          </p:cNvPr>
          <p:cNvSpPr txBox="1"/>
          <p:nvPr/>
        </p:nvSpPr>
        <p:spPr>
          <a:xfrm>
            <a:off x="7433028" y="3184474"/>
            <a:ext cx="2950050" cy="276999"/>
          </a:xfrm>
          <a:prstGeom prst="rect">
            <a:avLst/>
          </a:prstGeom>
          <a:noFill/>
        </p:spPr>
        <p:txBody>
          <a:bodyPr wrap="square" rtlCol="0">
            <a:spAutoFit/>
          </a:bodyPr>
          <a:lstStyle/>
          <a:p>
            <a:r>
              <a:rPr lang="en-US" sz="1200" noProof="0" dirty="0"/>
              <a:t>Final Output (Sum of All)</a:t>
            </a:r>
          </a:p>
        </p:txBody>
      </p:sp>
      <p:sp>
        <p:nvSpPr>
          <p:cNvPr id="27" name="TextBox 26">
            <a:extLst>
              <a:ext uri="{FF2B5EF4-FFF2-40B4-BE49-F238E27FC236}">
                <a16:creationId xmlns:a16="http://schemas.microsoft.com/office/drawing/2014/main" id="{79A0AD0E-958B-9BA2-C273-687C123DC3CD}"/>
              </a:ext>
            </a:extLst>
          </p:cNvPr>
          <p:cNvSpPr txBox="1"/>
          <p:nvPr/>
        </p:nvSpPr>
        <p:spPr>
          <a:xfrm>
            <a:off x="7863725" y="4476561"/>
            <a:ext cx="3314484" cy="646331"/>
          </a:xfrm>
          <a:prstGeom prst="rect">
            <a:avLst/>
          </a:prstGeom>
          <a:solidFill>
            <a:schemeClr val="accent4">
              <a:lumMod val="20000"/>
              <a:lumOff val="80000"/>
            </a:schemeClr>
          </a:solidFill>
        </p:spPr>
        <p:txBody>
          <a:bodyPr wrap="square" rtlCol="0">
            <a:spAutoFit/>
          </a:bodyPr>
          <a:lstStyle/>
          <a:p>
            <a:r>
              <a:rPr lang="en-US" sz="1200" noProof="0" dirty="0"/>
              <a:t>Final Vector [0.50, 1.24]</a:t>
            </a:r>
          </a:p>
          <a:p>
            <a:endParaRPr lang="en-US" sz="1200" noProof="0" dirty="0"/>
          </a:p>
          <a:p>
            <a:pPr marL="171450" indent="-171450">
              <a:buFont typeface="Wingdings" panose="05000000000000000000" pitchFamily="2" charset="2"/>
              <a:buChar char="v"/>
            </a:pPr>
            <a:r>
              <a:rPr lang="en-US" sz="1200" b="1" noProof="0" dirty="0"/>
              <a:t>New representation of </a:t>
            </a:r>
            <a:r>
              <a:rPr lang="en-US" sz="1200" b="1" i="1" noProof="0" dirty="0"/>
              <a:t>barked</a:t>
            </a:r>
            <a:r>
              <a:rPr lang="en-US" sz="1200" b="1" noProof="0" dirty="0"/>
              <a:t> after attention</a:t>
            </a:r>
          </a:p>
        </p:txBody>
      </p:sp>
    </p:spTree>
    <p:extLst>
      <p:ext uri="{BB962C8B-B14F-4D97-AF65-F5344CB8AC3E}">
        <p14:creationId xmlns:p14="http://schemas.microsoft.com/office/powerpoint/2010/main" val="1387417686"/>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36D0E18-A6EF-1B82-675C-0144BF1619B3}"/>
              </a:ext>
            </a:extLst>
          </p:cNvPr>
          <p:cNvSpPr>
            <a:spLocks noGrp="1"/>
          </p:cNvSpPr>
          <p:nvPr>
            <p:ph type="title"/>
          </p:nvPr>
        </p:nvSpPr>
        <p:spPr/>
        <p:txBody>
          <a:bodyPr/>
          <a:lstStyle/>
          <a:p>
            <a:r>
              <a:rPr lang="en-US" noProof="0" dirty="0"/>
              <a:t>Transfer Learning</a:t>
            </a:r>
          </a:p>
        </p:txBody>
      </p:sp>
      <p:sp>
        <p:nvSpPr>
          <p:cNvPr id="3" name="Content Placeholder 2">
            <a:extLst>
              <a:ext uri="{FF2B5EF4-FFF2-40B4-BE49-F238E27FC236}">
                <a16:creationId xmlns:a16="http://schemas.microsoft.com/office/drawing/2014/main" id="{7E0D9042-0CE5-2173-F0D5-0706B706F40C}"/>
              </a:ext>
            </a:extLst>
          </p:cNvPr>
          <p:cNvSpPr>
            <a:spLocks noGrp="1"/>
          </p:cNvSpPr>
          <p:nvPr>
            <p:ph idx="1"/>
          </p:nvPr>
        </p:nvSpPr>
        <p:spPr/>
        <p:txBody>
          <a:bodyPr>
            <a:normAutofit fontScale="85000" lnSpcReduction="20000"/>
          </a:bodyPr>
          <a:lstStyle/>
          <a:p>
            <a:r>
              <a:rPr lang="en-US" noProof="0" dirty="0"/>
              <a:t>Applying skills we already have to learn something new faster (e.g. learning to ride a bike, after learning how to ride a bicycle)</a:t>
            </a:r>
          </a:p>
          <a:p>
            <a:r>
              <a:rPr lang="en-US" noProof="0" dirty="0"/>
              <a:t>AI: Take a model that has already learned something useful and adapt it to a new but related task</a:t>
            </a:r>
          </a:p>
          <a:p>
            <a:r>
              <a:rPr lang="en-US" noProof="0" dirty="0"/>
              <a:t>Example: Train AI to recognize cats in picture, but in the process, it also learns general things such as edges, shapes, textures, patterns</a:t>
            </a:r>
          </a:p>
          <a:p>
            <a:r>
              <a:rPr lang="en-US" noProof="0" dirty="0"/>
              <a:t>Result: To train the model to recognize dogs, do not start from scratch; instead just the take the cat-recognition model and retrain the final layers – Since it already </a:t>
            </a:r>
            <a:r>
              <a:rPr lang="en-US" noProof="0" dirty="0" err="1"/>
              <a:t>knowsabout</a:t>
            </a:r>
            <a:r>
              <a:rPr lang="en-US" noProof="0" dirty="0"/>
              <a:t> fur textures, animal shapes, and facial features, it learns to recognize dogs much faster and with fewer examples</a:t>
            </a:r>
          </a:p>
          <a:p>
            <a:r>
              <a:rPr lang="en-US" noProof="0" dirty="0"/>
              <a:t>Advantages: Saves time, Training data, Starts with good “general knowledge” instead of being completely naïve</a:t>
            </a:r>
          </a:p>
          <a:p>
            <a:r>
              <a:rPr lang="en-US" noProof="0" dirty="0"/>
              <a:t>Code: C:\code\llm\2_deep_learning\2_2_transfer_learning\2_2_1_transfer_learning.py</a:t>
            </a:r>
          </a:p>
        </p:txBody>
      </p:sp>
    </p:spTree>
    <p:extLst>
      <p:ext uri="{BB962C8B-B14F-4D97-AF65-F5344CB8AC3E}">
        <p14:creationId xmlns:p14="http://schemas.microsoft.com/office/powerpoint/2010/main" val="1176404889"/>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860B21-79D9-C0B4-D6C8-02D39335E2B8}"/>
              </a:ext>
            </a:extLst>
          </p:cNvPr>
          <p:cNvSpPr>
            <a:spLocks noGrp="1"/>
          </p:cNvSpPr>
          <p:nvPr>
            <p:ph type="title"/>
          </p:nvPr>
        </p:nvSpPr>
        <p:spPr/>
        <p:txBody>
          <a:bodyPr/>
          <a:lstStyle/>
          <a:p>
            <a:r>
              <a:rPr lang="en-US" noProof="0" dirty="0"/>
              <a:t>Why Transfer Learning</a:t>
            </a:r>
          </a:p>
        </p:txBody>
      </p:sp>
      <p:pic>
        <p:nvPicPr>
          <p:cNvPr id="11" name="Content Placeholder 10">
            <a:extLst>
              <a:ext uri="{FF2B5EF4-FFF2-40B4-BE49-F238E27FC236}">
                <a16:creationId xmlns:a16="http://schemas.microsoft.com/office/drawing/2014/main" id="{8A275F49-11D0-3DC5-8152-62969EDF8F16}"/>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500382" y="1448698"/>
            <a:ext cx="10853418" cy="5589510"/>
          </a:xfrm>
        </p:spPr>
      </p:pic>
    </p:spTree>
    <p:extLst>
      <p:ext uri="{BB962C8B-B14F-4D97-AF65-F5344CB8AC3E}">
        <p14:creationId xmlns:p14="http://schemas.microsoft.com/office/powerpoint/2010/main" val="347099948"/>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575581F-8C89-2619-9E7D-8D3FACCE856F}"/>
              </a:ext>
            </a:extLst>
          </p:cNvPr>
          <p:cNvSpPr>
            <a:spLocks noGrp="1"/>
          </p:cNvSpPr>
          <p:nvPr>
            <p:ph type="title"/>
          </p:nvPr>
        </p:nvSpPr>
        <p:spPr/>
        <p:txBody>
          <a:bodyPr/>
          <a:lstStyle/>
          <a:p>
            <a:r>
              <a:rPr lang="en-US" noProof="0" dirty="0"/>
              <a:t>A Typical Convolution Neural Network (CNN)</a:t>
            </a:r>
          </a:p>
        </p:txBody>
      </p:sp>
      <p:sp>
        <p:nvSpPr>
          <p:cNvPr id="3" name="Content Placeholder 2">
            <a:extLst>
              <a:ext uri="{FF2B5EF4-FFF2-40B4-BE49-F238E27FC236}">
                <a16:creationId xmlns:a16="http://schemas.microsoft.com/office/drawing/2014/main" id="{3651ACC4-68A5-8B2F-2B2B-AFA796FB5EF3}"/>
              </a:ext>
            </a:extLst>
          </p:cNvPr>
          <p:cNvSpPr>
            <a:spLocks noGrp="1"/>
          </p:cNvSpPr>
          <p:nvPr>
            <p:ph idx="1"/>
          </p:nvPr>
        </p:nvSpPr>
        <p:spPr/>
        <p:txBody>
          <a:bodyPr/>
          <a:lstStyle/>
          <a:p>
            <a:endParaRPr lang="en-US" noProof="0" dirty="0"/>
          </a:p>
        </p:txBody>
      </p:sp>
      <p:pic>
        <p:nvPicPr>
          <p:cNvPr id="5" name="Picture 4">
            <a:extLst>
              <a:ext uri="{FF2B5EF4-FFF2-40B4-BE49-F238E27FC236}">
                <a16:creationId xmlns:a16="http://schemas.microsoft.com/office/drawing/2014/main" id="{8757B08F-EB7C-0C25-0AAB-125A78117160}"/>
              </a:ext>
            </a:extLst>
          </p:cNvPr>
          <p:cNvPicPr>
            <a:picLocks noChangeAspect="1"/>
          </p:cNvPicPr>
          <p:nvPr/>
        </p:nvPicPr>
        <p:blipFill>
          <a:blip r:embed="rId2"/>
          <a:stretch>
            <a:fillRect/>
          </a:stretch>
        </p:blipFill>
        <p:spPr>
          <a:xfrm>
            <a:off x="62820" y="1568688"/>
            <a:ext cx="12129179" cy="5088734"/>
          </a:xfrm>
          <a:prstGeom prst="rect">
            <a:avLst/>
          </a:prstGeom>
        </p:spPr>
      </p:pic>
      <p:sp>
        <p:nvSpPr>
          <p:cNvPr id="6" name="TextBox 5">
            <a:extLst>
              <a:ext uri="{FF2B5EF4-FFF2-40B4-BE49-F238E27FC236}">
                <a16:creationId xmlns:a16="http://schemas.microsoft.com/office/drawing/2014/main" id="{DCC53A50-3891-984B-4918-457083FB5BFA}"/>
              </a:ext>
            </a:extLst>
          </p:cNvPr>
          <p:cNvSpPr txBox="1"/>
          <p:nvPr/>
        </p:nvSpPr>
        <p:spPr>
          <a:xfrm>
            <a:off x="600293" y="5592030"/>
            <a:ext cx="3189930" cy="1200329"/>
          </a:xfrm>
          <a:prstGeom prst="rect">
            <a:avLst/>
          </a:prstGeom>
          <a:solidFill>
            <a:schemeClr val="accent4">
              <a:lumMod val="40000"/>
              <a:lumOff val="60000"/>
            </a:schemeClr>
          </a:solidFill>
        </p:spPr>
        <p:txBody>
          <a:bodyPr wrap="square" rtlCol="0">
            <a:spAutoFit/>
          </a:bodyPr>
          <a:lstStyle/>
          <a:p>
            <a:pPr algn="ctr"/>
            <a:r>
              <a:rPr lang="en-US" b="1" noProof="0" dirty="0"/>
              <a:t>For transfer learning, we only use the Base Model of a pre-trained model and create our own Head Model</a:t>
            </a:r>
          </a:p>
        </p:txBody>
      </p:sp>
    </p:spTree>
    <p:extLst>
      <p:ext uri="{BB962C8B-B14F-4D97-AF65-F5344CB8AC3E}">
        <p14:creationId xmlns:p14="http://schemas.microsoft.com/office/powerpoint/2010/main" val="980386811"/>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C6AEAEA-D594-6A2B-DE7D-CF4B1D36D3F3}"/>
              </a:ext>
            </a:extLst>
          </p:cNvPr>
          <p:cNvSpPr>
            <a:spLocks noGrp="1"/>
          </p:cNvSpPr>
          <p:nvPr>
            <p:ph type="title"/>
          </p:nvPr>
        </p:nvSpPr>
        <p:spPr/>
        <p:txBody>
          <a:bodyPr/>
          <a:lstStyle/>
          <a:p>
            <a:r>
              <a:rPr lang="en-US" noProof="0" dirty="0"/>
              <a:t>Transfer Learning: Removing the Head Model</a:t>
            </a:r>
          </a:p>
        </p:txBody>
      </p:sp>
      <p:sp>
        <p:nvSpPr>
          <p:cNvPr id="3" name="Content Placeholder 2">
            <a:extLst>
              <a:ext uri="{FF2B5EF4-FFF2-40B4-BE49-F238E27FC236}">
                <a16:creationId xmlns:a16="http://schemas.microsoft.com/office/drawing/2014/main" id="{A875A774-3C1C-ED09-AD64-7A8089D06D25}"/>
              </a:ext>
            </a:extLst>
          </p:cNvPr>
          <p:cNvSpPr>
            <a:spLocks noGrp="1"/>
          </p:cNvSpPr>
          <p:nvPr>
            <p:ph idx="1"/>
          </p:nvPr>
        </p:nvSpPr>
        <p:spPr/>
        <p:txBody>
          <a:bodyPr>
            <a:normAutofit fontScale="92500"/>
          </a:bodyPr>
          <a:lstStyle/>
          <a:p>
            <a:pPr marL="0" indent="0">
              <a:buNone/>
            </a:pPr>
            <a:r>
              <a:rPr lang="en-US" b="1" noProof="0" dirty="0" err="1"/>
              <a:t>baseModel</a:t>
            </a:r>
            <a:r>
              <a:rPr lang="en-US" b="1" noProof="0" dirty="0"/>
              <a:t> = MobileNetV2(</a:t>
            </a:r>
            <a:r>
              <a:rPr lang="en-US" noProof="0" dirty="0"/>
              <a:t># Load pretrained </a:t>
            </a:r>
            <a:r>
              <a:rPr lang="en-US" noProof="0" dirty="0" err="1"/>
              <a:t>MobileNet</a:t>
            </a:r>
            <a:r>
              <a:rPr lang="en-US" noProof="0" dirty="0"/>
              <a:t> model</a:t>
            </a:r>
          </a:p>
          <a:p>
            <a:pPr marL="0" indent="0">
              <a:buNone/>
            </a:pPr>
            <a:r>
              <a:rPr lang="en-US" noProof="0" dirty="0"/>
              <a:t>    </a:t>
            </a:r>
            <a:r>
              <a:rPr lang="en-US" b="1" noProof="0" dirty="0"/>
              <a:t>weights="</a:t>
            </a:r>
            <a:r>
              <a:rPr lang="en-US" b="1" noProof="0" dirty="0" err="1"/>
              <a:t>imagenet</a:t>
            </a:r>
            <a:r>
              <a:rPr lang="en-US" b="1" noProof="0" dirty="0"/>
              <a:t>", </a:t>
            </a:r>
            <a:r>
              <a:rPr lang="en-US" noProof="0" dirty="0"/>
              <a:t># Was trained on ImageNet dataset</a:t>
            </a:r>
          </a:p>
          <a:p>
            <a:pPr marL="0" indent="0">
              <a:buNone/>
            </a:pPr>
            <a:r>
              <a:rPr lang="en-US" noProof="0" dirty="0"/>
              <a:t>    </a:t>
            </a:r>
            <a:r>
              <a:rPr lang="en-US" b="1" noProof="0" dirty="0" err="1">
                <a:solidFill>
                  <a:srgbClr val="FF0000"/>
                </a:solidFill>
              </a:rPr>
              <a:t>include_top</a:t>
            </a:r>
            <a:r>
              <a:rPr lang="en-US" b="1" noProof="0" dirty="0">
                <a:solidFill>
                  <a:srgbClr val="FF0000"/>
                </a:solidFill>
              </a:rPr>
              <a:t>=False</a:t>
            </a:r>
            <a:r>
              <a:rPr lang="en-US" b="1" noProof="0" dirty="0"/>
              <a:t>,</a:t>
            </a:r>
            <a:r>
              <a:rPr lang="en-US" noProof="0" dirty="0"/>
              <a:t> </a:t>
            </a:r>
            <a:r>
              <a:rPr lang="en-US" noProof="0" dirty="0">
                <a:solidFill>
                  <a:srgbClr val="FF0000"/>
                </a:solidFill>
              </a:rPr>
              <a:t># Do not use the final classification layer (i.e. Head Model or Top Layer), retain only the feature extraction part (i.e. Base Model)</a:t>
            </a:r>
          </a:p>
          <a:p>
            <a:pPr marL="0" indent="0">
              <a:buNone/>
            </a:pPr>
            <a:r>
              <a:rPr lang="en-US" noProof="0" dirty="0"/>
              <a:t>    </a:t>
            </a:r>
            <a:r>
              <a:rPr lang="en-US" b="1" noProof="0" dirty="0" err="1"/>
              <a:t>input_shape</a:t>
            </a:r>
            <a:r>
              <a:rPr lang="en-US" b="1" noProof="0" dirty="0"/>
              <a:t>=(IMAGE_SIZE, IMAGE_SIZE, 3),</a:t>
            </a:r>
            <a:r>
              <a:rPr lang="en-US" noProof="0" dirty="0"/>
              <a:t> # Input image size expected by the model in 3 (RGB) </a:t>
            </a:r>
            <a:r>
              <a:rPr lang="en-US" noProof="0" dirty="0" err="1"/>
              <a:t>colours</a:t>
            </a:r>
            <a:endParaRPr lang="en-US" noProof="0" dirty="0"/>
          </a:p>
          <a:p>
            <a:pPr marL="0" indent="0">
              <a:buNone/>
            </a:pPr>
            <a:r>
              <a:rPr lang="en-US" noProof="0" dirty="0"/>
              <a:t>    </a:t>
            </a:r>
            <a:r>
              <a:rPr lang="en-US" b="1" noProof="0" dirty="0" err="1"/>
              <a:t>input_tensor</a:t>
            </a:r>
            <a:r>
              <a:rPr lang="en-US" b="1" noProof="0" dirty="0"/>
              <a:t>=Input(shape=(IMAGE_SIZE, IMAGE_SIZE, 3))</a:t>
            </a:r>
            <a:r>
              <a:rPr lang="en-US" noProof="0" dirty="0"/>
              <a:t> # Connect </a:t>
            </a:r>
            <a:r>
              <a:rPr lang="en-US" noProof="0" dirty="0" err="1"/>
              <a:t>MobileNet</a:t>
            </a:r>
            <a:r>
              <a:rPr lang="en-US" noProof="0" dirty="0"/>
              <a:t> model to a new input layer in our own model, so that our custom model layer gets added to the base model</a:t>
            </a:r>
          </a:p>
          <a:p>
            <a:pPr marL="0" indent="0">
              <a:buNone/>
            </a:pPr>
            <a:r>
              <a:rPr lang="en-US" noProof="0" dirty="0"/>
              <a:t>)</a:t>
            </a:r>
          </a:p>
        </p:txBody>
      </p:sp>
    </p:spTree>
    <p:extLst>
      <p:ext uri="{BB962C8B-B14F-4D97-AF65-F5344CB8AC3E}">
        <p14:creationId xmlns:p14="http://schemas.microsoft.com/office/powerpoint/2010/main" val="134632877"/>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557EA47-1A5C-788F-5F7A-03B0DAD08D47}"/>
              </a:ext>
            </a:extLst>
          </p:cNvPr>
          <p:cNvSpPr>
            <a:spLocks noGrp="1"/>
          </p:cNvSpPr>
          <p:nvPr>
            <p:ph type="title"/>
          </p:nvPr>
        </p:nvSpPr>
        <p:spPr/>
        <p:txBody>
          <a:bodyPr/>
          <a:lstStyle/>
          <a:p>
            <a:r>
              <a:rPr lang="en-US" noProof="0" dirty="0"/>
              <a:t>Model Fine-Tuning</a:t>
            </a:r>
          </a:p>
        </p:txBody>
      </p:sp>
      <p:sp>
        <p:nvSpPr>
          <p:cNvPr id="3" name="Content Placeholder 2">
            <a:extLst>
              <a:ext uri="{FF2B5EF4-FFF2-40B4-BE49-F238E27FC236}">
                <a16:creationId xmlns:a16="http://schemas.microsoft.com/office/drawing/2014/main" id="{6C7777E7-7AED-787D-5DD1-047F3BC04843}"/>
              </a:ext>
            </a:extLst>
          </p:cNvPr>
          <p:cNvSpPr>
            <a:spLocks noGrp="1"/>
          </p:cNvSpPr>
          <p:nvPr>
            <p:ph idx="1"/>
          </p:nvPr>
        </p:nvSpPr>
        <p:spPr/>
        <p:txBody>
          <a:bodyPr/>
          <a:lstStyle/>
          <a:p>
            <a:r>
              <a:rPr lang="en-US" noProof="0" dirty="0"/>
              <a:t>Transfer Learning = User the model as is</a:t>
            </a:r>
          </a:p>
          <a:p>
            <a:r>
              <a:rPr lang="en-US" noProof="0" dirty="0"/>
              <a:t>Fine-tuning = Allow the model to “adjust a little bit” to our data</a:t>
            </a:r>
          </a:p>
          <a:p>
            <a:r>
              <a:rPr lang="en-US" noProof="0" dirty="0"/>
              <a:t>How? Slightly retrain the top part of a pretrained model so it learns features specific to our new task</a:t>
            </a:r>
          </a:p>
          <a:p>
            <a:r>
              <a:rPr lang="en-US" noProof="0" dirty="0"/>
              <a:t>Example: Learn about Homer’s rounder hair, Bart’s spiky hair, …</a:t>
            </a:r>
          </a:p>
        </p:txBody>
      </p:sp>
      <p:graphicFrame>
        <p:nvGraphicFramePr>
          <p:cNvPr id="4" name="Table 3">
            <a:extLst>
              <a:ext uri="{FF2B5EF4-FFF2-40B4-BE49-F238E27FC236}">
                <a16:creationId xmlns:a16="http://schemas.microsoft.com/office/drawing/2014/main" id="{81B89ACB-30D5-A282-FFE3-B4E8AE5E7864}"/>
              </a:ext>
            </a:extLst>
          </p:cNvPr>
          <p:cNvGraphicFramePr>
            <a:graphicFrameLocks noGrp="1"/>
          </p:cNvGraphicFramePr>
          <p:nvPr>
            <p:extLst>
              <p:ext uri="{D42A27DB-BD31-4B8C-83A1-F6EECF244321}">
                <p14:modId xmlns:p14="http://schemas.microsoft.com/office/powerpoint/2010/main" val="2449124964"/>
              </p:ext>
            </p:extLst>
          </p:nvPr>
        </p:nvGraphicFramePr>
        <p:xfrm>
          <a:off x="838200" y="4297680"/>
          <a:ext cx="10867515" cy="2220719"/>
        </p:xfrm>
        <a:graphic>
          <a:graphicData uri="http://schemas.openxmlformats.org/drawingml/2006/table">
            <a:tbl>
              <a:tblPr/>
              <a:tblGrid>
                <a:gridCol w="3259150">
                  <a:extLst>
                    <a:ext uri="{9D8B030D-6E8A-4147-A177-3AD203B41FA5}">
                      <a16:colId xmlns:a16="http://schemas.microsoft.com/office/drawing/2014/main" val="871931214"/>
                    </a:ext>
                  </a:extLst>
                </a:gridCol>
                <a:gridCol w="1975383">
                  <a:extLst>
                    <a:ext uri="{9D8B030D-6E8A-4147-A177-3AD203B41FA5}">
                      <a16:colId xmlns:a16="http://schemas.microsoft.com/office/drawing/2014/main" val="3726289734"/>
                    </a:ext>
                  </a:extLst>
                </a:gridCol>
                <a:gridCol w="2191768">
                  <a:extLst>
                    <a:ext uri="{9D8B030D-6E8A-4147-A177-3AD203B41FA5}">
                      <a16:colId xmlns:a16="http://schemas.microsoft.com/office/drawing/2014/main" val="935752556"/>
                    </a:ext>
                  </a:extLst>
                </a:gridCol>
                <a:gridCol w="1267711">
                  <a:extLst>
                    <a:ext uri="{9D8B030D-6E8A-4147-A177-3AD203B41FA5}">
                      <a16:colId xmlns:a16="http://schemas.microsoft.com/office/drawing/2014/main" val="3802773832"/>
                    </a:ext>
                  </a:extLst>
                </a:gridCol>
                <a:gridCol w="2173503">
                  <a:extLst>
                    <a:ext uri="{9D8B030D-6E8A-4147-A177-3AD203B41FA5}">
                      <a16:colId xmlns:a16="http://schemas.microsoft.com/office/drawing/2014/main" val="1660414418"/>
                    </a:ext>
                  </a:extLst>
                </a:gridCol>
              </a:tblGrid>
              <a:tr h="309160">
                <a:tc>
                  <a:txBody>
                    <a:bodyPr/>
                    <a:lstStyle/>
                    <a:p>
                      <a:pPr>
                        <a:buNone/>
                      </a:pPr>
                      <a:r>
                        <a:rPr lang="en-US" b="1" noProof="0" dirty="0"/>
                        <a:t>Approach</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4">
                        <a:lumMod val="40000"/>
                        <a:lumOff val="60000"/>
                      </a:schemeClr>
                    </a:solidFill>
                  </a:tcPr>
                </a:tc>
                <a:tc>
                  <a:txBody>
                    <a:bodyPr/>
                    <a:lstStyle/>
                    <a:p>
                      <a:pPr>
                        <a:buNone/>
                      </a:pPr>
                      <a:r>
                        <a:rPr lang="en-US" b="1" noProof="0" dirty="0"/>
                        <a:t>Training Time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4">
                        <a:lumMod val="40000"/>
                        <a:lumOff val="60000"/>
                      </a:schemeClr>
                    </a:solidFill>
                  </a:tcPr>
                </a:tc>
                <a:tc>
                  <a:txBody>
                    <a:bodyPr/>
                    <a:lstStyle/>
                    <a:p>
                      <a:pPr>
                        <a:buNone/>
                      </a:pPr>
                      <a:r>
                        <a:rPr lang="en-US" b="1" noProof="0" dirty="0"/>
                        <a:t>Requires Big Dataset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4">
                        <a:lumMod val="40000"/>
                        <a:lumOff val="60000"/>
                      </a:schemeClr>
                    </a:solidFill>
                  </a:tcPr>
                </a:tc>
                <a:tc>
                  <a:txBody>
                    <a:bodyPr/>
                    <a:lstStyle/>
                    <a:p>
                      <a:pPr>
                        <a:buNone/>
                      </a:pPr>
                      <a:r>
                        <a:rPr lang="en-US" b="1" noProof="0" dirty="0"/>
                        <a:t>Accuracy</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4">
                        <a:lumMod val="40000"/>
                        <a:lumOff val="60000"/>
                      </a:schemeClr>
                    </a:solidFill>
                  </a:tcPr>
                </a:tc>
                <a:tc>
                  <a:txBody>
                    <a:bodyPr/>
                    <a:lstStyle/>
                    <a:p>
                      <a:pPr>
                        <a:buNone/>
                      </a:pPr>
                      <a:r>
                        <a:rPr lang="en-US" b="1" noProof="0" dirty="0"/>
                        <a:t>Stability</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4">
                        <a:lumMod val="40000"/>
                        <a:lumOff val="60000"/>
                      </a:schemeClr>
                    </a:solidFill>
                  </a:tcPr>
                </a:tc>
                <a:extLst>
                  <a:ext uri="{0D108BD9-81ED-4DB2-BD59-A6C34878D82A}">
                    <a16:rowId xmlns:a16="http://schemas.microsoft.com/office/drawing/2014/main" val="2766429445"/>
                  </a:ext>
                </a:extLst>
              </a:tr>
              <a:tr h="541030">
                <a:tc>
                  <a:txBody>
                    <a:bodyPr/>
                    <a:lstStyle/>
                    <a:p>
                      <a:pPr>
                        <a:buNone/>
                      </a:pPr>
                      <a:r>
                        <a:rPr lang="en-US" noProof="0" dirty="0"/>
                        <a:t>Transfer Learning (base frozen)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4">
                        <a:lumMod val="40000"/>
                        <a:lumOff val="60000"/>
                      </a:schemeClr>
                    </a:solidFill>
                  </a:tcPr>
                </a:tc>
                <a:tc>
                  <a:txBody>
                    <a:bodyPr/>
                    <a:lstStyle/>
                    <a:p>
                      <a:pPr>
                        <a:buNone/>
                      </a:pPr>
                      <a:r>
                        <a:rPr lang="en-US" noProof="0" dirty="0"/>
                        <a:t>Fast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4">
                        <a:lumMod val="40000"/>
                        <a:lumOff val="60000"/>
                      </a:schemeClr>
                    </a:solidFill>
                  </a:tcPr>
                </a:tc>
                <a:tc>
                  <a:txBody>
                    <a:bodyPr/>
                    <a:lstStyle/>
                    <a:p>
                      <a:pPr>
                        <a:buNone/>
                      </a:pPr>
                      <a:r>
                        <a:rPr lang="en-US" noProof="0" dirty="0"/>
                        <a:t>Small dataset OK</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4">
                        <a:lumMod val="40000"/>
                        <a:lumOff val="60000"/>
                      </a:schemeClr>
                    </a:solidFill>
                  </a:tcPr>
                </a:tc>
                <a:tc>
                  <a:txBody>
                    <a:bodyPr/>
                    <a:lstStyle/>
                    <a:p>
                      <a:pPr>
                        <a:buNone/>
                      </a:pPr>
                      <a:r>
                        <a:rPr lang="en-US" noProof="0" dirty="0"/>
                        <a:t>Good</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4">
                        <a:lumMod val="40000"/>
                        <a:lumOff val="60000"/>
                      </a:schemeClr>
                    </a:solidFill>
                  </a:tcPr>
                </a:tc>
                <a:tc>
                  <a:txBody>
                    <a:bodyPr/>
                    <a:lstStyle/>
                    <a:p>
                      <a:pPr>
                        <a:buNone/>
                      </a:pPr>
                      <a:r>
                        <a:rPr lang="en-US" noProof="0" dirty="0"/>
                        <a:t>Very stable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4">
                        <a:lumMod val="40000"/>
                        <a:lumOff val="60000"/>
                      </a:schemeClr>
                    </a:solidFill>
                  </a:tcPr>
                </a:tc>
                <a:extLst>
                  <a:ext uri="{0D108BD9-81ED-4DB2-BD59-A6C34878D82A}">
                    <a16:rowId xmlns:a16="http://schemas.microsoft.com/office/drawing/2014/main" val="1223683270"/>
                  </a:ext>
                </a:extLst>
              </a:tr>
              <a:tr h="541030">
                <a:tc>
                  <a:txBody>
                    <a:bodyPr/>
                    <a:lstStyle/>
                    <a:p>
                      <a:pPr>
                        <a:buNone/>
                      </a:pPr>
                      <a:r>
                        <a:rPr lang="en-US" noProof="0" dirty="0"/>
                        <a:t>Fine-Tuning (few layers)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4">
                        <a:lumMod val="40000"/>
                        <a:lumOff val="60000"/>
                      </a:schemeClr>
                    </a:solidFill>
                  </a:tcPr>
                </a:tc>
                <a:tc>
                  <a:txBody>
                    <a:bodyPr/>
                    <a:lstStyle/>
                    <a:p>
                      <a:pPr>
                        <a:buNone/>
                      </a:pPr>
                      <a:r>
                        <a:rPr lang="en-US" noProof="0" dirty="0"/>
                        <a:t>Medium</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4">
                        <a:lumMod val="40000"/>
                        <a:lumOff val="60000"/>
                      </a:schemeClr>
                    </a:solidFill>
                  </a:tcPr>
                </a:tc>
                <a:tc>
                  <a:txBody>
                    <a:bodyPr/>
                    <a:lstStyle/>
                    <a:p>
                      <a:pPr>
                        <a:buNone/>
                      </a:pPr>
                      <a:r>
                        <a:rPr lang="en-US" noProof="0" dirty="0"/>
                        <a:t>Small dataset OK</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4">
                        <a:lumMod val="40000"/>
                        <a:lumOff val="60000"/>
                      </a:schemeClr>
                    </a:solidFill>
                  </a:tcPr>
                </a:tc>
                <a:tc>
                  <a:txBody>
                    <a:bodyPr/>
                    <a:lstStyle/>
                    <a:p>
                      <a:pPr>
                        <a:buNone/>
                      </a:pPr>
                      <a:r>
                        <a:rPr lang="en-US" noProof="0" dirty="0"/>
                        <a:t>Better</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4">
                        <a:lumMod val="40000"/>
                        <a:lumOff val="60000"/>
                      </a:schemeClr>
                    </a:solidFill>
                  </a:tcPr>
                </a:tc>
                <a:tc>
                  <a:txBody>
                    <a:bodyPr/>
                    <a:lstStyle/>
                    <a:p>
                      <a:pPr>
                        <a:buNone/>
                      </a:pPr>
                      <a:r>
                        <a:rPr lang="en-US" noProof="0" dirty="0"/>
                        <a:t>Stable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4">
                        <a:lumMod val="40000"/>
                        <a:lumOff val="60000"/>
                      </a:schemeClr>
                    </a:solidFill>
                  </a:tcPr>
                </a:tc>
                <a:extLst>
                  <a:ext uri="{0D108BD9-81ED-4DB2-BD59-A6C34878D82A}">
                    <a16:rowId xmlns:a16="http://schemas.microsoft.com/office/drawing/2014/main" val="981701380"/>
                  </a:ext>
                </a:extLst>
              </a:tr>
              <a:tr h="772899">
                <a:tc>
                  <a:txBody>
                    <a:bodyPr/>
                    <a:lstStyle/>
                    <a:p>
                      <a:pPr>
                        <a:buNone/>
                      </a:pPr>
                      <a:r>
                        <a:rPr lang="en-US" noProof="0" dirty="0"/>
                        <a:t>Full Training (everything unfrozen)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4">
                        <a:lumMod val="40000"/>
                        <a:lumOff val="60000"/>
                      </a:schemeClr>
                    </a:solidFill>
                  </a:tcPr>
                </a:tc>
                <a:tc>
                  <a:txBody>
                    <a:bodyPr/>
                    <a:lstStyle/>
                    <a:p>
                      <a:pPr>
                        <a:buNone/>
                      </a:pPr>
                      <a:r>
                        <a:rPr lang="en-US" noProof="0" dirty="0"/>
                        <a:t>Very slow</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4">
                        <a:lumMod val="40000"/>
                        <a:lumOff val="60000"/>
                      </a:schemeClr>
                    </a:solidFill>
                  </a:tcPr>
                </a:tc>
                <a:tc>
                  <a:txBody>
                    <a:bodyPr/>
                    <a:lstStyle/>
                    <a:p>
                      <a:pPr>
                        <a:buNone/>
                      </a:pPr>
                      <a:r>
                        <a:rPr lang="en-US" noProof="0" dirty="0"/>
                        <a:t>Needs massive dataset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4">
                        <a:lumMod val="40000"/>
                        <a:lumOff val="60000"/>
                      </a:schemeClr>
                    </a:solidFill>
                  </a:tcPr>
                </a:tc>
                <a:tc>
                  <a:txBody>
                    <a:bodyPr/>
                    <a:lstStyle/>
                    <a:p>
                      <a:pPr>
                        <a:buNone/>
                      </a:pPr>
                      <a:r>
                        <a:rPr lang="en-US" noProof="0" dirty="0"/>
                        <a:t>Best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4">
                        <a:lumMod val="40000"/>
                        <a:lumOff val="60000"/>
                      </a:schemeClr>
                    </a:solidFill>
                  </a:tcPr>
                </a:tc>
                <a:tc>
                  <a:txBody>
                    <a:bodyPr/>
                    <a:lstStyle/>
                    <a:p>
                      <a:pPr>
                        <a:buNone/>
                      </a:pPr>
                      <a:r>
                        <a:rPr lang="en-US" noProof="0" dirty="0"/>
                        <a:t>Very unstable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4">
                        <a:lumMod val="40000"/>
                        <a:lumOff val="60000"/>
                      </a:schemeClr>
                    </a:solidFill>
                  </a:tcPr>
                </a:tc>
                <a:extLst>
                  <a:ext uri="{0D108BD9-81ED-4DB2-BD59-A6C34878D82A}">
                    <a16:rowId xmlns:a16="http://schemas.microsoft.com/office/drawing/2014/main" val="355647857"/>
                  </a:ext>
                </a:extLst>
              </a:tr>
            </a:tbl>
          </a:graphicData>
        </a:graphic>
      </p:graphicFrame>
      <p:sp>
        <p:nvSpPr>
          <p:cNvPr id="5" name="TextBox 4">
            <a:extLst>
              <a:ext uri="{FF2B5EF4-FFF2-40B4-BE49-F238E27FC236}">
                <a16:creationId xmlns:a16="http://schemas.microsoft.com/office/drawing/2014/main" id="{80378B6B-5641-6E73-AAE4-97EE1529D403}"/>
              </a:ext>
            </a:extLst>
          </p:cNvPr>
          <p:cNvSpPr txBox="1"/>
          <p:nvPr/>
        </p:nvSpPr>
        <p:spPr>
          <a:xfrm>
            <a:off x="5713228" y="453656"/>
            <a:ext cx="4316819" cy="923330"/>
          </a:xfrm>
          <a:prstGeom prst="rect">
            <a:avLst/>
          </a:prstGeom>
          <a:noFill/>
        </p:spPr>
        <p:txBody>
          <a:bodyPr wrap="square" rtlCol="0">
            <a:spAutoFit/>
          </a:bodyPr>
          <a:lstStyle/>
          <a:p>
            <a:r>
              <a:rPr lang="en-US" noProof="0" dirty="0"/>
              <a:t>C:\code\llm\2_deep_learning\2_2_transfer_learning\2_2_2_finetuning.py</a:t>
            </a:r>
          </a:p>
          <a:p>
            <a:endParaRPr lang="en-US" noProof="0" dirty="0"/>
          </a:p>
        </p:txBody>
      </p:sp>
    </p:spTree>
    <p:extLst>
      <p:ext uri="{BB962C8B-B14F-4D97-AF65-F5344CB8AC3E}">
        <p14:creationId xmlns:p14="http://schemas.microsoft.com/office/powerpoint/2010/main" val="2169918598"/>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99C583-4592-E9AC-5880-84D7217AE87C}"/>
              </a:ext>
            </a:extLst>
          </p:cNvPr>
          <p:cNvSpPr>
            <a:spLocks noGrp="1"/>
          </p:cNvSpPr>
          <p:nvPr>
            <p:ph type="title"/>
          </p:nvPr>
        </p:nvSpPr>
        <p:spPr>
          <a:xfrm>
            <a:off x="838200" y="104703"/>
            <a:ext cx="10515600" cy="593312"/>
          </a:xfrm>
        </p:spPr>
        <p:txBody>
          <a:bodyPr>
            <a:normAutofit fontScale="90000"/>
          </a:bodyPr>
          <a:lstStyle/>
          <a:p>
            <a:r>
              <a:rPr lang="en-US" noProof="0" dirty="0"/>
              <a:t>Model Fine-Tuning</a:t>
            </a:r>
          </a:p>
        </p:txBody>
      </p:sp>
      <p:graphicFrame>
        <p:nvGraphicFramePr>
          <p:cNvPr id="4" name="Content Placeholder 3">
            <a:extLst>
              <a:ext uri="{FF2B5EF4-FFF2-40B4-BE49-F238E27FC236}">
                <a16:creationId xmlns:a16="http://schemas.microsoft.com/office/drawing/2014/main" id="{8F0F3211-040D-A3B3-B296-D64AE7B579ED}"/>
              </a:ext>
            </a:extLst>
          </p:cNvPr>
          <p:cNvGraphicFramePr>
            <a:graphicFrameLocks noGrp="1"/>
          </p:cNvGraphicFramePr>
          <p:nvPr>
            <p:ph idx="1"/>
            <p:extLst>
              <p:ext uri="{D42A27DB-BD31-4B8C-83A1-F6EECF244321}">
                <p14:modId xmlns:p14="http://schemas.microsoft.com/office/powerpoint/2010/main" val="2658372864"/>
              </p:ext>
            </p:extLst>
          </p:nvPr>
        </p:nvGraphicFramePr>
        <p:xfrm>
          <a:off x="453710" y="778872"/>
          <a:ext cx="11384628" cy="5946410"/>
        </p:xfrm>
        <a:graphic>
          <a:graphicData uri="http://schemas.openxmlformats.org/drawingml/2006/table">
            <a:tbl>
              <a:tblPr/>
              <a:tblGrid>
                <a:gridCol w="465116">
                  <a:extLst>
                    <a:ext uri="{9D8B030D-6E8A-4147-A177-3AD203B41FA5}">
                      <a16:colId xmlns:a16="http://schemas.microsoft.com/office/drawing/2014/main" val="3812389119"/>
                    </a:ext>
                  </a:extLst>
                </a:gridCol>
                <a:gridCol w="1438285">
                  <a:extLst>
                    <a:ext uri="{9D8B030D-6E8A-4147-A177-3AD203B41FA5}">
                      <a16:colId xmlns:a16="http://schemas.microsoft.com/office/drawing/2014/main" val="1784720991"/>
                    </a:ext>
                  </a:extLst>
                </a:gridCol>
                <a:gridCol w="9481227">
                  <a:extLst>
                    <a:ext uri="{9D8B030D-6E8A-4147-A177-3AD203B41FA5}">
                      <a16:colId xmlns:a16="http://schemas.microsoft.com/office/drawing/2014/main" val="231353226"/>
                    </a:ext>
                  </a:extLst>
                </a:gridCol>
              </a:tblGrid>
              <a:tr h="97237">
                <a:tc>
                  <a:txBody>
                    <a:bodyPr/>
                    <a:lstStyle/>
                    <a:p>
                      <a:pPr>
                        <a:buNone/>
                      </a:pPr>
                      <a:r>
                        <a:rPr lang="en-US" sz="1600" b="1" noProof="0" dirty="0"/>
                        <a:t>#</a:t>
                      </a:r>
                      <a:endParaRPr lang="en-US" sz="1600" noProof="0" dirty="0"/>
                    </a:p>
                  </a:txBody>
                  <a:tcPr marL="24309" marR="24309" marT="12155" marB="1215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4">
                        <a:lumMod val="40000"/>
                        <a:lumOff val="60000"/>
                      </a:schemeClr>
                    </a:solidFill>
                  </a:tcPr>
                </a:tc>
                <a:tc>
                  <a:txBody>
                    <a:bodyPr/>
                    <a:lstStyle/>
                    <a:p>
                      <a:pPr>
                        <a:buNone/>
                      </a:pPr>
                      <a:r>
                        <a:rPr lang="en-US" sz="1600" b="1" noProof="0" dirty="0"/>
                        <a:t>Technical Point</a:t>
                      </a:r>
                      <a:endParaRPr lang="en-US" sz="1600" noProof="0" dirty="0"/>
                    </a:p>
                  </a:txBody>
                  <a:tcPr marL="24309" marR="24309" marT="12155" marB="1215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4">
                        <a:lumMod val="40000"/>
                        <a:lumOff val="60000"/>
                      </a:schemeClr>
                    </a:solidFill>
                  </a:tcPr>
                </a:tc>
                <a:tc>
                  <a:txBody>
                    <a:bodyPr/>
                    <a:lstStyle/>
                    <a:p>
                      <a:pPr>
                        <a:buNone/>
                      </a:pPr>
                      <a:r>
                        <a:rPr lang="en-US" sz="1600" b="1" noProof="0" dirty="0"/>
                        <a:t>Detailed Explanation</a:t>
                      </a:r>
                      <a:endParaRPr lang="en-US" sz="1600" noProof="0" dirty="0"/>
                    </a:p>
                  </a:txBody>
                  <a:tcPr marL="24309" marR="24309" marT="12155" marB="1215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4">
                        <a:lumMod val="40000"/>
                        <a:lumOff val="60000"/>
                      </a:schemeClr>
                    </a:solidFill>
                  </a:tcPr>
                </a:tc>
                <a:extLst>
                  <a:ext uri="{0D108BD9-81ED-4DB2-BD59-A6C34878D82A}">
                    <a16:rowId xmlns:a16="http://schemas.microsoft.com/office/drawing/2014/main" val="3181045975"/>
                  </a:ext>
                </a:extLst>
              </a:tr>
              <a:tr h="461874">
                <a:tc>
                  <a:txBody>
                    <a:bodyPr/>
                    <a:lstStyle/>
                    <a:p>
                      <a:pPr>
                        <a:buNone/>
                      </a:pPr>
                      <a:r>
                        <a:rPr lang="en-US" sz="1600" b="1" noProof="0" dirty="0"/>
                        <a:t>1</a:t>
                      </a:r>
                      <a:endParaRPr lang="en-US" sz="1600" noProof="0" dirty="0"/>
                    </a:p>
                  </a:txBody>
                  <a:tcPr marL="24309" marR="24309" marT="12155" marB="1215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4">
                        <a:lumMod val="40000"/>
                        <a:lumOff val="60000"/>
                      </a:schemeClr>
                    </a:solidFill>
                  </a:tcPr>
                </a:tc>
                <a:tc>
                  <a:txBody>
                    <a:bodyPr/>
                    <a:lstStyle/>
                    <a:p>
                      <a:pPr>
                        <a:buNone/>
                      </a:pPr>
                      <a:r>
                        <a:rPr lang="en-US" sz="1600" noProof="0" dirty="0"/>
                        <a:t>Uses a pretrained model</a:t>
                      </a:r>
                    </a:p>
                  </a:txBody>
                  <a:tcPr marL="24309" marR="24309" marT="12155" marB="1215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4">
                        <a:lumMod val="40000"/>
                        <a:lumOff val="60000"/>
                      </a:schemeClr>
                    </a:solidFill>
                  </a:tcPr>
                </a:tc>
                <a:tc>
                  <a:txBody>
                    <a:bodyPr/>
                    <a:lstStyle/>
                    <a:p>
                      <a:pPr>
                        <a:buNone/>
                      </a:pPr>
                      <a:r>
                        <a:rPr lang="en-US" sz="1600" noProof="0" dirty="0"/>
                        <a:t>Instead of starting from random weights we load a model already trained on a massive dataset like ImageNet which already understands edges curves textures and general visual patterns</a:t>
                      </a:r>
                    </a:p>
                  </a:txBody>
                  <a:tcPr marL="24309" marR="24309" marT="12155" marB="1215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4">
                        <a:lumMod val="40000"/>
                        <a:lumOff val="60000"/>
                      </a:schemeClr>
                    </a:solidFill>
                  </a:tcPr>
                </a:tc>
                <a:extLst>
                  <a:ext uri="{0D108BD9-81ED-4DB2-BD59-A6C34878D82A}">
                    <a16:rowId xmlns:a16="http://schemas.microsoft.com/office/drawing/2014/main" val="232218712"/>
                  </a:ext>
                </a:extLst>
              </a:tr>
              <a:tr h="461874">
                <a:tc>
                  <a:txBody>
                    <a:bodyPr/>
                    <a:lstStyle/>
                    <a:p>
                      <a:pPr>
                        <a:buNone/>
                      </a:pPr>
                      <a:r>
                        <a:rPr lang="en-US" sz="1600" b="1" noProof="0" dirty="0"/>
                        <a:t>2</a:t>
                      </a:r>
                      <a:endParaRPr lang="en-US" sz="1600" noProof="0" dirty="0"/>
                    </a:p>
                  </a:txBody>
                  <a:tcPr marL="24309" marR="24309" marT="12155" marB="1215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4">
                        <a:lumMod val="40000"/>
                        <a:lumOff val="60000"/>
                      </a:schemeClr>
                    </a:solidFill>
                  </a:tcPr>
                </a:tc>
                <a:tc>
                  <a:txBody>
                    <a:bodyPr/>
                    <a:lstStyle/>
                    <a:p>
                      <a:pPr>
                        <a:buNone/>
                      </a:pPr>
                      <a:r>
                        <a:rPr lang="en-US" sz="1600" noProof="0" dirty="0"/>
                        <a:t>Replace the final layer</a:t>
                      </a:r>
                    </a:p>
                  </a:txBody>
                  <a:tcPr marL="24309" marR="24309" marT="12155" marB="1215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4">
                        <a:lumMod val="40000"/>
                        <a:lumOff val="60000"/>
                      </a:schemeClr>
                    </a:solidFill>
                  </a:tcPr>
                </a:tc>
                <a:tc>
                  <a:txBody>
                    <a:bodyPr/>
                    <a:lstStyle/>
                    <a:p>
                      <a:pPr>
                        <a:buNone/>
                      </a:pPr>
                      <a:r>
                        <a:rPr lang="en-US" sz="1600" noProof="0" dirty="0"/>
                        <a:t>The pretrained model’s last layer was built for its original task like 1000 classes in ImageNet so we remove it and attach a new layer with the number of classes we need such as 2 for Homer and Bart</a:t>
                      </a:r>
                    </a:p>
                  </a:txBody>
                  <a:tcPr marL="24309" marR="24309" marT="12155" marB="1215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4">
                        <a:lumMod val="40000"/>
                        <a:lumOff val="60000"/>
                      </a:schemeClr>
                    </a:solidFill>
                  </a:tcPr>
                </a:tc>
                <a:extLst>
                  <a:ext uri="{0D108BD9-81ED-4DB2-BD59-A6C34878D82A}">
                    <a16:rowId xmlns:a16="http://schemas.microsoft.com/office/drawing/2014/main" val="1576120338"/>
                  </a:ext>
                </a:extLst>
              </a:tr>
              <a:tr h="461874">
                <a:tc>
                  <a:txBody>
                    <a:bodyPr/>
                    <a:lstStyle/>
                    <a:p>
                      <a:pPr>
                        <a:buNone/>
                      </a:pPr>
                      <a:r>
                        <a:rPr lang="en-US" sz="1600" b="1" noProof="0" dirty="0"/>
                        <a:t>3</a:t>
                      </a:r>
                      <a:endParaRPr lang="en-US" sz="1600" noProof="0" dirty="0"/>
                    </a:p>
                  </a:txBody>
                  <a:tcPr marL="24309" marR="24309" marT="12155" marB="1215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4">
                        <a:lumMod val="40000"/>
                        <a:lumOff val="60000"/>
                      </a:schemeClr>
                    </a:solidFill>
                  </a:tcPr>
                </a:tc>
                <a:tc>
                  <a:txBody>
                    <a:bodyPr/>
                    <a:lstStyle/>
                    <a:p>
                      <a:pPr>
                        <a:buNone/>
                      </a:pPr>
                      <a:r>
                        <a:rPr lang="en-US" sz="1600" noProof="0" dirty="0"/>
                        <a:t>Freeze early layers</a:t>
                      </a:r>
                    </a:p>
                  </a:txBody>
                  <a:tcPr marL="24309" marR="24309" marT="12155" marB="1215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4">
                        <a:lumMod val="40000"/>
                        <a:lumOff val="60000"/>
                      </a:schemeClr>
                    </a:solidFill>
                  </a:tcPr>
                </a:tc>
                <a:tc>
                  <a:txBody>
                    <a:bodyPr/>
                    <a:lstStyle/>
                    <a:p>
                      <a:pPr>
                        <a:buNone/>
                      </a:pPr>
                      <a:r>
                        <a:rPr lang="en-US" sz="1600" noProof="0" dirty="0"/>
                        <a:t>Early layers detect basic universal features like edges and colors so we freeze them meaning we do not update these weights during training and this keeps strong generic features intact</a:t>
                      </a:r>
                    </a:p>
                  </a:txBody>
                  <a:tcPr marL="24309" marR="24309" marT="12155" marB="1215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4">
                        <a:lumMod val="40000"/>
                        <a:lumOff val="60000"/>
                      </a:schemeClr>
                    </a:solidFill>
                  </a:tcPr>
                </a:tc>
                <a:extLst>
                  <a:ext uri="{0D108BD9-81ED-4DB2-BD59-A6C34878D82A}">
                    <a16:rowId xmlns:a16="http://schemas.microsoft.com/office/drawing/2014/main" val="2416014064"/>
                  </a:ext>
                </a:extLst>
              </a:tr>
              <a:tr h="461874">
                <a:tc>
                  <a:txBody>
                    <a:bodyPr/>
                    <a:lstStyle/>
                    <a:p>
                      <a:pPr>
                        <a:buNone/>
                      </a:pPr>
                      <a:r>
                        <a:rPr lang="en-US" sz="1600" b="1" noProof="0" dirty="0"/>
                        <a:t>4</a:t>
                      </a:r>
                      <a:endParaRPr lang="en-US" sz="1600" noProof="0" dirty="0"/>
                    </a:p>
                  </a:txBody>
                  <a:tcPr marL="24309" marR="24309" marT="12155" marB="1215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4">
                        <a:lumMod val="40000"/>
                        <a:lumOff val="60000"/>
                      </a:schemeClr>
                    </a:solidFill>
                  </a:tcPr>
                </a:tc>
                <a:tc>
                  <a:txBody>
                    <a:bodyPr/>
                    <a:lstStyle/>
                    <a:p>
                      <a:pPr>
                        <a:buNone/>
                      </a:pPr>
                      <a:r>
                        <a:rPr lang="en-US" sz="1600" noProof="0" dirty="0"/>
                        <a:t>Optionally unfreeze later layers</a:t>
                      </a:r>
                    </a:p>
                  </a:txBody>
                  <a:tcPr marL="24309" marR="24309" marT="12155" marB="1215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4">
                        <a:lumMod val="40000"/>
                        <a:lumOff val="60000"/>
                      </a:schemeClr>
                    </a:solidFill>
                  </a:tcPr>
                </a:tc>
                <a:tc>
                  <a:txBody>
                    <a:bodyPr/>
                    <a:lstStyle/>
                    <a:p>
                      <a:pPr>
                        <a:buNone/>
                      </a:pPr>
                      <a:r>
                        <a:rPr lang="en-US" sz="1600" noProof="0" dirty="0"/>
                        <a:t>Deeper layers detect more specific features like shapes and character details and we can unfreeze only these later layers so they learn task specific patterns which is called partial finetuning</a:t>
                      </a:r>
                    </a:p>
                  </a:txBody>
                  <a:tcPr marL="24309" marR="24309" marT="12155" marB="1215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4">
                        <a:lumMod val="40000"/>
                        <a:lumOff val="60000"/>
                      </a:schemeClr>
                    </a:solidFill>
                  </a:tcPr>
                </a:tc>
                <a:extLst>
                  <a:ext uri="{0D108BD9-81ED-4DB2-BD59-A6C34878D82A}">
                    <a16:rowId xmlns:a16="http://schemas.microsoft.com/office/drawing/2014/main" val="2102755320"/>
                  </a:ext>
                </a:extLst>
              </a:tr>
              <a:tr h="388946">
                <a:tc>
                  <a:txBody>
                    <a:bodyPr/>
                    <a:lstStyle/>
                    <a:p>
                      <a:pPr>
                        <a:buNone/>
                      </a:pPr>
                      <a:r>
                        <a:rPr lang="en-US" sz="1600" b="1" noProof="0" dirty="0"/>
                        <a:t>5</a:t>
                      </a:r>
                      <a:endParaRPr lang="en-US" sz="1600" noProof="0" dirty="0"/>
                    </a:p>
                  </a:txBody>
                  <a:tcPr marL="24309" marR="24309" marT="12155" marB="1215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4">
                        <a:lumMod val="40000"/>
                        <a:lumOff val="60000"/>
                      </a:schemeClr>
                    </a:solidFill>
                  </a:tcPr>
                </a:tc>
                <a:tc>
                  <a:txBody>
                    <a:bodyPr/>
                    <a:lstStyle/>
                    <a:p>
                      <a:pPr>
                        <a:buNone/>
                      </a:pPr>
                      <a:r>
                        <a:rPr lang="en-US" sz="1600" noProof="0" dirty="0"/>
                        <a:t>Use a lower learning rate</a:t>
                      </a:r>
                    </a:p>
                  </a:txBody>
                  <a:tcPr marL="24309" marR="24309" marT="12155" marB="1215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4">
                        <a:lumMod val="40000"/>
                        <a:lumOff val="60000"/>
                      </a:schemeClr>
                    </a:solidFill>
                  </a:tcPr>
                </a:tc>
                <a:tc>
                  <a:txBody>
                    <a:bodyPr/>
                    <a:lstStyle/>
                    <a:p>
                      <a:pPr>
                        <a:buNone/>
                      </a:pPr>
                      <a:r>
                        <a:rPr lang="en-US" sz="1600" noProof="0" dirty="0"/>
                        <a:t>A high learning rate can overwrite useful pretrained knowledge so we use a small learning rate to make gentle updates and preserve what the model has already learned</a:t>
                      </a:r>
                    </a:p>
                  </a:txBody>
                  <a:tcPr marL="24309" marR="24309" marT="12155" marB="1215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4">
                        <a:lumMod val="40000"/>
                        <a:lumOff val="60000"/>
                      </a:schemeClr>
                    </a:solidFill>
                  </a:tcPr>
                </a:tc>
                <a:extLst>
                  <a:ext uri="{0D108BD9-81ED-4DB2-BD59-A6C34878D82A}">
                    <a16:rowId xmlns:a16="http://schemas.microsoft.com/office/drawing/2014/main" val="4003091381"/>
                  </a:ext>
                </a:extLst>
              </a:tr>
              <a:tr h="316019">
                <a:tc>
                  <a:txBody>
                    <a:bodyPr/>
                    <a:lstStyle/>
                    <a:p>
                      <a:pPr>
                        <a:buNone/>
                      </a:pPr>
                      <a:r>
                        <a:rPr lang="en-US" sz="1600" b="1" noProof="0" dirty="0"/>
                        <a:t>6</a:t>
                      </a:r>
                      <a:endParaRPr lang="en-US" sz="1600" noProof="0" dirty="0"/>
                    </a:p>
                  </a:txBody>
                  <a:tcPr marL="24309" marR="24309" marT="12155" marB="1215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4">
                        <a:lumMod val="40000"/>
                        <a:lumOff val="60000"/>
                      </a:schemeClr>
                    </a:solidFill>
                  </a:tcPr>
                </a:tc>
                <a:tc>
                  <a:txBody>
                    <a:bodyPr/>
                    <a:lstStyle/>
                    <a:p>
                      <a:pPr>
                        <a:buNone/>
                      </a:pPr>
                      <a:r>
                        <a:rPr lang="en-US" sz="1600" noProof="0" dirty="0"/>
                        <a:t>Requires much less data</a:t>
                      </a:r>
                    </a:p>
                  </a:txBody>
                  <a:tcPr marL="24309" marR="24309" marT="12155" marB="1215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4">
                        <a:lumMod val="40000"/>
                        <a:lumOff val="60000"/>
                      </a:schemeClr>
                    </a:solidFill>
                  </a:tcPr>
                </a:tc>
                <a:tc>
                  <a:txBody>
                    <a:bodyPr/>
                    <a:lstStyle/>
                    <a:p>
                      <a:pPr>
                        <a:buNone/>
                      </a:pPr>
                      <a:r>
                        <a:rPr lang="en-US" sz="1600" noProof="0" dirty="0"/>
                        <a:t>Because the model already knows general visual features we need far fewer images to train a new task compared to starting from scratch</a:t>
                      </a:r>
                    </a:p>
                  </a:txBody>
                  <a:tcPr marL="24309" marR="24309" marT="12155" marB="1215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4">
                        <a:lumMod val="40000"/>
                        <a:lumOff val="60000"/>
                      </a:schemeClr>
                    </a:solidFill>
                  </a:tcPr>
                </a:tc>
                <a:extLst>
                  <a:ext uri="{0D108BD9-81ED-4DB2-BD59-A6C34878D82A}">
                    <a16:rowId xmlns:a16="http://schemas.microsoft.com/office/drawing/2014/main" val="1074931753"/>
                  </a:ext>
                </a:extLst>
              </a:tr>
              <a:tr h="316019">
                <a:tc>
                  <a:txBody>
                    <a:bodyPr/>
                    <a:lstStyle/>
                    <a:p>
                      <a:pPr>
                        <a:buNone/>
                      </a:pPr>
                      <a:r>
                        <a:rPr lang="en-US" sz="1600" b="1" noProof="0" dirty="0"/>
                        <a:t>7</a:t>
                      </a:r>
                      <a:endParaRPr lang="en-US" sz="1600" noProof="0" dirty="0"/>
                    </a:p>
                  </a:txBody>
                  <a:tcPr marL="24309" marR="24309" marT="12155" marB="1215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4">
                        <a:lumMod val="40000"/>
                        <a:lumOff val="60000"/>
                      </a:schemeClr>
                    </a:solidFill>
                  </a:tcPr>
                </a:tc>
                <a:tc>
                  <a:txBody>
                    <a:bodyPr/>
                    <a:lstStyle/>
                    <a:p>
                      <a:pPr>
                        <a:buNone/>
                      </a:pPr>
                      <a:r>
                        <a:rPr lang="en-US" sz="1600" noProof="0" dirty="0"/>
                        <a:t>Faster training</a:t>
                      </a:r>
                    </a:p>
                  </a:txBody>
                  <a:tcPr marL="24309" marR="24309" marT="12155" marB="1215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4">
                        <a:lumMod val="40000"/>
                        <a:lumOff val="60000"/>
                      </a:schemeClr>
                    </a:solidFill>
                  </a:tcPr>
                </a:tc>
                <a:tc>
                  <a:txBody>
                    <a:bodyPr/>
                    <a:lstStyle/>
                    <a:p>
                      <a:pPr>
                        <a:buNone/>
                      </a:pPr>
                      <a:r>
                        <a:rPr lang="en-US" sz="1600" noProof="0" dirty="0"/>
                        <a:t>Since most of the network is already trained and often frozen the model trains much faster and converges quickly</a:t>
                      </a:r>
                    </a:p>
                  </a:txBody>
                  <a:tcPr marL="24309" marR="24309" marT="12155" marB="1215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4">
                        <a:lumMod val="40000"/>
                        <a:lumOff val="60000"/>
                      </a:schemeClr>
                    </a:solidFill>
                  </a:tcPr>
                </a:tc>
                <a:extLst>
                  <a:ext uri="{0D108BD9-81ED-4DB2-BD59-A6C34878D82A}">
                    <a16:rowId xmlns:a16="http://schemas.microsoft.com/office/drawing/2014/main" val="4082659733"/>
                  </a:ext>
                </a:extLst>
              </a:tr>
              <a:tr h="388946">
                <a:tc>
                  <a:txBody>
                    <a:bodyPr/>
                    <a:lstStyle/>
                    <a:p>
                      <a:pPr>
                        <a:buNone/>
                      </a:pPr>
                      <a:r>
                        <a:rPr lang="en-US" sz="1600" b="1" noProof="0" dirty="0"/>
                        <a:t>8</a:t>
                      </a:r>
                      <a:endParaRPr lang="en-US" sz="1600" noProof="0" dirty="0"/>
                    </a:p>
                  </a:txBody>
                  <a:tcPr marL="24309" marR="24309" marT="12155" marB="1215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4">
                        <a:lumMod val="40000"/>
                        <a:lumOff val="60000"/>
                      </a:schemeClr>
                    </a:solidFill>
                  </a:tcPr>
                </a:tc>
                <a:tc>
                  <a:txBody>
                    <a:bodyPr/>
                    <a:lstStyle/>
                    <a:p>
                      <a:pPr>
                        <a:buNone/>
                      </a:pPr>
                      <a:r>
                        <a:rPr lang="en-US" sz="1600" noProof="0" dirty="0"/>
                        <a:t>Helps avoid overfitting</a:t>
                      </a:r>
                    </a:p>
                  </a:txBody>
                  <a:tcPr marL="24309" marR="24309" marT="12155" marB="1215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4">
                        <a:lumMod val="40000"/>
                        <a:lumOff val="60000"/>
                      </a:schemeClr>
                    </a:solidFill>
                  </a:tcPr>
                </a:tc>
                <a:tc>
                  <a:txBody>
                    <a:bodyPr/>
                    <a:lstStyle/>
                    <a:p>
                      <a:pPr>
                        <a:buNone/>
                      </a:pPr>
                      <a:r>
                        <a:rPr lang="en-US" sz="1600" noProof="0" dirty="0"/>
                        <a:t>Pretrained weights give a solid starting point which prevents the model from memorizing noise especially when our dataset is small</a:t>
                      </a:r>
                    </a:p>
                  </a:txBody>
                  <a:tcPr marL="24309" marR="24309" marT="12155" marB="1215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4">
                        <a:lumMod val="40000"/>
                        <a:lumOff val="60000"/>
                      </a:schemeClr>
                    </a:solidFill>
                  </a:tcPr>
                </a:tc>
                <a:extLst>
                  <a:ext uri="{0D108BD9-81ED-4DB2-BD59-A6C34878D82A}">
                    <a16:rowId xmlns:a16="http://schemas.microsoft.com/office/drawing/2014/main" val="88730123"/>
                  </a:ext>
                </a:extLst>
              </a:tr>
              <a:tr h="461874">
                <a:tc>
                  <a:txBody>
                    <a:bodyPr/>
                    <a:lstStyle/>
                    <a:p>
                      <a:pPr>
                        <a:buNone/>
                      </a:pPr>
                      <a:r>
                        <a:rPr lang="en-US" sz="1600" b="1" noProof="0" dirty="0"/>
                        <a:t>9</a:t>
                      </a:r>
                      <a:endParaRPr lang="en-US" sz="1600" noProof="0" dirty="0"/>
                    </a:p>
                  </a:txBody>
                  <a:tcPr marL="24309" marR="24309" marT="12155" marB="1215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4">
                        <a:lumMod val="40000"/>
                        <a:lumOff val="60000"/>
                      </a:schemeClr>
                    </a:solidFill>
                  </a:tcPr>
                </a:tc>
                <a:tc>
                  <a:txBody>
                    <a:bodyPr/>
                    <a:lstStyle/>
                    <a:p>
                      <a:pPr>
                        <a:buNone/>
                      </a:pPr>
                      <a:r>
                        <a:rPr lang="en-US" sz="1600" noProof="0" dirty="0"/>
                        <a:t>Works best when tasks are similar</a:t>
                      </a:r>
                    </a:p>
                  </a:txBody>
                  <a:tcPr marL="24309" marR="24309" marT="12155" marB="1215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4">
                        <a:lumMod val="40000"/>
                        <a:lumOff val="60000"/>
                      </a:schemeClr>
                    </a:solidFill>
                  </a:tcPr>
                </a:tc>
                <a:tc>
                  <a:txBody>
                    <a:bodyPr/>
                    <a:lstStyle/>
                    <a:p>
                      <a:pPr>
                        <a:buNone/>
                      </a:pPr>
                      <a:r>
                        <a:rPr lang="en-US" sz="1600" noProof="0" dirty="0"/>
                        <a:t>Transfer is strongest when the original dataset and our new dataset share visual structure for example ImageNet objects and cartoon characters still include shapes colors and textures</a:t>
                      </a:r>
                    </a:p>
                  </a:txBody>
                  <a:tcPr marL="24309" marR="24309" marT="12155" marB="1215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4">
                        <a:lumMod val="40000"/>
                        <a:lumOff val="60000"/>
                      </a:schemeClr>
                    </a:solidFill>
                  </a:tcPr>
                </a:tc>
                <a:extLst>
                  <a:ext uri="{0D108BD9-81ED-4DB2-BD59-A6C34878D82A}">
                    <a16:rowId xmlns:a16="http://schemas.microsoft.com/office/drawing/2014/main" val="2038080083"/>
                  </a:ext>
                </a:extLst>
              </a:tr>
              <a:tr h="534801">
                <a:tc>
                  <a:txBody>
                    <a:bodyPr/>
                    <a:lstStyle/>
                    <a:p>
                      <a:pPr>
                        <a:buNone/>
                      </a:pPr>
                      <a:r>
                        <a:rPr lang="en-US" sz="1600" b="1" noProof="0" dirty="0"/>
                        <a:t>10</a:t>
                      </a:r>
                      <a:endParaRPr lang="en-US" sz="1600" noProof="0" dirty="0"/>
                    </a:p>
                  </a:txBody>
                  <a:tcPr marL="24309" marR="24309" marT="12155" marB="1215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4">
                        <a:lumMod val="40000"/>
                        <a:lumOff val="60000"/>
                      </a:schemeClr>
                    </a:solidFill>
                  </a:tcPr>
                </a:tc>
                <a:tc>
                  <a:txBody>
                    <a:bodyPr/>
                    <a:lstStyle/>
                    <a:p>
                      <a:pPr>
                        <a:buNone/>
                      </a:pPr>
                      <a:r>
                        <a:rPr lang="en-US" sz="1600" noProof="0" dirty="0"/>
                        <a:t>Two main strategies</a:t>
                      </a:r>
                    </a:p>
                  </a:txBody>
                  <a:tcPr marL="24309" marR="24309" marT="12155" marB="1215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4">
                        <a:lumMod val="40000"/>
                        <a:lumOff val="60000"/>
                      </a:schemeClr>
                    </a:solidFill>
                  </a:tcPr>
                </a:tc>
                <a:tc>
                  <a:txBody>
                    <a:bodyPr/>
                    <a:lstStyle/>
                    <a:p>
                      <a:pPr>
                        <a:buNone/>
                      </a:pPr>
                      <a:r>
                        <a:rPr lang="en-US" sz="1600" noProof="0" dirty="0"/>
                        <a:t>Feature extraction means freezing most layers and training only the last layer while full finetuning means unfreezing more or all layers for deeper adaptation and both strategies depend on data size and difficulty</a:t>
                      </a:r>
                    </a:p>
                  </a:txBody>
                  <a:tcPr marL="24309" marR="24309" marT="12155" marB="1215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4">
                        <a:lumMod val="40000"/>
                        <a:lumOff val="60000"/>
                      </a:schemeClr>
                    </a:solidFill>
                  </a:tcPr>
                </a:tc>
                <a:extLst>
                  <a:ext uri="{0D108BD9-81ED-4DB2-BD59-A6C34878D82A}">
                    <a16:rowId xmlns:a16="http://schemas.microsoft.com/office/drawing/2014/main" val="2788967612"/>
                  </a:ext>
                </a:extLst>
              </a:tr>
            </a:tbl>
          </a:graphicData>
        </a:graphic>
      </p:graphicFrame>
    </p:spTree>
    <p:extLst>
      <p:ext uri="{BB962C8B-B14F-4D97-AF65-F5344CB8AC3E}">
        <p14:creationId xmlns:p14="http://schemas.microsoft.com/office/powerpoint/2010/main" val="1420112071"/>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43BB43-6C0C-71B4-7E72-C32DB6DFB75B}"/>
              </a:ext>
            </a:extLst>
          </p:cNvPr>
          <p:cNvSpPr>
            <a:spLocks noGrp="1"/>
          </p:cNvSpPr>
          <p:nvPr>
            <p:ph type="title"/>
          </p:nvPr>
        </p:nvSpPr>
        <p:spPr/>
        <p:txBody>
          <a:bodyPr/>
          <a:lstStyle/>
          <a:p>
            <a:r>
              <a:rPr lang="en-US" noProof="0" dirty="0" err="1"/>
              <a:t>LoRA</a:t>
            </a:r>
            <a:endParaRPr lang="en-US" noProof="0" dirty="0"/>
          </a:p>
        </p:txBody>
      </p:sp>
      <p:sp>
        <p:nvSpPr>
          <p:cNvPr id="3" name="Content Placeholder 2">
            <a:extLst>
              <a:ext uri="{FF2B5EF4-FFF2-40B4-BE49-F238E27FC236}">
                <a16:creationId xmlns:a16="http://schemas.microsoft.com/office/drawing/2014/main" id="{51C7E5E6-C368-C8B1-0E68-F0A0EDC04B64}"/>
              </a:ext>
            </a:extLst>
          </p:cNvPr>
          <p:cNvSpPr>
            <a:spLocks noGrp="1"/>
          </p:cNvSpPr>
          <p:nvPr>
            <p:ph idx="1"/>
          </p:nvPr>
        </p:nvSpPr>
        <p:spPr/>
        <p:txBody>
          <a:bodyPr>
            <a:normAutofit fontScale="85000" lnSpcReduction="20000"/>
          </a:bodyPr>
          <a:lstStyle/>
          <a:p>
            <a:r>
              <a:rPr lang="en-US" noProof="0" dirty="0" err="1"/>
              <a:t>LoRA</a:t>
            </a:r>
            <a:r>
              <a:rPr lang="en-US" noProof="0" dirty="0"/>
              <a:t> = Low-Rank Adaptation</a:t>
            </a:r>
          </a:p>
          <a:p>
            <a:r>
              <a:rPr lang="en-US" noProof="0" dirty="0"/>
              <a:t>Extra technique, built on top of finetuning, only for large models (LLMs, Stable Diffusion, Vision Transformers, </a:t>
            </a:r>
            <a:r>
              <a:rPr lang="en-US" noProof="0" dirty="0" err="1"/>
              <a:t>etc</a:t>
            </a:r>
            <a:r>
              <a:rPr lang="en-US" noProof="0" dirty="0"/>
              <a:t>)</a:t>
            </a:r>
          </a:p>
          <a:p>
            <a:r>
              <a:rPr lang="en-US" noProof="0" dirty="0"/>
              <a:t>Not used for traditional networks such as ResNet50, but used only when the base model is extremely large</a:t>
            </a:r>
          </a:p>
          <a:p>
            <a:r>
              <a:rPr lang="en-US" noProof="0" dirty="0"/>
              <a:t>Reason: Updating all weights is too expensive</a:t>
            </a:r>
          </a:p>
          <a:p>
            <a:r>
              <a:rPr lang="en-US" noProof="0" dirty="0" err="1"/>
              <a:t>LoRA</a:t>
            </a:r>
            <a:r>
              <a:rPr lang="en-US" noProof="0" dirty="0"/>
              <a:t> does not rewrite base weights, but instead, adds tiny </a:t>
            </a:r>
            <a:r>
              <a:rPr lang="en-US" noProof="0" dirty="0" err="1"/>
              <a:t>tracable</a:t>
            </a:r>
            <a:r>
              <a:rPr lang="en-US" noProof="0" dirty="0"/>
              <a:t> matrices on the side and trains only those matrices</a:t>
            </a:r>
          </a:p>
          <a:p>
            <a:r>
              <a:rPr lang="en-US" noProof="0" dirty="0"/>
              <a:t>This drastically reduces parameters</a:t>
            </a:r>
          </a:p>
          <a:p>
            <a:pPr marL="457200" lvl="1" indent="0">
              <a:buNone/>
            </a:pPr>
            <a:r>
              <a:rPr lang="en-US" noProof="0" dirty="0">
                <a:solidFill>
                  <a:srgbClr val="FF0000"/>
                </a:solidFill>
              </a:rPr>
              <a:t>Original weight W   →  NOT trained</a:t>
            </a:r>
          </a:p>
          <a:p>
            <a:pPr marL="457200" lvl="1" indent="0">
              <a:buNone/>
            </a:pPr>
            <a:r>
              <a:rPr lang="en-US" noProof="0" dirty="0" err="1">
                <a:solidFill>
                  <a:srgbClr val="FF0000"/>
                </a:solidFill>
              </a:rPr>
              <a:t>LoRA</a:t>
            </a:r>
            <a:r>
              <a:rPr lang="en-US" noProof="0" dirty="0">
                <a:solidFill>
                  <a:srgbClr val="FF0000"/>
                </a:solidFill>
              </a:rPr>
              <a:t> adds A and B   →  trained</a:t>
            </a:r>
          </a:p>
          <a:p>
            <a:pPr marL="457200" lvl="1" indent="0">
              <a:buNone/>
            </a:pPr>
            <a:r>
              <a:rPr lang="en-US" noProof="0" dirty="0">
                <a:solidFill>
                  <a:srgbClr val="FF0000"/>
                </a:solidFill>
              </a:rPr>
              <a:t>Final weight = W + A*B</a:t>
            </a:r>
          </a:p>
          <a:p>
            <a:r>
              <a:rPr lang="en-US" noProof="0" dirty="0"/>
              <a:t>LORA inserts itself inside every layer we want to adapt</a:t>
            </a:r>
          </a:p>
          <a:p>
            <a:endParaRPr lang="en-US" noProof="0" dirty="0"/>
          </a:p>
          <a:p>
            <a:endParaRPr lang="en-US" noProof="0" dirty="0"/>
          </a:p>
          <a:p>
            <a:endParaRPr lang="en-US" noProof="0" dirty="0"/>
          </a:p>
        </p:txBody>
      </p:sp>
    </p:spTree>
    <p:extLst>
      <p:ext uri="{BB962C8B-B14F-4D97-AF65-F5344CB8AC3E}">
        <p14:creationId xmlns:p14="http://schemas.microsoft.com/office/powerpoint/2010/main" val="2698665716"/>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B2B499-5CB7-AE03-8AC5-5A6F2312399C}"/>
              </a:ext>
            </a:extLst>
          </p:cNvPr>
          <p:cNvSpPr>
            <a:spLocks noGrp="1"/>
          </p:cNvSpPr>
          <p:nvPr>
            <p:ph type="title"/>
          </p:nvPr>
        </p:nvSpPr>
        <p:spPr>
          <a:xfrm>
            <a:off x="838200" y="55842"/>
            <a:ext cx="10515600" cy="544452"/>
          </a:xfrm>
        </p:spPr>
        <p:txBody>
          <a:bodyPr>
            <a:normAutofit fontScale="90000"/>
          </a:bodyPr>
          <a:lstStyle/>
          <a:p>
            <a:r>
              <a:rPr lang="en-US" noProof="0" dirty="0"/>
              <a:t>Fine-Tuning</a:t>
            </a:r>
          </a:p>
        </p:txBody>
      </p:sp>
      <p:sp>
        <p:nvSpPr>
          <p:cNvPr id="3" name="Content Placeholder 2">
            <a:extLst>
              <a:ext uri="{FF2B5EF4-FFF2-40B4-BE49-F238E27FC236}">
                <a16:creationId xmlns:a16="http://schemas.microsoft.com/office/drawing/2014/main" id="{1950ED04-8011-5D56-A417-809502F6FA90}"/>
              </a:ext>
            </a:extLst>
          </p:cNvPr>
          <p:cNvSpPr>
            <a:spLocks noGrp="1"/>
          </p:cNvSpPr>
          <p:nvPr>
            <p:ph idx="1"/>
          </p:nvPr>
        </p:nvSpPr>
        <p:spPr>
          <a:xfrm>
            <a:off x="838200" y="530492"/>
            <a:ext cx="10515600" cy="5646471"/>
          </a:xfrm>
        </p:spPr>
        <p:txBody>
          <a:bodyPr/>
          <a:lstStyle/>
          <a:p>
            <a:r>
              <a:rPr lang="en-US" sz="2400" noProof="0" dirty="0"/>
              <a:t>Resumption of training a pre-trained model to increase the performance of a specific task using task-specific data</a:t>
            </a:r>
          </a:p>
          <a:p>
            <a:r>
              <a:rPr lang="en-US" sz="2400" noProof="0" dirty="0"/>
              <a:t>Allows a model to adjust its parameters for improving its ability or to tackle domain-specific issues</a:t>
            </a:r>
            <a:endParaRPr lang="en-US" noProof="0" dirty="0"/>
          </a:p>
          <a:p>
            <a:endParaRPr lang="en-US" noProof="0" dirty="0"/>
          </a:p>
        </p:txBody>
      </p:sp>
      <p:graphicFrame>
        <p:nvGraphicFramePr>
          <p:cNvPr id="4" name="Table 3">
            <a:extLst>
              <a:ext uri="{FF2B5EF4-FFF2-40B4-BE49-F238E27FC236}">
                <a16:creationId xmlns:a16="http://schemas.microsoft.com/office/drawing/2014/main" id="{34E5DF5F-4895-B56B-82FB-1F590B6B6529}"/>
              </a:ext>
            </a:extLst>
          </p:cNvPr>
          <p:cNvGraphicFramePr>
            <a:graphicFrameLocks noGrp="1"/>
          </p:cNvGraphicFramePr>
          <p:nvPr>
            <p:extLst>
              <p:ext uri="{D42A27DB-BD31-4B8C-83A1-F6EECF244321}">
                <p14:modId xmlns:p14="http://schemas.microsoft.com/office/powerpoint/2010/main" val="3941241659"/>
              </p:ext>
            </p:extLst>
          </p:nvPr>
        </p:nvGraphicFramePr>
        <p:xfrm>
          <a:off x="265246" y="2191768"/>
          <a:ext cx="11412550" cy="4270200"/>
        </p:xfrm>
        <a:graphic>
          <a:graphicData uri="http://schemas.openxmlformats.org/drawingml/2006/table">
            <a:tbl>
              <a:tblPr/>
              <a:tblGrid>
                <a:gridCol w="2282510">
                  <a:extLst>
                    <a:ext uri="{9D8B030D-6E8A-4147-A177-3AD203B41FA5}">
                      <a16:colId xmlns:a16="http://schemas.microsoft.com/office/drawing/2014/main" val="1150851809"/>
                    </a:ext>
                  </a:extLst>
                </a:gridCol>
                <a:gridCol w="2282510">
                  <a:extLst>
                    <a:ext uri="{9D8B030D-6E8A-4147-A177-3AD203B41FA5}">
                      <a16:colId xmlns:a16="http://schemas.microsoft.com/office/drawing/2014/main" val="2074037387"/>
                    </a:ext>
                  </a:extLst>
                </a:gridCol>
                <a:gridCol w="2282510">
                  <a:extLst>
                    <a:ext uri="{9D8B030D-6E8A-4147-A177-3AD203B41FA5}">
                      <a16:colId xmlns:a16="http://schemas.microsoft.com/office/drawing/2014/main" val="1437029126"/>
                    </a:ext>
                  </a:extLst>
                </a:gridCol>
                <a:gridCol w="2282510">
                  <a:extLst>
                    <a:ext uri="{9D8B030D-6E8A-4147-A177-3AD203B41FA5}">
                      <a16:colId xmlns:a16="http://schemas.microsoft.com/office/drawing/2014/main" val="3714622554"/>
                    </a:ext>
                  </a:extLst>
                </a:gridCol>
                <a:gridCol w="2282510">
                  <a:extLst>
                    <a:ext uri="{9D8B030D-6E8A-4147-A177-3AD203B41FA5}">
                      <a16:colId xmlns:a16="http://schemas.microsoft.com/office/drawing/2014/main" val="1963581146"/>
                    </a:ext>
                  </a:extLst>
                </a:gridCol>
              </a:tblGrid>
              <a:tr h="315741">
                <a:tc>
                  <a:txBody>
                    <a:bodyPr/>
                    <a:lstStyle/>
                    <a:p>
                      <a:pPr>
                        <a:buNone/>
                      </a:pPr>
                      <a:r>
                        <a:rPr lang="en-US" sz="1600" b="1" noProof="0" dirty="0"/>
                        <a:t>Technique</a:t>
                      </a:r>
                    </a:p>
                  </a:txBody>
                  <a:tcPr marL="73751" marR="73751" marT="36876" marB="3687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pPr>
                        <a:buNone/>
                      </a:pPr>
                      <a:r>
                        <a:rPr lang="en-US" sz="1600" b="1" noProof="0" dirty="0"/>
                        <a:t>Description</a:t>
                      </a:r>
                    </a:p>
                  </a:txBody>
                  <a:tcPr marL="73751" marR="73751" marT="36876" marB="3687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pPr>
                        <a:buNone/>
                      </a:pPr>
                      <a:r>
                        <a:rPr lang="en-US" sz="1600" b="1" noProof="0" dirty="0"/>
                        <a:t>When to Use</a:t>
                      </a:r>
                    </a:p>
                  </a:txBody>
                  <a:tcPr marL="73751" marR="73751" marT="36876" marB="3687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pPr>
                        <a:buNone/>
                      </a:pPr>
                      <a:r>
                        <a:rPr lang="en-US" sz="1600" b="1" noProof="0" dirty="0"/>
                        <a:t>Pros</a:t>
                      </a:r>
                    </a:p>
                  </a:txBody>
                  <a:tcPr marL="73751" marR="73751" marT="36876" marB="3687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pPr>
                        <a:buNone/>
                      </a:pPr>
                      <a:r>
                        <a:rPr lang="en-US" sz="1600" b="1" noProof="0" dirty="0"/>
                        <a:t>Cons</a:t>
                      </a:r>
                    </a:p>
                  </a:txBody>
                  <a:tcPr marL="73751" marR="73751" marT="36876" marB="3687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extLst>
                  <a:ext uri="{0D108BD9-81ED-4DB2-BD59-A6C34878D82A}">
                    <a16:rowId xmlns:a16="http://schemas.microsoft.com/office/drawing/2014/main" val="3552586153"/>
                  </a:ext>
                </a:extLst>
              </a:tr>
              <a:tr h="793187">
                <a:tc>
                  <a:txBody>
                    <a:bodyPr/>
                    <a:lstStyle/>
                    <a:p>
                      <a:pPr>
                        <a:buNone/>
                      </a:pPr>
                      <a:r>
                        <a:rPr lang="en-US" sz="1600" b="1" noProof="0" dirty="0"/>
                        <a:t>Standard Fine-Tuning</a:t>
                      </a:r>
                      <a:endParaRPr lang="en-US" sz="1600" noProof="0" dirty="0"/>
                    </a:p>
                  </a:txBody>
                  <a:tcPr marL="73751" marR="73751" marT="36876" marB="3687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pPr>
                        <a:buNone/>
                      </a:pPr>
                      <a:r>
                        <a:rPr lang="en-US" sz="1600" noProof="0" dirty="0"/>
                        <a:t>Updates </a:t>
                      </a:r>
                      <a:r>
                        <a:rPr lang="en-US" sz="1600" b="1" noProof="0" dirty="0"/>
                        <a:t>all model weights</a:t>
                      </a:r>
                      <a:r>
                        <a:rPr lang="en-US" sz="1600" noProof="0" dirty="0"/>
                        <a:t> using new training data</a:t>
                      </a:r>
                    </a:p>
                  </a:txBody>
                  <a:tcPr marL="73751" marR="73751" marT="36876" marB="3687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pPr>
                        <a:buNone/>
                      </a:pPr>
                      <a:r>
                        <a:rPr lang="en-US" sz="1600" noProof="0" dirty="0"/>
                        <a:t>When we have a large dataset and need deep domain adaptation</a:t>
                      </a:r>
                    </a:p>
                  </a:txBody>
                  <a:tcPr marL="73751" marR="73751" marT="36876" marB="3687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pPr>
                        <a:buNone/>
                      </a:pPr>
                      <a:r>
                        <a:rPr lang="en-US" sz="1600" noProof="0" dirty="0"/>
                        <a:t>Maximum flexibility</a:t>
                      </a:r>
                    </a:p>
                    <a:p>
                      <a:pPr>
                        <a:buNone/>
                      </a:pPr>
                      <a:r>
                        <a:rPr lang="en-US" sz="1600" noProof="0" dirty="0"/>
                        <a:t>Highest performance gains</a:t>
                      </a:r>
                    </a:p>
                  </a:txBody>
                  <a:tcPr marL="73751" marR="73751" marT="36876" marB="3687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pPr>
                        <a:buNone/>
                      </a:pPr>
                      <a:r>
                        <a:rPr lang="en-US" sz="1600" noProof="0" dirty="0"/>
                        <a:t>Very expensive</a:t>
                      </a:r>
                    </a:p>
                    <a:p>
                      <a:pPr>
                        <a:buNone/>
                      </a:pPr>
                      <a:r>
                        <a:rPr lang="en-US" sz="1600" noProof="0" dirty="0"/>
                        <a:t>Requires large compute</a:t>
                      </a:r>
                    </a:p>
                    <a:p>
                      <a:pPr>
                        <a:buNone/>
                      </a:pPr>
                      <a:r>
                        <a:rPr lang="en-US" sz="1600" noProof="0" dirty="0"/>
                        <a:t>Risk of overfitting</a:t>
                      </a:r>
                    </a:p>
                  </a:txBody>
                  <a:tcPr marL="73751" marR="73751" marT="36876" marB="3687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extLst>
                  <a:ext uri="{0D108BD9-81ED-4DB2-BD59-A6C34878D82A}">
                    <a16:rowId xmlns:a16="http://schemas.microsoft.com/office/drawing/2014/main" val="153517626"/>
                  </a:ext>
                </a:extLst>
              </a:tr>
              <a:tr h="793187">
                <a:tc>
                  <a:txBody>
                    <a:bodyPr/>
                    <a:lstStyle/>
                    <a:p>
                      <a:pPr>
                        <a:buNone/>
                      </a:pPr>
                      <a:r>
                        <a:rPr lang="en-US" sz="1600" b="1" noProof="0" dirty="0" err="1"/>
                        <a:t>LoRA</a:t>
                      </a:r>
                      <a:r>
                        <a:rPr lang="en-US" sz="1600" b="1" noProof="0" dirty="0"/>
                        <a:t> (Low-Rank Adaptation)</a:t>
                      </a:r>
                      <a:endParaRPr lang="en-US" sz="1600" noProof="0" dirty="0"/>
                    </a:p>
                  </a:txBody>
                  <a:tcPr marL="73751" marR="73751" marT="36876" marB="3687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pPr>
                        <a:buNone/>
                      </a:pPr>
                      <a:r>
                        <a:rPr lang="en-US" sz="1600" noProof="0" dirty="0"/>
                        <a:t>Injects small trainable matrices into the model; only these are trained</a:t>
                      </a:r>
                    </a:p>
                  </a:txBody>
                  <a:tcPr marL="73751" marR="73751" marT="36876" marB="3687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pPr>
                        <a:buNone/>
                      </a:pPr>
                      <a:r>
                        <a:rPr lang="en-US" sz="1600" noProof="0" dirty="0"/>
                        <a:t>When we need fast, cheap, parameter-efficient tuning</a:t>
                      </a:r>
                    </a:p>
                  </a:txBody>
                  <a:tcPr marL="73751" marR="73751" marT="36876" marB="3687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pPr>
                        <a:buNone/>
                      </a:pPr>
                      <a:r>
                        <a:rPr lang="en-US" sz="1600" noProof="0" dirty="0"/>
                        <a:t>Very low cost</a:t>
                      </a:r>
                    </a:p>
                    <a:p>
                      <a:pPr>
                        <a:buNone/>
                      </a:pPr>
                      <a:r>
                        <a:rPr lang="en-US" sz="1600" noProof="0" dirty="0"/>
                        <a:t>Fast training</a:t>
                      </a:r>
                    </a:p>
                    <a:p>
                      <a:pPr>
                        <a:buNone/>
                      </a:pPr>
                      <a:r>
                        <a:rPr lang="en-US" sz="1600" noProof="0" dirty="0"/>
                        <a:t>Can stack multiple adapters</a:t>
                      </a:r>
                    </a:p>
                  </a:txBody>
                  <a:tcPr marL="73751" marR="73751" marT="36876" marB="3687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pPr>
                        <a:buNone/>
                      </a:pPr>
                      <a:r>
                        <a:rPr lang="en-US" sz="1600" noProof="0" dirty="0"/>
                        <a:t>Slightly lower performance than full tuning in complex tasks</a:t>
                      </a:r>
                    </a:p>
                  </a:txBody>
                  <a:tcPr marL="73751" marR="73751" marT="36876" marB="3687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extLst>
                  <a:ext uri="{0D108BD9-81ED-4DB2-BD59-A6C34878D82A}">
                    <a16:rowId xmlns:a16="http://schemas.microsoft.com/office/drawing/2014/main" val="3362070739"/>
                  </a:ext>
                </a:extLst>
              </a:tr>
              <a:tr h="793187">
                <a:tc>
                  <a:txBody>
                    <a:bodyPr/>
                    <a:lstStyle/>
                    <a:p>
                      <a:pPr>
                        <a:buNone/>
                      </a:pPr>
                      <a:r>
                        <a:rPr lang="en-US" sz="1600" b="1" noProof="0" dirty="0"/>
                        <a:t>SFT (Supervised Fine-Tuning)</a:t>
                      </a:r>
                      <a:endParaRPr lang="en-US" sz="1600" noProof="0" dirty="0"/>
                    </a:p>
                  </a:txBody>
                  <a:tcPr marL="73751" marR="73751" marT="36876" marB="3687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pPr>
                        <a:buNone/>
                      </a:pPr>
                      <a:r>
                        <a:rPr lang="en-US" sz="1600" noProof="0" dirty="0"/>
                        <a:t>Trains model on </a:t>
                      </a:r>
                      <a:r>
                        <a:rPr lang="en-US" sz="1600" b="1" noProof="0" dirty="0"/>
                        <a:t>labeled examples</a:t>
                      </a:r>
                      <a:r>
                        <a:rPr lang="en-US" sz="1600" noProof="0" dirty="0"/>
                        <a:t> demonstrating correct behavior</a:t>
                      </a:r>
                    </a:p>
                  </a:txBody>
                  <a:tcPr marL="73751" marR="73751" marT="36876" marB="3687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pPr>
                        <a:buNone/>
                      </a:pPr>
                      <a:r>
                        <a:rPr lang="en-US" sz="1600" noProof="0" dirty="0"/>
                        <a:t>For aligning model behavior with specific instructions or tasks</a:t>
                      </a:r>
                    </a:p>
                  </a:txBody>
                  <a:tcPr marL="73751" marR="73751" marT="36876" marB="3687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pPr>
                        <a:buNone/>
                      </a:pPr>
                      <a:r>
                        <a:rPr lang="en-US" sz="1600" noProof="0" dirty="0"/>
                        <a:t>Simple and stable</a:t>
                      </a:r>
                    </a:p>
                    <a:p>
                      <a:pPr>
                        <a:buNone/>
                      </a:pPr>
                      <a:r>
                        <a:rPr lang="en-US" sz="1600" noProof="0" dirty="0"/>
                        <a:t>Good for instruction following</a:t>
                      </a:r>
                    </a:p>
                  </a:txBody>
                  <a:tcPr marL="73751" marR="73751" marT="36876" marB="3687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pPr>
                        <a:buNone/>
                      </a:pPr>
                      <a:r>
                        <a:rPr lang="en-US" sz="1600" noProof="0" dirty="0"/>
                        <a:t>Depends on high-quality data</a:t>
                      </a:r>
                    </a:p>
                    <a:p>
                      <a:pPr>
                        <a:buNone/>
                      </a:pPr>
                      <a:r>
                        <a:rPr lang="en-US" sz="1600" noProof="0" dirty="0"/>
                        <a:t>Still limited without feedback optimization</a:t>
                      </a:r>
                    </a:p>
                  </a:txBody>
                  <a:tcPr marL="73751" marR="73751" marT="36876" marB="3687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extLst>
                  <a:ext uri="{0D108BD9-81ED-4DB2-BD59-A6C34878D82A}">
                    <a16:rowId xmlns:a16="http://schemas.microsoft.com/office/drawing/2014/main" val="1017297769"/>
                  </a:ext>
                </a:extLst>
              </a:tr>
              <a:tr h="1031910">
                <a:tc>
                  <a:txBody>
                    <a:bodyPr/>
                    <a:lstStyle/>
                    <a:p>
                      <a:pPr>
                        <a:buNone/>
                      </a:pPr>
                      <a:r>
                        <a:rPr lang="en-US" sz="1600" b="1" noProof="0" dirty="0"/>
                        <a:t>RLHF (Reinforcement Learning from Human Feedback)</a:t>
                      </a:r>
                      <a:endParaRPr lang="en-US" sz="1600" noProof="0" dirty="0"/>
                    </a:p>
                  </a:txBody>
                  <a:tcPr marL="73751" marR="73751" marT="36876" marB="3687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pPr>
                        <a:buNone/>
                      </a:pPr>
                      <a:r>
                        <a:rPr lang="en-US" sz="1600" noProof="0" dirty="0"/>
                        <a:t>Model learns via </a:t>
                      </a:r>
                      <a:r>
                        <a:rPr lang="en-US" sz="1600" b="1" noProof="0" dirty="0"/>
                        <a:t>reward signals</a:t>
                      </a:r>
                      <a:r>
                        <a:rPr lang="en-US" sz="1600" noProof="0" dirty="0"/>
                        <a:t> based on human preference rankings</a:t>
                      </a:r>
                    </a:p>
                  </a:txBody>
                  <a:tcPr marL="73751" marR="73751" marT="36876" marB="3687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pPr>
                        <a:buNone/>
                      </a:pPr>
                      <a:r>
                        <a:rPr lang="en-US" sz="1600" noProof="0" dirty="0"/>
                        <a:t>When behavior alignment, safety, or preferences matter most</a:t>
                      </a:r>
                    </a:p>
                  </a:txBody>
                  <a:tcPr marL="73751" marR="73751" marT="36876" marB="3687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pPr>
                        <a:buNone/>
                      </a:pPr>
                      <a:r>
                        <a:rPr lang="en-US" sz="1600" noProof="0" dirty="0"/>
                        <a:t>Produces safer, more aligned outputs</a:t>
                      </a:r>
                    </a:p>
                    <a:p>
                      <a:pPr>
                        <a:buNone/>
                      </a:pPr>
                      <a:r>
                        <a:rPr lang="en-US" sz="1600" noProof="0" dirty="0"/>
                        <a:t>Improves helpfulness and tone</a:t>
                      </a:r>
                    </a:p>
                  </a:txBody>
                  <a:tcPr marL="73751" marR="73751" marT="36876" marB="3687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pPr>
                        <a:buNone/>
                      </a:pPr>
                      <a:r>
                        <a:rPr lang="en-US" sz="1600" noProof="0" dirty="0"/>
                        <a:t>Very costly (needs human labeling + RL system)</a:t>
                      </a:r>
                    </a:p>
                    <a:p>
                      <a:pPr>
                        <a:buNone/>
                      </a:pPr>
                      <a:r>
                        <a:rPr lang="en-US" sz="1600" noProof="0" dirty="0"/>
                        <a:t>Hard to train correctly</a:t>
                      </a:r>
                    </a:p>
                  </a:txBody>
                  <a:tcPr marL="73751" marR="73751" marT="36876" marB="3687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extLst>
                  <a:ext uri="{0D108BD9-81ED-4DB2-BD59-A6C34878D82A}">
                    <a16:rowId xmlns:a16="http://schemas.microsoft.com/office/drawing/2014/main" val="2636890777"/>
                  </a:ext>
                </a:extLst>
              </a:tr>
            </a:tbl>
          </a:graphicData>
        </a:graphic>
      </p:graphicFrame>
    </p:spTree>
    <p:extLst>
      <p:ext uri="{BB962C8B-B14F-4D97-AF65-F5344CB8AC3E}">
        <p14:creationId xmlns:p14="http://schemas.microsoft.com/office/powerpoint/2010/main" val="650877877"/>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8E45C0-3CC2-51EA-B98E-DDF2BFB2AEAF}"/>
              </a:ext>
            </a:extLst>
          </p:cNvPr>
          <p:cNvSpPr>
            <a:spLocks noGrp="1"/>
          </p:cNvSpPr>
          <p:nvPr>
            <p:ph type="title"/>
          </p:nvPr>
        </p:nvSpPr>
        <p:spPr/>
        <p:txBody>
          <a:bodyPr/>
          <a:lstStyle/>
          <a:p>
            <a:r>
              <a:rPr lang="en-US" noProof="0" dirty="0" err="1"/>
              <a:t>LoRA</a:t>
            </a:r>
            <a:r>
              <a:rPr lang="en-US" noProof="0" dirty="0"/>
              <a:t> (Low-Rank Adaptation)</a:t>
            </a:r>
          </a:p>
        </p:txBody>
      </p:sp>
      <p:graphicFrame>
        <p:nvGraphicFramePr>
          <p:cNvPr id="4" name="Content Placeholder 3">
            <a:extLst>
              <a:ext uri="{FF2B5EF4-FFF2-40B4-BE49-F238E27FC236}">
                <a16:creationId xmlns:a16="http://schemas.microsoft.com/office/drawing/2014/main" id="{0689C2BC-E274-9844-8AE0-6CA843FA80CB}"/>
              </a:ext>
            </a:extLst>
          </p:cNvPr>
          <p:cNvGraphicFramePr>
            <a:graphicFrameLocks noGrp="1"/>
          </p:cNvGraphicFramePr>
          <p:nvPr>
            <p:ph idx="1"/>
            <p:extLst>
              <p:ext uri="{D42A27DB-BD31-4B8C-83A1-F6EECF244321}">
                <p14:modId xmlns:p14="http://schemas.microsoft.com/office/powerpoint/2010/main" val="1232412251"/>
              </p:ext>
            </p:extLst>
          </p:nvPr>
        </p:nvGraphicFramePr>
        <p:xfrm>
          <a:off x="544452" y="1789464"/>
          <a:ext cx="11049582" cy="4847024"/>
        </p:xfrm>
        <a:graphic>
          <a:graphicData uri="http://schemas.openxmlformats.org/drawingml/2006/table">
            <a:tbl>
              <a:tblPr/>
              <a:tblGrid>
                <a:gridCol w="1758998">
                  <a:extLst>
                    <a:ext uri="{9D8B030D-6E8A-4147-A177-3AD203B41FA5}">
                      <a16:colId xmlns:a16="http://schemas.microsoft.com/office/drawing/2014/main" val="3127963327"/>
                    </a:ext>
                  </a:extLst>
                </a:gridCol>
                <a:gridCol w="9290584">
                  <a:extLst>
                    <a:ext uri="{9D8B030D-6E8A-4147-A177-3AD203B41FA5}">
                      <a16:colId xmlns:a16="http://schemas.microsoft.com/office/drawing/2014/main" val="3760636070"/>
                    </a:ext>
                  </a:extLst>
                </a:gridCol>
              </a:tblGrid>
              <a:tr h="179437">
                <a:tc>
                  <a:txBody>
                    <a:bodyPr/>
                    <a:lstStyle/>
                    <a:p>
                      <a:pPr>
                        <a:buNone/>
                      </a:pPr>
                      <a:r>
                        <a:rPr lang="en-US" sz="1600" b="1" noProof="0" dirty="0"/>
                        <a:t>Aspect</a:t>
                      </a:r>
                    </a:p>
                  </a:txBody>
                  <a:tcPr marL="44859" marR="44859" marT="22430" marB="2243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4">
                        <a:lumMod val="20000"/>
                        <a:lumOff val="80000"/>
                      </a:schemeClr>
                    </a:solidFill>
                  </a:tcPr>
                </a:tc>
                <a:tc>
                  <a:txBody>
                    <a:bodyPr/>
                    <a:lstStyle/>
                    <a:p>
                      <a:pPr>
                        <a:buNone/>
                      </a:pPr>
                      <a:r>
                        <a:rPr lang="en-US" sz="1600" b="1" noProof="0" dirty="0"/>
                        <a:t>Explanation</a:t>
                      </a:r>
                    </a:p>
                  </a:txBody>
                  <a:tcPr marL="44859" marR="44859" marT="22430" marB="2243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4">
                        <a:lumMod val="20000"/>
                        <a:lumOff val="80000"/>
                      </a:schemeClr>
                    </a:solidFill>
                  </a:tcPr>
                </a:tc>
                <a:extLst>
                  <a:ext uri="{0D108BD9-81ED-4DB2-BD59-A6C34878D82A}">
                    <a16:rowId xmlns:a16="http://schemas.microsoft.com/office/drawing/2014/main" val="145137414"/>
                  </a:ext>
                </a:extLst>
              </a:tr>
              <a:tr h="448592">
                <a:tc>
                  <a:txBody>
                    <a:bodyPr/>
                    <a:lstStyle/>
                    <a:p>
                      <a:pPr>
                        <a:buNone/>
                      </a:pPr>
                      <a:r>
                        <a:rPr lang="en-US" sz="1600" b="1" noProof="0" dirty="0"/>
                        <a:t>What is </a:t>
                      </a:r>
                      <a:r>
                        <a:rPr lang="en-US" sz="1600" b="1" noProof="0" dirty="0" err="1"/>
                        <a:t>LoRA</a:t>
                      </a:r>
                      <a:r>
                        <a:rPr lang="en-US" sz="1600" b="1" noProof="0" dirty="0"/>
                        <a:t>?</a:t>
                      </a:r>
                      <a:endParaRPr lang="en-US" sz="1600" noProof="0" dirty="0"/>
                    </a:p>
                  </a:txBody>
                  <a:tcPr marL="44859" marR="44859" marT="22430" marB="2243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4">
                        <a:lumMod val="20000"/>
                        <a:lumOff val="80000"/>
                      </a:schemeClr>
                    </a:solidFill>
                  </a:tcPr>
                </a:tc>
                <a:tc>
                  <a:txBody>
                    <a:bodyPr/>
                    <a:lstStyle/>
                    <a:p>
                      <a:pPr>
                        <a:buNone/>
                      </a:pPr>
                      <a:r>
                        <a:rPr lang="en-US" sz="1600" noProof="0" dirty="0"/>
                        <a:t>A parameter-efficient fine-tuning method where small low-rank matrices are added to a frozen model, and </a:t>
                      </a:r>
                      <a:r>
                        <a:rPr lang="en-US" sz="1600" b="1" noProof="0" dirty="0"/>
                        <a:t>only these new matrices are trained</a:t>
                      </a:r>
                      <a:r>
                        <a:rPr lang="en-US" sz="1600" noProof="0" dirty="0"/>
                        <a:t>.</a:t>
                      </a:r>
                    </a:p>
                  </a:txBody>
                  <a:tcPr marL="44859" marR="44859" marT="22430" marB="2243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4">
                        <a:lumMod val="20000"/>
                        <a:lumOff val="80000"/>
                      </a:schemeClr>
                    </a:solidFill>
                  </a:tcPr>
                </a:tc>
                <a:extLst>
                  <a:ext uri="{0D108BD9-81ED-4DB2-BD59-A6C34878D82A}">
                    <a16:rowId xmlns:a16="http://schemas.microsoft.com/office/drawing/2014/main" val="3138813889"/>
                  </a:ext>
                </a:extLst>
              </a:tr>
              <a:tr h="314014">
                <a:tc>
                  <a:txBody>
                    <a:bodyPr/>
                    <a:lstStyle/>
                    <a:p>
                      <a:pPr>
                        <a:buNone/>
                      </a:pPr>
                      <a:r>
                        <a:rPr lang="en-US" sz="1600" b="1" noProof="0" dirty="0"/>
                        <a:t>Why it exists</a:t>
                      </a:r>
                      <a:endParaRPr lang="en-US" sz="1600" noProof="0" dirty="0"/>
                    </a:p>
                  </a:txBody>
                  <a:tcPr marL="44859" marR="44859" marT="22430" marB="2243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4">
                        <a:lumMod val="20000"/>
                        <a:lumOff val="80000"/>
                      </a:schemeClr>
                    </a:solidFill>
                  </a:tcPr>
                </a:tc>
                <a:tc>
                  <a:txBody>
                    <a:bodyPr/>
                    <a:lstStyle/>
                    <a:p>
                      <a:pPr>
                        <a:buNone/>
                      </a:pPr>
                      <a:r>
                        <a:rPr lang="en-US" sz="1600" noProof="0" dirty="0"/>
                        <a:t>Full fine-tuning is expensive; </a:t>
                      </a:r>
                      <a:r>
                        <a:rPr lang="en-US" sz="1600" noProof="0" dirty="0" err="1"/>
                        <a:t>LoRA</a:t>
                      </a:r>
                      <a:r>
                        <a:rPr lang="en-US" sz="1600" noProof="0" dirty="0"/>
                        <a:t> reduces compute and memory needs while maintaining high accuracy.</a:t>
                      </a:r>
                    </a:p>
                  </a:txBody>
                  <a:tcPr marL="44859" marR="44859" marT="22430" marB="2243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4">
                        <a:lumMod val="20000"/>
                        <a:lumOff val="80000"/>
                      </a:schemeClr>
                    </a:solidFill>
                  </a:tcPr>
                </a:tc>
                <a:extLst>
                  <a:ext uri="{0D108BD9-81ED-4DB2-BD59-A6C34878D82A}">
                    <a16:rowId xmlns:a16="http://schemas.microsoft.com/office/drawing/2014/main" val="278394976"/>
                  </a:ext>
                </a:extLst>
              </a:tr>
              <a:tr h="448592">
                <a:tc>
                  <a:txBody>
                    <a:bodyPr/>
                    <a:lstStyle/>
                    <a:p>
                      <a:pPr>
                        <a:buNone/>
                      </a:pPr>
                      <a:r>
                        <a:rPr lang="en-US" sz="1600" b="1" noProof="0" dirty="0"/>
                        <a:t>How it works</a:t>
                      </a:r>
                      <a:endParaRPr lang="en-US" sz="1600" noProof="0" dirty="0"/>
                    </a:p>
                  </a:txBody>
                  <a:tcPr marL="44859" marR="44859" marT="22430" marB="2243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4">
                        <a:lumMod val="20000"/>
                        <a:lumOff val="80000"/>
                      </a:schemeClr>
                    </a:solidFill>
                  </a:tcPr>
                </a:tc>
                <a:tc>
                  <a:txBody>
                    <a:bodyPr/>
                    <a:lstStyle/>
                    <a:p>
                      <a:pPr>
                        <a:buNone/>
                      </a:pPr>
                      <a:r>
                        <a:rPr lang="en-US" sz="1600" noProof="0" dirty="0"/>
                        <a:t>Replaces weight update ΔW with </a:t>
                      </a:r>
                      <a:r>
                        <a:rPr lang="en-US" sz="1600" b="1" noProof="0" dirty="0"/>
                        <a:t>BA</a:t>
                      </a:r>
                      <a:r>
                        <a:rPr lang="en-US" sz="1600" noProof="0" dirty="0"/>
                        <a:t>, where B and A are small low-rank matrices. Base model weights stay frozen.</a:t>
                      </a:r>
                    </a:p>
                  </a:txBody>
                  <a:tcPr marL="44859" marR="44859" marT="22430" marB="2243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4">
                        <a:lumMod val="20000"/>
                        <a:lumOff val="80000"/>
                      </a:schemeClr>
                    </a:solidFill>
                  </a:tcPr>
                </a:tc>
                <a:extLst>
                  <a:ext uri="{0D108BD9-81ED-4DB2-BD59-A6C34878D82A}">
                    <a16:rowId xmlns:a16="http://schemas.microsoft.com/office/drawing/2014/main" val="357617254"/>
                  </a:ext>
                </a:extLst>
              </a:tr>
              <a:tr h="314014">
                <a:tc>
                  <a:txBody>
                    <a:bodyPr/>
                    <a:lstStyle/>
                    <a:p>
                      <a:pPr>
                        <a:buNone/>
                      </a:pPr>
                      <a:r>
                        <a:rPr lang="en-US" sz="1600" b="1" noProof="0" dirty="0"/>
                        <a:t>What gets trained</a:t>
                      </a:r>
                      <a:endParaRPr lang="en-US" sz="1600" noProof="0" dirty="0"/>
                    </a:p>
                  </a:txBody>
                  <a:tcPr marL="44859" marR="44859" marT="22430" marB="2243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4">
                        <a:lumMod val="20000"/>
                        <a:lumOff val="80000"/>
                      </a:schemeClr>
                    </a:solidFill>
                  </a:tcPr>
                </a:tc>
                <a:tc>
                  <a:txBody>
                    <a:bodyPr/>
                    <a:lstStyle/>
                    <a:p>
                      <a:pPr>
                        <a:buNone/>
                      </a:pPr>
                      <a:r>
                        <a:rPr lang="en-US" sz="1600" noProof="0" dirty="0"/>
                        <a:t>Only the low-rank adapter matrices (~0.1–1% of total parameters).</a:t>
                      </a:r>
                    </a:p>
                  </a:txBody>
                  <a:tcPr marL="44859" marR="44859" marT="22430" marB="2243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4">
                        <a:lumMod val="20000"/>
                        <a:lumOff val="80000"/>
                      </a:schemeClr>
                    </a:solidFill>
                  </a:tcPr>
                </a:tc>
                <a:extLst>
                  <a:ext uri="{0D108BD9-81ED-4DB2-BD59-A6C34878D82A}">
                    <a16:rowId xmlns:a16="http://schemas.microsoft.com/office/drawing/2014/main" val="4015195405"/>
                  </a:ext>
                </a:extLst>
              </a:tr>
              <a:tr h="314014">
                <a:tc>
                  <a:txBody>
                    <a:bodyPr/>
                    <a:lstStyle/>
                    <a:p>
                      <a:pPr>
                        <a:buNone/>
                      </a:pPr>
                      <a:r>
                        <a:rPr lang="en-US" sz="1600" b="1" noProof="0" dirty="0"/>
                        <a:t>Cost efficiency</a:t>
                      </a:r>
                      <a:endParaRPr lang="en-US" sz="1600" noProof="0" dirty="0"/>
                    </a:p>
                  </a:txBody>
                  <a:tcPr marL="44859" marR="44859" marT="22430" marB="2243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4">
                        <a:lumMod val="20000"/>
                        <a:lumOff val="80000"/>
                      </a:schemeClr>
                    </a:solidFill>
                  </a:tcPr>
                </a:tc>
                <a:tc>
                  <a:txBody>
                    <a:bodyPr/>
                    <a:lstStyle/>
                    <a:p>
                      <a:pPr>
                        <a:buNone/>
                      </a:pPr>
                      <a:r>
                        <a:rPr lang="en-US" sz="1600" noProof="0" dirty="0"/>
                        <a:t>Very high — up to </a:t>
                      </a:r>
                      <a:r>
                        <a:rPr lang="en-US" sz="1600" b="1" noProof="0" dirty="0"/>
                        <a:t>90–99% fewer trainable parameters</a:t>
                      </a:r>
                      <a:r>
                        <a:rPr lang="en-US" sz="1600" noProof="0" dirty="0"/>
                        <a:t> compared to full fine-tuning.</a:t>
                      </a:r>
                    </a:p>
                  </a:txBody>
                  <a:tcPr marL="44859" marR="44859" marT="22430" marB="2243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4">
                        <a:lumMod val="20000"/>
                        <a:lumOff val="80000"/>
                      </a:schemeClr>
                    </a:solidFill>
                  </a:tcPr>
                </a:tc>
                <a:extLst>
                  <a:ext uri="{0D108BD9-81ED-4DB2-BD59-A6C34878D82A}">
                    <a16:rowId xmlns:a16="http://schemas.microsoft.com/office/drawing/2014/main" val="2083365904"/>
                  </a:ext>
                </a:extLst>
              </a:tr>
              <a:tr h="314014">
                <a:tc>
                  <a:txBody>
                    <a:bodyPr/>
                    <a:lstStyle/>
                    <a:p>
                      <a:pPr>
                        <a:buNone/>
                      </a:pPr>
                      <a:r>
                        <a:rPr lang="en-US" sz="1600" b="1" noProof="0" dirty="0"/>
                        <a:t>Speed</a:t>
                      </a:r>
                      <a:endParaRPr lang="en-US" sz="1600" noProof="0" dirty="0"/>
                    </a:p>
                  </a:txBody>
                  <a:tcPr marL="44859" marR="44859" marT="22430" marB="2243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4">
                        <a:lumMod val="20000"/>
                        <a:lumOff val="80000"/>
                      </a:schemeClr>
                    </a:solidFill>
                  </a:tcPr>
                </a:tc>
                <a:tc>
                  <a:txBody>
                    <a:bodyPr/>
                    <a:lstStyle/>
                    <a:p>
                      <a:pPr>
                        <a:buNone/>
                      </a:pPr>
                      <a:r>
                        <a:rPr lang="en-US" sz="1600" noProof="0" dirty="0"/>
                        <a:t>Much faster training because the base model does not change.</a:t>
                      </a:r>
                    </a:p>
                  </a:txBody>
                  <a:tcPr marL="44859" marR="44859" marT="22430" marB="2243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4">
                        <a:lumMod val="20000"/>
                        <a:lumOff val="80000"/>
                      </a:schemeClr>
                    </a:solidFill>
                  </a:tcPr>
                </a:tc>
                <a:extLst>
                  <a:ext uri="{0D108BD9-81ED-4DB2-BD59-A6C34878D82A}">
                    <a16:rowId xmlns:a16="http://schemas.microsoft.com/office/drawing/2014/main" val="2029996429"/>
                  </a:ext>
                </a:extLst>
              </a:tr>
              <a:tr h="314014">
                <a:tc>
                  <a:txBody>
                    <a:bodyPr/>
                    <a:lstStyle/>
                    <a:p>
                      <a:pPr>
                        <a:buNone/>
                      </a:pPr>
                      <a:r>
                        <a:rPr lang="en-US" sz="1600" b="1" noProof="0" dirty="0"/>
                        <a:t>Memory usage</a:t>
                      </a:r>
                      <a:endParaRPr lang="en-US" sz="1600" noProof="0" dirty="0"/>
                    </a:p>
                  </a:txBody>
                  <a:tcPr marL="44859" marR="44859" marT="22430" marB="2243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4">
                        <a:lumMod val="20000"/>
                        <a:lumOff val="80000"/>
                      </a:schemeClr>
                    </a:solidFill>
                  </a:tcPr>
                </a:tc>
                <a:tc>
                  <a:txBody>
                    <a:bodyPr/>
                    <a:lstStyle/>
                    <a:p>
                      <a:pPr>
                        <a:buNone/>
                      </a:pPr>
                      <a:r>
                        <a:rPr lang="en-US" sz="1600" noProof="0" dirty="0"/>
                        <a:t>Very low; adapters sit alongside base weights. Easy to load/unload.</a:t>
                      </a:r>
                    </a:p>
                  </a:txBody>
                  <a:tcPr marL="44859" marR="44859" marT="22430" marB="2243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4">
                        <a:lumMod val="20000"/>
                        <a:lumOff val="80000"/>
                      </a:schemeClr>
                    </a:solidFill>
                  </a:tcPr>
                </a:tc>
                <a:extLst>
                  <a:ext uri="{0D108BD9-81ED-4DB2-BD59-A6C34878D82A}">
                    <a16:rowId xmlns:a16="http://schemas.microsoft.com/office/drawing/2014/main" val="1897923942"/>
                  </a:ext>
                </a:extLst>
              </a:tr>
              <a:tr h="314014">
                <a:tc>
                  <a:txBody>
                    <a:bodyPr/>
                    <a:lstStyle/>
                    <a:p>
                      <a:pPr>
                        <a:buNone/>
                      </a:pPr>
                      <a:r>
                        <a:rPr lang="en-US" sz="1600" b="1" noProof="0" dirty="0"/>
                        <a:t>Modularity</a:t>
                      </a:r>
                      <a:endParaRPr lang="en-US" sz="1600" noProof="0" dirty="0"/>
                    </a:p>
                  </a:txBody>
                  <a:tcPr marL="44859" marR="44859" marT="22430" marB="2243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4">
                        <a:lumMod val="20000"/>
                        <a:lumOff val="80000"/>
                      </a:schemeClr>
                    </a:solidFill>
                  </a:tcPr>
                </a:tc>
                <a:tc>
                  <a:txBody>
                    <a:bodyPr/>
                    <a:lstStyle/>
                    <a:p>
                      <a:pPr>
                        <a:buNone/>
                      </a:pPr>
                      <a:r>
                        <a:rPr lang="en-US" sz="1600" noProof="0" dirty="0"/>
                        <a:t>Multiple </a:t>
                      </a:r>
                      <a:r>
                        <a:rPr lang="en-US" sz="1600" noProof="0" dirty="0" err="1"/>
                        <a:t>LoRA</a:t>
                      </a:r>
                      <a:r>
                        <a:rPr lang="en-US" sz="1600" noProof="0" dirty="0"/>
                        <a:t> adapters can be swapped for different tasks without retraining the base model.</a:t>
                      </a:r>
                    </a:p>
                  </a:txBody>
                  <a:tcPr marL="44859" marR="44859" marT="22430" marB="2243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4">
                        <a:lumMod val="20000"/>
                        <a:lumOff val="80000"/>
                      </a:schemeClr>
                    </a:solidFill>
                  </a:tcPr>
                </a:tc>
                <a:extLst>
                  <a:ext uri="{0D108BD9-81ED-4DB2-BD59-A6C34878D82A}">
                    <a16:rowId xmlns:a16="http://schemas.microsoft.com/office/drawing/2014/main" val="2447095996"/>
                  </a:ext>
                </a:extLst>
              </a:tr>
              <a:tr h="448592">
                <a:tc>
                  <a:txBody>
                    <a:bodyPr/>
                    <a:lstStyle/>
                    <a:p>
                      <a:pPr>
                        <a:buNone/>
                      </a:pPr>
                      <a:r>
                        <a:rPr lang="en-US" sz="1600" b="1" noProof="0" dirty="0"/>
                        <a:t>Common use cases</a:t>
                      </a:r>
                      <a:endParaRPr lang="en-US" sz="1600" noProof="0" dirty="0"/>
                    </a:p>
                  </a:txBody>
                  <a:tcPr marL="44859" marR="44859" marT="22430" marB="2243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4">
                        <a:lumMod val="20000"/>
                        <a:lumOff val="80000"/>
                      </a:schemeClr>
                    </a:solidFill>
                  </a:tcPr>
                </a:tc>
                <a:tc>
                  <a:txBody>
                    <a:bodyPr/>
                    <a:lstStyle/>
                    <a:p>
                      <a:pPr>
                        <a:buNone/>
                      </a:pPr>
                      <a:r>
                        <a:rPr lang="en-US" sz="1600" noProof="0" dirty="0"/>
                        <a:t>Chatbots, domain specialization, style tuning, instruction tuning, Q&amp;A, enterprise task customization.</a:t>
                      </a:r>
                    </a:p>
                  </a:txBody>
                  <a:tcPr marL="44859" marR="44859" marT="22430" marB="2243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4">
                        <a:lumMod val="20000"/>
                        <a:lumOff val="80000"/>
                      </a:schemeClr>
                    </a:solidFill>
                  </a:tcPr>
                </a:tc>
                <a:extLst>
                  <a:ext uri="{0D108BD9-81ED-4DB2-BD59-A6C34878D82A}">
                    <a16:rowId xmlns:a16="http://schemas.microsoft.com/office/drawing/2014/main" val="1216571300"/>
                  </a:ext>
                </a:extLst>
              </a:tr>
              <a:tr h="314014">
                <a:tc>
                  <a:txBody>
                    <a:bodyPr/>
                    <a:lstStyle/>
                    <a:p>
                      <a:pPr>
                        <a:buNone/>
                      </a:pPr>
                      <a:r>
                        <a:rPr lang="en-US" sz="1600" b="1" noProof="0" dirty="0"/>
                        <a:t>Advantages</a:t>
                      </a:r>
                      <a:endParaRPr lang="en-US" sz="1600" noProof="0" dirty="0"/>
                    </a:p>
                  </a:txBody>
                  <a:tcPr marL="44859" marR="44859" marT="22430" marB="2243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4">
                        <a:lumMod val="20000"/>
                        <a:lumOff val="80000"/>
                      </a:schemeClr>
                    </a:solidFill>
                  </a:tcPr>
                </a:tc>
                <a:tc>
                  <a:txBody>
                    <a:bodyPr/>
                    <a:lstStyle/>
                    <a:p>
                      <a:pPr>
                        <a:buNone/>
                      </a:pPr>
                      <a:r>
                        <a:rPr lang="en-US" sz="1600" noProof="0" dirty="0"/>
                        <a:t>Cheap, fast, modular, avoids catastrophic forgetting, works on consumer GPUs.</a:t>
                      </a:r>
                    </a:p>
                  </a:txBody>
                  <a:tcPr marL="44859" marR="44859" marT="22430" marB="2243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4">
                        <a:lumMod val="20000"/>
                        <a:lumOff val="80000"/>
                      </a:schemeClr>
                    </a:solidFill>
                  </a:tcPr>
                </a:tc>
                <a:extLst>
                  <a:ext uri="{0D108BD9-81ED-4DB2-BD59-A6C34878D82A}">
                    <a16:rowId xmlns:a16="http://schemas.microsoft.com/office/drawing/2014/main" val="515640725"/>
                  </a:ext>
                </a:extLst>
              </a:tr>
              <a:tr h="314014">
                <a:tc>
                  <a:txBody>
                    <a:bodyPr/>
                    <a:lstStyle/>
                    <a:p>
                      <a:pPr>
                        <a:buNone/>
                      </a:pPr>
                      <a:r>
                        <a:rPr lang="en-US" sz="1600" b="1" noProof="0" dirty="0"/>
                        <a:t>Disadvantages</a:t>
                      </a:r>
                      <a:endParaRPr lang="en-US" sz="1600" noProof="0" dirty="0"/>
                    </a:p>
                  </a:txBody>
                  <a:tcPr marL="44859" marR="44859" marT="22430" marB="2243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4">
                        <a:lumMod val="20000"/>
                        <a:lumOff val="80000"/>
                      </a:schemeClr>
                    </a:solidFill>
                  </a:tcPr>
                </a:tc>
                <a:tc>
                  <a:txBody>
                    <a:bodyPr/>
                    <a:lstStyle/>
                    <a:p>
                      <a:pPr>
                        <a:buNone/>
                      </a:pPr>
                      <a:r>
                        <a:rPr lang="en-US" sz="1600" noProof="0" dirty="0"/>
                        <a:t>Slightly less accurate than full fine-tuning for very deep domain changes.</a:t>
                      </a:r>
                    </a:p>
                  </a:txBody>
                  <a:tcPr marL="44859" marR="44859" marT="22430" marB="2243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4">
                        <a:lumMod val="20000"/>
                        <a:lumOff val="80000"/>
                      </a:schemeClr>
                    </a:solidFill>
                  </a:tcPr>
                </a:tc>
                <a:extLst>
                  <a:ext uri="{0D108BD9-81ED-4DB2-BD59-A6C34878D82A}">
                    <a16:rowId xmlns:a16="http://schemas.microsoft.com/office/drawing/2014/main" val="2373870625"/>
                  </a:ext>
                </a:extLst>
              </a:tr>
              <a:tr h="314014">
                <a:tc>
                  <a:txBody>
                    <a:bodyPr/>
                    <a:lstStyle/>
                    <a:p>
                      <a:pPr>
                        <a:buNone/>
                      </a:pPr>
                      <a:r>
                        <a:rPr lang="en-US" sz="1600" b="1" noProof="0" dirty="0"/>
                        <a:t>Popular frameworks</a:t>
                      </a:r>
                      <a:endParaRPr lang="en-US" sz="1600" noProof="0" dirty="0"/>
                    </a:p>
                  </a:txBody>
                  <a:tcPr marL="44859" marR="44859" marT="22430" marB="2243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4">
                        <a:lumMod val="20000"/>
                        <a:lumOff val="80000"/>
                      </a:schemeClr>
                    </a:solidFill>
                  </a:tcPr>
                </a:tc>
                <a:tc>
                  <a:txBody>
                    <a:bodyPr/>
                    <a:lstStyle/>
                    <a:p>
                      <a:pPr>
                        <a:buNone/>
                      </a:pPr>
                      <a:r>
                        <a:rPr lang="en-US" sz="1600" noProof="0" dirty="0"/>
                        <a:t>PEFT (</a:t>
                      </a:r>
                      <a:r>
                        <a:rPr lang="en-US" sz="1600" noProof="0" dirty="0" err="1"/>
                        <a:t>HuggingFace</a:t>
                      </a:r>
                      <a:r>
                        <a:rPr lang="en-US" sz="1600" noProof="0" dirty="0"/>
                        <a:t>), </a:t>
                      </a:r>
                      <a:r>
                        <a:rPr lang="en-US" sz="1600" noProof="0" dirty="0" err="1"/>
                        <a:t>QLoRA</a:t>
                      </a:r>
                      <a:r>
                        <a:rPr lang="en-US" sz="1600" noProof="0" dirty="0"/>
                        <a:t>, </a:t>
                      </a:r>
                      <a:r>
                        <a:rPr lang="en-US" sz="1600" noProof="0" dirty="0" err="1"/>
                        <a:t>LLaMA</a:t>
                      </a:r>
                      <a:r>
                        <a:rPr lang="en-US" sz="1600" noProof="0" dirty="0"/>
                        <a:t>-Adapters, </a:t>
                      </a:r>
                      <a:r>
                        <a:rPr lang="en-US" sz="1600" noProof="0" dirty="0" err="1"/>
                        <a:t>DeepSpeed-MoE</a:t>
                      </a:r>
                      <a:r>
                        <a:rPr lang="en-US" sz="1600" noProof="0" dirty="0"/>
                        <a:t>.</a:t>
                      </a:r>
                    </a:p>
                  </a:txBody>
                  <a:tcPr marL="44859" marR="44859" marT="22430" marB="2243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4">
                        <a:lumMod val="20000"/>
                        <a:lumOff val="80000"/>
                      </a:schemeClr>
                    </a:solidFill>
                  </a:tcPr>
                </a:tc>
                <a:extLst>
                  <a:ext uri="{0D108BD9-81ED-4DB2-BD59-A6C34878D82A}">
                    <a16:rowId xmlns:a16="http://schemas.microsoft.com/office/drawing/2014/main" val="1825722287"/>
                  </a:ext>
                </a:extLst>
              </a:tr>
            </a:tbl>
          </a:graphicData>
        </a:graphic>
      </p:graphicFrame>
    </p:spTree>
    <p:extLst>
      <p:ext uri="{BB962C8B-B14F-4D97-AF65-F5344CB8AC3E}">
        <p14:creationId xmlns:p14="http://schemas.microsoft.com/office/powerpoint/2010/main" val="826657280"/>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228839-34B7-99A7-D8F8-F11D56043F0F}"/>
              </a:ext>
            </a:extLst>
          </p:cNvPr>
          <p:cNvSpPr>
            <a:spLocks noGrp="1"/>
          </p:cNvSpPr>
          <p:nvPr>
            <p:ph type="title"/>
          </p:nvPr>
        </p:nvSpPr>
        <p:spPr>
          <a:xfrm>
            <a:off x="838200" y="167524"/>
            <a:ext cx="10515600" cy="593313"/>
          </a:xfrm>
        </p:spPr>
        <p:txBody>
          <a:bodyPr>
            <a:normAutofit fontScale="90000"/>
          </a:bodyPr>
          <a:lstStyle/>
          <a:p>
            <a:r>
              <a:rPr lang="en-US" noProof="0" dirty="0"/>
              <a:t>How </a:t>
            </a:r>
            <a:r>
              <a:rPr lang="en-US" noProof="0" dirty="0" err="1"/>
              <a:t>LoRA</a:t>
            </a:r>
            <a:r>
              <a:rPr lang="en-US" noProof="0" dirty="0"/>
              <a:t> Works? An Example</a:t>
            </a:r>
          </a:p>
        </p:txBody>
      </p:sp>
      <p:sp>
        <p:nvSpPr>
          <p:cNvPr id="3" name="Content Placeholder 2">
            <a:extLst>
              <a:ext uri="{FF2B5EF4-FFF2-40B4-BE49-F238E27FC236}">
                <a16:creationId xmlns:a16="http://schemas.microsoft.com/office/drawing/2014/main" id="{274A5F5B-67FF-6864-D28F-97E211EC433A}"/>
              </a:ext>
            </a:extLst>
          </p:cNvPr>
          <p:cNvSpPr>
            <a:spLocks noGrp="1"/>
          </p:cNvSpPr>
          <p:nvPr>
            <p:ph idx="1"/>
          </p:nvPr>
        </p:nvSpPr>
        <p:spPr>
          <a:xfrm>
            <a:off x="838200" y="977221"/>
            <a:ext cx="10515600" cy="5199742"/>
          </a:xfrm>
        </p:spPr>
        <p:txBody>
          <a:bodyPr>
            <a:normAutofit/>
          </a:bodyPr>
          <a:lstStyle/>
          <a:p>
            <a:r>
              <a:rPr lang="en-US" sz="1800" noProof="0" dirty="0"/>
              <a:t>Original weight matrix of a transformer layer</a:t>
            </a:r>
          </a:p>
          <a:p>
            <a:pPr lvl="1"/>
            <a:r>
              <a:rPr lang="en-US" sz="1600" noProof="0" dirty="0"/>
              <a:t>LORA does not update this</a:t>
            </a:r>
          </a:p>
          <a:p>
            <a:pPr lvl="1"/>
            <a:r>
              <a:rPr lang="en-US" sz="1600" noProof="0" dirty="0">
                <a:solidFill>
                  <a:srgbClr val="FF0000"/>
                </a:solidFill>
              </a:rPr>
              <a:t>This remains frozen</a:t>
            </a:r>
          </a:p>
          <a:p>
            <a:pPr lvl="1"/>
            <a:endParaRPr lang="en-US" sz="1600" noProof="0" dirty="0"/>
          </a:p>
          <a:p>
            <a:r>
              <a:rPr lang="en-US" sz="1800" noProof="0" dirty="0"/>
              <a:t>Create two small matrices, rank r = 2</a:t>
            </a:r>
          </a:p>
          <a:p>
            <a:pPr lvl="1"/>
            <a:r>
              <a:rPr lang="en-US" sz="1600" noProof="0" dirty="0"/>
              <a:t>Matrix A: Input -&gt; Rank </a:t>
            </a:r>
            <a:r>
              <a:rPr lang="en-US" sz="1600" noProof="0" dirty="0">
                <a:sym typeface="Wingdings" panose="05000000000000000000" pitchFamily="2" charset="2"/>
              </a:rPr>
              <a:t> 4x2</a:t>
            </a:r>
          </a:p>
          <a:p>
            <a:pPr lvl="1"/>
            <a:r>
              <a:rPr lang="en-US" sz="1600" noProof="0" dirty="0"/>
              <a:t>Matrix B: Output -&gt; Rank </a:t>
            </a:r>
            <a:r>
              <a:rPr lang="en-US" sz="1600" noProof="0" dirty="0">
                <a:sym typeface="Wingdings" panose="05000000000000000000" pitchFamily="2" charset="2"/>
              </a:rPr>
              <a:t> 2x4</a:t>
            </a:r>
          </a:p>
          <a:p>
            <a:pPr lvl="1"/>
            <a:endParaRPr lang="en-US" sz="1600" noProof="0" dirty="0">
              <a:sym typeface="Wingdings" panose="05000000000000000000" pitchFamily="2" charset="2"/>
            </a:endParaRPr>
          </a:p>
          <a:p>
            <a:r>
              <a:rPr lang="en-US" sz="1800" noProof="0" dirty="0">
                <a:sym typeface="Wingdings" panose="05000000000000000000" pitchFamily="2" charset="2"/>
              </a:rPr>
              <a:t>Multiply A and B and then compute</a:t>
            </a:r>
            <a:endParaRPr lang="en-US" sz="1800" noProof="0" dirty="0"/>
          </a:p>
          <a:p>
            <a:endParaRPr lang="en-US" sz="1800" noProof="0" dirty="0"/>
          </a:p>
          <a:p>
            <a:endParaRPr lang="en-US" sz="1800" noProof="0" dirty="0"/>
          </a:p>
          <a:p>
            <a:endParaRPr lang="en-US" sz="1800" noProof="0" dirty="0"/>
          </a:p>
          <a:p>
            <a:endParaRPr lang="en-US" sz="1800" noProof="0" dirty="0"/>
          </a:p>
          <a:p>
            <a:endParaRPr lang="en-US" sz="1800" noProof="0" dirty="0"/>
          </a:p>
          <a:p>
            <a:r>
              <a:rPr lang="en-US" sz="1800" noProof="0" dirty="0"/>
              <a:t>Now compute and use</a:t>
            </a:r>
          </a:p>
        </p:txBody>
      </p:sp>
      <p:pic>
        <p:nvPicPr>
          <p:cNvPr id="13" name="Picture 12">
            <a:extLst>
              <a:ext uri="{FF2B5EF4-FFF2-40B4-BE49-F238E27FC236}">
                <a16:creationId xmlns:a16="http://schemas.microsoft.com/office/drawing/2014/main" id="{05D65411-7155-7F09-8D8B-323C2B611491}"/>
              </a:ext>
            </a:extLst>
          </p:cNvPr>
          <p:cNvPicPr>
            <a:picLocks noChangeAspect="1"/>
          </p:cNvPicPr>
          <p:nvPr/>
        </p:nvPicPr>
        <p:blipFill>
          <a:blip r:embed="rId2"/>
          <a:stretch>
            <a:fillRect/>
          </a:stretch>
        </p:blipFill>
        <p:spPr>
          <a:xfrm>
            <a:off x="4464159" y="3429000"/>
            <a:ext cx="523163" cy="316845"/>
          </a:xfrm>
          <a:prstGeom prst="rect">
            <a:avLst/>
          </a:prstGeom>
        </p:spPr>
      </p:pic>
      <p:pic>
        <p:nvPicPr>
          <p:cNvPr id="23" name="Picture 22">
            <a:extLst>
              <a:ext uri="{FF2B5EF4-FFF2-40B4-BE49-F238E27FC236}">
                <a16:creationId xmlns:a16="http://schemas.microsoft.com/office/drawing/2014/main" id="{EA67389C-3339-EC6C-B7A4-6A660DE779B2}"/>
              </a:ext>
            </a:extLst>
          </p:cNvPr>
          <p:cNvPicPr>
            <a:picLocks noChangeAspect="1"/>
          </p:cNvPicPr>
          <p:nvPr/>
        </p:nvPicPr>
        <p:blipFill>
          <a:blip r:embed="rId3"/>
          <a:stretch>
            <a:fillRect/>
          </a:stretch>
        </p:blipFill>
        <p:spPr>
          <a:xfrm>
            <a:off x="6024888" y="703072"/>
            <a:ext cx="2218672" cy="1116059"/>
          </a:xfrm>
          <a:prstGeom prst="rect">
            <a:avLst/>
          </a:prstGeom>
        </p:spPr>
      </p:pic>
      <p:pic>
        <p:nvPicPr>
          <p:cNvPr id="25" name="Picture 24">
            <a:extLst>
              <a:ext uri="{FF2B5EF4-FFF2-40B4-BE49-F238E27FC236}">
                <a16:creationId xmlns:a16="http://schemas.microsoft.com/office/drawing/2014/main" id="{02E23ABA-EED2-1209-1DD6-4A92388071B6}"/>
              </a:ext>
            </a:extLst>
          </p:cNvPr>
          <p:cNvPicPr>
            <a:picLocks noChangeAspect="1"/>
          </p:cNvPicPr>
          <p:nvPr/>
        </p:nvPicPr>
        <p:blipFill>
          <a:blip r:embed="rId4"/>
          <a:stretch>
            <a:fillRect/>
          </a:stretch>
        </p:blipFill>
        <p:spPr>
          <a:xfrm>
            <a:off x="4987322" y="1862014"/>
            <a:ext cx="5044156" cy="1281529"/>
          </a:xfrm>
          <a:prstGeom prst="rect">
            <a:avLst/>
          </a:prstGeom>
        </p:spPr>
      </p:pic>
      <p:pic>
        <p:nvPicPr>
          <p:cNvPr id="27" name="Picture 26">
            <a:extLst>
              <a:ext uri="{FF2B5EF4-FFF2-40B4-BE49-F238E27FC236}">
                <a16:creationId xmlns:a16="http://schemas.microsoft.com/office/drawing/2014/main" id="{1F406EAD-BB2E-6BFC-A834-A1F281ED3618}"/>
              </a:ext>
            </a:extLst>
          </p:cNvPr>
          <p:cNvPicPr>
            <a:picLocks noChangeAspect="1"/>
          </p:cNvPicPr>
          <p:nvPr/>
        </p:nvPicPr>
        <p:blipFill>
          <a:blip r:embed="rId5"/>
          <a:stretch>
            <a:fillRect/>
          </a:stretch>
        </p:blipFill>
        <p:spPr>
          <a:xfrm>
            <a:off x="5398676" y="3429000"/>
            <a:ext cx="3877947" cy="1216750"/>
          </a:xfrm>
          <a:prstGeom prst="rect">
            <a:avLst/>
          </a:prstGeom>
        </p:spPr>
      </p:pic>
      <p:sp>
        <p:nvSpPr>
          <p:cNvPr id="28" name="TextBox 27">
            <a:extLst>
              <a:ext uri="{FF2B5EF4-FFF2-40B4-BE49-F238E27FC236}">
                <a16:creationId xmlns:a16="http://schemas.microsoft.com/office/drawing/2014/main" id="{60714CB9-1090-585B-8023-FD618C16285F}"/>
              </a:ext>
            </a:extLst>
          </p:cNvPr>
          <p:cNvSpPr txBox="1"/>
          <p:nvPr/>
        </p:nvSpPr>
        <p:spPr>
          <a:xfrm>
            <a:off x="9256371" y="3049173"/>
            <a:ext cx="2540775" cy="1815882"/>
          </a:xfrm>
          <a:prstGeom prst="rect">
            <a:avLst/>
          </a:prstGeom>
          <a:solidFill>
            <a:schemeClr val="accent4">
              <a:lumMod val="60000"/>
              <a:lumOff val="40000"/>
            </a:schemeClr>
          </a:solidFill>
        </p:spPr>
        <p:txBody>
          <a:bodyPr wrap="square" rtlCol="0">
            <a:spAutoFit/>
          </a:bodyPr>
          <a:lstStyle/>
          <a:p>
            <a:r>
              <a:rPr lang="en-US" sz="1400" noProof="0" dirty="0"/>
              <a:t>Sample calculations: </a:t>
            </a:r>
          </a:p>
          <a:p>
            <a:r>
              <a:rPr lang="en-US" sz="1400" noProof="0" dirty="0"/>
              <a:t>(</a:t>
            </a:r>
            <a:r>
              <a:rPr lang="en-US" sz="1400" noProof="0" dirty="0" err="1"/>
              <a:t>ba</a:t>
            </a:r>
            <a:r>
              <a:rPr lang="en-US" sz="1400" noProof="0" dirty="0"/>
              <a:t>)11 =0.1∗0.1 + 0.2∗0.5</a:t>
            </a:r>
          </a:p>
          <a:p>
            <a:r>
              <a:rPr lang="en-US" sz="1400" noProof="0" dirty="0"/>
              <a:t>= 0.01 + 0.10</a:t>
            </a:r>
          </a:p>
          <a:p>
            <a:r>
              <a:rPr lang="en-US" sz="1400" noProof="0" dirty="0"/>
              <a:t>= 0.11</a:t>
            </a:r>
          </a:p>
          <a:p>
            <a:endParaRPr lang="en-US" sz="1400" noProof="0" dirty="0"/>
          </a:p>
          <a:p>
            <a:r>
              <a:rPr lang="en-US" sz="1400" noProof="0" dirty="0"/>
              <a:t>(</a:t>
            </a:r>
            <a:r>
              <a:rPr lang="en-US" sz="1400" noProof="0" dirty="0" err="1"/>
              <a:t>ba</a:t>
            </a:r>
            <a:r>
              <a:rPr lang="en-US" sz="1400" noProof="0" dirty="0"/>
              <a:t>)12 = 0.1∗0.2 + 0.2∗0.6</a:t>
            </a:r>
          </a:p>
          <a:p>
            <a:r>
              <a:rPr lang="en-US" sz="1400" noProof="0" dirty="0"/>
              <a:t>= 0.02 + 0.12</a:t>
            </a:r>
          </a:p>
          <a:p>
            <a:r>
              <a:rPr lang="en-US" sz="1400" noProof="0" dirty="0"/>
              <a:t>= 0.14</a:t>
            </a:r>
          </a:p>
        </p:txBody>
      </p:sp>
      <p:pic>
        <p:nvPicPr>
          <p:cNvPr id="30" name="Picture 29">
            <a:extLst>
              <a:ext uri="{FF2B5EF4-FFF2-40B4-BE49-F238E27FC236}">
                <a16:creationId xmlns:a16="http://schemas.microsoft.com/office/drawing/2014/main" id="{6A071231-8D42-0586-DC5D-C422DC42ADE2}"/>
              </a:ext>
            </a:extLst>
          </p:cNvPr>
          <p:cNvPicPr>
            <a:picLocks noChangeAspect="1"/>
          </p:cNvPicPr>
          <p:nvPr/>
        </p:nvPicPr>
        <p:blipFill>
          <a:blip r:embed="rId6"/>
          <a:stretch>
            <a:fillRect/>
          </a:stretch>
        </p:blipFill>
        <p:spPr>
          <a:xfrm>
            <a:off x="5398676" y="5135384"/>
            <a:ext cx="4857163" cy="1184308"/>
          </a:xfrm>
          <a:prstGeom prst="rect">
            <a:avLst/>
          </a:prstGeom>
        </p:spPr>
      </p:pic>
    </p:spTree>
    <p:extLst>
      <p:ext uri="{BB962C8B-B14F-4D97-AF65-F5344CB8AC3E}">
        <p14:creationId xmlns:p14="http://schemas.microsoft.com/office/powerpoint/2010/main" val="687994651"/>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C19440-8C70-BFE8-10F5-13621F69D318}"/>
              </a:ext>
            </a:extLst>
          </p:cNvPr>
          <p:cNvSpPr>
            <a:spLocks noGrp="1"/>
          </p:cNvSpPr>
          <p:nvPr>
            <p:ph type="title"/>
          </p:nvPr>
        </p:nvSpPr>
        <p:spPr/>
        <p:txBody>
          <a:bodyPr/>
          <a:lstStyle/>
          <a:p>
            <a:r>
              <a:rPr lang="en-US" noProof="0" dirty="0"/>
              <a:t>Why </a:t>
            </a:r>
            <a:r>
              <a:rPr lang="en-US" noProof="0" dirty="0" err="1"/>
              <a:t>LoRA</a:t>
            </a:r>
            <a:r>
              <a:rPr lang="en-US" noProof="0" dirty="0"/>
              <a:t>?</a:t>
            </a:r>
          </a:p>
        </p:txBody>
      </p:sp>
      <p:graphicFrame>
        <p:nvGraphicFramePr>
          <p:cNvPr id="4" name="Content Placeholder 3">
            <a:extLst>
              <a:ext uri="{FF2B5EF4-FFF2-40B4-BE49-F238E27FC236}">
                <a16:creationId xmlns:a16="http://schemas.microsoft.com/office/drawing/2014/main" id="{0CE3BB74-B292-62E4-73F5-6FACD33D4067}"/>
              </a:ext>
            </a:extLst>
          </p:cNvPr>
          <p:cNvGraphicFramePr>
            <a:graphicFrameLocks noGrp="1"/>
          </p:cNvGraphicFramePr>
          <p:nvPr>
            <p:ph idx="1"/>
            <p:extLst>
              <p:ext uri="{D42A27DB-BD31-4B8C-83A1-F6EECF244321}">
                <p14:modId xmlns:p14="http://schemas.microsoft.com/office/powerpoint/2010/main" val="1567269039"/>
              </p:ext>
            </p:extLst>
          </p:nvPr>
        </p:nvGraphicFramePr>
        <p:xfrm>
          <a:off x="495591" y="1822469"/>
          <a:ext cx="11482351" cy="4734002"/>
        </p:xfrm>
        <a:graphic>
          <a:graphicData uri="http://schemas.openxmlformats.org/drawingml/2006/table">
            <a:tbl>
              <a:tblPr/>
              <a:tblGrid>
                <a:gridCol w="2386622">
                  <a:extLst>
                    <a:ext uri="{9D8B030D-6E8A-4147-A177-3AD203B41FA5}">
                      <a16:colId xmlns:a16="http://schemas.microsoft.com/office/drawing/2014/main" val="2996572233"/>
                    </a:ext>
                  </a:extLst>
                </a:gridCol>
                <a:gridCol w="9095729">
                  <a:extLst>
                    <a:ext uri="{9D8B030D-6E8A-4147-A177-3AD203B41FA5}">
                      <a16:colId xmlns:a16="http://schemas.microsoft.com/office/drawing/2014/main" val="185437370"/>
                    </a:ext>
                  </a:extLst>
                </a:gridCol>
              </a:tblGrid>
              <a:tr h="263717">
                <a:tc>
                  <a:txBody>
                    <a:bodyPr/>
                    <a:lstStyle/>
                    <a:p>
                      <a:pPr>
                        <a:buNone/>
                      </a:pPr>
                      <a:r>
                        <a:rPr lang="en-US" sz="1800" b="1" noProof="0" dirty="0"/>
                        <a:t>Concept</a:t>
                      </a:r>
                    </a:p>
                  </a:txBody>
                  <a:tcPr marL="65929" marR="65929" marT="32965" marB="3296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20000"/>
                        <a:lumOff val="80000"/>
                      </a:schemeClr>
                    </a:solidFill>
                  </a:tcPr>
                </a:tc>
                <a:tc>
                  <a:txBody>
                    <a:bodyPr/>
                    <a:lstStyle/>
                    <a:p>
                      <a:pPr>
                        <a:buNone/>
                      </a:pPr>
                      <a:r>
                        <a:rPr lang="en-US" sz="1800" b="1" noProof="0" dirty="0"/>
                        <a:t>Explanation</a:t>
                      </a:r>
                    </a:p>
                  </a:txBody>
                  <a:tcPr marL="65929" marR="65929" marT="32965" marB="3296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20000"/>
                        <a:lumOff val="80000"/>
                      </a:schemeClr>
                    </a:solidFill>
                  </a:tcPr>
                </a:tc>
                <a:extLst>
                  <a:ext uri="{0D108BD9-81ED-4DB2-BD59-A6C34878D82A}">
                    <a16:rowId xmlns:a16="http://schemas.microsoft.com/office/drawing/2014/main" val="2471408168"/>
                  </a:ext>
                </a:extLst>
              </a:tr>
              <a:tr h="461506">
                <a:tc>
                  <a:txBody>
                    <a:bodyPr/>
                    <a:lstStyle/>
                    <a:p>
                      <a:pPr>
                        <a:buNone/>
                      </a:pPr>
                      <a:r>
                        <a:rPr lang="en-US" sz="1800" noProof="0" dirty="0"/>
                        <a:t>Original Weight</a:t>
                      </a:r>
                    </a:p>
                  </a:txBody>
                  <a:tcPr marL="65929" marR="65929" marT="32965" marB="3296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20000"/>
                        <a:lumOff val="80000"/>
                      </a:schemeClr>
                    </a:solidFill>
                  </a:tcPr>
                </a:tc>
                <a:tc>
                  <a:txBody>
                    <a:bodyPr/>
                    <a:lstStyle/>
                    <a:p>
                      <a:pPr>
                        <a:buNone/>
                      </a:pPr>
                      <a:r>
                        <a:rPr lang="en-US" sz="1800" noProof="0" dirty="0"/>
                        <a:t>The pre-trained model already knows a lot. Think of it as a “chef” who knows how to cook</a:t>
                      </a:r>
                    </a:p>
                  </a:txBody>
                  <a:tcPr marL="65929" marR="65929" marT="32965" marB="3296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20000"/>
                        <a:lumOff val="80000"/>
                      </a:schemeClr>
                    </a:solidFill>
                  </a:tcPr>
                </a:tc>
                <a:extLst>
                  <a:ext uri="{0D108BD9-81ED-4DB2-BD59-A6C34878D82A}">
                    <a16:rowId xmlns:a16="http://schemas.microsoft.com/office/drawing/2014/main" val="1284802194"/>
                  </a:ext>
                </a:extLst>
              </a:tr>
              <a:tr h="659294">
                <a:tc>
                  <a:txBody>
                    <a:bodyPr/>
                    <a:lstStyle/>
                    <a:p>
                      <a:pPr>
                        <a:buNone/>
                      </a:pPr>
                      <a:r>
                        <a:rPr lang="en-US" sz="1800" noProof="0" dirty="0"/>
                        <a:t>Problem</a:t>
                      </a:r>
                    </a:p>
                  </a:txBody>
                  <a:tcPr marL="65929" marR="65929" marT="32965" marB="3296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20000"/>
                        <a:lumOff val="80000"/>
                      </a:schemeClr>
                    </a:solidFill>
                  </a:tcPr>
                </a:tc>
                <a:tc>
                  <a:txBody>
                    <a:bodyPr/>
                    <a:lstStyle/>
                    <a:p>
                      <a:pPr>
                        <a:buNone/>
                      </a:pPr>
                      <a:r>
                        <a:rPr lang="en-US" sz="1800" noProof="0" dirty="0"/>
                        <a:t>Fine-tuning all weights is expensive in memory and compute. Often, only small adjustments are needed for a new task</a:t>
                      </a:r>
                    </a:p>
                  </a:txBody>
                  <a:tcPr marL="65929" marR="65929" marT="32965" marB="3296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20000"/>
                        <a:lumOff val="80000"/>
                      </a:schemeClr>
                    </a:solidFill>
                  </a:tcPr>
                </a:tc>
                <a:extLst>
                  <a:ext uri="{0D108BD9-81ED-4DB2-BD59-A6C34878D82A}">
                    <a16:rowId xmlns:a16="http://schemas.microsoft.com/office/drawing/2014/main" val="2552575299"/>
                  </a:ext>
                </a:extLst>
              </a:tr>
              <a:tr h="461506">
                <a:tc>
                  <a:txBody>
                    <a:bodyPr/>
                    <a:lstStyle/>
                    <a:p>
                      <a:pPr>
                        <a:buNone/>
                      </a:pPr>
                      <a:r>
                        <a:rPr lang="en-US" sz="1800" noProof="0" dirty="0" err="1"/>
                        <a:t>LoRA</a:t>
                      </a:r>
                      <a:r>
                        <a:rPr lang="en-US" sz="1800" noProof="0" dirty="0"/>
                        <a:t> Idea</a:t>
                      </a:r>
                    </a:p>
                  </a:txBody>
                  <a:tcPr marL="65929" marR="65929" marT="32965" marB="3296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20000"/>
                        <a:lumOff val="80000"/>
                      </a:schemeClr>
                    </a:solidFill>
                  </a:tcPr>
                </a:tc>
                <a:tc>
                  <a:txBody>
                    <a:bodyPr/>
                    <a:lstStyle/>
                    <a:p>
                      <a:pPr>
                        <a:buNone/>
                      </a:pPr>
                      <a:r>
                        <a:rPr lang="en-US" sz="1800" noProof="0" dirty="0"/>
                        <a:t>Instead of changing everything, add a </a:t>
                      </a:r>
                      <a:r>
                        <a:rPr lang="en-US" sz="1800" b="1" noProof="0" dirty="0"/>
                        <a:t>small, low-rank adjustment</a:t>
                      </a:r>
                      <a:r>
                        <a:rPr lang="en-US" sz="1800" noProof="0" dirty="0"/>
                        <a:t> to the weights</a:t>
                      </a:r>
                    </a:p>
                  </a:txBody>
                  <a:tcPr marL="65929" marR="65929" marT="32965" marB="3296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20000"/>
                        <a:lumOff val="80000"/>
                      </a:schemeClr>
                    </a:solidFill>
                  </a:tcPr>
                </a:tc>
                <a:extLst>
                  <a:ext uri="{0D108BD9-81ED-4DB2-BD59-A6C34878D82A}">
                    <a16:rowId xmlns:a16="http://schemas.microsoft.com/office/drawing/2014/main" val="928044103"/>
                  </a:ext>
                </a:extLst>
              </a:tr>
              <a:tr h="461506">
                <a:tc>
                  <a:txBody>
                    <a:bodyPr/>
                    <a:lstStyle/>
                    <a:p>
                      <a:pPr>
                        <a:buNone/>
                      </a:pPr>
                      <a:r>
                        <a:rPr lang="en-US" sz="1800" noProof="0" dirty="0"/>
                        <a:t>Components</a:t>
                      </a:r>
                    </a:p>
                  </a:txBody>
                  <a:tcPr marL="65929" marR="65929" marT="32965" marB="3296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20000"/>
                        <a:lumOff val="80000"/>
                      </a:schemeClr>
                    </a:solidFill>
                  </a:tcPr>
                </a:tc>
                <a:tc>
                  <a:txBody>
                    <a:bodyPr/>
                    <a:lstStyle/>
                    <a:p>
                      <a:pPr>
                        <a:buNone/>
                      </a:pPr>
                      <a:r>
                        <a:rPr lang="en-US" sz="1800" noProof="0" dirty="0"/>
                        <a:t>Two small matrices: one decides </a:t>
                      </a:r>
                      <a:r>
                        <a:rPr lang="en-US" sz="1800" b="1" noProof="0" dirty="0"/>
                        <a:t>directions to adjust</a:t>
                      </a:r>
                      <a:r>
                        <a:rPr lang="en-US" sz="1800" noProof="0" dirty="0"/>
                        <a:t>, the other decides </a:t>
                      </a:r>
                      <a:r>
                        <a:rPr lang="en-US" sz="1800" b="1" noProof="0" dirty="0"/>
                        <a:t>strength of adjustment</a:t>
                      </a:r>
                      <a:endParaRPr lang="en-US" sz="1800" noProof="0" dirty="0"/>
                    </a:p>
                  </a:txBody>
                  <a:tcPr marL="65929" marR="65929" marT="32965" marB="3296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20000"/>
                        <a:lumOff val="80000"/>
                      </a:schemeClr>
                    </a:solidFill>
                  </a:tcPr>
                </a:tc>
                <a:extLst>
                  <a:ext uri="{0D108BD9-81ED-4DB2-BD59-A6C34878D82A}">
                    <a16:rowId xmlns:a16="http://schemas.microsoft.com/office/drawing/2014/main" val="360294374"/>
                  </a:ext>
                </a:extLst>
              </a:tr>
              <a:tr h="461506">
                <a:tc>
                  <a:txBody>
                    <a:bodyPr/>
                    <a:lstStyle/>
                    <a:p>
                      <a:pPr>
                        <a:buNone/>
                      </a:pPr>
                      <a:r>
                        <a:rPr lang="en-US" sz="1800" noProof="0" dirty="0"/>
                        <a:t>Update</a:t>
                      </a:r>
                    </a:p>
                  </a:txBody>
                  <a:tcPr marL="65929" marR="65929" marT="32965" marB="3296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20000"/>
                        <a:lumOff val="80000"/>
                      </a:schemeClr>
                    </a:solidFill>
                  </a:tcPr>
                </a:tc>
                <a:tc>
                  <a:txBody>
                    <a:bodyPr/>
                    <a:lstStyle/>
                    <a:p>
                      <a:pPr>
                        <a:buNone/>
                      </a:pPr>
                      <a:r>
                        <a:rPr lang="en-US" sz="1800" noProof="0" dirty="0"/>
                        <a:t>The original weight is kept mostly frozen - The small matrices are trained to tweak it for the new task</a:t>
                      </a:r>
                    </a:p>
                  </a:txBody>
                  <a:tcPr marL="65929" marR="65929" marT="32965" marB="3296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20000"/>
                        <a:lumOff val="80000"/>
                      </a:schemeClr>
                    </a:solidFill>
                  </a:tcPr>
                </a:tc>
                <a:extLst>
                  <a:ext uri="{0D108BD9-81ED-4DB2-BD59-A6C34878D82A}">
                    <a16:rowId xmlns:a16="http://schemas.microsoft.com/office/drawing/2014/main" val="1171419215"/>
                  </a:ext>
                </a:extLst>
              </a:tr>
              <a:tr h="461506">
                <a:tc>
                  <a:txBody>
                    <a:bodyPr/>
                    <a:lstStyle/>
                    <a:p>
                      <a:pPr>
                        <a:buNone/>
                      </a:pPr>
                      <a:r>
                        <a:rPr lang="en-US" sz="1800" noProof="0" dirty="0"/>
                        <a:t>Efficiency</a:t>
                      </a:r>
                    </a:p>
                  </a:txBody>
                  <a:tcPr marL="65929" marR="65929" marT="32965" marB="3296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20000"/>
                        <a:lumOff val="80000"/>
                      </a:schemeClr>
                    </a:solidFill>
                  </a:tcPr>
                </a:tc>
                <a:tc>
                  <a:txBody>
                    <a:bodyPr/>
                    <a:lstStyle/>
                    <a:p>
                      <a:pPr>
                        <a:buNone/>
                      </a:pPr>
                      <a:r>
                        <a:rPr lang="en-US" sz="1800" noProof="0" dirty="0"/>
                        <a:t>Much fewer parameters to train - Can adapt large models without touching the full weight matrix</a:t>
                      </a:r>
                    </a:p>
                  </a:txBody>
                  <a:tcPr marL="65929" marR="65929" marT="32965" marB="3296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20000"/>
                        <a:lumOff val="80000"/>
                      </a:schemeClr>
                    </a:solidFill>
                  </a:tcPr>
                </a:tc>
                <a:extLst>
                  <a:ext uri="{0D108BD9-81ED-4DB2-BD59-A6C34878D82A}">
                    <a16:rowId xmlns:a16="http://schemas.microsoft.com/office/drawing/2014/main" val="409091173"/>
                  </a:ext>
                </a:extLst>
              </a:tr>
              <a:tr h="461506">
                <a:tc>
                  <a:txBody>
                    <a:bodyPr/>
                    <a:lstStyle/>
                    <a:p>
                      <a:pPr>
                        <a:buNone/>
                      </a:pPr>
                      <a:r>
                        <a:rPr lang="en-US" sz="1800" noProof="0" dirty="0"/>
                        <a:t>Analogy</a:t>
                      </a:r>
                    </a:p>
                  </a:txBody>
                  <a:tcPr marL="65929" marR="65929" marT="32965" marB="3296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20000"/>
                        <a:lumOff val="80000"/>
                      </a:schemeClr>
                    </a:solidFill>
                  </a:tcPr>
                </a:tc>
                <a:tc>
                  <a:txBody>
                    <a:bodyPr/>
                    <a:lstStyle/>
                    <a:p>
                      <a:pPr>
                        <a:buNone/>
                      </a:pPr>
                      <a:r>
                        <a:rPr lang="en-US" sz="1800" noProof="0" dirty="0"/>
                        <a:t>Giving the chef a few new spices instead of retraining them from scratch</a:t>
                      </a:r>
                    </a:p>
                  </a:txBody>
                  <a:tcPr marL="65929" marR="65929" marT="32965" marB="3296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20000"/>
                        <a:lumOff val="80000"/>
                      </a:schemeClr>
                    </a:solidFill>
                  </a:tcPr>
                </a:tc>
                <a:extLst>
                  <a:ext uri="{0D108BD9-81ED-4DB2-BD59-A6C34878D82A}">
                    <a16:rowId xmlns:a16="http://schemas.microsoft.com/office/drawing/2014/main" val="2052136437"/>
                  </a:ext>
                </a:extLst>
              </a:tr>
              <a:tr h="659294">
                <a:tc>
                  <a:txBody>
                    <a:bodyPr/>
                    <a:lstStyle/>
                    <a:p>
                      <a:pPr>
                        <a:buNone/>
                      </a:pPr>
                      <a:r>
                        <a:rPr lang="en-US" sz="1800" noProof="0" dirty="0"/>
                        <a:t>Benefit</a:t>
                      </a:r>
                    </a:p>
                  </a:txBody>
                  <a:tcPr marL="65929" marR="65929" marT="32965" marB="3296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20000"/>
                        <a:lumOff val="80000"/>
                      </a:schemeClr>
                    </a:solidFill>
                  </a:tcPr>
                </a:tc>
                <a:tc>
                  <a:txBody>
                    <a:bodyPr/>
                    <a:lstStyle/>
                    <a:p>
                      <a:pPr>
                        <a:buNone/>
                      </a:pPr>
                      <a:r>
                        <a:rPr lang="en-US" sz="1800" noProof="0" dirty="0"/>
                        <a:t>Fast, memory-efficient, and modular: multiple tasks can use different small tweaks without changing the original model</a:t>
                      </a:r>
                    </a:p>
                  </a:txBody>
                  <a:tcPr marL="65929" marR="65929" marT="32965" marB="3296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20000"/>
                        <a:lumOff val="80000"/>
                      </a:schemeClr>
                    </a:solidFill>
                  </a:tcPr>
                </a:tc>
                <a:extLst>
                  <a:ext uri="{0D108BD9-81ED-4DB2-BD59-A6C34878D82A}">
                    <a16:rowId xmlns:a16="http://schemas.microsoft.com/office/drawing/2014/main" val="3054601793"/>
                  </a:ext>
                </a:extLst>
              </a:tr>
            </a:tbl>
          </a:graphicData>
        </a:graphic>
      </p:graphicFrame>
    </p:spTree>
    <p:extLst>
      <p:ext uri="{BB962C8B-B14F-4D97-AF65-F5344CB8AC3E}">
        <p14:creationId xmlns:p14="http://schemas.microsoft.com/office/powerpoint/2010/main" val="529882281"/>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175BA0-CF7F-BA82-DA16-2E76C6C707B7}"/>
              </a:ext>
            </a:extLst>
          </p:cNvPr>
          <p:cNvSpPr>
            <a:spLocks noGrp="1"/>
          </p:cNvSpPr>
          <p:nvPr>
            <p:ph type="title"/>
          </p:nvPr>
        </p:nvSpPr>
        <p:spPr/>
        <p:txBody>
          <a:bodyPr/>
          <a:lstStyle/>
          <a:p>
            <a:r>
              <a:rPr lang="en-US" noProof="0" dirty="0" err="1"/>
              <a:t>QLoRA</a:t>
            </a:r>
            <a:endParaRPr lang="en-US" noProof="0" dirty="0"/>
          </a:p>
        </p:txBody>
      </p:sp>
      <p:graphicFrame>
        <p:nvGraphicFramePr>
          <p:cNvPr id="4" name="Content Placeholder 3">
            <a:extLst>
              <a:ext uri="{FF2B5EF4-FFF2-40B4-BE49-F238E27FC236}">
                <a16:creationId xmlns:a16="http://schemas.microsoft.com/office/drawing/2014/main" id="{8BC11A69-40D0-46AE-85F6-275F758E31DF}"/>
              </a:ext>
            </a:extLst>
          </p:cNvPr>
          <p:cNvGraphicFramePr>
            <a:graphicFrameLocks noGrp="1"/>
          </p:cNvGraphicFramePr>
          <p:nvPr>
            <p:ph idx="1"/>
            <p:extLst>
              <p:ext uri="{D42A27DB-BD31-4B8C-83A1-F6EECF244321}">
                <p14:modId xmlns:p14="http://schemas.microsoft.com/office/powerpoint/2010/main" val="1503293621"/>
              </p:ext>
            </p:extLst>
          </p:nvPr>
        </p:nvGraphicFramePr>
        <p:xfrm>
          <a:off x="656715" y="1463113"/>
          <a:ext cx="10515600" cy="5168724"/>
        </p:xfrm>
        <a:graphic>
          <a:graphicData uri="http://schemas.openxmlformats.org/drawingml/2006/table">
            <a:tbl>
              <a:tblPr/>
              <a:tblGrid>
                <a:gridCol w="1988763">
                  <a:extLst>
                    <a:ext uri="{9D8B030D-6E8A-4147-A177-3AD203B41FA5}">
                      <a16:colId xmlns:a16="http://schemas.microsoft.com/office/drawing/2014/main" val="2954507130"/>
                    </a:ext>
                  </a:extLst>
                </a:gridCol>
                <a:gridCol w="8526837">
                  <a:extLst>
                    <a:ext uri="{9D8B030D-6E8A-4147-A177-3AD203B41FA5}">
                      <a16:colId xmlns:a16="http://schemas.microsoft.com/office/drawing/2014/main" val="1980408838"/>
                    </a:ext>
                  </a:extLst>
                </a:gridCol>
              </a:tblGrid>
              <a:tr h="177606">
                <a:tc>
                  <a:txBody>
                    <a:bodyPr/>
                    <a:lstStyle/>
                    <a:p>
                      <a:pPr>
                        <a:buNone/>
                      </a:pPr>
                      <a:r>
                        <a:rPr lang="en-US" sz="1600" b="1" noProof="0" dirty="0"/>
                        <a:t>Concept</a:t>
                      </a:r>
                    </a:p>
                  </a:txBody>
                  <a:tcPr marL="44401" marR="44401" marT="22201" marB="2220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20000"/>
                        <a:lumOff val="80000"/>
                      </a:schemeClr>
                    </a:solidFill>
                  </a:tcPr>
                </a:tc>
                <a:tc>
                  <a:txBody>
                    <a:bodyPr/>
                    <a:lstStyle/>
                    <a:p>
                      <a:pPr>
                        <a:buNone/>
                      </a:pPr>
                      <a:r>
                        <a:rPr lang="en-US" sz="1600" b="1" noProof="0" dirty="0"/>
                        <a:t>Explanation</a:t>
                      </a:r>
                    </a:p>
                  </a:txBody>
                  <a:tcPr marL="44401" marR="44401" marT="22201" marB="2220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20000"/>
                        <a:lumOff val="80000"/>
                      </a:schemeClr>
                    </a:solidFill>
                  </a:tcPr>
                </a:tc>
                <a:extLst>
                  <a:ext uri="{0D108BD9-81ED-4DB2-BD59-A6C34878D82A}">
                    <a16:rowId xmlns:a16="http://schemas.microsoft.com/office/drawing/2014/main" val="1737767778"/>
                  </a:ext>
                </a:extLst>
              </a:tr>
              <a:tr h="310810">
                <a:tc>
                  <a:txBody>
                    <a:bodyPr/>
                    <a:lstStyle/>
                    <a:p>
                      <a:pPr>
                        <a:buNone/>
                      </a:pPr>
                      <a:r>
                        <a:rPr lang="en-US" sz="1600" noProof="0" dirty="0"/>
                        <a:t>What </a:t>
                      </a:r>
                      <a:r>
                        <a:rPr lang="en-US" sz="1600" noProof="0" dirty="0" err="1"/>
                        <a:t>QLoRA</a:t>
                      </a:r>
                      <a:r>
                        <a:rPr lang="en-US" sz="1600" noProof="0" dirty="0"/>
                        <a:t> Is</a:t>
                      </a:r>
                    </a:p>
                  </a:txBody>
                  <a:tcPr marL="44401" marR="44401" marT="22201" marB="2220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20000"/>
                        <a:lumOff val="80000"/>
                      </a:schemeClr>
                    </a:solidFill>
                  </a:tcPr>
                </a:tc>
                <a:tc>
                  <a:txBody>
                    <a:bodyPr/>
                    <a:lstStyle/>
                    <a:p>
                      <a:pPr>
                        <a:buNone/>
                      </a:pPr>
                      <a:r>
                        <a:rPr lang="en-US" sz="1600" noProof="0" dirty="0"/>
                        <a:t>A method to fine-tune large language models </a:t>
                      </a:r>
                      <a:r>
                        <a:rPr lang="en-US" sz="1600" b="1" noProof="0" dirty="0"/>
                        <a:t>very cheaply</a:t>
                      </a:r>
                      <a:r>
                        <a:rPr lang="en-US" sz="1600" noProof="0" dirty="0"/>
                        <a:t> using 4-bit quantization plus </a:t>
                      </a:r>
                      <a:r>
                        <a:rPr lang="en-US" sz="1600" noProof="0" dirty="0" err="1"/>
                        <a:t>LoRA</a:t>
                      </a:r>
                      <a:r>
                        <a:rPr lang="en-US" sz="1600" noProof="0" dirty="0"/>
                        <a:t> adapters.</a:t>
                      </a:r>
                    </a:p>
                  </a:txBody>
                  <a:tcPr marL="44401" marR="44401" marT="22201" marB="2220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20000"/>
                        <a:lumOff val="80000"/>
                      </a:schemeClr>
                    </a:solidFill>
                  </a:tcPr>
                </a:tc>
                <a:extLst>
                  <a:ext uri="{0D108BD9-81ED-4DB2-BD59-A6C34878D82A}">
                    <a16:rowId xmlns:a16="http://schemas.microsoft.com/office/drawing/2014/main" val="1602541376"/>
                  </a:ext>
                </a:extLst>
              </a:tr>
              <a:tr h="310810">
                <a:tc>
                  <a:txBody>
                    <a:bodyPr/>
                    <a:lstStyle/>
                    <a:p>
                      <a:pPr>
                        <a:buNone/>
                      </a:pPr>
                      <a:r>
                        <a:rPr lang="en-US" sz="1600" noProof="0" dirty="0"/>
                        <a:t>Problem It Solves</a:t>
                      </a:r>
                    </a:p>
                  </a:txBody>
                  <a:tcPr marL="44401" marR="44401" marT="22201" marB="2220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20000"/>
                        <a:lumOff val="80000"/>
                      </a:schemeClr>
                    </a:solidFill>
                  </a:tcPr>
                </a:tc>
                <a:tc>
                  <a:txBody>
                    <a:bodyPr/>
                    <a:lstStyle/>
                    <a:p>
                      <a:pPr>
                        <a:buNone/>
                      </a:pPr>
                      <a:r>
                        <a:rPr lang="en-US" sz="1600" noProof="0" dirty="0"/>
                        <a:t>Full fine-tuning needs huge GPU memory; even </a:t>
                      </a:r>
                      <a:r>
                        <a:rPr lang="en-US" sz="1600" noProof="0" dirty="0" err="1"/>
                        <a:t>LoRA</a:t>
                      </a:r>
                      <a:r>
                        <a:rPr lang="en-US" sz="1600" noProof="0" dirty="0"/>
                        <a:t> can struggle on very large models.</a:t>
                      </a:r>
                    </a:p>
                  </a:txBody>
                  <a:tcPr marL="44401" marR="44401" marT="22201" marB="2220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20000"/>
                        <a:lumOff val="80000"/>
                      </a:schemeClr>
                    </a:solidFill>
                  </a:tcPr>
                </a:tc>
                <a:extLst>
                  <a:ext uri="{0D108BD9-81ED-4DB2-BD59-A6C34878D82A}">
                    <a16:rowId xmlns:a16="http://schemas.microsoft.com/office/drawing/2014/main" val="4050728114"/>
                  </a:ext>
                </a:extLst>
              </a:tr>
              <a:tr h="444014">
                <a:tc>
                  <a:txBody>
                    <a:bodyPr/>
                    <a:lstStyle/>
                    <a:p>
                      <a:pPr>
                        <a:buNone/>
                      </a:pPr>
                      <a:r>
                        <a:rPr lang="en-US" sz="1600" noProof="0" dirty="0"/>
                        <a:t>Core Idea</a:t>
                      </a:r>
                    </a:p>
                  </a:txBody>
                  <a:tcPr marL="44401" marR="44401" marT="22201" marB="2220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20000"/>
                        <a:lumOff val="80000"/>
                      </a:schemeClr>
                    </a:solidFill>
                  </a:tcPr>
                </a:tc>
                <a:tc>
                  <a:txBody>
                    <a:bodyPr/>
                    <a:lstStyle/>
                    <a:p>
                      <a:pPr>
                        <a:buNone/>
                      </a:pPr>
                      <a:r>
                        <a:rPr lang="en-US" sz="1600" noProof="0" dirty="0"/>
                        <a:t>Compress (quantize) the model weights to </a:t>
                      </a:r>
                      <a:r>
                        <a:rPr lang="en-US" sz="1600" b="1" noProof="0" dirty="0"/>
                        <a:t>4-bit</a:t>
                      </a:r>
                      <a:r>
                        <a:rPr lang="en-US" sz="1600" noProof="0" dirty="0"/>
                        <a:t>, but keep a </a:t>
                      </a:r>
                      <a:r>
                        <a:rPr lang="en-US" sz="1600" b="1" noProof="0" dirty="0"/>
                        <a:t>small </a:t>
                      </a:r>
                      <a:r>
                        <a:rPr lang="en-US" sz="1600" b="1" noProof="0" dirty="0" err="1"/>
                        <a:t>LoRA</a:t>
                      </a:r>
                      <a:r>
                        <a:rPr lang="en-US" sz="1600" b="1" noProof="0" dirty="0"/>
                        <a:t> adapter</a:t>
                      </a:r>
                      <a:r>
                        <a:rPr lang="en-US" sz="1600" noProof="0" dirty="0"/>
                        <a:t> in higher precision for training.</a:t>
                      </a:r>
                    </a:p>
                  </a:txBody>
                  <a:tcPr marL="44401" marR="44401" marT="22201" marB="2220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20000"/>
                        <a:lumOff val="80000"/>
                      </a:schemeClr>
                    </a:solidFill>
                  </a:tcPr>
                </a:tc>
                <a:extLst>
                  <a:ext uri="{0D108BD9-81ED-4DB2-BD59-A6C34878D82A}">
                    <a16:rowId xmlns:a16="http://schemas.microsoft.com/office/drawing/2014/main" val="1194559676"/>
                  </a:ext>
                </a:extLst>
              </a:tr>
              <a:tr h="444014">
                <a:tc>
                  <a:txBody>
                    <a:bodyPr/>
                    <a:lstStyle/>
                    <a:p>
                      <a:pPr>
                        <a:buNone/>
                      </a:pPr>
                      <a:r>
                        <a:rPr lang="en-US" sz="1600" noProof="0" dirty="0"/>
                        <a:t>Why This Works</a:t>
                      </a:r>
                    </a:p>
                  </a:txBody>
                  <a:tcPr marL="44401" marR="44401" marT="22201" marB="2220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20000"/>
                        <a:lumOff val="80000"/>
                      </a:schemeClr>
                    </a:solidFill>
                  </a:tcPr>
                </a:tc>
                <a:tc>
                  <a:txBody>
                    <a:bodyPr/>
                    <a:lstStyle/>
                    <a:p>
                      <a:pPr>
                        <a:buNone/>
                      </a:pPr>
                      <a:r>
                        <a:rPr lang="en-US" sz="1600" noProof="0" dirty="0"/>
                        <a:t>The main model becomes very small in memory, but the </a:t>
                      </a:r>
                      <a:r>
                        <a:rPr lang="en-US" sz="1600" noProof="0" dirty="0" err="1"/>
                        <a:t>LoRA</a:t>
                      </a:r>
                      <a:r>
                        <a:rPr lang="en-US" sz="1600" noProof="0" dirty="0"/>
                        <a:t> adapter still learns high-quality task-specific adjustments.</a:t>
                      </a:r>
                    </a:p>
                  </a:txBody>
                  <a:tcPr marL="44401" marR="44401" marT="22201" marB="2220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20000"/>
                        <a:lumOff val="80000"/>
                      </a:schemeClr>
                    </a:solidFill>
                  </a:tcPr>
                </a:tc>
                <a:extLst>
                  <a:ext uri="{0D108BD9-81ED-4DB2-BD59-A6C34878D82A}">
                    <a16:rowId xmlns:a16="http://schemas.microsoft.com/office/drawing/2014/main" val="2441316833"/>
                  </a:ext>
                </a:extLst>
              </a:tr>
              <a:tr h="177606">
                <a:tc>
                  <a:txBody>
                    <a:bodyPr/>
                    <a:lstStyle/>
                    <a:p>
                      <a:pPr>
                        <a:buNone/>
                      </a:pPr>
                      <a:r>
                        <a:rPr lang="en-US" sz="1600" noProof="0" dirty="0"/>
                        <a:t>Benefit</a:t>
                      </a:r>
                    </a:p>
                  </a:txBody>
                  <a:tcPr marL="44401" marR="44401" marT="22201" marB="2220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20000"/>
                        <a:lumOff val="80000"/>
                      </a:schemeClr>
                    </a:solidFill>
                  </a:tcPr>
                </a:tc>
                <a:tc>
                  <a:txBody>
                    <a:bodyPr/>
                    <a:lstStyle/>
                    <a:p>
                      <a:pPr>
                        <a:buNone/>
                      </a:pPr>
                      <a:r>
                        <a:rPr lang="en-US" sz="1600" noProof="0" dirty="0"/>
                        <a:t>You can fine-tune 30B–70B models on a </a:t>
                      </a:r>
                      <a:r>
                        <a:rPr lang="en-US" sz="1600" b="1" noProof="0" dirty="0"/>
                        <a:t>single GPU</a:t>
                      </a:r>
                      <a:r>
                        <a:rPr lang="en-US" sz="1600" noProof="0" dirty="0"/>
                        <a:t>.</a:t>
                      </a:r>
                    </a:p>
                  </a:txBody>
                  <a:tcPr marL="44401" marR="44401" marT="22201" marB="2220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20000"/>
                        <a:lumOff val="80000"/>
                      </a:schemeClr>
                    </a:solidFill>
                  </a:tcPr>
                </a:tc>
                <a:extLst>
                  <a:ext uri="{0D108BD9-81ED-4DB2-BD59-A6C34878D82A}">
                    <a16:rowId xmlns:a16="http://schemas.microsoft.com/office/drawing/2014/main" val="3768441104"/>
                  </a:ext>
                </a:extLst>
              </a:tr>
              <a:tr h="310810">
                <a:tc>
                  <a:txBody>
                    <a:bodyPr/>
                    <a:lstStyle/>
                    <a:p>
                      <a:pPr>
                        <a:buNone/>
                      </a:pPr>
                      <a:r>
                        <a:rPr lang="en-US" sz="1600" noProof="0" dirty="0"/>
                        <a:t>What Stays Frozen</a:t>
                      </a:r>
                    </a:p>
                  </a:txBody>
                  <a:tcPr marL="44401" marR="44401" marT="22201" marB="2220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20000"/>
                        <a:lumOff val="80000"/>
                      </a:schemeClr>
                    </a:solidFill>
                  </a:tcPr>
                </a:tc>
                <a:tc>
                  <a:txBody>
                    <a:bodyPr/>
                    <a:lstStyle/>
                    <a:p>
                      <a:pPr>
                        <a:buNone/>
                      </a:pPr>
                      <a:r>
                        <a:rPr lang="en-US" sz="1600" noProof="0" dirty="0"/>
                        <a:t>The compressed (4-bit) backbone model. No training happens here.</a:t>
                      </a:r>
                    </a:p>
                  </a:txBody>
                  <a:tcPr marL="44401" marR="44401" marT="22201" marB="2220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20000"/>
                        <a:lumOff val="80000"/>
                      </a:schemeClr>
                    </a:solidFill>
                  </a:tcPr>
                </a:tc>
                <a:extLst>
                  <a:ext uri="{0D108BD9-81ED-4DB2-BD59-A6C34878D82A}">
                    <a16:rowId xmlns:a16="http://schemas.microsoft.com/office/drawing/2014/main" val="2741227084"/>
                  </a:ext>
                </a:extLst>
              </a:tr>
              <a:tr h="177606">
                <a:tc>
                  <a:txBody>
                    <a:bodyPr/>
                    <a:lstStyle/>
                    <a:p>
                      <a:pPr>
                        <a:buNone/>
                      </a:pPr>
                      <a:r>
                        <a:rPr lang="en-US" sz="1600" noProof="0" dirty="0"/>
                        <a:t>What Gets Trained</a:t>
                      </a:r>
                    </a:p>
                  </a:txBody>
                  <a:tcPr marL="44401" marR="44401" marT="22201" marB="2220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20000"/>
                        <a:lumOff val="80000"/>
                      </a:schemeClr>
                    </a:solidFill>
                  </a:tcPr>
                </a:tc>
                <a:tc>
                  <a:txBody>
                    <a:bodyPr/>
                    <a:lstStyle/>
                    <a:p>
                      <a:pPr>
                        <a:buNone/>
                      </a:pPr>
                      <a:r>
                        <a:rPr lang="en-US" sz="1600" noProof="0" dirty="0"/>
                        <a:t>Only the tiny </a:t>
                      </a:r>
                      <a:r>
                        <a:rPr lang="en-US" sz="1600" noProof="0" dirty="0" err="1"/>
                        <a:t>LoRA</a:t>
                      </a:r>
                      <a:r>
                        <a:rPr lang="en-US" sz="1600" noProof="0" dirty="0"/>
                        <a:t> adapter (two small matrices).</a:t>
                      </a:r>
                    </a:p>
                  </a:txBody>
                  <a:tcPr marL="44401" marR="44401" marT="22201" marB="2220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20000"/>
                        <a:lumOff val="80000"/>
                      </a:schemeClr>
                    </a:solidFill>
                  </a:tcPr>
                </a:tc>
                <a:extLst>
                  <a:ext uri="{0D108BD9-81ED-4DB2-BD59-A6C34878D82A}">
                    <a16:rowId xmlns:a16="http://schemas.microsoft.com/office/drawing/2014/main" val="1838590152"/>
                  </a:ext>
                </a:extLst>
              </a:tr>
              <a:tr h="310810">
                <a:tc>
                  <a:txBody>
                    <a:bodyPr/>
                    <a:lstStyle/>
                    <a:p>
                      <a:pPr>
                        <a:buNone/>
                      </a:pPr>
                      <a:r>
                        <a:rPr lang="en-US" sz="1600" noProof="0" dirty="0"/>
                        <a:t>Memory Savings</a:t>
                      </a:r>
                    </a:p>
                  </a:txBody>
                  <a:tcPr marL="44401" marR="44401" marT="22201" marB="2220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20000"/>
                        <a:lumOff val="80000"/>
                      </a:schemeClr>
                    </a:solidFill>
                  </a:tcPr>
                </a:tc>
                <a:tc>
                  <a:txBody>
                    <a:bodyPr/>
                    <a:lstStyle/>
                    <a:p>
                      <a:pPr>
                        <a:buNone/>
                      </a:pPr>
                      <a:r>
                        <a:rPr lang="en-US" sz="1600" noProof="0" dirty="0"/>
                        <a:t>Up to </a:t>
                      </a:r>
                      <a:r>
                        <a:rPr lang="en-US" sz="1600" b="1" noProof="0" dirty="0"/>
                        <a:t>75% less GPU memory</a:t>
                      </a:r>
                      <a:r>
                        <a:rPr lang="en-US" sz="1600" noProof="0" dirty="0"/>
                        <a:t> compared to full FP16 fine-tuning.</a:t>
                      </a:r>
                    </a:p>
                  </a:txBody>
                  <a:tcPr marL="44401" marR="44401" marT="22201" marB="2220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20000"/>
                        <a:lumOff val="80000"/>
                      </a:schemeClr>
                    </a:solidFill>
                  </a:tcPr>
                </a:tc>
                <a:extLst>
                  <a:ext uri="{0D108BD9-81ED-4DB2-BD59-A6C34878D82A}">
                    <a16:rowId xmlns:a16="http://schemas.microsoft.com/office/drawing/2014/main" val="3817459364"/>
                  </a:ext>
                </a:extLst>
              </a:tr>
              <a:tr h="310810">
                <a:tc>
                  <a:txBody>
                    <a:bodyPr/>
                    <a:lstStyle/>
                    <a:p>
                      <a:pPr>
                        <a:buNone/>
                      </a:pPr>
                      <a:r>
                        <a:rPr lang="en-US" sz="1600" noProof="0" dirty="0"/>
                        <a:t>Speed Advantage</a:t>
                      </a:r>
                    </a:p>
                  </a:txBody>
                  <a:tcPr marL="44401" marR="44401" marT="22201" marB="2220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20000"/>
                        <a:lumOff val="80000"/>
                      </a:schemeClr>
                    </a:solidFill>
                  </a:tcPr>
                </a:tc>
                <a:tc>
                  <a:txBody>
                    <a:bodyPr/>
                    <a:lstStyle/>
                    <a:p>
                      <a:pPr>
                        <a:buNone/>
                      </a:pPr>
                      <a:r>
                        <a:rPr lang="en-US" sz="1600" noProof="0" dirty="0"/>
                        <a:t>Much faster because only the small adapter receives updates.</a:t>
                      </a:r>
                    </a:p>
                  </a:txBody>
                  <a:tcPr marL="44401" marR="44401" marT="22201" marB="2220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20000"/>
                        <a:lumOff val="80000"/>
                      </a:schemeClr>
                    </a:solidFill>
                  </a:tcPr>
                </a:tc>
                <a:extLst>
                  <a:ext uri="{0D108BD9-81ED-4DB2-BD59-A6C34878D82A}">
                    <a16:rowId xmlns:a16="http://schemas.microsoft.com/office/drawing/2014/main" val="624880494"/>
                  </a:ext>
                </a:extLst>
              </a:tr>
              <a:tr h="310810">
                <a:tc>
                  <a:txBody>
                    <a:bodyPr/>
                    <a:lstStyle/>
                    <a:p>
                      <a:pPr>
                        <a:buNone/>
                      </a:pPr>
                      <a:r>
                        <a:rPr lang="en-US" sz="1600" noProof="0" dirty="0"/>
                        <a:t>Quality</a:t>
                      </a:r>
                    </a:p>
                  </a:txBody>
                  <a:tcPr marL="44401" marR="44401" marT="22201" marB="2220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20000"/>
                        <a:lumOff val="80000"/>
                      </a:schemeClr>
                    </a:solidFill>
                  </a:tcPr>
                </a:tc>
                <a:tc>
                  <a:txBody>
                    <a:bodyPr/>
                    <a:lstStyle/>
                    <a:p>
                      <a:pPr>
                        <a:buNone/>
                      </a:pPr>
                      <a:r>
                        <a:rPr lang="en-US" sz="1600" noProof="0" dirty="0"/>
                        <a:t>Maintains almost the same accuracy as full fine-tuning with far less compute.</a:t>
                      </a:r>
                    </a:p>
                  </a:txBody>
                  <a:tcPr marL="44401" marR="44401" marT="22201" marB="2220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20000"/>
                        <a:lumOff val="80000"/>
                      </a:schemeClr>
                    </a:solidFill>
                  </a:tcPr>
                </a:tc>
                <a:extLst>
                  <a:ext uri="{0D108BD9-81ED-4DB2-BD59-A6C34878D82A}">
                    <a16:rowId xmlns:a16="http://schemas.microsoft.com/office/drawing/2014/main" val="3731569520"/>
                  </a:ext>
                </a:extLst>
              </a:tr>
              <a:tr h="444014">
                <a:tc>
                  <a:txBody>
                    <a:bodyPr/>
                    <a:lstStyle/>
                    <a:p>
                      <a:pPr>
                        <a:buNone/>
                      </a:pPr>
                      <a:r>
                        <a:rPr lang="en-US" sz="1600" noProof="0" dirty="0"/>
                        <a:t>Analogy</a:t>
                      </a:r>
                    </a:p>
                  </a:txBody>
                  <a:tcPr marL="44401" marR="44401" marT="22201" marB="2220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20000"/>
                        <a:lumOff val="80000"/>
                      </a:schemeClr>
                    </a:solidFill>
                  </a:tcPr>
                </a:tc>
                <a:tc>
                  <a:txBody>
                    <a:bodyPr/>
                    <a:lstStyle/>
                    <a:p>
                      <a:pPr>
                        <a:buNone/>
                      </a:pPr>
                      <a:r>
                        <a:rPr lang="en-US" sz="1600" noProof="0" dirty="0"/>
                        <a:t>You store a huge book in a compressed format, but keep a small notepad to write your own notes. The notes change how you “interpret” the book.</a:t>
                      </a:r>
                    </a:p>
                  </a:txBody>
                  <a:tcPr marL="44401" marR="44401" marT="22201" marB="2220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20000"/>
                        <a:lumOff val="80000"/>
                      </a:schemeClr>
                    </a:solidFill>
                  </a:tcPr>
                </a:tc>
                <a:extLst>
                  <a:ext uri="{0D108BD9-81ED-4DB2-BD59-A6C34878D82A}">
                    <a16:rowId xmlns:a16="http://schemas.microsoft.com/office/drawing/2014/main" val="1021306420"/>
                  </a:ext>
                </a:extLst>
              </a:tr>
              <a:tr h="310810">
                <a:tc>
                  <a:txBody>
                    <a:bodyPr/>
                    <a:lstStyle/>
                    <a:p>
                      <a:pPr>
                        <a:buNone/>
                      </a:pPr>
                      <a:r>
                        <a:rPr lang="en-US" sz="1600" noProof="0" dirty="0"/>
                        <a:t>Multi-Task</a:t>
                      </a:r>
                    </a:p>
                  </a:txBody>
                  <a:tcPr marL="44401" marR="44401" marT="22201" marB="2220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20000"/>
                        <a:lumOff val="80000"/>
                      </a:schemeClr>
                    </a:solidFill>
                  </a:tcPr>
                </a:tc>
                <a:tc>
                  <a:txBody>
                    <a:bodyPr/>
                    <a:lstStyle/>
                    <a:p>
                      <a:pPr>
                        <a:buNone/>
                      </a:pPr>
                      <a:r>
                        <a:rPr lang="en-US" sz="1600" noProof="0" dirty="0"/>
                        <a:t>You can keep many task adapters without modifying the original model.</a:t>
                      </a:r>
                    </a:p>
                  </a:txBody>
                  <a:tcPr marL="44401" marR="44401" marT="22201" marB="2220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20000"/>
                        <a:lumOff val="80000"/>
                      </a:schemeClr>
                    </a:solidFill>
                  </a:tcPr>
                </a:tc>
                <a:extLst>
                  <a:ext uri="{0D108BD9-81ED-4DB2-BD59-A6C34878D82A}">
                    <a16:rowId xmlns:a16="http://schemas.microsoft.com/office/drawing/2014/main" val="1325729699"/>
                  </a:ext>
                </a:extLst>
              </a:tr>
              <a:tr h="310810">
                <a:tc>
                  <a:txBody>
                    <a:bodyPr/>
                    <a:lstStyle/>
                    <a:p>
                      <a:pPr>
                        <a:buNone/>
                      </a:pPr>
                      <a:r>
                        <a:rPr lang="en-US" sz="1600" noProof="0" dirty="0"/>
                        <a:t>Deployment</a:t>
                      </a:r>
                    </a:p>
                  </a:txBody>
                  <a:tcPr marL="44401" marR="44401" marT="22201" marB="2220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20000"/>
                        <a:lumOff val="80000"/>
                      </a:schemeClr>
                    </a:solidFill>
                  </a:tcPr>
                </a:tc>
                <a:tc>
                  <a:txBody>
                    <a:bodyPr/>
                    <a:lstStyle/>
                    <a:p>
                      <a:pPr>
                        <a:buNone/>
                      </a:pPr>
                      <a:r>
                        <a:rPr lang="en-US" sz="1600" noProof="0" dirty="0"/>
                        <a:t>During inference, the compressed model + trained adapter work together to produce final outputs.</a:t>
                      </a:r>
                    </a:p>
                  </a:txBody>
                  <a:tcPr marL="44401" marR="44401" marT="22201" marB="2220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20000"/>
                        <a:lumOff val="80000"/>
                      </a:schemeClr>
                    </a:solidFill>
                  </a:tcPr>
                </a:tc>
                <a:extLst>
                  <a:ext uri="{0D108BD9-81ED-4DB2-BD59-A6C34878D82A}">
                    <a16:rowId xmlns:a16="http://schemas.microsoft.com/office/drawing/2014/main" val="1431496427"/>
                  </a:ext>
                </a:extLst>
              </a:tr>
            </a:tbl>
          </a:graphicData>
        </a:graphic>
      </p:graphicFrame>
    </p:spTree>
    <p:extLst>
      <p:ext uri="{BB962C8B-B14F-4D97-AF65-F5344CB8AC3E}">
        <p14:creationId xmlns:p14="http://schemas.microsoft.com/office/powerpoint/2010/main" val="2197187736"/>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1F92494-4387-BA3E-E470-796CDD04AB47}"/>
              </a:ext>
            </a:extLst>
          </p:cNvPr>
          <p:cNvSpPr>
            <a:spLocks noGrp="1"/>
          </p:cNvSpPr>
          <p:nvPr>
            <p:ph type="title"/>
          </p:nvPr>
        </p:nvSpPr>
        <p:spPr/>
        <p:txBody>
          <a:bodyPr/>
          <a:lstStyle/>
          <a:p>
            <a:r>
              <a:rPr lang="en-US" noProof="0" dirty="0"/>
              <a:t>PEFT</a:t>
            </a:r>
          </a:p>
        </p:txBody>
      </p:sp>
      <p:graphicFrame>
        <p:nvGraphicFramePr>
          <p:cNvPr id="5" name="Content Placeholder 4">
            <a:extLst>
              <a:ext uri="{FF2B5EF4-FFF2-40B4-BE49-F238E27FC236}">
                <a16:creationId xmlns:a16="http://schemas.microsoft.com/office/drawing/2014/main" id="{33EED730-284A-D7BB-CB06-2B86379A210C}"/>
              </a:ext>
            </a:extLst>
          </p:cNvPr>
          <p:cNvGraphicFramePr>
            <a:graphicFrameLocks noGrp="1"/>
          </p:cNvGraphicFramePr>
          <p:nvPr>
            <p:ph idx="1"/>
            <p:extLst>
              <p:ext uri="{D42A27DB-BD31-4B8C-83A1-F6EECF244321}">
                <p14:modId xmlns:p14="http://schemas.microsoft.com/office/powerpoint/2010/main" val="2211081652"/>
              </p:ext>
            </p:extLst>
          </p:nvPr>
        </p:nvGraphicFramePr>
        <p:xfrm>
          <a:off x="586333" y="1668149"/>
          <a:ext cx="10882058" cy="4610684"/>
        </p:xfrm>
        <a:graphic>
          <a:graphicData uri="http://schemas.openxmlformats.org/drawingml/2006/table">
            <a:tbl>
              <a:tblPr>
                <a:tableStyleId>{793D81CF-94F2-401A-BA57-92F5A7B2D0C5}</a:tableStyleId>
              </a:tblPr>
              <a:tblGrid>
                <a:gridCol w="1682217">
                  <a:extLst>
                    <a:ext uri="{9D8B030D-6E8A-4147-A177-3AD203B41FA5}">
                      <a16:colId xmlns:a16="http://schemas.microsoft.com/office/drawing/2014/main" val="4166261324"/>
                    </a:ext>
                  </a:extLst>
                </a:gridCol>
                <a:gridCol w="9199841">
                  <a:extLst>
                    <a:ext uri="{9D8B030D-6E8A-4147-A177-3AD203B41FA5}">
                      <a16:colId xmlns:a16="http://schemas.microsoft.com/office/drawing/2014/main" val="257839238"/>
                    </a:ext>
                  </a:extLst>
                </a:gridCol>
              </a:tblGrid>
              <a:tr h="255961">
                <a:tc>
                  <a:txBody>
                    <a:bodyPr/>
                    <a:lstStyle/>
                    <a:p>
                      <a:pPr>
                        <a:buNone/>
                      </a:pPr>
                      <a:r>
                        <a:rPr lang="en-US" sz="1600" b="1" noProof="0" dirty="0"/>
                        <a:t>Topic</a:t>
                      </a:r>
                    </a:p>
                  </a:txBody>
                  <a:tcPr marL="63990" marR="63990" marT="31995" marB="3199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buNone/>
                      </a:pPr>
                      <a:r>
                        <a:rPr lang="en-US" sz="1600" b="1" noProof="0" dirty="0"/>
                        <a:t>Explanation</a:t>
                      </a:r>
                    </a:p>
                  </a:txBody>
                  <a:tcPr marL="63990" marR="63990" marT="31995" marB="3199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3332746919"/>
                  </a:ext>
                </a:extLst>
              </a:tr>
              <a:tr h="447932">
                <a:tc>
                  <a:txBody>
                    <a:bodyPr/>
                    <a:lstStyle/>
                    <a:p>
                      <a:pPr>
                        <a:buNone/>
                      </a:pPr>
                      <a:r>
                        <a:rPr lang="en-US" sz="1600" noProof="0" dirty="0"/>
                        <a:t>What PEFT Is</a:t>
                      </a:r>
                    </a:p>
                  </a:txBody>
                  <a:tcPr marL="63990" marR="63990" marT="31995" marB="3199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US" sz="1600" noProof="0" dirty="0"/>
                        <a:t>A collection of techniques to fine-tune large models using </a:t>
                      </a:r>
                      <a:r>
                        <a:rPr lang="en-US" sz="1600" b="1" noProof="0" dirty="0"/>
                        <a:t>very few trainable parameters</a:t>
                      </a:r>
                      <a:r>
                        <a:rPr lang="en-US" sz="1600" noProof="0" dirty="0"/>
                        <a:t>.</a:t>
                      </a:r>
                    </a:p>
                  </a:txBody>
                  <a:tcPr marL="63990" marR="63990" marT="31995" marB="3199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350441071"/>
                  </a:ext>
                </a:extLst>
              </a:tr>
              <a:tr h="447932">
                <a:tc>
                  <a:txBody>
                    <a:bodyPr/>
                    <a:lstStyle/>
                    <a:p>
                      <a:pPr>
                        <a:buNone/>
                      </a:pPr>
                      <a:r>
                        <a:rPr lang="en-US" sz="1600" noProof="0" dirty="0"/>
                        <a:t>Why It Exists</a:t>
                      </a:r>
                    </a:p>
                  </a:txBody>
                  <a:tcPr marL="63990" marR="63990" marT="31995" marB="3199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US" sz="1600" noProof="0" dirty="0"/>
                        <a:t>Full fine-tuning is expensive; PEFT makes fine-tuning possible on </a:t>
                      </a:r>
                      <a:r>
                        <a:rPr lang="en-US" sz="1600" b="1" noProof="0" dirty="0"/>
                        <a:t>small GPUs or even laptops</a:t>
                      </a:r>
                      <a:r>
                        <a:rPr lang="en-US" sz="1600" noProof="0" dirty="0"/>
                        <a:t>.</a:t>
                      </a:r>
                    </a:p>
                  </a:txBody>
                  <a:tcPr marL="63990" marR="63990" marT="31995" marB="3199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910189152"/>
                  </a:ext>
                </a:extLst>
              </a:tr>
              <a:tr h="447932">
                <a:tc>
                  <a:txBody>
                    <a:bodyPr/>
                    <a:lstStyle/>
                    <a:p>
                      <a:pPr>
                        <a:buNone/>
                      </a:pPr>
                      <a:r>
                        <a:rPr lang="en-US" sz="1600" noProof="0" dirty="0"/>
                        <a:t>Core Idea</a:t>
                      </a:r>
                    </a:p>
                  </a:txBody>
                  <a:tcPr marL="63990" marR="63990" marT="31995" marB="3199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US" sz="1600" noProof="0" dirty="0"/>
                        <a:t>Keep the original large model </a:t>
                      </a:r>
                      <a:r>
                        <a:rPr lang="en-US" sz="1600" b="1" noProof="0" dirty="0"/>
                        <a:t>frozen</a:t>
                      </a:r>
                      <a:r>
                        <a:rPr lang="en-US" sz="1600" noProof="0" dirty="0"/>
                        <a:t> and train only a </a:t>
                      </a:r>
                      <a:r>
                        <a:rPr lang="en-US" sz="1600" b="1" noProof="0" dirty="0"/>
                        <a:t>tiny number</a:t>
                      </a:r>
                      <a:r>
                        <a:rPr lang="en-US" sz="1600" noProof="0" dirty="0"/>
                        <a:t> of parameters.</a:t>
                      </a:r>
                    </a:p>
                  </a:txBody>
                  <a:tcPr marL="63990" marR="63990" marT="31995" marB="3199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402311195"/>
                  </a:ext>
                </a:extLst>
              </a:tr>
              <a:tr h="447932">
                <a:tc>
                  <a:txBody>
                    <a:bodyPr/>
                    <a:lstStyle/>
                    <a:p>
                      <a:pPr>
                        <a:buNone/>
                      </a:pPr>
                      <a:r>
                        <a:rPr lang="en-US" sz="1600" noProof="0" dirty="0"/>
                        <a:t>Supported Methods</a:t>
                      </a:r>
                    </a:p>
                  </a:txBody>
                  <a:tcPr marL="63990" marR="63990" marT="31995" marB="3199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US" sz="1600" noProof="0" dirty="0" err="1"/>
                        <a:t>LoRA</a:t>
                      </a:r>
                      <a:r>
                        <a:rPr lang="en-US" sz="1600" noProof="0" dirty="0"/>
                        <a:t>, </a:t>
                      </a:r>
                      <a:r>
                        <a:rPr lang="en-US" sz="1600" noProof="0" dirty="0" err="1"/>
                        <a:t>QLoRA</a:t>
                      </a:r>
                      <a:r>
                        <a:rPr lang="en-US" sz="1600" noProof="0" dirty="0"/>
                        <a:t>, Prefix Tuning, Prompt Tuning, P-Tuning, </a:t>
                      </a:r>
                      <a:r>
                        <a:rPr lang="en-US" sz="1600" noProof="0" dirty="0" err="1"/>
                        <a:t>AdaLoRA</a:t>
                      </a:r>
                      <a:r>
                        <a:rPr lang="en-US" sz="1600" noProof="0" dirty="0"/>
                        <a:t>.</a:t>
                      </a:r>
                    </a:p>
                  </a:txBody>
                  <a:tcPr marL="63990" marR="63990" marT="31995" marB="3199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294030733"/>
                  </a:ext>
                </a:extLst>
              </a:tr>
              <a:tr h="447932">
                <a:tc>
                  <a:txBody>
                    <a:bodyPr/>
                    <a:lstStyle/>
                    <a:p>
                      <a:pPr>
                        <a:buNone/>
                      </a:pPr>
                      <a:r>
                        <a:rPr lang="en-US" sz="1600" noProof="0" dirty="0"/>
                        <a:t>Memory Benefit</a:t>
                      </a:r>
                    </a:p>
                  </a:txBody>
                  <a:tcPr marL="63990" marR="63990" marT="31995" marB="3199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US" sz="1600" noProof="0" dirty="0"/>
                        <a:t>Saves 60–95% GPU memory compared to full fine-tuning.</a:t>
                      </a:r>
                    </a:p>
                  </a:txBody>
                  <a:tcPr marL="63990" marR="63990" marT="31995" marB="3199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584575708"/>
                  </a:ext>
                </a:extLst>
              </a:tr>
              <a:tr h="447932">
                <a:tc>
                  <a:txBody>
                    <a:bodyPr/>
                    <a:lstStyle/>
                    <a:p>
                      <a:pPr>
                        <a:buNone/>
                      </a:pPr>
                      <a:r>
                        <a:rPr lang="en-US" sz="1600" noProof="0" dirty="0"/>
                        <a:t>Speed Benefit</a:t>
                      </a:r>
                    </a:p>
                  </a:txBody>
                  <a:tcPr marL="63990" marR="63990" marT="31995" marB="3199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US" sz="1600" noProof="0" dirty="0"/>
                        <a:t>Training is much faster since very few parameters update.</a:t>
                      </a:r>
                    </a:p>
                  </a:txBody>
                  <a:tcPr marL="63990" marR="63990" marT="31995" marB="3199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660059653"/>
                  </a:ext>
                </a:extLst>
              </a:tr>
              <a:tr h="255961">
                <a:tc>
                  <a:txBody>
                    <a:bodyPr/>
                    <a:lstStyle/>
                    <a:p>
                      <a:pPr>
                        <a:buNone/>
                      </a:pPr>
                      <a:r>
                        <a:rPr lang="en-US" sz="1600" noProof="0" dirty="0"/>
                        <a:t>Quality</a:t>
                      </a:r>
                    </a:p>
                  </a:txBody>
                  <a:tcPr marL="63990" marR="63990" marT="31995" marB="3199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US" sz="1600" noProof="0" dirty="0"/>
                        <a:t>Often matches or closely approaches full fine-tuning.</a:t>
                      </a:r>
                    </a:p>
                  </a:txBody>
                  <a:tcPr marL="63990" marR="63990" marT="31995" marB="3199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740167199"/>
                  </a:ext>
                </a:extLst>
              </a:tr>
              <a:tr h="447932">
                <a:tc>
                  <a:txBody>
                    <a:bodyPr/>
                    <a:lstStyle/>
                    <a:p>
                      <a:pPr>
                        <a:buNone/>
                      </a:pPr>
                      <a:r>
                        <a:rPr lang="en-US" sz="1600" noProof="0" dirty="0"/>
                        <a:t>Deployment</a:t>
                      </a:r>
                    </a:p>
                  </a:txBody>
                  <a:tcPr marL="63990" marR="63990" marT="31995" marB="3199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US" sz="1600" noProof="0" dirty="0"/>
                        <a:t>Merges the small trained adapter with the original model at inference.</a:t>
                      </a:r>
                    </a:p>
                  </a:txBody>
                  <a:tcPr marL="63990" marR="63990" marT="31995" marB="3199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656099134"/>
                  </a:ext>
                </a:extLst>
              </a:tr>
              <a:tr h="447932">
                <a:tc>
                  <a:txBody>
                    <a:bodyPr/>
                    <a:lstStyle/>
                    <a:p>
                      <a:pPr>
                        <a:buNone/>
                      </a:pPr>
                      <a:r>
                        <a:rPr lang="en-US" sz="1600" noProof="0" dirty="0"/>
                        <a:t>Reusability</a:t>
                      </a:r>
                    </a:p>
                  </a:txBody>
                  <a:tcPr marL="63990" marR="63990" marT="31995" marB="3199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US" sz="1600" noProof="0" dirty="0"/>
                        <a:t>You can keep multiple adapters for different tasks without retraining the base model.</a:t>
                      </a:r>
                    </a:p>
                  </a:txBody>
                  <a:tcPr marL="63990" marR="63990" marT="31995" marB="3199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900528735"/>
                  </a:ext>
                </a:extLst>
              </a:tr>
              <a:tr h="255961">
                <a:tc>
                  <a:txBody>
                    <a:bodyPr/>
                    <a:lstStyle/>
                    <a:p>
                      <a:pPr>
                        <a:buNone/>
                      </a:pPr>
                      <a:r>
                        <a:rPr lang="en-US" sz="1600" noProof="0" dirty="0"/>
                        <a:t>Libraries</a:t>
                      </a:r>
                    </a:p>
                  </a:txBody>
                  <a:tcPr marL="63990" marR="63990" marT="31995" marB="3199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US" sz="1600" noProof="0" dirty="0"/>
                        <a:t>Provided by Hugging Face under the </a:t>
                      </a:r>
                      <a:r>
                        <a:rPr lang="en-US" sz="1600" noProof="0" dirty="0" err="1"/>
                        <a:t>peft</a:t>
                      </a:r>
                      <a:r>
                        <a:rPr lang="en-US" sz="1600" noProof="0" dirty="0"/>
                        <a:t> package.</a:t>
                      </a:r>
                    </a:p>
                  </a:txBody>
                  <a:tcPr marL="63990" marR="63990" marT="31995" marB="3199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277027843"/>
                  </a:ext>
                </a:extLst>
              </a:tr>
            </a:tbl>
          </a:graphicData>
        </a:graphic>
      </p:graphicFrame>
    </p:spTree>
    <p:extLst>
      <p:ext uri="{BB962C8B-B14F-4D97-AF65-F5344CB8AC3E}">
        <p14:creationId xmlns:p14="http://schemas.microsoft.com/office/powerpoint/2010/main" val="1273816860"/>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C07BF56-3327-106A-F93C-13F8E7DDA02D}"/>
              </a:ext>
            </a:extLst>
          </p:cNvPr>
          <p:cNvSpPr>
            <a:spLocks noGrp="1"/>
          </p:cNvSpPr>
          <p:nvPr>
            <p:ph type="title"/>
          </p:nvPr>
        </p:nvSpPr>
        <p:spPr/>
        <p:txBody>
          <a:bodyPr/>
          <a:lstStyle/>
          <a:p>
            <a:r>
              <a:rPr lang="en-US" noProof="0" dirty="0"/>
              <a:t>Embedding and Vector</a:t>
            </a:r>
          </a:p>
        </p:txBody>
      </p:sp>
      <p:sp>
        <p:nvSpPr>
          <p:cNvPr id="3" name="Content Placeholder 2">
            <a:extLst>
              <a:ext uri="{FF2B5EF4-FFF2-40B4-BE49-F238E27FC236}">
                <a16:creationId xmlns:a16="http://schemas.microsoft.com/office/drawing/2014/main" id="{4FF66AB5-39D5-4CA3-B66F-18AA51539D19}"/>
              </a:ext>
            </a:extLst>
          </p:cNvPr>
          <p:cNvSpPr>
            <a:spLocks noGrp="1"/>
          </p:cNvSpPr>
          <p:nvPr>
            <p:ph idx="1"/>
          </p:nvPr>
        </p:nvSpPr>
        <p:spPr/>
        <p:txBody>
          <a:bodyPr>
            <a:normAutofit fontScale="92500" lnSpcReduction="20000"/>
          </a:bodyPr>
          <a:lstStyle/>
          <a:p>
            <a:r>
              <a:rPr lang="en-US" b="1" noProof="0" dirty="0"/>
              <a:t>Embedding</a:t>
            </a:r>
            <a:r>
              <a:rPr lang="en-US" noProof="0" dirty="0"/>
              <a:t>: A technique to represent information (text, image, audio, video) as a list of numbers such that </a:t>
            </a:r>
            <a:r>
              <a:rPr lang="en-US" b="1" noProof="0" dirty="0"/>
              <a:t>similar items have vectors that are close to each other</a:t>
            </a:r>
            <a:r>
              <a:rPr lang="en-US" noProof="0" dirty="0"/>
              <a:t> in high-dimensional space</a:t>
            </a:r>
          </a:p>
          <a:p>
            <a:r>
              <a:rPr lang="en-US" noProof="0" dirty="0"/>
              <a:t>How? Convert information (text, image, audio, video) into a </a:t>
            </a:r>
            <a:r>
              <a:rPr lang="en-US" b="1" noProof="0" dirty="0"/>
              <a:t>vector </a:t>
            </a:r>
            <a:r>
              <a:rPr lang="en-US" noProof="0" dirty="0"/>
              <a:t>(list of numbers)</a:t>
            </a:r>
          </a:p>
          <a:p>
            <a:r>
              <a:rPr lang="en-US" noProof="0" dirty="0"/>
              <a:t>Example</a:t>
            </a:r>
          </a:p>
          <a:p>
            <a:pPr lvl="1"/>
            <a:r>
              <a:rPr lang="en-US" noProof="0" dirty="0"/>
              <a:t>Original text: “Cute dog”</a:t>
            </a:r>
          </a:p>
          <a:p>
            <a:pPr lvl="1"/>
            <a:r>
              <a:rPr lang="en-US" noProof="0" dirty="0"/>
              <a:t>Embedding: [0.02134, -0.00312, 0.01579, 0.09821, -0.04412, …]</a:t>
            </a:r>
          </a:p>
          <a:p>
            <a:r>
              <a:rPr lang="en-US" noProof="0" dirty="0"/>
              <a:t>The entire vector captures semantic meaning in a compressed way, i.e. individual numbers are not interpretable</a:t>
            </a:r>
          </a:p>
          <a:p>
            <a:r>
              <a:rPr lang="en-US" noProof="0" dirty="0"/>
              <a:t>Distances between embeddings reflect similarity</a:t>
            </a:r>
          </a:p>
          <a:p>
            <a:r>
              <a:rPr lang="en-US" noProof="0" dirty="0"/>
              <a:t>One Embedding = One Vector</a:t>
            </a:r>
          </a:p>
        </p:txBody>
      </p:sp>
    </p:spTree>
    <p:extLst>
      <p:ext uri="{BB962C8B-B14F-4D97-AF65-F5344CB8AC3E}">
        <p14:creationId xmlns:p14="http://schemas.microsoft.com/office/powerpoint/2010/main" val="1659583937"/>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162483-733E-1D77-FD01-F2B28F00CE41}"/>
              </a:ext>
            </a:extLst>
          </p:cNvPr>
          <p:cNvSpPr>
            <a:spLocks noGrp="1"/>
          </p:cNvSpPr>
          <p:nvPr>
            <p:ph type="title"/>
          </p:nvPr>
        </p:nvSpPr>
        <p:spPr/>
        <p:txBody>
          <a:bodyPr/>
          <a:lstStyle/>
          <a:p>
            <a:r>
              <a:rPr lang="en-US" noProof="0" dirty="0"/>
              <a:t>Embedding Models</a:t>
            </a:r>
          </a:p>
        </p:txBody>
      </p:sp>
      <p:graphicFrame>
        <p:nvGraphicFramePr>
          <p:cNvPr id="4" name="Content Placeholder 3">
            <a:extLst>
              <a:ext uri="{FF2B5EF4-FFF2-40B4-BE49-F238E27FC236}">
                <a16:creationId xmlns:a16="http://schemas.microsoft.com/office/drawing/2014/main" id="{63D0D3CE-A3AB-EA5C-D6B1-120BEDDF10E6}"/>
              </a:ext>
            </a:extLst>
          </p:cNvPr>
          <p:cNvGraphicFramePr>
            <a:graphicFrameLocks noGrp="1"/>
          </p:cNvGraphicFramePr>
          <p:nvPr>
            <p:ph idx="1"/>
            <p:extLst>
              <p:ext uri="{D42A27DB-BD31-4B8C-83A1-F6EECF244321}">
                <p14:modId xmlns:p14="http://schemas.microsoft.com/office/powerpoint/2010/main" val="2210076789"/>
              </p:ext>
            </p:extLst>
          </p:nvPr>
        </p:nvGraphicFramePr>
        <p:xfrm>
          <a:off x="407757" y="1539439"/>
          <a:ext cx="5688243" cy="3921414"/>
        </p:xfrm>
        <a:graphic>
          <a:graphicData uri="http://schemas.openxmlformats.org/drawingml/2006/table">
            <a:tbl>
              <a:tblPr/>
              <a:tblGrid>
                <a:gridCol w="1632774">
                  <a:extLst>
                    <a:ext uri="{9D8B030D-6E8A-4147-A177-3AD203B41FA5}">
                      <a16:colId xmlns:a16="http://schemas.microsoft.com/office/drawing/2014/main" val="1390387603"/>
                    </a:ext>
                  </a:extLst>
                </a:gridCol>
                <a:gridCol w="2159388">
                  <a:extLst>
                    <a:ext uri="{9D8B030D-6E8A-4147-A177-3AD203B41FA5}">
                      <a16:colId xmlns:a16="http://schemas.microsoft.com/office/drawing/2014/main" val="3076517147"/>
                    </a:ext>
                  </a:extLst>
                </a:gridCol>
                <a:gridCol w="1896081">
                  <a:extLst>
                    <a:ext uri="{9D8B030D-6E8A-4147-A177-3AD203B41FA5}">
                      <a16:colId xmlns:a16="http://schemas.microsoft.com/office/drawing/2014/main" val="3630350851"/>
                    </a:ext>
                  </a:extLst>
                </a:gridCol>
              </a:tblGrid>
              <a:tr h="290089">
                <a:tc>
                  <a:txBody>
                    <a:bodyPr/>
                    <a:lstStyle/>
                    <a:p>
                      <a:pPr>
                        <a:buNone/>
                      </a:pPr>
                      <a:r>
                        <a:rPr lang="en-US" sz="1600" b="1" noProof="0" dirty="0"/>
                        <a:t>Concept</a:t>
                      </a:r>
                      <a:endParaRPr lang="en-US" sz="1600" noProof="0" dirty="0"/>
                    </a:p>
                  </a:txBody>
                  <a:tcPr marL="72522" marR="72522" marT="36261" marB="3626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4">
                        <a:lumMod val="40000"/>
                        <a:lumOff val="60000"/>
                      </a:schemeClr>
                    </a:solidFill>
                  </a:tcPr>
                </a:tc>
                <a:tc>
                  <a:txBody>
                    <a:bodyPr/>
                    <a:lstStyle/>
                    <a:p>
                      <a:pPr>
                        <a:buNone/>
                      </a:pPr>
                      <a:r>
                        <a:rPr lang="en-US" sz="1600" b="1" noProof="0" dirty="0"/>
                        <a:t>Meaning</a:t>
                      </a:r>
                      <a:endParaRPr lang="en-US" sz="1600" noProof="0" dirty="0"/>
                    </a:p>
                  </a:txBody>
                  <a:tcPr marL="72522" marR="72522" marT="36261" marB="3626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4">
                        <a:lumMod val="40000"/>
                        <a:lumOff val="60000"/>
                      </a:schemeClr>
                    </a:solidFill>
                  </a:tcPr>
                </a:tc>
                <a:tc>
                  <a:txBody>
                    <a:bodyPr/>
                    <a:lstStyle/>
                    <a:p>
                      <a:pPr>
                        <a:buNone/>
                      </a:pPr>
                      <a:r>
                        <a:rPr lang="en-US" sz="1600" b="1" noProof="0" dirty="0"/>
                        <a:t>Example</a:t>
                      </a:r>
                      <a:endParaRPr lang="en-US" sz="1600" noProof="0" dirty="0"/>
                    </a:p>
                  </a:txBody>
                  <a:tcPr marL="72522" marR="72522" marT="36261" marB="3626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4">
                        <a:lumMod val="40000"/>
                        <a:lumOff val="60000"/>
                      </a:schemeClr>
                    </a:solidFill>
                  </a:tcPr>
                </a:tc>
                <a:extLst>
                  <a:ext uri="{0D108BD9-81ED-4DB2-BD59-A6C34878D82A}">
                    <a16:rowId xmlns:a16="http://schemas.microsoft.com/office/drawing/2014/main" val="2182193271"/>
                  </a:ext>
                </a:extLst>
              </a:tr>
              <a:tr h="507656">
                <a:tc>
                  <a:txBody>
                    <a:bodyPr/>
                    <a:lstStyle/>
                    <a:p>
                      <a:pPr>
                        <a:buNone/>
                      </a:pPr>
                      <a:r>
                        <a:rPr lang="en-US" sz="1600" b="1" noProof="0" dirty="0"/>
                        <a:t>Embedding Model</a:t>
                      </a:r>
                      <a:endParaRPr lang="en-US" sz="1600" noProof="0" dirty="0"/>
                    </a:p>
                  </a:txBody>
                  <a:tcPr marL="72522" marR="72522" marT="36261" marB="3626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4">
                        <a:lumMod val="40000"/>
                        <a:lumOff val="60000"/>
                      </a:schemeClr>
                    </a:solidFill>
                  </a:tcPr>
                </a:tc>
                <a:tc>
                  <a:txBody>
                    <a:bodyPr/>
                    <a:lstStyle/>
                    <a:p>
                      <a:pPr>
                        <a:buNone/>
                      </a:pPr>
                      <a:r>
                        <a:rPr lang="en-US" sz="1600" noProof="0" dirty="0"/>
                        <a:t>An AI model that creates these vectors</a:t>
                      </a:r>
                    </a:p>
                  </a:txBody>
                  <a:tcPr marL="72522" marR="72522" marT="36261" marB="3626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4">
                        <a:lumMod val="40000"/>
                        <a:lumOff val="60000"/>
                      </a:schemeClr>
                    </a:solidFill>
                  </a:tcPr>
                </a:tc>
                <a:tc>
                  <a:txBody>
                    <a:bodyPr/>
                    <a:lstStyle/>
                    <a:p>
                      <a:pPr>
                        <a:buNone/>
                      </a:pPr>
                      <a:r>
                        <a:rPr lang="en-US" sz="1600" noProof="0" dirty="0"/>
                        <a:t>OpenAI “text-embedding-3-small”</a:t>
                      </a:r>
                    </a:p>
                  </a:txBody>
                  <a:tcPr marL="72522" marR="72522" marT="36261" marB="3626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4">
                        <a:lumMod val="40000"/>
                        <a:lumOff val="60000"/>
                      </a:schemeClr>
                    </a:solidFill>
                  </a:tcPr>
                </a:tc>
                <a:extLst>
                  <a:ext uri="{0D108BD9-81ED-4DB2-BD59-A6C34878D82A}">
                    <a16:rowId xmlns:a16="http://schemas.microsoft.com/office/drawing/2014/main" val="1718789770"/>
                  </a:ext>
                </a:extLst>
              </a:tr>
              <a:tr h="507656">
                <a:tc>
                  <a:txBody>
                    <a:bodyPr/>
                    <a:lstStyle/>
                    <a:p>
                      <a:pPr>
                        <a:buNone/>
                      </a:pPr>
                      <a:r>
                        <a:rPr lang="en-US" sz="1600" b="1" noProof="0" dirty="0"/>
                        <a:t>Dimension</a:t>
                      </a:r>
                      <a:endParaRPr lang="en-US" sz="1600" noProof="0" dirty="0"/>
                    </a:p>
                  </a:txBody>
                  <a:tcPr marL="72522" marR="72522" marT="36261" marB="3626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4">
                        <a:lumMod val="40000"/>
                        <a:lumOff val="60000"/>
                      </a:schemeClr>
                    </a:solidFill>
                  </a:tcPr>
                </a:tc>
                <a:tc>
                  <a:txBody>
                    <a:bodyPr/>
                    <a:lstStyle/>
                    <a:p>
                      <a:pPr>
                        <a:buNone/>
                      </a:pPr>
                      <a:r>
                        <a:rPr lang="en-US" sz="1600" noProof="0" dirty="0"/>
                        <a:t>How many numbers are in each vector</a:t>
                      </a:r>
                    </a:p>
                  </a:txBody>
                  <a:tcPr marL="72522" marR="72522" marT="36261" marB="3626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4">
                        <a:lumMod val="40000"/>
                        <a:lumOff val="60000"/>
                      </a:schemeClr>
                    </a:solidFill>
                  </a:tcPr>
                </a:tc>
                <a:tc>
                  <a:txBody>
                    <a:bodyPr/>
                    <a:lstStyle/>
                    <a:p>
                      <a:pPr>
                        <a:buNone/>
                      </a:pPr>
                      <a:r>
                        <a:rPr lang="en-US" sz="1600" noProof="0" dirty="0"/>
                        <a:t>1536 numbers, 3072 numbers, etc.</a:t>
                      </a:r>
                    </a:p>
                  </a:txBody>
                  <a:tcPr marL="72522" marR="72522" marT="36261" marB="3626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4">
                        <a:lumMod val="40000"/>
                        <a:lumOff val="60000"/>
                      </a:schemeClr>
                    </a:solidFill>
                  </a:tcPr>
                </a:tc>
                <a:extLst>
                  <a:ext uri="{0D108BD9-81ED-4DB2-BD59-A6C34878D82A}">
                    <a16:rowId xmlns:a16="http://schemas.microsoft.com/office/drawing/2014/main" val="1665709254"/>
                  </a:ext>
                </a:extLst>
              </a:tr>
              <a:tr h="507656">
                <a:tc>
                  <a:txBody>
                    <a:bodyPr/>
                    <a:lstStyle/>
                    <a:p>
                      <a:pPr>
                        <a:buNone/>
                      </a:pPr>
                      <a:r>
                        <a:rPr lang="en-US" sz="1600" b="1" noProof="0" dirty="0"/>
                        <a:t>Similarity</a:t>
                      </a:r>
                      <a:endParaRPr lang="en-US" sz="1600" noProof="0" dirty="0"/>
                    </a:p>
                  </a:txBody>
                  <a:tcPr marL="72522" marR="72522" marT="36261" marB="3626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4">
                        <a:lumMod val="40000"/>
                        <a:lumOff val="60000"/>
                      </a:schemeClr>
                    </a:solidFill>
                  </a:tcPr>
                </a:tc>
                <a:tc>
                  <a:txBody>
                    <a:bodyPr/>
                    <a:lstStyle/>
                    <a:p>
                      <a:pPr>
                        <a:buNone/>
                      </a:pPr>
                      <a:r>
                        <a:rPr lang="en-US" sz="1600" noProof="0" dirty="0"/>
                        <a:t>How close two vectors are in meaning</a:t>
                      </a:r>
                    </a:p>
                  </a:txBody>
                  <a:tcPr marL="72522" marR="72522" marT="36261" marB="3626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4">
                        <a:lumMod val="40000"/>
                        <a:lumOff val="60000"/>
                      </a:schemeClr>
                    </a:solidFill>
                  </a:tcPr>
                </a:tc>
                <a:tc>
                  <a:txBody>
                    <a:bodyPr/>
                    <a:lstStyle/>
                    <a:p>
                      <a:pPr>
                        <a:buNone/>
                      </a:pPr>
                      <a:r>
                        <a:rPr lang="en-US" sz="1600" noProof="0" dirty="0"/>
                        <a:t>“cat” vector ≈ “kitten” vector</a:t>
                      </a:r>
                    </a:p>
                  </a:txBody>
                  <a:tcPr marL="72522" marR="72522" marT="36261" marB="3626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4">
                        <a:lumMod val="40000"/>
                        <a:lumOff val="60000"/>
                      </a:schemeClr>
                    </a:solidFill>
                  </a:tcPr>
                </a:tc>
                <a:extLst>
                  <a:ext uri="{0D108BD9-81ED-4DB2-BD59-A6C34878D82A}">
                    <a16:rowId xmlns:a16="http://schemas.microsoft.com/office/drawing/2014/main" val="2896252888"/>
                  </a:ext>
                </a:extLst>
              </a:tr>
              <a:tr h="507656">
                <a:tc>
                  <a:txBody>
                    <a:bodyPr/>
                    <a:lstStyle/>
                    <a:p>
                      <a:pPr>
                        <a:buNone/>
                      </a:pPr>
                      <a:r>
                        <a:rPr lang="en-US" sz="1600" b="1" noProof="0" dirty="0"/>
                        <a:t>Distance</a:t>
                      </a:r>
                      <a:endParaRPr lang="en-US" sz="1600" noProof="0" dirty="0"/>
                    </a:p>
                  </a:txBody>
                  <a:tcPr marL="72522" marR="72522" marT="36261" marB="3626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4">
                        <a:lumMod val="40000"/>
                        <a:lumOff val="60000"/>
                      </a:schemeClr>
                    </a:solidFill>
                  </a:tcPr>
                </a:tc>
                <a:tc>
                  <a:txBody>
                    <a:bodyPr/>
                    <a:lstStyle/>
                    <a:p>
                      <a:pPr>
                        <a:buNone/>
                      </a:pPr>
                      <a:r>
                        <a:rPr lang="en-US" sz="1600" noProof="0" dirty="0"/>
                        <a:t>Mathematical gap between two vectors</a:t>
                      </a:r>
                    </a:p>
                  </a:txBody>
                  <a:tcPr marL="72522" marR="72522" marT="36261" marB="3626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4">
                        <a:lumMod val="40000"/>
                        <a:lumOff val="60000"/>
                      </a:schemeClr>
                    </a:solidFill>
                  </a:tcPr>
                </a:tc>
                <a:tc>
                  <a:txBody>
                    <a:bodyPr/>
                    <a:lstStyle/>
                    <a:p>
                      <a:pPr>
                        <a:buNone/>
                      </a:pPr>
                      <a:r>
                        <a:rPr lang="en-US" sz="1600" noProof="0" dirty="0"/>
                        <a:t>Small distance → similar meaning</a:t>
                      </a:r>
                    </a:p>
                  </a:txBody>
                  <a:tcPr marL="72522" marR="72522" marT="36261" marB="3626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4">
                        <a:lumMod val="40000"/>
                        <a:lumOff val="60000"/>
                      </a:schemeClr>
                    </a:solidFill>
                  </a:tcPr>
                </a:tc>
                <a:extLst>
                  <a:ext uri="{0D108BD9-81ED-4DB2-BD59-A6C34878D82A}">
                    <a16:rowId xmlns:a16="http://schemas.microsoft.com/office/drawing/2014/main" val="2383816041"/>
                  </a:ext>
                </a:extLst>
              </a:tr>
              <a:tr h="507656">
                <a:tc>
                  <a:txBody>
                    <a:bodyPr/>
                    <a:lstStyle/>
                    <a:p>
                      <a:pPr>
                        <a:buNone/>
                      </a:pPr>
                      <a:r>
                        <a:rPr lang="en-US" sz="1600" b="1" noProof="0" dirty="0"/>
                        <a:t>Vector Space</a:t>
                      </a:r>
                      <a:endParaRPr lang="en-US" sz="1600" noProof="0" dirty="0"/>
                    </a:p>
                  </a:txBody>
                  <a:tcPr marL="72522" marR="72522" marT="36261" marB="3626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4">
                        <a:lumMod val="40000"/>
                        <a:lumOff val="60000"/>
                      </a:schemeClr>
                    </a:solidFill>
                  </a:tcPr>
                </a:tc>
                <a:tc>
                  <a:txBody>
                    <a:bodyPr/>
                    <a:lstStyle/>
                    <a:p>
                      <a:pPr>
                        <a:buNone/>
                      </a:pPr>
                      <a:r>
                        <a:rPr lang="en-US" sz="1600" noProof="0" dirty="0"/>
                        <a:t>The “map” where all vectors live</a:t>
                      </a:r>
                    </a:p>
                  </a:txBody>
                  <a:tcPr marL="72522" marR="72522" marT="36261" marB="3626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4">
                        <a:lumMod val="40000"/>
                        <a:lumOff val="60000"/>
                      </a:schemeClr>
                    </a:solidFill>
                  </a:tcPr>
                </a:tc>
                <a:tc>
                  <a:txBody>
                    <a:bodyPr/>
                    <a:lstStyle/>
                    <a:p>
                      <a:pPr>
                        <a:buNone/>
                      </a:pPr>
                      <a:r>
                        <a:rPr lang="en-US" sz="1600" noProof="0" dirty="0"/>
                        <a:t>Similar ideas group together in space</a:t>
                      </a:r>
                    </a:p>
                  </a:txBody>
                  <a:tcPr marL="72522" marR="72522" marT="36261" marB="3626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4">
                        <a:lumMod val="40000"/>
                        <a:lumOff val="60000"/>
                      </a:schemeClr>
                    </a:solidFill>
                  </a:tcPr>
                </a:tc>
                <a:extLst>
                  <a:ext uri="{0D108BD9-81ED-4DB2-BD59-A6C34878D82A}">
                    <a16:rowId xmlns:a16="http://schemas.microsoft.com/office/drawing/2014/main" val="250842271"/>
                  </a:ext>
                </a:extLst>
              </a:tr>
              <a:tr h="507656">
                <a:tc>
                  <a:txBody>
                    <a:bodyPr/>
                    <a:lstStyle/>
                    <a:p>
                      <a:pPr>
                        <a:buNone/>
                      </a:pPr>
                      <a:r>
                        <a:rPr lang="en-US" sz="1600" b="1" noProof="0" dirty="0"/>
                        <a:t>Use Cases</a:t>
                      </a:r>
                      <a:endParaRPr lang="en-US" sz="1600" noProof="0" dirty="0"/>
                    </a:p>
                  </a:txBody>
                  <a:tcPr marL="72522" marR="72522" marT="36261" marB="3626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4">
                        <a:lumMod val="40000"/>
                        <a:lumOff val="60000"/>
                      </a:schemeClr>
                    </a:solidFill>
                  </a:tcPr>
                </a:tc>
                <a:tc>
                  <a:txBody>
                    <a:bodyPr/>
                    <a:lstStyle/>
                    <a:p>
                      <a:pPr>
                        <a:buNone/>
                      </a:pPr>
                      <a:r>
                        <a:rPr lang="en-US" sz="1600" noProof="0" dirty="0"/>
                        <a:t>What embeddings are used for</a:t>
                      </a:r>
                    </a:p>
                  </a:txBody>
                  <a:tcPr marL="72522" marR="72522" marT="36261" marB="3626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4">
                        <a:lumMod val="40000"/>
                        <a:lumOff val="60000"/>
                      </a:schemeClr>
                    </a:solidFill>
                  </a:tcPr>
                </a:tc>
                <a:tc>
                  <a:txBody>
                    <a:bodyPr/>
                    <a:lstStyle/>
                    <a:p>
                      <a:pPr>
                        <a:buNone/>
                      </a:pPr>
                      <a:r>
                        <a:rPr lang="en-US" sz="1600" noProof="0" dirty="0"/>
                        <a:t>Search, recommendations, clustering</a:t>
                      </a:r>
                    </a:p>
                  </a:txBody>
                  <a:tcPr marL="72522" marR="72522" marT="36261" marB="3626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4">
                        <a:lumMod val="40000"/>
                        <a:lumOff val="60000"/>
                      </a:schemeClr>
                    </a:solidFill>
                  </a:tcPr>
                </a:tc>
                <a:extLst>
                  <a:ext uri="{0D108BD9-81ED-4DB2-BD59-A6C34878D82A}">
                    <a16:rowId xmlns:a16="http://schemas.microsoft.com/office/drawing/2014/main" val="2158430239"/>
                  </a:ext>
                </a:extLst>
              </a:tr>
            </a:tbl>
          </a:graphicData>
        </a:graphic>
      </p:graphicFrame>
      <p:graphicFrame>
        <p:nvGraphicFramePr>
          <p:cNvPr id="5" name="Table 4">
            <a:extLst>
              <a:ext uri="{FF2B5EF4-FFF2-40B4-BE49-F238E27FC236}">
                <a16:creationId xmlns:a16="http://schemas.microsoft.com/office/drawing/2014/main" id="{18C2D044-9963-04C0-EA99-518A4DE603D3}"/>
              </a:ext>
            </a:extLst>
          </p:cNvPr>
          <p:cNvGraphicFramePr>
            <a:graphicFrameLocks noGrp="1"/>
          </p:cNvGraphicFramePr>
          <p:nvPr>
            <p:extLst>
              <p:ext uri="{D42A27DB-BD31-4B8C-83A1-F6EECF244321}">
                <p14:modId xmlns:p14="http://schemas.microsoft.com/office/powerpoint/2010/main" val="496997578"/>
              </p:ext>
            </p:extLst>
          </p:nvPr>
        </p:nvGraphicFramePr>
        <p:xfrm>
          <a:off x="6261776" y="47824"/>
          <a:ext cx="5688244" cy="6691284"/>
        </p:xfrm>
        <a:graphic>
          <a:graphicData uri="http://schemas.openxmlformats.org/drawingml/2006/table">
            <a:tbl>
              <a:tblPr/>
              <a:tblGrid>
                <a:gridCol w="1422061">
                  <a:extLst>
                    <a:ext uri="{9D8B030D-6E8A-4147-A177-3AD203B41FA5}">
                      <a16:colId xmlns:a16="http://schemas.microsoft.com/office/drawing/2014/main" val="3970765475"/>
                    </a:ext>
                  </a:extLst>
                </a:gridCol>
                <a:gridCol w="1422061">
                  <a:extLst>
                    <a:ext uri="{9D8B030D-6E8A-4147-A177-3AD203B41FA5}">
                      <a16:colId xmlns:a16="http://schemas.microsoft.com/office/drawing/2014/main" val="3422802436"/>
                    </a:ext>
                  </a:extLst>
                </a:gridCol>
                <a:gridCol w="1833172">
                  <a:extLst>
                    <a:ext uri="{9D8B030D-6E8A-4147-A177-3AD203B41FA5}">
                      <a16:colId xmlns:a16="http://schemas.microsoft.com/office/drawing/2014/main" val="2601774014"/>
                    </a:ext>
                  </a:extLst>
                </a:gridCol>
                <a:gridCol w="1010950">
                  <a:extLst>
                    <a:ext uri="{9D8B030D-6E8A-4147-A177-3AD203B41FA5}">
                      <a16:colId xmlns:a16="http://schemas.microsoft.com/office/drawing/2014/main" val="3731772983"/>
                    </a:ext>
                  </a:extLst>
                </a:gridCol>
              </a:tblGrid>
              <a:tr h="320625">
                <a:tc>
                  <a:txBody>
                    <a:bodyPr/>
                    <a:lstStyle/>
                    <a:p>
                      <a:pPr>
                        <a:buNone/>
                      </a:pPr>
                      <a:r>
                        <a:rPr lang="en-US" sz="1400" b="1" noProof="0" dirty="0"/>
                        <a:t>Model Name</a:t>
                      </a:r>
                      <a:endParaRPr lang="en-US" sz="1400" noProof="0" dirty="0"/>
                    </a:p>
                  </a:txBody>
                  <a:tcPr marL="45804" marR="45804" marT="22902" marB="2290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20000"/>
                        <a:lumOff val="80000"/>
                      </a:schemeClr>
                    </a:solidFill>
                  </a:tcPr>
                </a:tc>
                <a:tc>
                  <a:txBody>
                    <a:bodyPr/>
                    <a:lstStyle/>
                    <a:p>
                      <a:pPr>
                        <a:buNone/>
                      </a:pPr>
                      <a:r>
                        <a:rPr lang="en-US" sz="1400" b="1" noProof="0" dirty="0"/>
                        <a:t>Provider</a:t>
                      </a:r>
                      <a:endParaRPr lang="en-US" sz="1400" noProof="0" dirty="0"/>
                    </a:p>
                  </a:txBody>
                  <a:tcPr marL="45804" marR="45804" marT="22902" marB="2290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20000"/>
                        <a:lumOff val="80000"/>
                      </a:schemeClr>
                    </a:solidFill>
                  </a:tcPr>
                </a:tc>
                <a:tc>
                  <a:txBody>
                    <a:bodyPr/>
                    <a:lstStyle/>
                    <a:p>
                      <a:pPr>
                        <a:buNone/>
                      </a:pPr>
                      <a:r>
                        <a:rPr lang="en-US" sz="1400" b="1" noProof="0" dirty="0"/>
                        <a:t>Key Features (Simple Words)</a:t>
                      </a:r>
                      <a:endParaRPr lang="en-US" sz="1400" noProof="0" dirty="0"/>
                    </a:p>
                  </a:txBody>
                  <a:tcPr marL="45804" marR="45804" marT="22902" marB="2290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20000"/>
                        <a:lumOff val="80000"/>
                      </a:schemeClr>
                    </a:solidFill>
                  </a:tcPr>
                </a:tc>
                <a:tc>
                  <a:txBody>
                    <a:bodyPr/>
                    <a:lstStyle/>
                    <a:p>
                      <a:pPr>
                        <a:buNone/>
                      </a:pPr>
                      <a:r>
                        <a:rPr lang="en-US" sz="1400" b="1" noProof="0" dirty="0"/>
                        <a:t>Typical Dimensions</a:t>
                      </a:r>
                      <a:endParaRPr lang="en-US" sz="1400" noProof="0" dirty="0"/>
                    </a:p>
                  </a:txBody>
                  <a:tcPr marL="45804" marR="45804" marT="22902" marB="2290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20000"/>
                        <a:lumOff val="80000"/>
                      </a:schemeClr>
                    </a:solidFill>
                  </a:tcPr>
                </a:tc>
                <a:extLst>
                  <a:ext uri="{0D108BD9-81ED-4DB2-BD59-A6C34878D82A}">
                    <a16:rowId xmlns:a16="http://schemas.microsoft.com/office/drawing/2014/main" val="202083655"/>
                  </a:ext>
                </a:extLst>
              </a:tr>
              <a:tr h="320625">
                <a:tc>
                  <a:txBody>
                    <a:bodyPr/>
                    <a:lstStyle/>
                    <a:p>
                      <a:pPr>
                        <a:buNone/>
                      </a:pPr>
                      <a:r>
                        <a:rPr lang="en-US" sz="1400" b="1" noProof="0" dirty="0"/>
                        <a:t>text-embedding-3-small</a:t>
                      </a:r>
                      <a:endParaRPr lang="en-US" sz="1400" noProof="0" dirty="0"/>
                    </a:p>
                  </a:txBody>
                  <a:tcPr marL="45804" marR="45804" marT="22902" marB="2290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20000"/>
                        <a:lumOff val="80000"/>
                      </a:schemeClr>
                    </a:solidFill>
                  </a:tcPr>
                </a:tc>
                <a:tc>
                  <a:txBody>
                    <a:bodyPr/>
                    <a:lstStyle/>
                    <a:p>
                      <a:pPr>
                        <a:buNone/>
                      </a:pPr>
                      <a:r>
                        <a:rPr lang="en-US" sz="1400" noProof="0" dirty="0"/>
                        <a:t>OpenAI</a:t>
                      </a:r>
                    </a:p>
                  </a:txBody>
                  <a:tcPr marL="45804" marR="45804" marT="22902" marB="2290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20000"/>
                        <a:lumOff val="80000"/>
                      </a:schemeClr>
                    </a:solidFill>
                  </a:tcPr>
                </a:tc>
                <a:tc>
                  <a:txBody>
                    <a:bodyPr/>
                    <a:lstStyle/>
                    <a:p>
                      <a:pPr>
                        <a:buNone/>
                      </a:pPr>
                      <a:r>
                        <a:rPr lang="en-US" sz="1400" noProof="0" dirty="0"/>
                        <a:t>Fast, cheap, good for search &amp; clustering</a:t>
                      </a:r>
                    </a:p>
                  </a:txBody>
                  <a:tcPr marL="45804" marR="45804" marT="22902" marB="2290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20000"/>
                        <a:lumOff val="80000"/>
                      </a:schemeClr>
                    </a:solidFill>
                  </a:tcPr>
                </a:tc>
                <a:tc>
                  <a:txBody>
                    <a:bodyPr/>
                    <a:lstStyle/>
                    <a:p>
                      <a:pPr>
                        <a:buNone/>
                      </a:pPr>
                      <a:r>
                        <a:rPr lang="en-US" sz="1400" noProof="0" dirty="0"/>
                        <a:t>1536</a:t>
                      </a:r>
                    </a:p>
                  </a:txBody>
                  <a:tcPr marL="45804" marR="45804" marT="22902" marB="2290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20000"/>
                        <a:lumOff val="80000"/>
                      </a:schemeClr>
                    </a:solidFill>
                  </a:tcPr>
                </a:tc>
                <a:extLst>
                  <a:ext uri="{0D108BD9-81ED-4DB2-BD59-A6C34878D82A}">
                    <a16:rowId xmlns:a16="http://schemas.microsoft.com/office/drawing/2014/main" val="2531587396"/>
                  </a:ext>
                </a:extLst>
              </a:tr>
              <a:tr h="320625">
                <a:tc>
                  <a:txBody>
                    <a:bodyPr/>
                    <a:lstStyle/>
                    <a:p>
                      <a:pPr>
                        <a:buNone/>
                      </a:pPr>
                      <a:r>
                        <a:rPr lang="en-US" sz="1400" b="1" noProof="0" dirty="0"/>
                        <a:t>text-embedding-3-large</a:t>
                      </a:r>
                      <a:endParaRPr lang="en-US" sz="1400" noProof="0" dirty="0"/>
                    </a:p>
                  </a:txBody>
                  <a:tcPr marL="45804" marR="45804" marT="22902" marB="2290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20000"/>
                        <a:lumOff val="80000"/>
                      </a:schemeClr>
                    </a:solidFill>
                  </a:tcPr>
                </a:tc>
                <a:tc>
                  <a:txBody>
                    <a:bodyPr/>
                    <a:lstStyle/>
                    <a:p>
                      <a:pPr>
                        <a:buNone/>
                      </a:pPr>
                      <a:r>
                        <a:rPr lang="en-US" sz="1400" noProof="0" dirty="0"/>
                        <a:t>OpenAI</a:t>
                      </a:r>
                    </a:p>
                  </a:txBody>
                  <a:tcPr marL="45804" marR="45804" marT="22902" marB="2290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20000"/>
                        <a:lumOff val="80000"/>
                      </a:schemeClr>
                    </a:solidFill>
                  </a:tcPr>
                </a:tc>
                <a:tc>
                  <a:txBody>
                    <a:bodyPr/>
                    <a:lstStyle/>
                    <a:p>
                      <a:pPr>
                        <a:buNone/>
                      </a:pPr>
                      <a:r>
                        <a:rPr lang="en-US" sz="1400" noProof="0" dirty="0"/>
                        <a:t>Highest accuracy, best semantic understanding</a:t>
                      </a:r>
                    </a:p>
                  </a:txBody>
                  <a:tcPr marL="45804" marR="45804" marT="22902" marB="2290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20000"/>
                        <a:lumOff val="80000"/>
                      </a:schemeClr>
                    </a:solidFill>
                  </a:tcPr>
                </a:tc>
                <a:tc>
                  <a:txBody>
                    <a:bodyPr/>
                    <a:lstStyle/>
                    <a:p>
                      <a:pPr>
                        <a:buNone/>
                      </a:pPr>
                      <a:r>
                        <a:rPr lang="en-US" sz="1400" noProof="0" dirty="0"/>
                        <a:t>3072</a:t>
                      </a:r>
                    </a:p>
                  </a:txBody>
                  <a:tcPr marL="45804" marR="45804" marT="22902" marB="2290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20000"/>
                        <a:lumOff val="80000"/>
                      </a:schemeClr>
                    </a:solidFill>
                  </a:tcPr>
                </a:tc>
                <a:extLst>
                  <a:ext uri="{0D108BD9-81ED-4DB2-BD59-A6C34878D82A}">
                    <a16:rowId xmlns:a16="http://schemas.microsoft.com/office/drawing/2014/main" val="1121389438"/>
                  </a:ext>
                </a:extLst>
              </a:tr>
              <a:tr h="320625">
                <a:tc>
                  <a:txBody>
                    <a:bodyPr/>
                    <a:lstStyle/>
                    <a:p>
                      <a:pPr>
                        <a:buNone/>
                      </a:pPr>
                      <a:r>
                        <a:rPr lang="en-US" sz="1400" b="1" noProof="0" dirty="0"/>
                        <a:t>all-MiniLM-L6-v2</a:t>
                      </a:r>
                      <a:endParaRPr lang="en-US" sz="1400" noProof="0" dirty="0"/>
                    </a:p>
                  </a:txBody>
                  <a:tcPr marL="45804" marR="45804" marT="22902" marB="2290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20000"/>
                        <a:lumOff val="80000"/>
                      </a:schemeClr>
                    </a:solidFill>
                  </a:tcPr>
                </a:tc>
                <a:tc>
                  <a:txBody>
                    <a:bodyPr/>
                    <a:lstStyle/>
                    <a:p>
                      <a:pPr>
                        <a:buNone/>
                      </a:pPr>
                      <a:r>
                        <a:rPr lang="en-US" sz="1400" noProof="0" dirty="0"/>
                        <a:t>Hugging Face / Sentence Transformers</a:t>
                      </a:r>
                    </a:p>
                  </a:txBody>
                  <a:tcPr marL="45804" marR="45804" marT="22902" marB="2290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20000"/>
                        <a:lumOff val="80000"/>
                      </a:schemeClr>
                    </a:solidFill>
                  </a:tcPr>
                </a:tc>
                <a:tc>
                  <a:txBody>
                    <a:bodyPr/>
                    <a:lstStyle/>
                    <a:p>
                      <a:pPr>
                        <a:buNone/>
                      </a:pPr>
                      <a:r>
                        <a:rPr lang="en-US" sz="1400" noProof="0" dirty="0"/>
                        <a:t>Very fast, small, good for local use; widely used</a:t>
                      </a:r>
                    </a:p>
                  </a:txBody>
                  <a:tcPr marL="45804" marR="45804" marT="22902" marB="2290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20000"/>
                        <a:lumOff val="80000"/>
                      </a:schemeClr>
                    </a:solidFill>
                  </a:tcPr>
                </a:tc>
                <a:tc>
                  <a:txBody>
                    <a:bodyPr/>
                    <a:lstStyle/>
                    <a:p>
                      <a:pPr>
                        <a:buNone/>
                      </a:pPr>
                      <a:r>
                        <a:rPr lang="en-US" sz="1400" noProof="0" dirty="0"/>
                        <a:t>384</a:t>
                      </a:r>
                    </a:p>
                  </a:txBody>
                  <a:tcPr marL="45804" marR="45804" marT="22902" marB="2290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20000"/>
                        <a:lumOff val="80000"/>
                      </a:schemeClr>
                    </a:solidFill>
                  </a:tcPr>
                </a:tc>
                <a:extLst>
                  <a:ext uri="{0D108BD9-81ED-4DB2-BD59-A6C34878D82A}">
                    <a16:rowId xmlns:a16="http://schemas.microsoft.com/office/drawing/2014/main" val="1853305189"/>
                  </a:ext>
                </a:extLst>
              </a:tr>
              <a:tr h="458036">
                <a:tc>
                  <a:txBody>
                    <a:bodyPr/>
                    <a:lstStyle/>
                    <a:p>
                      <a:pPr>
                        <a:buNone/>
                      </a:pPr>
                      <a:r>
                        <a:rPr lang="en-US" sz="1400" b="1" noProof="0" dirty="0"/>
                        <a:t>all-mpnet-base-v2</a:t>
                      </a:r>
                      <a:endParaRPr lang="en-US" sz="1400" noProof="0" dirty="0"/>
                    </a:p>
                  </a:txBody>
                  <a:tcPr marL="45804" marR="45804" marT="22902" marB="2290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20000"/>
                        <a:lumOff val="80000"/>
                      </a:schemeClr>
                    </a:solidFill>
                  </a:tcPr>
                </a:tc>
                <a:tc>
                  <a:txBody>
                    <a:bodyPr/>
                    <a:lstStyle/>
                    <a:p>
                      <a:pPr>
                        <a:buNone/>
                      </a:pPr>
                      <a:r>
                        <a:rPr lang="en-US" sz="1400" noProof="0" dirty="0"/>
                        <a:t>Hugging Face / Sentence Transformers</a:t>
                      </a:r>
                    </a:p>
                  </a:txBody>
                  <a:tcPr marL="45804" marR="45804" marT="22902" marB="2290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20000"/>
                        <a:lumOff val="80000"/>
                      </a:schemeClr>
                    </a:solidFill>
                  </a:tcPr>
                </a:tc>
                <a:tc>
                  <a:txBody>
                    <a:bodyPr/>
                    <a:lstStyle/>
                    <a:p>
                      <a:pPr>
                        <a:buNone/>
                      </a:pPr>
                      <a:r>
                        <a:rPr lang="en-US" sz="1400" noProof="0" dirty="0"/>
                        <a:t>High quality semantic search; great balance of speed + accuracy</a:t>
                      </a:r>
                    </a:p>
                  </a:txBody>
                  <a:tcPr marL="45804" marR="45804" marT="22902" marB="2290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20000"/>
                        <a:lumOff val="80000"/>
                      </a:schemeClr>
                    </a:solidFill>
                  </a:tcPr>
                </a:tc>
                <a:tc>
                  <a:txBody>
                    <a:bodyPr/>
                    <a:lstStyle/>
                    <a:p>
                      <a:pPr>
                        <a:buNone/>
                      </a:pPr>
                      <a:r>
                        <a:rPr lang="en-US" sz="1400" noProof="0" dirty="0"/>
                        <a:t>768</a:t>
                      </a:r>
                    </a:p>
                  </a:txBody>
                  <a:tcPr marL="45804" marR="45804" marT="22902" marB="2290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20000"/>
                        <a:lumOff val="80000"/>
                      </a:schemeClr>
                    </a:solidFill>
                  </a:tcPr>
                </a:tc>
                <a:extLst>
                  <a:ext uri="{0D108BD9-81ED-4DB2-BD59-A6C34878D82A}">
                    <a16:rowId xmlns:a16="http://schemas.microsoft.com/office/drawing/2014/main" val="3078376375"/>
                  </a:ext>
                </a:extLst>
              </a:tr>
              <a:tr h="320625">
                <a:tc>
                  <a:txBody>
                    <a:bodyPr/>
                    <a:lstStyle/>
                    <a:p>
                      <a:pPr>
                        <a:buNone/>
                      </a:pPr>
                      <a:r>
                        <a:rPr lang="en-US" sz="1400" b="1" noProof="0" dirty="0" err="1"/>
                        <a:t>bge</a:t>
                      </a:r>
                      <a:r>
                        <a:rPr lang="en-US" sz="1400" b="1" noProof="0" dirty="0"/>
                        <a:t>-small-</a:t>
                      </a:r>
                      <a:r>
                        <a:rPr lang="en-US" sz="1400" b="1" noProof="0" dirty="0" err="1"/>
                        <a:t>en</a:t>
                      </a:r>
                      <a:endParaRPr lang="en-US" sz="1400" noProof="0" dirty="0"/>
                    </a:p>
                  </a:txBody>
                  <a:tcPr marL="45804" marR="45804" marT="22902" marB="2290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20000"/>
                        <a:lumOff val="80000"/>
                      </a:schemeClr>
                    </a:solidFill>
                  </a:tcPr>
                </a:tc>
                <a:tc>
                  <a:txBody>
                    <a:bodyPr/>
                    <a:lstStyle/>
                    <a:p>
                      <a:pPr>
                        <a:buNone/>
                      </a:pPr>
                      <a:r>
                        <a:rPr lang="en-US" sz="1400" noProof="0" dirty="0"/>
                        <a:t>Hugging Face (BAAI)</a:t>
                      </a:r>
                    </a:p>
                  </a:txBody>
                  <a:tcPr marL="45804" marR="45804" marT="22902" marB="2290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20000"/>
                        <a:lumOff val="80000"/>
                      </a:schemeClr>
                    </a:solidFill>
                  </a:tcPr>
                </a:tc>
                <a:tc>
                  <a:txBody>
                    <a:bodyPr/>
                    <a:lstStyle/>
                    <a:p>
                      <a:pPr>
                        <a:buNone/>
                      </a:pPr>
                      <a:r>
                        <a:rPr lang="en-US" sz="1400" noProof="0" dirty="0"/>
                        <a:t>Very fast, optimized for retrieval tasks</a:t>
                      </a:r>
                    </a:p>
                  </a:txBody>
                  <a:tcPr marL="45804" marR="45804" marT="22902" marB="2290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20000"/>
                        <a:lumOff val="80000"/>
                      </a:schemeClr>
                    </a:solidFill>
                  </a:tcPr>
                </a:tc>
                <a:tc>
                  <a:txBody>
                    <a:bodyPr/>
                    <a:lstStyle/>
                    <a:p>
                      <a:pPr>
                        <a:buNone/>
                      </a:pPr>
                      <a:r>
                        <a:rPr lang="en-US" sz="1400" noProof="0" dirty="0"/>
                        <a:t>384</a:t>
                      </a:r>
                    </a:p>
                  </a:txBody>
                  <a:tcPr marL="45804" marR="45804" marT="22902" marB="2290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20000"/>
                        <a:lumOff val="80000"/>
                      </a:schemeClr>
                    </a:solidFill>
                  </a:tcPr>
                </a:tc>
                <a:extLst>
                  <a:ext uri="{0D108BD9-81ED-4DB2-BD59-A6C34878D82A}">
                    <a16:rowId xmlns:a16="http://schemas.microsoft.com/office/drawing/2014/main" val="226708340"/>
                  </a:ext>
                </a:extLst>
              </a:tr>
              <a:tr h="458036">
                <a:tc>
                  <a:txBody>
                    <a:bodyPr/>
                    <a:lstStyle/>
                    <a:p>
                      <a:pPr>
                        <a:buNone/>
                      </a:pPr>
                      <a:r>
                        <a:rPr lang="en-US" sz="1400" b="1" noProof="0" dirty="0" err="1"/>
                        <a:t>bge</a:t>
                      </a:r>
                      <a:r>
                        <a:rPr lang="en-US" sz="1400" b="1" noProof="0" dirty="0"/>
                        <a:t>-base-</a:t>
                      </a:r>
                      <a:r>
                        <a:rPr lang="en-US" sz="1400" b="1" noProof="0" dirty="0" err="1"/>
                        <a:t>en</a:t>
                      </a:r>
                      <a:endParaRPr lang="en-US" sz="1400" noProof="0" dirty="0"/>
                    </a:p>
                  </a:txBody>
                  <a:tcPr marL="45804" marR="45804" marT="22902" marB="2290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20000"/>
                        <a:lumOff val="80000"/>
                      </a:schemeClr>
                    </a:solidFill>
                  </a:tcPr>
                </a:tc>
                <a:tc>
                  <a:txBody>
                    <a:bodyPr/>
                    <a:lstStyle/>
                    <a:p>
                      <a:pPr>
                        <a:buNone/>
                      </a:pPr>
                      <a:r>
                        <a:rPr lang="en-US" sz="1400" noProof="0" dirty="0"/>
                        <a:t>Hugging Face (BAAI)</a:t>
                      </a:r>
                    </a:p>
                  </a:txBody>
                  <a:tcPr marL="45804" marR="45804" marT="22902" marB="2290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20000"/>
                        <a:lumOff val="80000"/>
                      </a:schemeClr>
                    </a:solidFill>
                  </a:tcPr>
                </a:tc>
                <a:tc>
                  <a:txBody>
                    <a:bodyPr/>
                    <a:lstStyle/>
                    <a:p>
                      <a:pPr>
                        <a:buNone/>
                      </a:pPr>
                      <a:r>
                        <a:rPr lang="en-US" sz="1400" noProof="0" dirty="0"/>
                        <a:t>Strong semantic retrieval; good general-purpose model</a:t>
                      </a:r>
                    </a:p>
                  </a:txBody>
                  <a:tcPr marL="45804" marR="45804" marT="22902" marB="2290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20000"/>
                        <a:lumOff val="80000"/>
                      </a:schemeClr>
                    </a:solidFill>
                  </a:tcPr>
                </a:tc>
                <a:tc>
                  <a:txBody>
                    <a:bodyPr/>
                    <a:lstStyle/>
                    <a:p>
                      <a:pPr>
                        <a:buNone/>
                      </a:pPr>
                      <a:r>
                        <a:rPr lang="en-US" sz="1400" noProof="0" dirty="0"/>
                        <a:t>768</a:t>
                      </a:r>
                    </a:p>
                  </a:txBody>
                  <a:tcPr marL="45804" marR="45804" marT="22902" marB="2290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20000"/>
                        <a:lumOff val="80000"/>
                      </a:schemeClr>
                    </a:solidFill>
                  </a:tcPr>
                </a:tc>
                <a:extLst>
                  <a:ext uri="{0D108BD9-81ED-4DB2-BD59-A6C34878D82A}">
                    <a16:rowId xmlns:a16="http://schemas.microsoft.com/office/drawing/2014/main" val="3909032516"/>
                  </a:ext>
                </a:extLst>
              </a:tr>
              <a:tr h="320625">
                <a:tc>
                  <a:txBody>
                    <a:bodyPr/>
                    <a:lstStyle/>
                    <a:p>
                      <a:pPr>
                        <a:buNone/>
                      </a:pPr>
                      <a:r>
                        <a:rPr lang="en-US" sz="1400" b="1" noProof="0" dirty="0" err="1"/>
                        <a:t>bge</a:t>
                      </a:r>
                      <a:r>
                        <a:rPr lang="en-US" sz="1400" b="1" noProof="0" dirty="0"/>
                        <a:t>-large-</a:t>
                      </a:r>
                      <a:r>
                        <a:rPr lang="en-US" sz="1400" b="1" noProof="0" dirty="0" err="1"/>
                        <a:t>en</a:t>
                      </a:r>
                      <a:endParaRPr lang="en-US" sz="1400" noProof="0" dirty="0"/>
                    </a:p>
                  </a:txBody>
                  <a:tcPr marL="45804" marR="45804" marT="22902" marB="2290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20000"/>
                        <a:lumOff val="80000"/>
                      </a:schemeClr>
                    </a:solidFill>
                  </a:tcPr>
                </a:tc>
                <a:tc>
                  <a:txBody>
                    <a:bodyPr/>
                    <a:lstStyle/>
                    <a:p>
                      <a:pPr>
                        <a:buNone/>
                      </a:pPr>
                      <a:r>
                        <a:rPr lang="en-US" sz="1400" noProof="0" dirty="0"/>
                        <a:t>Hugging Face (BAAI)</a:t>
                      </a:r>
                    </a:p>
                  </a:txBody>
                  <a:tcPr marL="45804" marR="45804" marT="22902" marB="2290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20000"/>
                        <a:lumOff val="80000"/>
                      </a:schemeClr>
                    </a:solidFill>
                  </a:tcPr>
                </a:tc>
                <a:tc>
                  <a:txBody>
                    <a:bodyPr/>
                    <a:lstStyle/>
                    <a:p>
                      <a:pPr>
                        <a:buNone/>
                      </a:pPr>
                      <a:r>
                        <a:rPr lang="en-US" sz="1400" noProof="0" dirty="0"/>
                        <a:t>Very high accuracy; heavier to run</a:t>
                      </a:r>
                    </a:p>
                  </a:txBody>
                  <a:tcPr marL="45804" marR="45804" marT="22902" marB="2290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20000"/>
                        <a:lumOff val="80000"/>
                      </a:schemeClr>
                    </a:solidFill>
                  </a:tcPr>
                </a:tc>
                <a:tc>
                  <a:txBody>
                    <a:bodyPr/>
                    <a:lstStyle/>
                    <a:p>
                      <a:pPr>
                        <a:buNone/>
                      </a:pPr>
                      <a:r>
                        <a:rPr lang="en-US" sz="1400" noProof="0" dirty="0"/>
                        <a:t>1024</a:t>
                      </a:r>
                    </a:p>
                  </a:txBody>
                  <a:tcPr marL="45804" marR="45804" marT="22902" marB="2290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20000"/>
                        <a:lumOff val="80000"/>
                      </a:schemeClr>
                    </a:solidFill>
                  </a:tcPr>
                </a:tc>
                <a:extLst>
                  <a:ext uri="{0D108BD9-81ED-4DB2-BD59-A6C34878D82A}">
                    <a16:rowId xmlns:a16="http://schemas.microsoft.com/office/drawing/2014/main" val="3009268837"/>
                  </a:ext>
                </a:extLst>
              </a:tr>
              <a:tr h="458036">
                <a:tc>
                  <a:txBody>
                    <a:bodyPr/>
                    <a:lstStyle/>
                    <a:p>
                      <a:pPr>
                        <a:buNone/>
                      </a:pPr>
                      <a:r>
                        <a:rPr lang="en-US" sz="1400" b="1" noProof="0" dirty="0"/>
                        <a:t>e5-small-v2</a:t>
                      </a:r>
                      <a:endParaRPr lang="en-US" sz="1400" noProof="0" dirty="0"/>
                    </a:p>
                  </a:txBody>
                  <a:tcPr marL="45804" marR="45804" marT="22902" marB="2290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20000"/>
                        <a:lumOff val="80000"/>
                      </a:schemeClr>
                    </a:solidFill>
                  </a:tcPr>
                </a:tc>
                <a:tc>
                  <a:txBody>
                    <a:bodyPr/>
                    <a:lstStyle/>
                    <a:p>
                      <a:pPr>
                        <a:buNone/>
                      </a:pPr>
                      <a:r>
                        <a:rPr lang="en-US" sz="1400" noProof="0" dirty="0"/>
                        <a:t>Hugging Face (Microsoft)</a:t>
                      </a:r>
                    </a:p>
                  </a:txBody>
                  <a:tcPr marL="45804" marR="45804" marT="22902" marB="2290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20000"/>
                        <a:lumOff val="80000"/>
                      </a:schemeClr>
                    </a:solidFill>
                  </a:tcPr>
                </a:tc>
                <a:tc>
                  <a:txBody>
                    <a:bodyPr/>
                    <a:lstStyle/>
                    <a:p>
                      <a:pPr>
                        <a:buNone/>
                      </a:pPr>
                      <a:r>
                        <a:rPr lang="en-US" sz="1400" noProof="0" dirty="0"/>
                        <a:t>Lightweight; very good for embeddings in search tasks</a:t>
                      </a:r>
                    </a:p>
                  </a:txBody>
                  <a:tcPr marL="45804" marR="45804" marT="22902" marB="2290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20000"/>
                        <a:lumOff val="80000"/>
                      </a:schemeClr>
                    </a:solidFill>
                  </a:tcPr>
                </a:tc>
                <a:tc>
                  <a:txBody>
                    <a:bodyPr/>
                    <a:lstStyle/>
                    <a:p>
                      <a:pPr>
                        <a:buNone/>
                      </a:pPr>
                      <a:r>
                        <a:rPr lang="en-US" sz="1400" noProof="0" dirty="0"/>
                        <a:t>384</a:t>
                      </a:r>
                    </a:p>
                  </a:txBody>
                  <a:tcPr marL="45804" marR="45804" marT="22902" marB="2290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20000"/>
                        <a:lumOff val="80000"/>
                      </a:schemeClr>
                    </a:solidFill>
                  </a:tcPr>
                </a:tc>
                <a:extLst>
                  <a:ext uri="{0D108BD9-81ED-4DB2-BD59-A6C34878D82A}">
                    <a16:rowId xmlns:a16="http://schemas.microsoft.com/office/drawing/2014/main" val="1565214522"/>
                  </a:ext>
                </a:extLst>
              </a:tr>
              <a:tr h="458036">
                <a:tc>
                  <a:txBody>
                    <a:bodyPr/>
                    <a:lstStyle/>
                    <a:p>
                      <a:pPr>
                        <a:buNone/>
                      </a:pPr>
                      <a:r>
                        <a:rPr lang="en-US" sz="1400" b="1" noProof="0" dirty="0"/>
                        <a:t>e5-base-v2</a:t>
                      </a:r>
                      <a:endParaRPr lang="en-US" sz="1400" noProof="0" dirty="0"/>
                    </a:p>
                  </a:txBody>
                  <a:tcPr marL="45804" marR="45804" marT="22902" marB="2290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20000"/>
                        <a:lumOff val="80000"/>
                      </a:schemeClr>
                    </a:solidFill>
                  </a:tcPr>
                </a:tc>
                <a:tc>
                  <a:txBody>
                    <a:bodyPr/>
                    <a:lstStyle/>
                    <a:p>
                      <a:pPr>
                        <a:buNone/>
                      </a:pPr>
                      <a:r>
                        <a:rPr lang="en-US" sz="1400" noProof="0" dirty="0"/>
                        <a:t>Hugging Face (Microsoft)</a:t>
                      </a:r>
                    </a:p>
                  </a:txBody>
                  <a:tcPr marL="45804" marR="45804" marT="22902" marB="2290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20000"/>
                        <a:lumOff val="80000"/>
                      </a:schemeClr>
                    </a:solidFill>
                  </a:tcPr>
                </a:tc>
                <a:tc>
                  <a:txBody>
                    <a:bodyPr/>
                    <a:lstStyle/>
                    <a:p>
                      <a:pPr>
                        <a:buNone/>
                      </a:pPr>
                      <a:r>
                        <a:rPr lang="en-US" sz="1400" noProof="0" dirty="0"/>
                        <a:t>Strong performance for retrieval, question–answering</a:t>
                      </a:r>
                    </a:p>
                  </a:txBody>
                  <a:tcPr marL="45804" marR="45804" marT="22902" marB="2290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20000"/>
                        <a:lumOff val="80000"/>
                      </a:schemeClr>
                    </a:solidFill>
                  </a:tcPr>
                </a:tc>
                <a:tc>
                  <a:txBody>
                    <a:bodyPr/>
                    <a:lstStyle/>
                    <a:p>
                      <a:pPr>
                        <a:buNone/>
                      </a:pPr>
                      <a:r>
                        <a:rPr lang="en-US" sz="1400" noProof="0" dirty="0"/>
                        <a:t>768</a:t>
                      </a:r>
                    </a:p>
                  </a:txBody>
                  <a:tcPr marL="45804" marR="45804" marT="22902" marB="2290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20000"/>
                        <a:lumOff val="80000"/>
                      </a:schemeClr>
                    </a:solidFill>
                  </a:tcPr>
                </a:tc>
                <a:extLst>
                  <a:ext uri="{0D108BD9-81ED-4DB2-BD59-A6C34878D82A}">
                    <a16:rowId xmlns:a16="http://schemas.microsoft.com/office/drawing/2014/main" val="4022097801"/>
                  </a:ext>
                </a:extLst>
              </a:tr>
              <a:tr h="595446">
                <a:tc>
                  <a:txBody>
                    <a:bodyPr/>
                    <a:lstStyle/>
                    <a:p>
                      <a:pPr>
                        <a:buNone/>
                      </a:pPr>
                      <a:r>
                        <a:rPr lang="en-US" sz="1400" b="1" noProof="0" dirty="0"/>
                        <a:t>instructor-xl</a:t>
                      </a:r>
                      <a:endParaRPr lang="en-US" sz="1400" noProof="0" dirty="0"/>
                    </a:p>
                  </a:txBody>
                  <a:tcPr marL="45804" marR="45804" marT="22902" marB="2290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20000"/>
                        <a:lumOff val="80000"/>
                      </a:schemeClr>
                    </a:solidFill>
                  </a:tcPr>
                </a:tc>
                <a:tc>
                  <a:txBody>
                    <a:bodyPr/>
                    <a:lstStyle/>
                    <a:p>
                      <a:pPr>
                        <a:buNone/>
                      </a:pPr>
                      <a:r>
                        <a:rPr lang="en-US" sz="1400" noProof="0" dirty="0"/>
                        <a:t>Hugging Face (HKU + Meta)</a:t>
                      </a:r>
                    </a:p>
                  </a:txBody>
                  <a:tcPr marL="45804" marR="45804" marT="22902" marB="2290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20000"/>
                        <a:lumOff val="80000"/>
                      </a:schemeClr>
                    </a:solidFill>
                  </a:tcPr>
                </a:tc>
                <a:tc>
                  <a:txBody>
                    <a:bodyPr/>
                    <a:lstStyle/>
                    <a:p>
                      <a:pPr>
                        <a:buNone/>
                      </a:pPr>
                      <a:r>
                        <a:rPr lang="en-US" sz="1400" noProof="0" dirty="0"/>
                        <a:t>Instruction-based embeddings (you can tell the model what to focus on)</a:t>
                      </a:r>
                    </a:p>
                  </a:txBody>
                  <a:tcPr marL="45804" marR="45804" marT="22902" marB="2290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20000"/>
                        <a:lumOff val="80000"/>
                      </a:schemeClr>
                    </a:solidFill>
                  </a:tcPr>
                </a:tc>
                <a:tc>
                  <a:txBody>
                    <a:bodyPr/>
                    <a:lstStyle/>
                    <a:p>
                      <a:pPr>
                        <a:buNone/>
                      </a:pPr>
                      <a:r>
                        <a:rPr lang="en-US" sz="1400" noProof="0" dirty="0"/>
                        <a:t>768 / 1024+</a:t>
                      </a:r>
                    </a:p>
                  </a:txBody>
                  <a:tcPr marL="45804" marR="45804" marT="22902" marB="2290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20000"/>
                        <a:lumOff val="80000"/>
                      </a:schemeClr>
                    </a:solidFill>
                  </a:tcPr>
                </a:tc>
                <a:extLst>
                  <a:ext uri="{0D108BD9-81ED-4DB2-BD59-A6C34878D82A}">
                    <a16:rowId xmlns:a16="http://schemas.microsoft.com/office/drawing/2014/main" val="3812978129"/>
                  </a:ext>
                </a:extLst>
              </a:tr>
            </a:tbl>
          </a:graphicData>
        </a:graphic>
      </p:graphicFrame>
      <p:sp>
        <p:nvSpPr>
          <p:cNvPr id="6" name="TextBox 5">
            <a:extLst>
              <a:ext uri="{FF2B5EF4-FFF2-40B4-BE49-F238E27FC236}">
                <a16:creationId xmlns:a16="http://schemas.microsoft.com/office/drawing/2014/main" id="{4DFDA8E1-DEC4-4B78-1556-4330375A08FD}"/>
              </a:ext>
            </a:extLst>
          </p:cNvPr>
          <p:cNvSpPr txBox="1"/>
          <p:nvPr/>
        </p:nvSpPr>
        <p:spPr>
          <a:xfrm>
            <a:off x="241980" y="5786547"/>
            <a:ext cx="1430932" cy="369332"/>
          </a:xfrm>
          <a:prstGeom prst="rect">
            <a:avLst/>
          </a:prstGeom>
          <a:noFill/>
        </p:spPr>
        <p:txBody>
          <a:bodyPr wrap="square" rtlCol="0">
            <a:spAutoFit/>
          </a:bodyPr>
          <a:lstStyle/>
          <a:p>
            <a:pPr algn="ctr"/>
            <a:r>
              <a:rPr lang="en-US" noProof="0" dirty="0"/>
              <a:t>“Cute dog”</a:t>
            </a:r>
          </a:p>
        </p:txBody>
      </p:sp>
      <p:sp>
        <p:nvSpPr>
          <p:cNvPr id="8" name="TextBox 7">
            <a:extLst>
              <a:ext uri="{FF2B5EF4-FFF2-40B4-BE49-F238E27FC236}">
                <a16:creationId xmlns:a16="http://schemas.microsoft.com/office/drawing/2014/main" id="{60E7011E-0468-5094-4768-19F6D917D739}"/>
              </a:ext>
            </a:extLst>
          </p:cNvPr>
          <p:cNvSpPr txBox="1"/>
          <p:nvPr/>
        </p:nvSpPr>
        <p:spPr>
          <a:xfrm>
            <a:off x="2792061" y="5786547"/>
            <a:ext cx="3303938" cy="369332"/>
          </a:xfrm>
          <a:prstGeom prst="rect">
            <a:avLst/>
          </a:prstGeom>
          <a:noFill/>
        </p:spPr>
        <p:txBody>
          <a:bodyPr wrap="square" rtlCol="0">
            <a:spAutoFit/>
          </a:bodyPr>
          <a:lstStyle/>
          <a:p>
            <a:pPr algn="ctr"/>
            <a:r>
              <a:rPr lang="en-US" noProof="0" dirty="0"/>
              <a:t>[0.02134, -0.00312, 0.01579, …]</a:t>
            </a:r>
          </a:p>
        </p:txBody>
      </p:sp>
      <p:cxnSp>
        <p:nvCxnSpPr>
          <p:cNvPr id="10" name="Straight Arrow Connector 9">
            <a:extLst>
              <a:ext uri="{FF2B5EF4-FFF2-40B4-BE49-F238E27FC236}">
                <a16:creationId xmlns:a16="http://schemas.microsoft.com/office/drawing/2014/main" id="{F572117C-476B-3794-2671-D21C5CB7AB64}"/>
              </a:ext>
            </a:extLst>
          </p:cNvPr>
          <p:cNvCxnSpPr>
            <a:cxnSpLocks/>
          </p:cNvCxnSpPr>
          <p:nvPr/>
        </p:nvCxnSpPr>
        <p:spPr>
          <a:xfrm>
            <a:off x="1575190" y="5789729"/>
            <a:ext cx="1119149" cy="0"/>
          </a:xfrm>
          <a:prstGeom prst="straightConnector1">
            <a:avLst/>
          </a:prstGeom>
          <a:ln w="25400">
            <a:solidFill>
              <a:srgbClr val="002060"/>
            </a:solidFill>
            <a:tailEnd type="triangle"/>
          </a:ln>
        </p:spPr>
        <p:style>
          <a:lnRef idx="1">
            <a:schemeClr val="accent1"/>
          </a:lnRef>
          <a:fillRef idx="0">
            <a:schemeClr val="accent1"/>
          </a:fillRef>
          <a:effectRef idx="0">
            <a:schemeClr val="accent1"/>
          </a:effectRef>
          <a:fontRef idx="minor">
            <a:schemeClr val="tx1"/>
          </a:fontRef>
        </p:style>
      </p:cxnSp>
      <p:sp>
        <p:nvSpPr>
          <p:cNvPr id="11" name="TextBox 10">
            <a:extLst>
              <a:ext uri="{FF2B5EF4-FFF2-40B4-BE49-F238E27FC236}">
                <a16:creationId xmlns:a16="http://schemas.microsoft.com/office/drawing/2014/main" id="{074A045D-A6C8-0837-FABA-450DE0BFDB12}"/>
              </a:ext>
            </a:extLst>
          </p:cNvPr>
          <p:cNvSpPr txBox="1"/>
          <p:nvPr/>
        </p:nvSpPr>
        <p:spPr>
          <a:xfrm>
            <a:off x="1517020" y="5915205"/>
            <a:ext cx="1275041" cy="646331"/>
          </a:xfrm>
          <a:prstGeom prst="rect">
            <a:avLst/>
          </a:prstGeom>
          <a:solidFill>
            <a:srgbClr val="00B050">
              <a:alpha val="30000"/>
            </a:srgbClr>
          </a:solidFill>
        </p:spPr>
        <p:txBody>
          <a:bodyPr wrap="square" rtlCol="0">
            <a:spAutoFit/>
          </a:bodyPr>
          <a:lstStyle/>
          <a:p>
            <a:pPr algn="ctr"/>
            <a:r>
              <a:rPr lang="en-US" noProof="0" dirty="0"/>
              <a:t>Embedding model</a:t>
            </a:r>
          </a:p>
        </p:txBody>
      </p:sp>
    </p:spTree>
    <p:extLst>
      <p:ext uri="{BB962C8B-B14F-4D97-AF65-F5344CB8AC3E}">
        <p14:creationId xmlns:p14="http://schemas.microsoft.com/office/powerpoint/2010/main" val="719596863"/>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995</TotalTime>
  <Words>8586</Words>
  <Application>Microsoft Office PowerPoint</Application>
  <PresentationFormat>Widescreen</PresentationFormat>
  <Paragraphs>1912</Paragraphs>
  <Slides>78</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78</vt:i4>
      </vt:variant>
    </vt:vector>
  </HeadingPairs>
  <TitlesOfParts>
    <vt:vector size="84" baseType="lpstr">
      <vt:lpstr>Arial</vt:lpstr>
      <vt:lpstr>Calibri</vt:lpstr>
      <vt:lpstr>Calibri Light</vt:lpstr>
      <vt:lpstr>Cambria Math</vt:lpstr>
      <vt:lpstr>Wingdings</vt:lpstr>
      <vt:lpstr>Office Theme</vt:lpstr>
      <vt:lpstr>ML to Agentic AI</vt:lpstr>
      <vt:lpstr>The Basics</vt:lpstr>
      <vt:lpstr>Fitment</vt:lpstr>
      <vt:lpstr>Traditional Programming versus ML</vt:lpstr>
      <vt:lpstr>When to Use What</vt:lpstr>
      <vt:lpstr>Risks and Ethics</vt:lpstr>
      <vt:lpstr>Installation</vt:lpstr>
      <vt:lpstr>How does a Machine Learn?</vt:lpstr>
      <vt:lpstr>Detecting Hidden Layers</vt:lpstr>
      <vt:lpstr>Detecting Hidden Layers</vt:lpstr>
      <vt:lpstr>Why is it Difficult for ML?</vt:lpstr>
      <vt:lpstr>Gen AI</vt:lpstr>
      <vt:lpstr>What is Happening in the Gen AI Case?</vt:lpstr>
      <vt:lpstr>AI/ML Infrastructure</vt:lpstr>
      <vt:lpstr>Data Layer (Ingestion)</vt:lpstr>
      <vt:lpstr>Processing Layer (Data Cleaning)</vt:lpstr>
      <vt:lpstr>Feature Layer (Feature Engineering)</vt:lpstr>
      <vt:lpstr>Training Layer (Model Building)</vt:lpstr>
      <vt:lpstr>Deployment Layer (Model Serving)</vt:lpstr>
      <vt:lpstr>Monitoring Layer (Maintenance and Drift Detection)</vt:lpstr>
      <vt:lpstr>Data Pipeline</vt:lpstr>
      <vt:lpstr>Feature Engineering Pipeline</vt:lpstr>
      <vt:lpstr>Training Flow</vt:lpstr>
      <vt:lpstr>Core ML Frameworks</vt:lpstr>
      <vt:lpstr>Traditional ML: Scikit-Learn</vt:lpstr>
      <vt:lpstr>PyTorch</vt:lpstr>
      <vt:lpstr>TensorFlow</vt:lpstr>
      <vt:lpstr>Hugging Face</vt:lpstr>
      <vt:lpstr>Inference Platforms (Model Serving)</vt:lpstr>
      <vt:lpstr>Open Source Models and Model Hubs</vt:lpstr>
      <vt:lpstr>Model Cards</vt:lpstr>
      <vt:lpstr>Checkpoints</vt:lpstr>
      <vt:lpstr>Tokenizer Basics</vt:lpstr>
      <vt:lpstr>Data Ethics</vt:lpstr>
      <vt:lpstr>AI Bias</vt:lpstr>
      <vt:lpstr>Hallucinations</vt:lpstr>
      <vt:lpstr>Responsible AI</vt:lpstr>
      <vt:lpstr>Correlation</vt:lpstr>
      <vt:lpstr>Positive, Negative, No Correlation</vt:lpstr>
      <vt:lpstr>Predictive Analytics</vt:lpstr>
      <vt:lpstr>Linear Regression</vt:lpstr>
      <vt:lpstr>Linear Regression Interpretation and Example</vt:lpstr>
      <vt:lpstr>Least Squared Error</vt:lpstr>
      <vt:lpstr>Sum of Squared Error (SSE)</vt:lpstr>
      <vt:lpstr>Linear Regression  </vt:lpstr>
      <vt:lpstr>Regression Metrics Evaluation</vt:lpstr>
      <vt:lpstr>Example</vt:lpstr>
      <vt:lpstr>Logistic Regression: Predict Obesity for a Dog</vt:lpstr>
      <vt:lpstr>Confusion Matrix</vt:lpstr>
      <vt:lpstr>Confusion Matrix</vt:lpstr>
      <vt:lpstr>Metrics Derived From Confusion Matrix</vt:lpstr>
      <vt:lpstr>K-Means Clustering</vt:lpstr>
      <vt:lpstr>K-Means Clustering and Elbow Method</vt:lpstr>
      <vt:lpstr>Reinforcement Learning</vt:lpstr>
      <vt:lpstr>Deep Learning</vt:lpstr>
      <vt:lpstr>Artificial Neuron and Activation Function</vt:lpstr>
      <vt:lpstr>Forward Pass (Prediction Step)</vt:lpstr>
      <vt:lpstr>Loss Function and Backpropagation</vt:lpstr>
      <vt:lpstr>Neural Network Predict Student Pass(1)/Fail(0)</vt:lpstr>
      <vt:lpstr>Backpropagation Formula Constituents</vt:lpstr>
      <vt:lpstr>LLM Architecture</vt:lpstr>
      <vt:lpstr>Example</vt:lpstr>
      <vt:lpstr>The dog barked loudly</vt:lpstr>
      <vt:lpstr>Transfer Learning</vt:lpstr>
      <vt:lpstr>Why Transfer Learning</vt:lpstr>
      <vt:lpstr>A Typical Convolution Neural Network (CNN)</vt:lpstr>
      <vt:lpstr>Transfer Learning: Removing the Head Model</vt:lpstr>
      <vt:lpstr>Model Fine-Tuning</vt:lpstr>
      <vt:lpstr>Model Fine-Tuning</vt:lpstr>
      <vt:lpstr>LoRA</vt:lpstr>
      <vt:lpstr>Fine-Tuning</vt:lpstr>
      <vt:lpstr>LoRA (Low-Rank Adaptation)</vt:lpstr>
      <vt:lpstr>How LoRA Works? An Example</vt:lpstr>
      <vt:lpstr>Why LoRA?</vt:lpstr>
      <vt:lpstr>QLoRA</vt:lpstr>
      <vt:lpstr>PEFT</vt:lpstr>
      <vt:lpstr>Embedding and Vector</vt:lpstr>
      <vt:lpstr>Embedding Models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Atul Kahate</dc:creator>
  <cp:lastModifiedBy>Atul Kahate</cp:lastModifiedBy>
  <cp:revision>15</cp:revision>
  <dcterms:created xsi:type="dcterms:W3CDTF">2026-04-16T14:27:18Z</dcterms:created>
  <dcterms:modified xsi:type="dcterms:W3CDTF">2026-04-28T13:05:50Z</dcterms:modified>
</cp:coreProperties>
</file>